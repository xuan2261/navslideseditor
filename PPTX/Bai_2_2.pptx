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404" r:id="rId2"/>
    <p:sldId id="317" r:id="rId3"/>
    <p:sldId id="318" r:id="rId4"/>
    <p:sldId id="319" r:id="rId5"/>
    <p:sldId id="320" r:id="rId6"/>
    <p:sldId id="321" r:id="rId7"/>
    <p:sldId id="413" r:id="rId8"/>
    <p:sldId id="322" r:id="rId9"/>
    <p:sldId id="396" r:id="rId10"/>
    <p:sldId id="406" r:id="rId11"/>
    <p:sldId id="397" r:id="rId12"/>
    <p:sldId id="407" r:id="rId13"/>
    <p:sldId id="398" r:id="rId14"/>
    <p:sldId id="408" r:id="rId15"/>
    <p:sldId id="409" r:id="rId16"/>
    <p:sldId id="401" r:id="rId17"/>
    <p:sldId id="323" r:id="rId18"/>
    <p:sldId id="324" r:id="rId19"/>
    <p:sldId id="325" r:id="rId20"/>
    <p:sldId id="326" r:id="rId21"/>
    <p:sldId id="402" r:id="rId22"/>
    <p:sldId id="403" r:id="rId23"/>
    <p:sldId id="414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99" r:id="rId33"/>
    <p:sldId id="400" r:id="rId34"/>
    <p:sldId id="410" r:id="rId35"/>
    <p:sldId id="411" r:id="rId36"/>
    <p:sldId id="412" r:id="rId37"/>
    <p:sldId id="335" r:id="rId38"/>
    <p:sldId id="336" r:id="rId39"/>
    <p:sldId id="405" r:id="rId40"/>
  </p:sldIdLst>
  <p:sldSz cx="12192000" cy="6858000"/>
  <p:notesSz cx="6858000" cy="9144000"/>
  <p:custDataLst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25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0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AC464-B52B-446E-BEE0-6DDC832EFC1A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3109B-C0C9-4B10-88EF-6B1D6579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3109B-C0C9-4B10-88EF-6B1D65796B6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82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6E552361-EF33-F51D-B1CE-0C851BF665B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9387" y="81228"/>
            <a:ext cx="11844545" cy="106777"/>
          </a:xfrm>
          <a:prstGeom prst="rect">
            <a:avLst/>
          </a:prstGeom>
          <a:solidFill>
            <a:srgbClr val="005AA9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cs typeface="Tahoma" pitchFamily="34" charset="0"/>
            </a:endParaRPr>
          </a:p>
        </p:txBody>
      </p:sp>
      <p:sp>
        <p:nvSpPr>
          <p:cNvPr id="5" name="Line 14">
            <a:extLst>
              <a:ext uri="{FF2B5EF4-FFF2-40B4-BE49-F238E27FC236}">
                <a16:creationId xmlns:a16="http://schemas.microsoft.com/office/drawing/2014/main" id="{93CA5447-960F-02E2-D062-15054019818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7" y="211403"/>
            <a:ext cx="11844545" cy="0"/>
          </a:xfrm>
          <a:prstGeom prst="line">
            <a:avLst/>
          </a:prstGeom>
          <a:noFill/>
          <a:ln w="152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2750B71-8D8A-4FD1-ACEB-1564990CD2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824" y="6622873"/>
            <a:ext cx="1022465" cy="2168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69F8C1F-8FD6-4673-8C56-0F60DFEB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379" y="6622867"/>
            <a:ext cx="474617" cy="204062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543AE65-149B-47F7-B155-458B2D08FBA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796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8299-2088-4332-BDC4-C33E97DBE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3A272-3022-4197-90A8-037179942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A7CDC-8654-4A05-9148-34D4E53EC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B58A-55CE-4238-91AF-302BFEE815C6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C121B-8345-4F96-AAE9-C0141E554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2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EDC2-91D2-4435-BFF6-2AD39D43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F3E0C-6717-477B-B0E4-6D3263B5D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0667-7AAF-4897-A278-FB57AF8F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6C0B-BB57-4929-AF2C-7EB155309351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B2808-D5BA-44FE-9A11-DA405284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2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CCA9-E899-4CC3-87AE-D8FC3410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4E01A-8199-4BEB-A8B5-DBEEE553F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F0B58-4975-4C7C-8582-7BD1929D7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F18B1-192B-4F77-8AF8-F4AADA6C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E750-C446-42AE-8FE4-ACB17EC7C632}" type="datetime1">
              <a:rPr lang="en-US" smtClean="0"/>
              <a:t>31/03/2026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05309-2DD6-4410-9725-48576439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9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DD56-FFC7-473F-BBDA-4863FE0A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2C960-7332-4D48-9399-EBB8A2701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7765A-E518-4B8F-99D3-0BD50CFB0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84805-DDC0-49C7-840C-9D764C6BC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F4D634-28CE-4B13-BC06-0F1FA71A9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01B9D-1478-414F-9C41-01873E86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339C-5B76-4E06-B5D4-735AA1C3A129}" type="datetime1">
              <a:rPr lang="en-US" smtClean="0"/>
              <a:t>31/03/2026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FA2FE1-B80C-4973-B7FB-EDBEA717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2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D48CB-F16C-4ED8-BAA0-39C4126F0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05DED-F69B-4049-AAB4-434F1D6BA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864-EA12-484F-BCC4-B23B2C3F1129}" type="datetime1">
              <a:rPr lang="en-US" smtClean="0"/>
              <a:t>31/03/2026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18D1A-B11E-4662-8B35-C3C53F4E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5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FF402E-AC34-463E-B401-C05CB1E1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C397-7433-4B51-BCB4-7D00112A59A5}" type="datetime1">
              <a:rPr lang="en-US" smtClean="0"/>
              <a:t>31/03/2026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DC410-1F9F-4726-8FC5-7788B8FE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31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3B8C-3647-47E8-AB25-0438ACF9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E9865-53C4-4E20-AFA6-F14A8192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227FD-3F6D-4629-AB82-28529D6F1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45499-6C72-496B-9383-DB684FB4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BD39A-4B79-483D-9D9A-500CE626C690}" type="datetime1">
              <a:rPr lang="en-US" smtClean="0"/>
              <a:t>31/03/2026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EE258-2F9B-4F8B-8609-96A4E889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7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21C7-C55C-4EDB-9778-8860E7EE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24B8A-BE53-4AED-8775-C1A288477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B5911-2563-44F5-967C-6B31408A2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3FD5B-863E-4C5F-9276-6C6752783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A8E25-002A-4E98-BB2A-01FB36D76154}" type="datetime1">
              <a:rPr lang="en-US" smtClean="0"/>
              <a:t>31/03/2026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137B4-42AE-4A85-874F-1A8B68BC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6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D7E4-F532-486B-A5D3-F415F754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61515-3A72-42B5-8BD9-897927B7E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EA63F-8CDE-42AD-8454-B5BBBF12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330F-7983-4560-A246-40FEC314E2D2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36A9E-902E-470A-9DA8-202AF391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5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D6D3A-1407-425E-8E92-0A63D85883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EABB4-D3CC-4726-90B8-55919C3AF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65C08-22A7-4A1A-A0C9-A0B6814EE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DC28-D2E6-4010-B36E-6D7C8CD4A344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D7961-58B8-412D-BEAF-3E61B4E5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7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8C41E3-CC2B-471B-8C2F-35BCAC61A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8D17E-5C7C-4B3C-A257-4B221632B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6B5E0-629F-464F-8BCA-AEB25DAC0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3270F-8B37-4C67-9C88-427EE729FD2E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41DEA-D031-4596-8A0A-924195302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3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3.pn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7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8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9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0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1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3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3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3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5.wmf"/><Relationship Id="rId9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2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337628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KIỂM TRA BÀI CŨ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017FE3-73F7-4225-AFCC-045EEE5270EB}"/>
              </a:ext>
            </a:extLst>
          </p:cNvPr>
          <p:cNvSpPr/>
          <p:nvPr/>
        </p:nvSpPr>
        <p:spPr>
          <a:xfrm>
            <a:off x="453279" y="1143000"/>
            <a:ext cx="1126410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vi-VN" sz="3200" b="1" dirty="0">
                <a:solidFill>
                  <a:srgbClr val="030904"/>
                </a:solidFill>
                <a:latin typeface="Arial" panose="020B0604020202020204" pitchFamily="34" charset="0"/>
              </a:rPr>
              <a:t>Câu hỏi </a:t>
            </a:r>
            <a:r>
              <a:rPr lang="en-US" sz="3200" b="1" dirty="0">
                <a:solidFill>
                  <a:srgbClr val="030904"/>
                </a:solidFill>
                <a:latin typeface="Arial" panose="020B0604020202020204" pitchFamily="34" charset="0"/>
              </a:rPr>
              <a:t>1: -</a:t>
            </a:r>
            <a:r>
              <a:rPr lang="vi-VN" sz="3200" b="1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vi-VN" sz="3200" dirty="0">
                <a:solidFill>
                  <a:srgbClr val="030904"/>
                </a:solidFill>
                <a:latin typeface="Arial" panose="020B0604020202020204" pitchFamily="34" charset="0"/>
              </a:rPr>
              <a:t>Cho X=1000 ở mã BCD, tìm X ở mã XS3 và GRAY.</a:t>
            </a:r>
            <a:endParaRPr lang="en-US" sz="3200" dirty="0">
              <a:solidFill>
                <a:srgbClr val="030904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3200" dirty="0">
                <a:solidFill>
                  <a:srgbClr val="030904"/>
                </a:solidFill>
                <a:latin typeface="Arial" panose="020B0604020202020204" pitchFamily="34" charset="0"/>
              </a:rPr>
              <a:t>		- </a:t>
            </a:r>
            <a:r>
              <a:rPr lang="vi-VN" sz="3200" dirty="0">
                <a:solidFill>
                  <a:srgbClr val="030904"/>
                </a:solidFill>
                <a:latin typeface="Arial" panose="020B0604020202020204" pitchFamily="34" charset="0"/>
              </a:rPr>
              <a:t>Cho X=0101 ở mã GRAY, tìm X ở mã BCD và XS3.</a:t>
            </a:r>
            <a:endParaRPr lang="en-US" sz="3200" dirty="0">
              <a:solidFill>
                <a:srgbClr val="030904"/>
              </a:solidFill>
              <a:latin typeface="Arial" panose="020B0604020202020204" pitchFamily="34" charset="0"/>
            </a:endParaRPr>
          </a:p>
          <a:p>
            <a:pPr algn="just"/>
            <a:r>
              <a:rPr lang="nl-NL" altLang="en-US" sz="32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Câu hỏi 2. </a:t>
            </a:r>
            <a:r>
              <a:rPr lang="nl-NL" altLang="en-US" sz="3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Trình bày ký hiệu, hàm logic, bảng trạng thái, giản đồ xung của phần tử AND?</a:t>
            </a:r>
          </a:p>
          <a:p>
            <a:pPr algn="just"/>
            <a:r>
              <a:rPr lang="vi-VN" sz="3200" b="1" dirty="0">
                <a:solidFill>
                  <a:srgbClr val="030904"/>
                </a:solidFill>
                <a:latin typeface="Arial" panose="020B0604020202020204" pitchFamily="34" charset="0"/>
              </a:rPr>
              <a:t>Câu hỏi</a:t>
            </a:r>
            <a:r>
              <a:rPr lang="nl-NL" altLang="en-US" sz="3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3: Trình bày ký hiệu, hàm logic, bảng trạng thái, giản đồ xung của phần tử OR?</a:t>
            </a:r>
          </a:p>
          <a:p>
            <a:pPr algn="just"/>
            <a:r>
              <a:rPr lang="vi-VN" sz="3200" b="1" dirty="0">
                <a:solidFill>
                  <a:srgbClr val="030904"/>
                </a:solidFill>
                <a:latin typeface="Arial" panose="020B0604020202020204" pitchFamily="34" charset="0"/>
              </a:rPr>
              <a:t>Câu hỏi</a:t>
            </a:r>
            <a:r>
              <a:rPr lang="nl-NL" altLang="en-US" sz="3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4: Trình bày ký hiệu, hàm logic, bảng trạng thái, giản đồ xung của phần tử XOR?</a:t>
            </a:r>
          </a:p>
        </p:txBody>
      </p:sp>
    </p:spTree>
    <p:extLst>
      <p:ext uri="{BB962C8B-B14F-4D97-AF65-F5344CB8AC3E}">
        <p14:creationId xmlns:p14="http://schemas.microsoft.com/office/powerpoint/2010/main" val="300960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7" y="1856938"/>
            <a:ext cx="1176148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MỤC ĐÍCH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1.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2.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3.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1605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41380" y="840441"/>
            <a:ext cx="11924712" cy="5868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YÊU CẦU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457189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CĐR1.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logic.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CĐR2.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CĐR3.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CĐR4.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811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1425915"/>
            <a:ext cx="11924712" cy="410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</a:p>
          <a:p>
            <a:pPr indent="457189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pPr indent="457189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189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189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THỜI GIAN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55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03047"/>
            <a:ext cx="11924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B21C663-1D79-451A-A5A4-31262D3F5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562619"/>
              </p:ext>
            </p:extLst>
          </p:nvPr>
        </p:nvGraphicFramePr>
        <p:xfrm>
          <a:off x="368404" y="1287822"/>
          <a:ext cx="11481664" cy="530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457">
                  <a:extLst>
                    <a:ext uri="{9D8B030D-6E8A-4147-A177-3AD203B41FA5}">
                      <a16:colId xmlns:a16="http://schemas.microsoft.com/office/drawing/2014/main" val="1041984891"/>
                    </a:ext>
                  </a:extLst>
                </a:gridCol>
                <a:gridCol w="4516207">
                  <a:extLst>
                    <a:ext uri="{9D8B030D-6E8A-4147-A177-3AD203B41FA5}">
                      <a16:colId xmlns:a16="http://schemas.microsoft.com/office/drawing/2014/main" val="2326625739"/>
                    </a:ext>
                  </a:extLst>
                </a:gridCol>
              </a:tblGrid>
              <a:tr h="2651760">
                <a:tc>
                  <a:txBody>
                    <a:bodyPr/>
                    <a:lstStyle/>
                    <a:p>
                      <a:r>
                        <a:rPr lang="it-IT" sz="2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2.1. Đại số logic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Các khái niệm, tính chất của đại số logic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Các phần tử logic cơ bản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Biểu diễn hàm logic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Rút gọn hàm logic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Bài tập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2.2. Mạch tổ hợp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Khái niệm về mạch tổ hợp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Mạch giải mã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Mạch dồn kênh, phân kênh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Bài tập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280216"/>
                  </a:ext>
                </a:extLst>
              </a:tr>
              <a:tr h="2651760">
                <a:tc>
                  <a:txBody>
                    <a:bodyPr/>
                    <a:lstStyle/>
                    <a:p>
                      <a:r>
                        <a:rPr lang="it-IT" sz="2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2.3. Hệ tuần tự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Khái niệm hệ tuần tự, các phần tử Flip-Flop cơ bản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Bộ đếm đồng bộ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Bộ đếm không đồng bộ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it-IT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Bài tập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2.4. Thực hành khảo sát mạch số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1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57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7" y="834380"/>
            <a:ext cx="119247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2.1.3.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2.1.4.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FD55D56A-826F-41C4-9616-4630BF5E0F62}"/>
              </a:ext>
            </a:extLst>
          </p:cNvPr>
          <p:cNvSpPr/>
          <p:nvPr/>
        </p:nvSpPr>
        <p:spPr>
          <a:xfrm>
            <a:off x="5221880" y="1997531"/>
            <a:ext cx="6777423" cy="482600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b="1">
                <a:solidFill>
                  <a:srgbClr val="030904"/>
                </a:solidFill>
                <a:latin typeface="Times New Roman" pitchFamily="18" charset="0"/>
              </a:rPr>
              <a:t>a. 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Phương pháp đại số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092BDF29-D85B-40E0-AAEE-9FD79E11702E}"/>
              </a:ext>
            </a:extLst>
          </p:cNvPr>
          <p:cNvSpPr/>
          <p:nvPr/>
        </p:nvSpPr>
        <p:spPr>
          <a:xfrm>
            <a:off x="5221880" y="3942448"/>
            <a:ext cx="6777423" cy="442687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b="1">
                <a:solidFill>
                  <a:srgbClr val="030904"/>
                </a:solidFill>
                <a:latin typeface="Times New Roman" pitchFamily="18" charset="0"/>
              </a:rPr>
              <a:t>b. 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Phương pháp bảng Karnaugh</a:t>
            </a:r>
            <a:endParaRPr lang="en-US" sz="2800" dirty="0">
              <a:solidFill>
                <a:srgbClr val="030904"/>
              </a:solidFill>
              <a:latin typeface="Times New Roman" pitchFamily="18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3D5095B3-AB20-4B04-B3AD-413D64337EF9}"/>
              </a:ext>
            </a:extLst>
          </p:cNvPr>
          <p:cNvSpPr/>
          <p:nvPr/>
        </p:nvSpPr>
        <p:spPr>
          <a:xfrm>
            <a:off x="5311467" y="2632531"/>
            <a:ext cx="6646017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*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Biểu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diễn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bằng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biểu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thức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đại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số</a:t>
            </a:r>
            <a:endParaRPr lang="en-US" sz="2800" b="1" dirty="0">
              <a:solidFill>
                <a:srgbClr val="030904"/>
              </a:solidFill>
              <a:latin typeface="Times New Roman" pitchFamily="18" charset="0"/>
            </a:endParaRP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C0AD37B7-D8A2-4E56-B1C3-544F23E6950A}"/>
              </a:ext>
            </a:extLst>
          </p:cNvPr>
          <p:cNvSpPr/>
          <p:nvPr/>
        </p:nvSpPr>
        <p:spPr>
          <a:xfrm>
            <a:off x="5325982" y="4523019"/>
            <a:ext cx="6646017" cy="3955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*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Biểu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diễn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bằng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bảng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Karnaugh</a:t>
            </a:r>
            <a:endParaRPr lang="en-US" sz="2800" b="1" dirty="0">
              <a:solidFill>
                <a:srgbClr val="030904"/>
              </a:solidFill>
              <a:latin typeface="Times New Roman" pitchFamily="18" charset="0"/>
            </a:endParaRP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B17615C6-0A2A-48C4-9F81-3397A7F1E90E}"/>
              </a:ext>
            </a:extLst>
          </p:cNvPr>
          <p:cNvSpPr/>
          <p:nvPr/>
        </p:nvSpPr>
        <p:spPr>
          <a:xfrm>
            <a:off x="5311467" y="3242133"/>
            <a:ext cx="6646017" cy="4426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*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Rút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gọn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bằng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biểu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thức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đại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số</a:t>
            </a:r>
            <a:endParaRPr lang="en-US" sz="2800" b="1" dirty="0">
              <a:solidFill>
                <a:srgbClr val="030904"/>
              </a:solidFill>
              <a:latin typeface="Times New Roman" pitchFamily="18" charset="0"/>
            </a:endParaRP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75939FFE-95A5-48F3-A67B-EC46BAEB962F}"/>
              </a:ext>
            </a:extLst>
          </p:cNvPr>
          <p:cNvSpPr/>
          <p:nvPr/>
        </p:nvSpPr>
        <p:spPr>
          <a:xfrm>
            <a:off x="5325982" y="5070931"/>
            <a:ext cx="6646017" cy="381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*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Rút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gọn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bằng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bảng</a:t>
            </a:r>
            <a:r>
              <a:rPr lang="en-US" sz="2800" b="1" dirty="0">
                <a:solidFill>
                  <a:srgbClr val="030904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Times New Roman" pitchFamily="18" charset="0"/>
              </a:rPr>
              <a:t>Karnaugh</a:t>
            </a:r>
            <a:endParaRPr lang="en-US" sz="2800" b="1" dirty="0">
              <a:solidFill>
                <a:srgbClr val="030904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2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7" y="834380"/>
            <a:ext cx="119247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2.1.3.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2.1.4.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24093417-C653-6B0A-7EA8-BF3F7A9D8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2404041"/>
            <a:ext cx="11682696" cy="1089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88265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914377" fontAlgn="base">
              <a:spcBef>
                <a:spcPts val="600"/>
              </a:spcBef>
              <a:spcAft>
                <a:spcPct val="0"/>
              </a:spcAft>
              <a:buSzPct val="100000"/>
              <a:defRPr/>
            </a:pPr>
            <a:r>
              <a:rPr lang="ru-RU" altLang="en-US" sz="3000" b="1" i="1" kern="0">
                <a:solidFill>
                  <a:prstClr val="black"/>
                </a:solidFill>
              </a:rPr>
              <a:t>- Bảng trạng thái: </a:t>
            </a:r>
            <a:r>
              <a:rPr lang="ru-RU" altLang="en-US" sz="3000" kern="0">
                <a:solidFill>
                  <a:prstClr val="black"/>
                </a:solidFill>
              </a:rPr>
              <a:t>liệt kê giá trị (trạng thái) các biến và giá trị hàm</a:t>
            </a:r>
            <a:r>
              <a:rPr lang="en-US" altLang="en-US" sz="3000" kern="0">
                <a:solidFill>
                  <a:prstClr val="black"/>
                </a:solidFill>
              </a:rPr>
              <a:t> </a:t>
            </a:r>
            <a:r>
              <a:rPr lang="ru-RU" altLang="en-US" sz="3000" kern="0">
                <a:solidFill>
                  <a:prstClr val="black"/>
                </a:solidFill>
              </a:rPr>
              <a:t>theo cột.</a:t>
            </a:r>
          </a:p>
          <a:p>
            <a:pPr defTabSz="914377" fontAlgn="base">
              <a:spcBef>
                <a:spcPts val="600"/>
              </a:spcBef>
              <a:spcAft>
                <a:spcPct val="0"/>
              </a:spcAft>
              <a:buSzPct val="100000"/>
              <a:defRPr/>
            </a:pPr>
            <a:r>
              <a:rPr lang="ru-RU" altLang="en-US" sz="3000" kern="0">
                <a:solidFill>
                  <a:prstClr val="black"/>
                </a:solidFill>
              </a:rPr>
              <a:t>Ví dụ: Biểu diễn hàm logic: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B8FE0537-A622-EE43-59DD-8B47C841FB0D}"/>
              </a:ext>
            </a:extLst>
          </p:cNvPr>
          <p:cNvSpPr>
            <a:spLocks/>
          </p:cNvSpPr>
          <p:nvPr/>
        </p:nvSpPr>
        <p:spPr bwMode="auto">
          <a:xfrm>
            <a:off x="5848118" y="3828983"/>
            <a:ext cx="303213" cy="0"/>
          </a:xfrm>
          <a:custGeom>
            <a:avLst/>
            <a:gdLst>
              <a:gd name="T0" fmla="*/ 0 w 302895"/>
              <a:gd name="T1" fmla="*/ 0 h 21600"/>
              <a:gd name="T2" fmla="*/ 303750 w 302895"/>
              <a:gd name="T3" fmla="*/ 0 h 216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02895" h="21600">
                <a:moveTo>
                  <a:pt x="0" y="0"/>
                </a:moveTo>
                <a:lnTo>
                  <a:pt x="302795" y="0"/>
                </a:lnTo>
              </a:path>
            </a:pathLst>
          </a:custGeom>
          <a:noFill/>
          <a:ln w="146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A436200C-7D56-9EF2-BB78-8EC15AC18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763" y="3828983"/>
            <a:ext cx="6523311" cy="443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50800">
              <a:tabLst>
                <a:tab pos="623888" algn="l"/>
                <a:tab pos="2579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tabLst>
                <a:tab pos="623888" algn="l"/>
                <a:tab pos="2579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tabLst>
                <a:tab pos="623888" algn="l"/>
                <a:tab pos="2579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tabLst>
                <a:tab pos="623888" algn="l"/>
                <a:tab pos="2579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tabLst>
                <a:tab pos="623888" algn="l"/>
                <a:tab pos="2579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23888" algn="l"/>
                <a:tab pos="2579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23888" algn="l"/>
                <a:tab pos="2579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23888" algn="l"/>
                <a:tab pos="2579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23888" algn="l"/>
                <a:tab pos="2579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fontAlgn="base">
              <a:spcBef>
                <a:spcPts val="88"/>
              </a:spcBef>
              <a:spcAft>
                <a:spcPct val="0"/>
              </a:spcAft>
              <a:buSzPct val="100000"/>
            </a:pPr>
            <a:r>
              <a:rPr lang="ru-RU" altLang="en-US" sz="2800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altLang="en-US" sz="2800">
                <a:solidFill>
                  <a:prstClr val="black"/>
                </a:solidFill>
                <a:latin typeface="Symbol" panose="05050102010706020507" pitchFamily="18" charset="2"/>
              </a:rPr>
              <a:t></a:t>
            </a:r>
            <a:r>
              <a:rPr lang="ru-RU" alt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en-US" sz="2800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ru-RU" alt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ru-RU" altLang="en-US" sz="2800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ru-RU" altLang="en-US" sz="2800" baseline="-240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alt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en-US" sz="2800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800" baseline="-240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alt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en-US" sz="2800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ru-RU" altLang="en-US" sz="2800" baseline="-240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ru-RU" alt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altLang="en-US" sz="2800">
                <a:solidFill>
                  <a:prstClr val="black"/>
                </a:solidFill>
                <a:latin typeface="Symbol" panose="05050102010706020507" pitchFamily="18" charset="2"/>
              </a:rPr>
              <a:t></a:t>
            </a:r>
            <a:r>
              <a:rPr lang="ru-RU" alt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en-US" sz="2800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ru-RU" altLang="en-US" sz="2800" baseline="-240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altLang="en-US" sz="2800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800" baseline="-240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altLang="en-US" sz="2800">
                <a:solidFill>
                  <a:prstClr val="black"/>
                </a:solidFill>
                <a:latin typeface="Symbol" panose="05050102010706020507" pitchFamily="18" charset="2"/>
              </a:rPr>
              <a:t></a:t>
            </a:r>
            <a:r>
              <a:rPr lang="ru-RU" alt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800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i="1" baseline="-250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altLang="en-US" sz="2800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en-US" sz="2800" i="1" baseline="-250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altLang="en-US" sz="2800" baseline="-250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236C4B4-0D58-5BDC-CC37-0594EBA0D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770483"/>
              </p:ext>
            </p:extLst>
          </p:nvPr>
        </p:nvGraphicFramePr>
        <p:xfrm>
          <a:off x="7560715" y="3286141"/>
          <a:ext cx="3674637" cy="3232404"/>
        </p:xfrm>
        <a:graphic>
          <a:graphicData uri="http://schemas.openxmlformats.org/drawingml/2006/table">
            <a:tbl>
              <a:tblPr/>
              <a:tblGrid>
                <a:gridCol w="62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7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156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TT</a:t>
                      </a:r>
                      <a:endParaRPr kumimoji="0" lang="ru-R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r>
                        <a:rPr kumimoji="0" lang="ru-RU" altLang="en-US" sz="1900" b="1" i="0" u="none" strike="noStrike" cap="none" normalizeH="0" baseline="-21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kumimoji="0" lang="ru-RU" altLang="en-US" sz="1900" b="0" i="0" u="none" strike="noStrike" cap="none" normalizeH="0" baseline="-21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r>
                        <a:rPr kumimoji="0" lang="ru-RU" altLang="en-US" sz="1900" b="1" i="0" u="none" strike="noStrike" cap="none" normalizeH="0" baseline="-21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ru-RU" altLang="en-US" sz="1900" b="0" i="0" u="none" strike="noStrike" cap="none" normalizeH="0" baseline="-21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r>
                        <a:rPr kumimoji="0" lang="ru-RU" altLang="en-US" sz="1900" b="1" i="0" u="none" strike="noStrike" cap="none" normalizeH="0" baseline="-21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ru-RU" altLang="en-US" sz="1900" b="0" i="0" u="none" strike="noStrike" cap="none" normalizeH="0" baseline="-21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endParaRPr kumimoji="0" lang="ru-R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ru-R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ru-R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kumimoji="0" lang="ru-R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kumimoji="0" lang="ru-R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kumimoji="0" lang="ru-R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kumimoji="0" lang="ru-R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kumimoji="0" lang="ru-R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kumimoji="0" lang="ru-R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1pPr>
                      <a:lvl2pPr marL="4572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2pPr>
                      <a:lvl3pPr marL="9144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3pPr>
                      <a:lvl4pPr marL="13716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4pPr>
                      <a:lvl5pPr marL="182880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5pPr>
                      <a:lvl6pPr marL="22860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6pPr>
                      <a:lvl7pPr marL="27432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7pPr>
                      <a:lvl8pPr marL="32004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8pPr>
                      <a:lvl9pPr marL="3657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38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F235A9-3DCD-4B10-98BB-4B579E1DCC48}"/>
                  </a:ext>
                </a:extLst>
              </p:cNvPr>
              <p:cNvSpPr txBox="1"/>
              <p:nvPr/>
            </p:nvSpPr>
            <p:spPr>
              <a:xfrm>
                <a:off x="267287" y="834380"/>
                <a:ext cx="11924712" cy="5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2.1. ĐẠI SỐ LOGIC</a:t>
                </a:r>
              </a:p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2.1.3. </a:t>
                </a:r>
                <a:r>
                  <a:rPr lang="en-U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logic</a:t>
                </a:r>
              </a:p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2.1.4. </a:t>
                </a:r>
                <a:r>
                  <a:rPr lang="en-U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Rút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gọn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logic</a:t>
                </a: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:r>
                  <a:rPr lang="en-US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endPara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3200" i="1" u="sng" dirty="0">
                    <a:latin typeface="Times New Roman" panose="02020603050405020304" pitchFamily="18" charset="0"/>
                    <a:cs typeface="Times New Roman" pitchFamily="18" charset="0"/>
                  </a:rPr>
                  <a:t>Ví dụ:</a:t>
                </a:r>
                <a:r>
                  <a:rPr lang="en-US" sz="3200" dirty="0">
                    <a:latin typeface="Times New Roman" pitchFamily="18" charset="0"/>
                    <a:cs typeface="Times New Roman" pitchFamily="18" charset="0"/>
                  </a:rPr>
                  <a:t> Biểu diễn hàm logic sau theo mã BCD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3200" i="1" u="sng" dirty="0">
                    <a:latin typeface="Times New Roman" pitchFamily="18" charset="0"/>
                    <a:cs typeface="Times New Roman" pitchFamily="18" charset="0"/>
                  </a:rPr>
                  <a:t>Ví dụ:</a:t>
                </a:r>
                <a:r>
                  <a:rPr lang="en-US" sz="3200" dirty="0">
                    <a:latin typeface="Times New Roman" pitchFamily="18" charset="0"/>
                    <a:cs typeface="Times New Roman" pitchFamily="18" charset="0"/>
                  </a:rPr>
                  <a:t> Biểu diễn hàm logic sau theo mã GRAY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3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3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32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3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grow m:val="on"/>
                          <m:subHide m:val="on"/>
                          <m:supHide m:val="on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>
                                  <a:latin typeface="Cambria Math" panose="02040503050406030204" pitchFamily="18" charset="0"/>
                                </a:rPr>
                                <m:t>0,3,6</m:t>
                              </m:r>
                            </m:e>
                          </m:d>
                        </m:e>
                      </m:nary>
                      <m:r>
                        <a:rPr lang="en-US" sz="320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n-US" sz="3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    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=(7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F235A9-3DCD-4B10-98BB-4B579E1DC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87" y="834380"/>
                <a:ext cx="11924712" cy="5432000"/>
              </a:xfrm>
              <a:prstGeom prst="rect">
                <a:avLst/>
              </a:prstGeom>
              <a:blipFill>
                <a:blip r:embed="rId2"/>
                <a:stretch>
                  <a:fillRect l="-1329" t="-1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16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2.1.3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BIỂU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DIỄN HÀM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F235A9-3DCD-4B10-98BB-4B579E1DCC48}"/>
                  </a:ext>
                </a:extLst>
              </p:cNvPr>
              <p:cNvSpPr txBox="1"/>
              <p:nvPr/>
            </p:nvSpPr>
            <p:spPr>
              <a:xfrm>
                <a:off x="394035" y="2639287"/>
                <a:ext cx="11924712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 </a:t>
                </a:r>
                <a:r>
                  <a:rPr lang="en-US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tắc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tuyển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32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CTT)(SOP)</a:t>
                </a:r>
                <a:endPara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Ký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(…..)</m:t>
                        </m:r>
                      </m:e>
                    </m:nary>
                  </m:oMath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Quan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những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1.</a:t>
                </a:r>
              </a:p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rút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tuyển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nhóm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hội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nhóm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=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≠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lấy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bù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F235A9-3DCD-4B10-98BB-4B579E1DC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35" y="2639287"/>
                <a:ext cx="11924712" cy="3539430"/>
              </a:xfrm>
              <a:prstGeom prst="rect">
                <a:avLst/>
              </a:prstGeom>
              <a:blipFill>
                <a:blip r:embed="rId2"/>
                <a:stretch>
                  <a:fillRect l="-1329" t="-2410" r="-1278" b="-4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1">
            <a:extLst>
              <a:ext uri="{FF2B5EF4-FFF2-40B4-BE49-F238E27FC236}">
                <a16:creationId xmlns:a16="http://schemas.microsoft.com/office/drawing/2014/main" id="{BE08EDB2-082D-4C9E-2BB3-EAA23036D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38" y="1110171"/>
            <a:ext cx="11634735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* Tích chuẩn (minterm):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alt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(0 &lt;= i &lt;= 2</a:t>
            </a:r>
            <a:r>
              <a:rPr lang="en-US" altLang="en-US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là các số hạng tích (AND) của n biến mà hàm Boole phụ thuộc với quy ước biến đó có bù nếu nó là 0 và không bù nếu là 1.</a:t>
            </a:r>
          </a:p>
        </p:txBody>
      </p:sp>
    </p:spTree>
    <p:extLst>
      <p:ext uri="{BB962C8B-B14F-4D97-AF65-F5344CB8AC3E}">
        <p14:creationId xmlns:p14="http://schemas.microsoft.com/office/powerpoint/2010/main" val="300990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2.1.3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BIỂU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DIỄN HÀM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3">
                <a:extLst>
                  <a:ext uri="{FF2B5EF4-FFF2-40B4-BE49-F238E27FC236}">
                    <a16:creationId xmlns:a16="http://schemas.microsoft.com/office/drawing/2014/main" id="{8DE1E1B4-2824-C4EF-1222-98AC038E27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5449" y="839243"/>
                <a:ext cx="9486900" cy="19451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fontAlgn="base" hangingPunct="0">
                  <a:spcBef>
                    <a:spcPct val="10000"/>
                  </a:spcBef>
                  <a:spcAft>
                    <a:spcPct val="0"/>
                  </a:spcAft>
                  <a:defRPr/>
                </a:pPr>
                <a:r>
                  <a:rPr lang="en-US" sz="2800" b="1" i="1" dirty="0" err="1">
                    <a:solidFill>
                      <a:srgbClr val="1C5E29"/>
                    </a:solidFill>
                    <a:latin typeface="Arial" panose="020B0604020202020204" pitchFamily="34" charset="0"/>
                    <a:cs typeface="Arial" pitchFamily="34" charset="0"/>
                  </a:rPr>
                  <a:t>Ví</a:t>
                </a:r>
                <a:r>
                  <a:rPr lang="en-US" sz="2800" b="1" i="1" dirty="0">
                    <a:solidFill>
                      <a:srgbClr val="1C5E29"/>
                    </a:solidFill>
                    <a:latin typeface="Arial" panose="020B0604020202020204" pitchFamily="34" charset="0"/>
                    <a:cs typeface="Arial" pitchFamily="34" charset="0"/>
                  </a:rPr>
                  <a:t> </a:t>
                </a:r>
                <a:r>
                  <a:rPr lang="en-US" sz="2800" b="1" i="1" dirty="0" err="1">
                    <a:solidFill>
                      <a:srgbClr val="1C5E29"/>
                    </a:solidFill>
                    <a:latin typeface="Arial" panose="020B0604020202020204" pitchFamily="34" charset="0"/>
                    <a:cs typeface="Arial" pitchFamily="34" charset="0"/>
                  </a:rPr>
                  <a:t>dụ</a:t>
                </a:r>
                <a:r>
                  <a:rPr lang="en-US" sz="2800" b="1" i="1" dirty="0">
                    <a:solidFill>
                      <a:srgbClr val="1C5E29"/>
                    </a:solidFill>
                    <a:latin typeface="Arial" panose="020B0604020202020204" pitchFamily="34" charset="0"/>
                    <a:cs typeface="Arial" pitchFamily="34" charset="0"/>
                  </a:rPr>
                  <a:t> 1: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Biểu</a:t>
                </a:r>
                <a:r>
                  <a:rPr lang="en-US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diễn</a:t>
                </a:r>
                <a:r>
                  <a:rPr lang="en-US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hàm</a:t>
                </a:r>
                <a:r>
                  <a:rPr lang="en-US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 logic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bằng</a:t>
                </a:r>
                <a:r>
                  <a:rPr lang="en-US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biểu</a:t>
                </a:r>
                <a:r>
                  <a:rPr lang="en-US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thức</a:t>
                </a:r>
                <a:r>
                  <a:rPr lang="en-US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đại</a:t>
                </a:r>
                <a:r>
                  <a:rPr lang="en-US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 </a:t>
                </a:r>
                <a:r>
                  <a:rPr lang="en-US" sz="280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số</a:t>
                </a:r>
                <a:r>
                  <a:rPr lang="en-US" sz="2800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 </a:t>
                </a:r>
              </a:p>
              <a:p>
                <a:pPr algn="just" eaLnBrk="0" fontAlgn="base" hangingPunct="0">
                  <a:spcBef>
                    <a:spcPct val="10000"/>
                  </a:spcBef>
                  <a:spcAft>
                    <a:spcPct val="0"/>
                  </a:spcAft>
                  <a:defRPr/>
                </a:pPr>
                <a:r>
                  <a:rPr lang="vi-VN" sz="2800" dirty="0">
                    <a:solidFill>
                      <a:srgbClr val="1C5E29">
                        <a:lumMod val="50000"/>
                      </a:srgbClr>
                    </a:solidFill>
                    <a:latin typeface="Times New Roman" pitchFamily="18" charset="0"/>
                    <a:cs typeface="Times New Roman" pitchFamily="18" charset="0"/>
                  </a:rPr>
                  <a:t>Y=f(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800" i="1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vi-VN" sz="2800" i="1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vi-VN" sz="2800" i="1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vi-VN" sz="2800" i="1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vi-VN" sz="2800" i="1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vi-VN" sz="2800" i="1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vi-VN" sz="2800" i="1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vi-VN" sz="2800" i="1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vi-VN" sz="2800" i="1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1C5E29">
                        <a:lumMod val="50000"/>
                      </a:srgbClr>
                    </a:solidFill>
                    <a:latin typeface="Times New Roman" pitchFamily="18" charset="0"/>
                    <a:cs typeface="Times New Roman" pitchFamily="18" charset="0"/>
                  </a:rPr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vi-VN" sz="2800" i="1" dirty="0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vi-VN" sz="2800" dirty="0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sz="2800" dirty="0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4,5</m:t>
                        </m:r>
                        <m:r>
                          <a:rPr lang="vi-VN" sz="2800" dirty="0">
                            <a:solidFill>
                              <a:srgbClr val="1C5E29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800" b="1">
                    <a:solidFill>
                      <a:srgbClr val="1C5E29">
                        <a:lumMod val="50000"/>
                      </a:srgbClr>
                    </a:solidFill>
                    <a:latin typeface="Arial" panose="020B0604020202020204" pitchFamily="34" charset="0"/>
                    <a:cs typeface="Arial" pitchFamily="34" charset="0"/>
                  </a:rPr>
                  <a:t>, </a:t>
                </a:r>
                <a:r>
                  <a:rPr lang="en-US" sz="2800">
                    <a:solidFill>
                      <a:srgbClr val="1C5E29">
                        <a:lumMod val="50000"/>
                      </a:srgbClr>
                    </a:solidFill>
                    <a:latin typeface="Arial" panose="020B0604020202020204" pitchFamily="34" charset="0"/>
                    <a:cs typeface="Arial" pitchFamily="34" charset="0"/>
                  </a:rPr>
                  <a:t>N = 2</a:t>
                </a:r>
                <a:endParaRPr lang="en-US" sz="2800" dirty="0">
                  <a:solidFill>
                    <a:srgbClr val="1C5E29">
                      <a:lumMod val="50000"/>
                    </a:srgbClr>
                  </a:solidFill>
                  <a:latin typeface="Arial" panose="020B0604020202020204" pitchFamily="34" charset="0"/>
                  <a:cs typeface="Arial" pitchFamily="34" charset="0"/>
                </a:endParaRPr>
              </a:p>
              <a:p>
                <a:pPr algn="just" eaLnBrk="0" fontAlgn="base" hangingPunct="0">
                  <a:spcBef>
                    <a:spcPct val="10000"/>
                  </a:spcBef>
                  <a:spcAft>
                    <a:spcPct val="0"/>
                  </a:spcAft>
                  <a:defRPr/>
                </a:pPr>
                <a:endParaRPr lang="en-US" sz="280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endParaRPr>
              </a:p>
              <a:p>
                <a:pPr marL="533387" indent="-533387" algn="just" eaLnBrk="0" fontAlgn="base" hangingPunct="0">
                  <a:spcBef>
                    <a:spcPct val="10000"/>
                  </a:spcBef>
                  <a:spcAft>
                    <a:spcPct val="0"/>
                  </a:spcAft>
                  <a:defRPr/>
                </a:pPr>
                <a:endParaRPr lang="en-US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TextBox 23">
                <a:extLst>
                  <a:ext uri="{FF2B5EF4-FFF2-40B4-BE49-F238E27FC236}">
                    <a16:creationId xmlns:a16="http://schemas.microsoft.com/office/drawing/2014/main" id="{8DE1E1B4-2824-C4EF-1222-98AC038E2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5449" y="839243"/>
                <a:ext cx="9486900" cy="1945148"/>
              </a:xfrm>
              <a:prstGeom prst="rect">
                <a:avLst/>
              </a:prstGeom>
              <a:blipFill>
                <a:blip r:embed="rId3"/>
                <a:stretch>
                  <a:fillRect l="-1350" t="-344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A7428145-6738-5C1F-59FB-5A0C430B2A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671082"/>
              </p:ext>
            </p:extLst>
          </p:nvPr>
        </p:nvGraphicFramePr>
        <p:xfrm>
          <a:off x="2209801" y="5815013"/>
          <a:ext cx="6286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2095200" imgH="253800" progId="Equation.DSMT4">
                  <p:embed/>
                </p:oleObj>
              </mc:Choice>
              <mc:Fallback>
                <p:oleObj name="Equation" r:id="rId4" imgW="2095200" imgH="253800" progId="Equation.DSMT4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5815013"/>
                        <a:ext cx="62865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E2EDC4-8517-2F5F-6A88-8CE6A0671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741059"/>
              </p:ext>
            </p:extLst>
          </p:nvPr>
        </p:nvGraphicFramePr>
        <p:xfrm>
          <a:off x="1410078" y="1852247"/>
          <a:ext cx="5562602" cy="3840480"/>
        </p:xfrm>
        <a:graphic>
          <a:graphicData uri="http://schemas.openxmlformats.org/drawingml/2006/table">
            <a:tbl>
              <a:tblPr/>
              <a:tblGrid>
                <a:gridCol w="1122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2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9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TT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800" b="1" baseline="-2500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</a:t>
                      </a:r>
                      <a:endParaRPr lang="en-US" sz="2800" b="1" dirty="0">
                        <a:solidFill>
                          <a:srgbClr val="030904"/>
                        </a:solidFill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800" b="1" baseline="-2500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  <a:endParaRPr lang="en-US" sz="2800" b="1" dirty="0">
                        <a:solidFill>
                          <a:srgbClr val="030904"/>
                        </a:solidFill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800" b="1" baseline="-2500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  <a:endParaRPr lang="en-US" sz="2800" b="1" dirty="0">
                        <a:solidFill>
                          <a:srgbClr val="030904"/>
                        </a:solidFill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21">
                        <a:lumMod val="25000"/>
                        <a:lumOff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21">
                        <a:lumMod val="25000"/>
                        <a:lumOff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21">
                        <a:lumMod val="25000"/>
                        <a:lumOff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AA854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AA854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21">
                        <a:lumMod val="25000"/>
                        <a:lumOff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ight Arrow 14">
            <a:extLst>
              <a:ext uri="{FF2B5EF4-FFF2-40B4-BE49-F238E27FC236}">
                <a16:creationId xmlns:a16="http://schemas.microsoft.com/office/drawing/2014/main" id="{02709418-35FA-E4A9-4D60-A0B0BBFECCAF}"/>
              </a:ext>
            </a:extLst>
          </p:cNvPr>
          <p:cNvSpPr/>
          <p:nvPr/>
        </p:nvSpPr>
        <p:spPr>
          <a:xfrm>
            <a:off x="6999665" y="3963623"/>
            <a:ext cx="609600" cy="228600"/>
          </a:xfrm>
          <a:prstGeom prst="rightArrow">
            <a:avLst/>
          </a:prstGeom>
          <a:solidFill>
            <a:srgbClr val="3AA854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defTabSz="914377" eaLnBrk="0" fontAlgn="base" hangingPunct="0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FontTx/>
              <a:buChar char="-"/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F044BACC-4452-E45B-AFEB-2ABE8979E8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216233"/>
              </p:ext>
            </p:extLst>
          </p:nvPr>
        </p:nvGraphicFramePr>
        <p:xfrm>
          <a:off x="7743828" y="3708400"/>
          <a:ext cx="2433639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901440" imgH="253800" progId="Equation.DSMT4">
                  <p:embed/>
                </p:oleObj>
              </mc:Choice>
              <mc:Fallback>
                <p:oleObj name="Equation" r:id="rId6" imgW="901440" imgH="253800" progId="Equation.DSMT4">
                  <p:embed/>
                  <p:pic>
                    <p:nvPicPr>
                      <p:cNvPr id="40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3828" y="3708400"/>
                        <a:ext cx="2433639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ight Arrow 16">
            <a:extLst>
              <a:ext uri="{FF2B5EF4-FFF2-40B4-BE49-F238E27FC236}">
                <a16:creationId xmlns:a16="http://schemas.microsoft.com/office/drawing/2014/main" id="{09B08A48-24CD-A98D-B295-9DB36D6A8C49}"/>
              </a:ext>
            </a:extLst>
          </p:cNvPr>
          <p:cNvSpPr/>
          <p:nvPr/>
        </p:nvSpPr>
        <p:spPr>
          <a:xfrm>
            <a:off x="6999665" y="4643072"/>
            <a:ext cx="609600" cy="228600"/>
          </a:xfrm>
          <a:prstGeom prst="rightArrow">
            <a:avLst/>
          </a:prstGeom>
          <a:solidFill>
            <a:srgbClr val="3AA854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defTabSz="914377" eaLnBrk="0" fontAlgn="base" hangingPunct="0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FontTx/>
              <a:buChar char="-"/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6259F18E-4D2B-EB4E-44F6-7F4EEE6B55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343003"/>
              </p:ext>
            </p:extLst>
          </p:nvPr>
        </p:nvGraphicFramePr>
        <p:xfrm>
          <a:off x="7790244" y="4387485"/>
          <a:ext cx="23653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8" imgW="876240" imgH="253800" progId="Equation.DSMT4">
                  <p:embed/>
                </p:oleObj>
              </mc:Choice>
              <mc:Fallback>
                <p:oleObj name="Equation" r:id="rId8" imgW="876240" imgH="253800" progId="Equation.DSMT4">
                  <p:embed/>
                  <p:pic>
                    <p:nvPicPr>
                      <p:cNvPr id="41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0244" y="4387485"/>
                        <a:ext cx="23653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386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2.1.3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BIỂU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DIỄN HÀM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F235A9-3DCD-4B10-98BB-4B579E1DCC48}"/>
                  </a:ext>
                </a:extLst>
              </p:cNvPr>
              <p:cNvSpPr txBox="1"/>
              <p:nvPr/>
            </p:nvSpPr>
            <p:spPr>
              <a:xfrm>
                <a:off x="267288" y="2574492"/>
                <a:ext cx="11924712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 </a:t>
                </a:r>
                <a:r>
                  <a:rPr lang="en-US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tắc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hội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32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CTH)(POS)</a:t>
                </a:r>
                <a:endPara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Ký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subHide m:val="on"/>
                        <m:supHide m:val="on"/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(…..)</m:t>
                        </m:r>
                      </m:e>
                    </m:nary>
                  </m:oMath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Quan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những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0.</a:t>
                </a:r>
              </a:p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rút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hội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nhóm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tuyển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nhóm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=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≠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lấy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bù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F235A9-3DCD-4B10-98BB-4B579E1DC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88" y="2574492"/>
                <a:ext cx="11924712" cy="3539430"/>
              </a:xfrm>
              <a:prstGeom prst="rect">
                <a:avLst/>
              </a:prstGeom>
              <a:blipFill>
                <a:blip r:embed="rId2"/>
                <a:stretch>
                  <a:fillRect l="-1329" t="-2410" r="-1278" b="-4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1">
            <a:extLst>
              <a:ext uri="{FF2B5EF4-FFF2-40B4-BE49-F238E27FC236}">
                <a16:creationId xmlns:a16="http://schemas.microsoft.com/office/drawing/2014/main" id="{737EE362-0E93-8566-24BD-22A179FB1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42" y="1012336"/>
            <a:ext cx="11305641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* Tổng chuẩn (Maxterm):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alt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(0 &lt;= i &lt;= 2</a:t>
            </a:r>
            <a:r>
              <a:rPr lang="en-US" altLang="en-US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là các số hạng tổng (OR) của n biến mà hàm Boole phụ thuộc với quy ước biến đó có bù nếu nó là 1 và không bù nếu là 0</a:t>
            </a:r>
          </a:p>
        </p:txBody>
      </p:sp>
    </p:spTree>
    <p:extLst>
      <p:ext uri="{BB962C8B-B14F-4D97-AF65-F5344CB8AC3E}">
        <p14:creationId xmlns:p14="http://schemas.microsoft.com/office/powerpoint/2010/main" val="293685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2.1.3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BIỂU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DIỄN HÀM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6D0A082E-396A-77FF-3647-AF986AB65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507" y="1017761"/>
            <a:ext cx="111273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10000"/>
              </a:spcBef>
              <a:spcAft>
                <a:spcPct val="0"/>
              </a:spcAft>
              <a:defRPr/>
            </a:pPr>
            <a:r>
              <a:rPr lang="en-US" sz="2800" b="1" i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Ví</a:t>
            </a:r>
            <a:r>
              <a:rPr lang="en-US" sz="2800" b="1" i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i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dụ</a:t>
            </a:r>
            <a:r>
              <a:rPr lang="en-US" sz="2800" b="1" i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2: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Biểu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diễn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logic Y 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= 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  <a:sym typeface="Symbol"/>
              </a:rPr>
              <a:t>∏(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3,6);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N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=1 bằng biểu thức đại số  </a:t>
            </a:r>
            <a:r>
              <a:rPr lang="en-US" sz="2800" b="1" i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B3E0A57B-986A-3DA4-09C2-B23825B42A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225507"/>
              </p:ext>
            </p:extLst>
          </p:nvPr>
        </p:nvGraphicFramePr>
        <p:xfrm>
          <a:off x="2523547" y="5589760"/>
          <a:ext cx="569118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2108160" imgH="253800" progId="">
                  <p:embed/>
                </p:oleObj>
              </mc:Choice>
              <mc:Fallback>
                <p:oleObj name="Equation" r:id="rId3" imgW="2108160" imgH="253800" progId="">
                  <p:embed/>
                  <p:pic>
                    <p:nvPicPr>
                      <p:cNvPr id="717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3547" y="5589760"/>
                        <a:ext cx="5691187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176995A-3844-7BA3-31BC-0A754566F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222214"/>
              </p:ext>
            </p:extLst>
          </p:nvPr>
        </p:nvGraphicFramePr>
        <p:xfrm>
          <a:off x="864608" y="1673399"/>
          <a:ext cx="5562602" cy="3840480"/>
        </p:xfrm>
        <a:graphic>
          <a:graphicData uri="http://schemas.openxmlformats.org/drawingml/2006/table">
            <a:tbl>
              <a:tblPr/>
              <a:tblGrid>
                <a:gridCol w="1122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2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9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TT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800" b="1" baseline="-2500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</a:t>
                      </a:r>
                      <a:endParaRPr lang="en-US" sz="2800" b="1" dirty="0">
                        <a:solidFill>
                          <a:srgbClr val="030904"/>
                        </a:solidFill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800" b="1" baseline="-2500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  <a:endParaRPr lang="en-US" sz="2800" b="1" dirty="0">
                        <a:solidFill>
                          <a:srgbClr val="030904"/>
                        </a:solidFill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800" b="1" baseline="-2500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  <a:endParaRPr lang="en-US" sz="2800" b="1" dirty="0">
                        <a:solidFill>
                          <a:srgbClr val="030904"/>
                        </a:solidFill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21">
                        <a:lumMod val="25000"/>
                        <a:lumOff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21">
                        <a:lumMod val="25000"/>
                        <a:lumOff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21">
                        <a:lumMod val="25000"/>
                        <a:lumOff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21">
                        <a:lumMod val="25000"/>
                        <a:lumOff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DA8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3090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21">
                        <a:lumMod val="25000"/>
                        <a:lumOff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Right Arrow 14">
            <a:extLst>
              <a:ext uri="{FF2B5EF4-FFF2-40B4-BE49-F238E27FC236}">
                <a16:creationId xmlns:a16="http://schemas.microsoft.com/office/drawing/2014/main" id="{E3D22348-5039-74ED-03C8-F047534319BA}"/>
              </a:ext>
            </a:extLst>
          </p:cNvPr>
          <p:cNvSpPr/>
          <p:nvPr/>
        </p:nvSpPr>
        <p:spPr>
          <a:xfrm>
            <a:off x="6427207" y="3502199"/>
            <a:ext cx="609600" cy="228600"/>
          </a:xfrm>
          <a:prstGeom prst="rightArrow">
            <a:avLst/>
          </a:prstGeom>
          <a:solidFill>
            <a:srgbClr val="3AA854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defTabSz="914377" eaLnBrk="0" fontAlgn="base" hangingPunct="0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FontTx/>
              <a:buChar char="-"/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23" name="Object 2">
            <a:extLst>
              <a:ext uri="{FF2B5EF4-FFF2-40B4-BE49-F238E27FC236}">
                <a16:creationId xmlns:a16="http://schemas.microsoft.com/office/drawing/2014/main" id="{5D36351D-9D45-C776-4256-EE87DF06CC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62652"/>
              </p:ext>
            </p:extLst>
          </p:nvPr>
        </p:nvGraphicFramePr>
        <p:xfrm>
          <a:off x="7016752" y="3246439"/>
          <a:ext cx="3257551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1206360" imgH="253800" progId="Equation.DSMT4">
                  <p:embed/>
                </p:oleObj>
              </mc:Choice>
              <mc:Fallback>
                <p:oleObj name="Equation" r:id="rId5" imgW="1206360" imgH="253800" progId="Equation.DSMT4">
                  <p:embed/>
                  <p:pic>
                    <p:nvPicPr>
                      <p:cNvPr id="717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2" y="3246439"/>
                        <a:ext cx="3257551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ight Arrow 16">
            <a:extLst>
              <a:ext uri="{FF2B5EF4-FFF2-40B4-BE49-F238E27FC236}">
                <a16:creationId xmlns:a16="http://schemas.microsoft.com/office/drawing/2014/main" id="{3A4D9535-B2FC-7D3E-7209-46808C4651E3}"/>
              </a:ext>
            </a:extLst>
          </p:cNvPr>
          <p:cNvSpPr/>
          <p:nvPr/>
        </p:nvSpPr>
        <p:spPr>
          <a:xfrm>
            <a:off x="6427207" y="4748385"/>
            <a:ext cx="609600" cy="228600"/>
          </a:xfrm>
          <a:prstGeom prst="rightArrow">
            <a:avLst/>
          </a:prstGeom>
          <a:solidFill>
            <a:srgbClr val="3AA854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defTabSz="914377" eaLnBrk="0" fontAlgn="base" hangingPunct="0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FontTx/>
              <a:buChar char="-"/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25" name="Object 3">
            <a:extLst>
              <a:ext uri="{FF2B5EF4-FFF2-40B4-BE49-F238E27FC236}">
                <a16:creationId xmlns:a16="http://schemas.microsoft.com/office/drawing/2014/main" id="{39679AB5-AF7D-EC8F-F11D-29D4D8C79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7154038"/>
              </p:ext>
            </p:extLst>
          </p:nvPr>
        </p:nvGraphicFramePr>
        <p:xfrm>
          <a:off x="7036810" y="4492799"/>
          <a:ext cx="32226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1193760" imgH="253800" progId="Equation.DSMT4">
                  <p:embed/>
                </p:oleObj>
              </mc:Choice>
              <mc:Fallback>
                <p:oleObj name="Equation" r:id="rId7" imgW="1193760" imgH="253800" progId="Equation.DSMT4">
                  <p:embed/>
                  <p:pic>
                    <p:nvPicPr>
                      <p:cNvPr id="717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6810" y="4492799"/>
                        <a:ext cx="322262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83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2.1.3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BIỂU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DIỄN HÀM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D22B95-761E-4A2F-B2F1-DE362BF64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032" y="1255914"/>
            <a:ext cx="896302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1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2.1.3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BIỂU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DIỄN HÀM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6C22E0B5-1521-521B-59EE-4D4E79D68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066802"/>
            <a:ext cx="9169400" cy="1809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Rút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gọn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logic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bằng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biểu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thức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đại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số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	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Phương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pháp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: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Dựa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vào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định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luật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và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tính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chất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đại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số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logic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để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thực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hiện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.</a:t>
            </a:r>
          </a:p>
          <a:p>
            <a:pPr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	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Ví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dụ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1: 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Tối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thiểu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hóa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logic: </a:t>
            </a:r>
            <a:endParaRPr lang="en-US" sz="2800" b="1" dirty="0">
              <a:solidFill>
                <a:srgbClr val="030904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4BD30561-A617-ADD1-B1D6-2FC0293825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1" y="2971800"/>
          <a:ext cx="6210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2070000" imgH="253800" progId="">
                  <p:embed/>
                </p:oleObj>
              </mc:Choice>
              <mc:Fallback>
                <p:oleObj name="Equation" r:id="rId3" imgW="2070000" imgH="253800" progId="">
                  <p:embed/>
                  <p:pic>
                    <p:nvPicPr>
                      <p:cNvPr id="819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2971800"/>
                        <a:ext cx="62103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0">
            <a:extLst>
              <a:ext uri="{FF2B5EF4-FFF2-40B4-BE49-F238E27FC236}">
                <a16:creationId xmlns:a16="http://schemas.microsoft.com/office/drawing/2014/main" id="{DDDF5D7B-2358-0BFD-D014-874FAAF20E20}"/>
              </a:ext>
            </a:extLst>
          </p:cNvPr>
          <p:cNvGrpSpPr/>
          <p:nvPr/>
        </p:nvGrpSpPr>
        <p:grpSpPr>
          <a:xfrm>
            <a:off x="685800" y="4492129"/>
            <a:ext cx="4620491" cy="537075"/>
            <a:chOff x="685800" y="3948545"/>
            <a:chExt cx="4620490" cy="53707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5A7856-B0E7-B405-FCB3-A28B1C1DAD46}"/>
                </a:ext>
              </a:extLst>
            </p:cNvPr>
            <p:cNvSpPr/>
            <p:nvPr/>
          </p:nvSpPr>
          <p:spPr>
            <a:xfrm>
              <a:off x="685800" y="3962400"/>
              <a:ext cx="2762294" cy="5232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800" kern="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Tính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 </a:t>
              </a:r>
              <a:r>
                <a:rPr lang="en-US" sz="2800" kern="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chất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 </a:t>
              </a:r>
              <a:r>
                <a:rPr lang="en-US" sz="2800" kern="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hoặc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: </a:t>
              </a:r>
            </a:p>
          </p:txBody>
        </p:sp>
        <p:graphicFrame>
          <p:nvGraphicFramePr>
            <p:cNvPr id="10" name="Object 7">
              <a:extLst>
                <a:ext uri="{FF2B5EF4-FFF2-40B4-BE49-F238E27FC236}">
                  <a16:creationId xmlns:a16="http://schemas.microsoft.com/office/drawing/2014/main" id="{39239EBA-E50E-2637-4AAE-F1BECAD8E9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77490" y="3948545"/>
            <a:ext cx="1828800" cy="519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Equation" r:id="rId5" imgW="673100" imgH="203200" progId="Equation.3">
                    <p:embed/>
                  </p:oleObj>
                </mc:Choice>
                <mc:Fallback>
                  <p:oleObj name="Equation" r:id="rId5" imgW="673100" imgH="203200" progId="Equation.3">
                    <p:embed/>
                    <p:pic>
                      <p:nvPicPr>
                        <p:cNvPr id="18637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7490" y="3948545"/>
                          <a:ext cx="1828800" cy="519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C6F34C9-A92D-AF87-8F4C-062DF41D8729}"/>
              </a:ext>
            </a:extLst>
          </p:cNvPr>
          <p:cNvSpPr/>
          <p:nvPr/>
        </p:nvSpPr>
        <p:spPr>
          <a:xfrm>
            <a:off x="685800" y="3882526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Định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luật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phân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bố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: X</a:t>
            </a:r>
            <a:r>
              <a:rPr lang="en-US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(X</a:t>
            </a:r>
            <a:r>
              <a:rPr lang="en-US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+ X</a:t>
            </a:r>
            <a:r>
              <a:rPr lang="en-US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3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)  = X</a:t>
            </a:r>
            <a:r>
              <a:rPr lang="en-US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. X</a:t>
            </a:r>
            <a:r>
              <a:rPr lang="en-US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+ X</a:t>
            </a:r>
            <a:r>
              <a:rPr lang="en-US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.X</a:t>
            </a:r>
            <a:r>
              <a:rPr lang="en-US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3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4ED37B-CFDB-A3D2-4101-B8687F2E0EAB}"/>
              </a:ext>
            </a:extLst>
          </p:cNvPr>
          <p:cNvSpPr/>
          <p:nvPr/>
        </p:nvSpPr>
        <p:spPr>
          <a:xfrm>
            <a:off x="685800" y="5115580"/>
            <a:ext cx="46378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Tính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chất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: 	X . 1  =  X </a:t>
            </a:r>
          </a:p>
        </p:txBody>
      </p:sp>
      <p:grpSp>
        <p:nvGrpSpPr>
          <p:cNvPr id="13" name="Group 15">
            <a:extLst>
              <a:ext uri="{FF2B5EF4-FFF2-40B4-BE49-F238E27FC236}">
                <a16:creationId xmlns:a16="http://schemas.microsoft.com/office/drawing/2014/main" id="{59B87A46-4CEA-81C5-8663-69153AFFB5C4}"/>
              </a:ext>
            </a:extLst>
          </p:cNvPr>
          <p:cNvGrpSpPr/>
          <p:nvPr/>
        </p:nvGrpSpPr>
        <p:grpSpPr>
          <a:xfrm>
            <a:off x="2770911" y="5715000"/>
            <a:ext cx="2639291" cy="762000"/>
            <a:chOff x="3228110" y="5638800"/>
            <a:chExt cx="2639290" cy="762000"/>
          </a:xfrm>
        </p:grpSpPr>
        <p:graphicFrame>
          <p:nvGraphicFramePr>
            <p:cNvPr id="14" name="Object 4">
              <a:extLst>
                <a:ext uri="{FF2B5EF4-FFF2-40B4-BE49-F238E27FC236}">
                  <a16:creationId xmlns:a16="http://schemas.microsoft.com/office/drawing/2014/main" id="{123B2586-8177-509C-83B7-5241A79238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6200" y="5638800"/>
            <a:ext cx="1981200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7" imgW="660240" imgH="253800" progId="">
                    <p:embed/>
                  </p:oleObj>
                </mc:Choice>
                <mc:Fallback>
                  <p:oleObj name="Equation" r:id="rId7" imgW="660240" imgH="253800" progId="">
                    <p:embed/>
                    <p:pic>
                      <p:nvPicPr>
                        <p:cNvPr id="1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6200" y="5638800"/>
                          <a:ext cx="1981200" cy="762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E8E83348-E8B9-2E13-E4B5-68FDB7C1F63D}"/>
                </a:ext>
              </a:extLst>
            </p:cNvPr>
            <p:cNvSpPr/>
            <p:nvPr/>
          </p:nvSpPr>
          <p:spPr>
            <a:xfrm>
              <a:off x="3228110" y="5818910"/>
              <a:ext cx="533400" cy="381000"/>
            </a:xfrm>
            <a:prstGeom prst="rightArrow">
              <a:avLst/>
            </a:prstGeom>
            <a:solidFill>
              <a:srgbClr val="3AA854"/>
            </a:solidFill>
            <a:ln w="25400" cap="flat" cmpd="sng" algn="ctr">
              <a:solidFill>
                <a:srgbClr val="3AA854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828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2.1.3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BIỂU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DIỄN HÀM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75778BF9-F26D-A4FC-64C9-B899A9D8C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066802"/>
            <a:ext cx="9169400" cy="1809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Rút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gọn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logic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bằng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biểu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thức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đại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số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	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Phương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pháp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: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Dựa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vào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định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luật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và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tính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chất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đại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số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logic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để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thực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hiện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.</a:t>
            </a:r>
          </a:p>
          <a:p>
            <a:pPr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	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Ví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dụ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2: 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Tối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thiểu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hóa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logic: </a:t>
            </a:r>
            <a:endParaRPr lang="en-US" sz="2800" b="1" dirty="0">
              <a:solidFill>
                <a:srgbClr val="030904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A3A80871-3E0A-B0DA-38E5-4ACD5893B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9651" y="3009900"/>
          <a:ext cx="7848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2616120" imgH="279360" progId="">
                  <p:embed/>
                </p:oleObj>
              </mc:Choice>
              <mc:Fallback>
                <p:oleObj name="Equation" r:id="rId3" imgW="2616120" imgH="279360" progId="">
                  <p:embed/>
                  <p:pic>
                    <p:nvPicPr>
                      <p:cNvPr id="819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1" y="3009900"/>
                        <a:ext cx="78486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CFE8AF72-A59D-30FC-C24A-BF721DF9060A}"/>
              </a:ext>
            </a:extLst>
          </p:cNvPr>
          <p:cNvGrpSpPr/>
          <p:nvPr/>
        </p:nvGrpSpPr>
        <p:grpSpPr>
          <a:xfrm>
            <a:off x="685800" y="4080348"/>
            <a:ext cx="9144000" cy="2091853"/>
            <a:chOff x="685800" y="4080347"/>
            <a:chExt cx="9144000" cy="2091853"/>
          </a:xfrm>
        </p:grpSpPr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EBD4D9FF-388C-B939-A4AD-36411A5F55DA}"/>
                </a:ext>
              </a:extLst>
            </p:cNvPr>
            <p:cNvGrpSpPr/>
            <p:nvPr/>
          </p:nvGrpSpPr>
          <p:grpSpPr>
            <a:xfrm>
              <a:off x="685800" y="4689947"/>
              <a:ext cx="4620490" cy="537075"/>
              <a:chOff x="685800" y="3948545"/>
              <a:chExt cx="4620490" cy="53707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6457056-794F-7588-2D97-D7997529CEC0}"/>
                  </a:ext>
                </a:extLst>
              </p:cNvPr>
              <p:cNvSpPr/>
              <p:nvPr/>
            </p:nvSpPr>
            <p:spPr>
              <a:xfrm>
                <a:off x="685800" y="3962400"/>
                <a:ext cx="276229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800" kern="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Tính</a:t>
                </a:r>
                <a:r>
                  <a:rPr lang="en-US" sz="2800" kern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 </a:t>
                </a:r>
                <a:r>
                  <a:rPr lang="en-US" sz="2800" kern="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chất</a:t>
                </a:r>
                <a:r>
                  <a:rPr lang="en-US" sz="2800" kern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 </a:t>
                </a:r>
                <a:r>
                  <a:rPr lang="en-US" sz="2800" kern="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hoặc</a:t>
                </a:r>
                <a:r>
                  <a:rPr lang="en-US" sz="2800" kern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: </a:t>
                </a:r>
              </a:p>
            </p:txBody>
          </p:sp>
          <p:graphicFrame>
            <p:nvGraphicFramePr>
              <p:cNvPr id="24" name="Object 7">
                <a:extLst>
                  <a:ext uri="{FF2B5EF4-FFF2-40B4-BE49-F238E27FC236}">
                    <a16:creationId xmlns:a16="http://schemas.microsoft.com/office/drawing/2014/main" id="{D99C9E27-2A98-4664-577F-0DA11412C1C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77490" y="3948545"/>
              <a:ext cx="1828800" cy="519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99" name="Equation" r:id="rId5" imgW="673100" imgH="203200" progId="Equation.3">
                      <p:embed/>
                    </p:oleObj>
                  </mc:Choice>
                  <mc:Fallback>
                    <p:oleObj name="Equation" r:id="rId5" imgW="673100" imgH="203200" progId="Equation.3">
                      <p:embed/>
                      <p:pic>
                        <p:nvPicPr>
                          <p:cNvPr id="186375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7490" y="3948545"/>
                            <a:ext cx="1828800" cy="519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A2E453C-4528-9E0E-70B2-47E2417DEB69}"/>
                </a:ext>
              </a:extLst>
            </p:cNvPr>
            <p:cNvSpPr/>
            <p:nvPr/>
          </p:nvSpPr>
          <p:spPr>
            <a:xfrm>
              <a:off x="685800" y="4080347"/>
              <a:ext cx="91440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800" kern="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Định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 </a:t>
              </a:r>
              <a:r>
                <a:rPr lang="en-US" sz="2800" kern="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luật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 </a:t>
              </a:r>
              <a:r>
                <a:rPr lang="en-US" sz="2800" kern="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phân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 </a:t>
              </a:r>
              <a:r>
                <a:rPr lang="en-US" sz="2800" kern="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bố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: X</a:t>
              </a:r>
              <a:r>
                <a:rPr lang="en-US" sz="2800" kern="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1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(X</a:t>
              </a:r>
              <a:r>
                <a:rPr lang="en-US" sz="2800" kern="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2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+ X</a:t>
              </a:r>
              <a:r>
                <a:rPr lang="en-US" sz="2800" kern="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3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)  = X</a:t>
              </a:r>
              <a:r>
                <a:rPr lang="en-US" sz="2800" kern="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1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 . X</a:t>
              </a:r>
              <a:r>
                <a:rPr lang="en-US" sz="2800" kern="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2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 + X</a:t>
              </a:r>
              <a:r>
                <a:rPr lang="en-US" sz="2800" kern="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1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.X</a:t>
              </a:r>
              <a:r>
                <a:rPr lang="en-US" sz="2800" kern="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3</a:t>
              </a:r>
              <a:r>
                <a:rPr lang="en-US" sz="28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 </a:t>
              </a:r>
            </a:p>
          </p:txBody>
        </p:sp>
        <p:grpSp>
          <p:nvGrpSpPr>
            <p:cNvPr id="20" name="Group 15">
              <a:extLst>
                <a:ext uri="{FF2B5EF4-FFF2-40B4-BE49-F238E27FC236}">
                  <a16:creationId xmlns:a16="http://schemas.microsoft.com/office/drawing/2014/main" id="{0B08D618-F55E-E1DA-9B39-C58D6EBED5DB}"/>
                </a:ext>
              </a:extLst>
            </p:cNvPr>
            <p:cNvGrpSpPr/>
            <p:nvPr/>
          </p:nvGrpSpPr>
          <p:grpSpPr>
            <a:xfrm>
              <a:off x="3048000" y="5486400"/>
              <a:ext cx="2514600" cy="685800"/>
              <a:chOff x="3048000" y="5486400"/>
              <a:chExt cx="2514600" cy="685800"/>
            </a:xfrm>
          </p:grpSpPr>
          <p:graphicFrame>
            <p:nvGraphicFramePr>
              <p:cNvPr id="21" name="Object 4">
                <a:extLst>
                  <a:ext uri="{FF2B5EF4-FFF2-40B4-BE49-F238E27FC236}">
                    <a16:creationId xmlns:a16="http://schemas.microsoft.com/office/drawing/2014/main" id="{2BE3F14C-DF1A-4E9F-8A8B-AB8FBFCA366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91000" y="5486400"/>
              <a:ext cx="1371600" cy="685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0" name="Equation" r:id="rId7" imgW="457200" imgH="228600" progId="">
                      <p:embed/>
                    </p:oleObj>
                  </mc:Choice>
                  <mc:Fallback>
                    <p:oleObj name="Equation" r:id="rId7" imgW="457200" imgH="228600" progId="">
                      <p:embed/>
                      <p:pic>
                        <p:nvPicPr>
                          <p:cNvPr id="14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1000" y="5486400"/>
                            <a:ext cx="1371600" cy="6858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ight Arrow 14">
                <a:extLst>
                  <a:ext uri="{FF2B5EF4-FFF2-40B4-BE49-F238E27FC236}">
                    <a16:creationId xmlns:a16="http://schemas.microsoft.com/office/drawing/2014/main" id="{C18CAEB8-5A8F-3DDF-BD96-CBC530904748}"/>
                  </a:ext>
                </a:extLst>
              </p:cNvPr>
              <p:cNvSpPr/>
              <p:nvPr/>
            </p:nvSpPr>
            <p:spPr>
              <a:xfrm>
                <a:off x="3048000" y="5562600"/>
                <a:ext cx="838200" cy="457200"/>
              </a:xfrm>
              <a:prstGeom prst="rightArrow">
                <a:avLst/>
              </a:prstGeom>
              <a:solidFill>
                <a:srgbClr val="3AA854"/>
              </a:solidFill>
              <a:ln w="25400" cap="flat" cmpd="sng" algn="ctr">
                <a:solidFill>
                  <a:srgbClr val="3AA854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3000" kern="0">
                  <a:solidFill>
                    <a:srgbClr val="FFFFFF"/>
                  </a:solidFill>
                  <a:latin typeface="Verdan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734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2.1.3.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2.1.4.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Box 3">
            <a:extLst>
              <a:ext uri="{FF2B5EF4-FFF2-40B4-BE49-F238E27FC236}">
                <a16:creationId xmlns:a16="http://schemas.microsoft.com/office/drawing/2014/main" id="{95062F89-068F-4B1B-8563-FF1595631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17" y="2206073"/>
            <a:ext cx="11361167" cy="420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just" eaLnBrk="0" hangingPunct="0">
              <a:spcBef>
                <a:spcPct val="10000"/>
              </a:spcBef>
            </a:pPr>
            <a:r>
              <a:rPr lang="en-US" sz="2600" b="1">
                <a:solidFill>
                  <a:srgbClr val="030904"/>
                </a:solidFill>
                <a:latin typeface="Arial" panose="020B0604020202020204" pitchFamily="34" charset="0"/>
              </a:rPr>
              <a:t>- </a:t>
            </a:r>
            <a:r>
              <a:rPr lang="en-US" sz="2600" b="1" dirty="0" err="1">
                <a:solidFill>
                  <a:srgbClr val="030904"/>
                </a:solidFill>
                <a:latin typeface="Arial" panose="020B0604020202020204" pitchFamily="34" charset="0"/>
              </a:rPr>
              <a:t>Bảng</a:t>
            </a:r>
            <a:r>
              <a:rPr lang="en-US" sz="2600" b="1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600" b="1" err="1">
                <a:solidFill>
                  <a:srgbClr val="030904"/>
                </a:solidFill>
                <a:latin typeface="Arial" panose="020B0604020202020204" pitchFamily="34" charset="0"/>
              </a:rPr>
              <a:t>Karnaugh</a:t>
            </a:r>
            <a:r>
              <a:rPr lang="en-US" sz="2600" b="1">
                <a:solidFill>
                  <a:srgbClr val="030904"/>
                </a:solidFill>
                <a:latin typeface="Arial" panose="020B0604020202020204" pitchFamily="34" charset="0"/>
              </a:rPr>
              <a:t>: </a:t>
            </a:r>
            <a:r>
              <a:rPr lang="en-US" sz="2600">
                <a:solidFill>
                  <a:srgbClr val="030904"/>
                </a:solidFill>
                <a:latin typeface="Arial" panose="020B0604020202020204" pitchFamily="34" charset="0"/>
              </a:rPr>
              <a:t>gồm các ô vuông, mỗi ô vuông biểu diễn cho tổ hợp n biến</a:t>
            </a:r>
            <a:endParaRPr lang="en-US" sz="2600" dirty="0">
              <a:solidFill>
                <a:srgbClr val="030904"/>
              </a:solidFill>
              <a:latin typeface="Arial" panose="020B0604020202020204" pitchFamily="34" charset="0"/>
            </a:endParaRPr>
          </a:p>
          <a:p>
            <a:pPr algn="just" eaLnBrk="0" hangingPunct="0">
              <a:spcBef>
                <a:spcPct val="10000"/>
              </a:spcBef>
            </a:pPr>
            <a:r>
              <a:rPr lang="en-US" sz="2600" dirty="0">
                <a:latin typeface="Arial" panose="020B0604020202020204" pitchFamily="34" charset="0"/>
              </a:rPr>
              <a:t>	+ </a:t>
            </a:r>
            <a:r>
              <a:rPr lang="en-US" sz="2600" dirty="0" err="1">
                <a:latin typeface="Arial" panose="020B0604020202020204" pitchFamily="34" charset="0"/>
              </a:rPr>
              <a:t>Hàm</a:t>
            </a:r>
            <a:r>
              <a:rPr lang="en-US" sz="2600" dirty="0">
                <a:latin typeface="Arial" panose="020B0604020202020204" pitchFamily="34" charset="0"/>
              </a:rPr>
              <a:t> n </a:t>
            </a:r>
            <a:r>
              <a:rPr lang="en-US" sz="2600" dirty="0" err="1">
                <a:latin typeface="Arial" panose="020B0604020202020204" pitchFamily="34" charset="0"/>
              </a:rPr>
              <a:t>biến</a:t>
            </a:r>
            <a:r>
              <a:rPr lang="en-US" sz="2600" dirty="0">
                <a:latin typeface="Arial" panose="020B0604020202020204" pitchFamily="34" charset="0"/>
              </a:rPr>
              <a:t> → </a:t>
            </a:r>
            <a:r>
              <a:rPr lang="en-US" sz="2600" dirty="0" err="1">
                <a:latin typeface="Arial" panose="020B0604020202020204" pitchFamily="34" charset="0"/>
              </a:rPr>
              <a:t>bảng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n-US" sz="260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n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600">
                <a:solidFill>
                  <a:srgbClr val="FF0000"/>
                </a:solidFill>
                <a:latin typeface="Arial" panose="020B0604020202020204" pitchFamily="34" charset="0"/>
              </a:rPr>
              <a:t>ô</a:t>
            </a:r>
            <a:r>
              <a:rPr lang="en-US" sz="2600">
                <a:latin typeface="Arial" panose="020B0604020202020204" pitchFamily="34" charset="0"/>
              </a:rPr>
              <a:t> </a:t>
            </a:r>
          </a:p>
          <a:p>
            <a:pPr algn="just" eaLnBrk="0" hangingPunct="0">
              <a:spcBef>
                <a:spcPct val="10000"/>
              </a:spcBef>
            </a:pPr>
            <a:r>
              <a:rPr lang="en-US" sz="2600">
                <a:latin typeface="Arial" panose="020B0604020202020204" pitchFamily="34" charset="0"/>
              </a:rPr>
              <a:t>	+ Các ô cạnh nhau hoặc đối xứng → </a:t>
            </a:r>
            <a:r>
              <a:rPr lang="en-US" sz="2600">
                <a:solidFill>
                  <a:srgbClr val="FF0000"/>
                </a:solidFill>
                <a:latin typeface="Arial" panose="020B0604020202020204" pitchFamily="34" charset="0"/>
              </a:rPr>
              <a:t>khác nhau 1 biến</a:t>
            </a:r>
          </a:p>
          <a:p>
            <a:pPr algn="just" eaLnBrk="0" hangingPunct="0">
              <a:spcBef>
                <a:spcPct val="10000"/>
              </a:spcBef>
            </a:pPr>
            <a:r>
              <a:rPr lang="en-US" sz="2600">
                <a:latin typeface="Arial" panose="020B0604020202020204" pitchFamily="34" charset="0"/>
              </a:rPr>
              <a:t>	   Các </a:t>
            </a:r>
            <a:r>
              <a:rPr lang="en-US" sz="2600" dirty="0" err="1">
                <a:latin typeface="Arial" panose="020B0604020202020204" pitchFamily="34" charset="0"/>
              </a:rPr>
              <a:t>cột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và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hàng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cạnh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nhau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hoặc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đối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xứng</a:t>
            </a:r>
            <a:r>
              <a:rPr lang="en-US" sz="2600" dirty="0">
                <a:latin typeface="Arial" panose="020B0604020202020204" pitchFamily="34" charset="0"/>
              </a:rPr>
              <a:t> → </a:t>
            </a:r>
            <a:r>
              <a:rPr lang="en-US" sz="2600" dirty="0" err="1">
                <a:solidFill>
                  <a:srgbClr val="FF0000"/>
                </a:solidFill>
                <a:latin typeface="Arial" panose="020B0604020202020204" pitchFamily="34" charset="0"/>
              </a:rPr>
              <a:t>khác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Arial" panose="020B0604020202020204" pitchFamily="34" charset="0"/>
              </a:rPr>
              <a:t>nhau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 1 </a:t>
            </a:r>
            <a:r>
              <a:rPr lang="en-US" sz="2600" dirty="0" err="1">
                <a:solidFill>
                  <a:srgbClr val="FF0000"/>
                </a:solidFill>
                <a:latin typeface="Arial" panose="020B0604020202020204" pitchFamily="34" charset="0"/>
              </a:rPr>
              <a:t>biến</a:t>
            </a:r>
            <a:endParaRPr lang="en-US" sz="26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just" eaLnBrk="0" hangingPunct="0">
              <a:spcBef>
                <a:spcPct val="10000"/>
              </a:spcBef>
            </a:pPr>
            <a:r>
              <a:rPr lang="en-US" sz="2600" dirty="0">
                <a:latin typeface="Arial" panose="020B0604020202020204" pitchFamily="34" charset="0"/>
              </a:rPr>
              <a:t>	+ </a:t>
            </a:r>
            <a:r>
              <a:rPr lang="en-US" sz="2600" dirty="0" err="1">
                <a:latin typeface="Arial" panose="020B0604020202020204" pitchFamily="34" charset="0"/>
              </a:rPr>
              <a:t>Mỗi</a:t>
            </a:r>
            <a:r>
              <a:rPr lang="en-US" sz="2600" dirty="0">
                <a:latin typeface="Arial" panose="020B0604020202020204" pitchFamily="34" charset="0"/>
              </a:rPr>
              <a:t> ô </a:t>
            </a:r>
            <a:r>
              <a:rPr lang="en-US" sz="2600" dirty="0" err="1">
                <a:latin typeface="Arial" panose="020B0604020202020204" pitchFamily="34" charset="0"/>
              </a:rPr>
              <a:t>được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đánh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1 </a:t>
            </a:r>
            <a:r>
              <a:rPr lang="en-US" sz="2600" dirty="0" err="1">
                <a:solidFill>
                  <a:srgbClr val="FF0000"/>
                </a:solidFill>
                <a:latin typeface="Arial" panose="020B0604020202020204" pitchFamily="34" charset="0"/>
              </a:rPr>
              <a:t>số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Arial" panose="020B0604020202020204" pitchFamily="34" charset="0"/>
              </a:rPr>
              <a:t>thứ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Arial" panose="020B0604020202020204" pitchFamily="34" charset="0"/>
              </a:rPr>
              <a:t>tự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600" dirty="0">
                <a:latin typeface="Arial" panose="020B0604020202020204" pitchFamily="34" charset="0"/>
              </a:rPr>
              <a:t>(</a:t>
            </a:r>
            <a:r>
              <a:rPr lang="en-US" sz="2600" dirty="0" err="1">
                <a:latin typeface="Arial" panose="020B0604020202020204" pitchFamily="34" charset="0"/>
              </a:rPr>
              <a:t>tương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ứng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mã</a:t>
            </a:r>
            <a:r>
              <a:rPr lang="en-US" sz="2600" dirty="0">
                <a:latin typeface="Arial" panose="020B0604020202020204" pitchFamily="34" charset="0"/>
              </a:rPr>
              <a:t> BCD </a:t>
            </a:r>
            <a:r>
              <a:rPr lang="en-US" sz="2600" dirty="0" err="1">
                <a:latin typeface="Arial" panose="020B0604020202020204" pitchFamily="34" charset="0"/>
              </a:rPr>
              <a:t>hoặc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mã</a:t>
            </a:r>
            <a:r>
              <a:rPr lang="en-US" sz="2600" dirty="0">
                <a:latin typeface="Arial" panose="020B0604020202020204" pitchFamily="34" charset="0"/>
              </a:rPr>
              <a:t> Gray </a:t>
            </a:r>
            <a:r>
              <a:rPr lang="en-US" sz="2600" dirty="0" err="1">
                <a:latin typeface="Arial" panose="020B0604020202020204" pitchFamily="34" charset="0"/>
              </a:rPr>
              <a:t>của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tổ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hợp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biến</a:t>
            </a:r>
            <a:r>
              <a:rPr lang="en-US" sz="2600" dirty="0">
                <a:latin typeface="Arial" panose="020B0604020202020204" pitchFamily="34" charset="0"/>
              </a:rPr>
              <a:t>)</a:t>
            </a:r>
          </a:p>
          <a:p>
            <a:pPr algn="just" eaLnBrk="0" hangingPunct="0">
              <a:spcBef>
                <a:spcPct val="10000"/>
              </a:spcBef>
            </a:pPr>
            <a:r>
              <a:rPr lang="en-US" sz="2600" dirty="0">
                <a:latin typeface="Arial" panose="020B0604020202020204" pitchFamily="34" charset="0"/>
              </a:rPr>
              <a:t>	+ </a:t>
            </a:r>
            <a:r>
              <a:rPr lang="en-US" sz="2600" dirty="0" err="1">
                <a:latin typeface="Arial" panose="020B0604020202020204" pitchFamily="34" charset="0"/>
              </a:rPr>
              <a:t>Mỗi</a:t>
            </a:r>
            <a:r>
              <a:rPr lang="en-US" sz="2600" dirty="0">
                <a:latin typeface="Arial" panose="020B0604020202020204" pitchFamily="34" charset="0"/>
              </a:rPr>
              <a:t> ô </a:t>
            </a:r>
            <a:r>
              <a:rPr lang="en-US" sz="2600" dirty="0" err="1">
                <a:latin typeface="Arial" panose="020B0604020202020204" pitchFamily="34" charset="0"/>
              </a:rPr>
              <a:t>tương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ứng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1 </a:t>
            </a:r>
            <a:r>
              <a:rPr lang="en-US" sz="2600" dirty="0" err="1">
                <a:solidFill>
                  <a:srgbClr val="FF0000"/>
                </a:solidFill>
                <a:latin typeface="Arial" panose="020B0604020202020204" pitchFamily="34" charset="0"/>
              </a:rPr>
              <a:t>giá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Arial" panose="020B0604020202020204" pitchFamily="34" charset="0"/>
              </a:rPr>
              <a:t>trị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err="1">
                <a:latin typeface="Arial" panose="020B0604020202020204" pitchFamily="34" charset="0"/>
              </a:rPr>
              <a:t>của</a:t>
            </a:r>
            <a:r>
              <a:rPr lang="en-US" sz="2600">
                <a:latin typeface="Arial" panose="020B0604020202020204" pitchFamily="34" charset="0"/>
              </a:rPr>
              <a:t> hàm</a:t>
            </a:r>
            <a:r>
              <a:rPr lang="vi-VN" sz="2600"/>
              <a:t> Boole tại tổ hợp đó. Ở dạng </a:t>
            </a:r>
            <a:r>
              <a:rPr lang="en-US" sz="2600">
                <a:solidFill>
                  <a:srgbClr val="FF0000"/>
                </a:solidFill>
              </a:rPr>
              <a:t>CTT</a:t>
            </a:r>
            <a:r>
              <a:rPr lang="en-US" sz="2600"/>
              <a:t> </a:t>
            </a:r>
            <a:r>
              <a:rPr lang="vi-VN" sz="2600"/>
              <a:t>thì đưa các giá trị </a:t>
            </a:r>
            <a:r>
              <a:rPr lang="vi-VN" sz="2600">
                <a:solidFill>
                  <a:srgbClr val="FF0000"/>
                </a:solidFill>
              </a:rPr>
              <a:t>1 và X</a:t>
            </a:r>
            <a:r>
              <a:rPr lang="vi-VN" sz="2600"/>
              <a:t> lên các ô, không đưa các giá trị 0. Ngược lại, dạng </a:t>
            </a:r>
            <a:r>
              <a:rPr lang="en-US" sz="2600">
                <a:solidFill>
                  <a:srgbClr val="FF0000"/>
                </a:solidFill>
              </a:rPr>
              <a:t>CTH</a:t>
            </a:r>
            <a:r>
              <a:rPr lang="en-US" sz="2600"/>
              <a:t> </a:t>
            </a:r>
            <a:r>
              <a:rPr lang="vi-VN" sz="2600"/>
              <a:t>thì chỉ đưa giá trị </a:t>
            </a:r>
            <a:r>
              <a:rPr lang="vi-VN" sz="2600">
                <a:solidFill>
                  <a:srgbClr val="FF0000"/>
                </a:solidFill>
              </a:rPr>
              <a:t>0 và X</a:t>
            </a:r>
            <a:r>
              <a:rPr lang="vi-VN" sz="2600"/>
              <a:t>.</a:t>
            </a:r>
            <a:endParaRPr lang="en-US" sz="2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81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77"/>
            <a:ext cx="119247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2.1.3.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2.1.4.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FEE39B-F9C5-4D2F-91E7-0401AFE3586C}"/>
              </a:ext>
            </a:extLst>
          </p:cNvPr>
          <p:cNvGrpSpPr/>
          <p:nvPr/>
        </p:nvGrpSpPr>
        <p:grpSpPr>
          <a:xfrm>
            <a:off x="812144" y="2655244"/>
            <a:ext cx="4674260" cy="4013906"/>
            <a:chOff x="696652" y="2220913"/>
            <a:chExt cx="4153161" cy="3283468"/>
          </a:xfrm>
        </p:grpSpPr>
        <p:grpSp>
          <p:nvGrpSpPr>
            <p:cNvPr id="8" name="Group 36">
              <a:extLst>
                <a:ext uri="{FF2B5EF4-FFF2-40B4-BE49-F238E27FC236}">
                  <a16:creationId xmlns:a16="http://schemas.microsoft.com/office/drawing/2014/main" id="{4BE611DC-007C-44BF-BED1-76DED2DEED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652" y="2220913"/>
              <a:ext cx="4038217" cy="2733675"/>
              <a:chOff x="774417" y="2221468"/>
              <a:chExt cx="4038241" cy="273312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A390FE8-C0EB-4FA3-ABCF-333763208146}"/>
                  </a:ext>
                </a:extLst>
              </p:cNvPr>
              <p:cNvSpPr/>
              <p:nvPr/>
            </p:nvSpPr>
            <p:spPr>
              <a:xfrm>
                <a:off x="2895590" y="3124572"/>
                <a:ext cx="1905011" cy="91421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 dirty="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5B5854B-66C2-498A-91B3-67EFE417FB73}"/>
                  </a:ext>
                </a:extLst>
              </p:cNvPr>
              <p:cNvSpPr/>
              <p:nvPr/>
            </p:nvSpPr>
            <p:spPr>
              <a:xfrm>
                <a:off x="1752583" y="3124572"/>
                <a:ext cx="1524009" cy="91421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 dirty="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89C0E30-2CBF-4AAA-A585-FC78C663EB57}"/>
                  </a:ext>
                </a:extLst>
              </p:cNvPr>
              <p:cNvSpPr/>
              <p:nvPr/>
            </p:nvSpPr>
            <p:spPr>
              <a:xfrm>
                <a:off x="1752583" y="4038786"/>
                <a:ext cx="1524009" cy="91421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 dirty="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B6A95AB-319F-43FB-9871-5D7E16DC4C1C}"/>
                  </a:ext>
                </a:extLst>
              </p:cNvPr>
              <p:cNvSpPr/>
              <p:nvPr/>
            </p:nvSpPr>
            <p:spPr>
              <a:xfrm>
                <a:off x="3276592" y="4038786"/>
                <a:ext cx="1524009" cy="91421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CD8A631-818E-4CD3-9400-7C02A0B28E20}"/>
                  </a:ext>
                </a:extLst>
              </p:cNvPr>
              <p:cNvCxnSpPr/>
              <p:nvPr/>
            </p:nvCxnSpPr>
            <p:spPr>
              <a:xfrm>
                <a:off x="1066779" y="2515095"/>
                <a:ext cx="685804" cy="60947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67684ED-AA2E-412D-8FBB-6F94699A85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0578" y="3122984"/>
                <a:ext cx="3798911" cy="158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971CB33-0B73-4F7B-8FB7-ACF05AE09A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170" y="2438910"/>
                <a:ext cx="9525" cy="250904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D1342DF-7111-4C34-9725-9A69305AD3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4570" y="2810165"/>
                <a:ext cx="548642" cy="3354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61BC6AA-52D8-4128-A8FF-181A2DF113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9996" y="2429166"/>
                <a:ext cx="548642" cy="3354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6D8292-7A0D-4031-9DD6-84B560B515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4417" y="2221468"/>
                <a:ext cx="427577" cy="3354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74547DAA-7137-4C3B-A9A1-8DA42ACF4FD9}"/>
                  </a:ext>
                </a:extLst>
              </p:cNvPr>
              <p:cNvCxnSpPr/>
              <p:nvPr/>
            </p:nvCxnSpPr>
            <p:spPr>
              <a:xfrm rot="5400000">
                <a:off x="2896463" y="2809516"/>
                <a:ext cx="761845" cy="158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FE8372-CA84-4919-951C-B972E0F5A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1491" y="2581565"/>
                <a:ext cx="346391" cy="3354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45DC79A-7C26-4F65-BE98-857EE0C613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5317" y="2514330"/>
                <a:ext cx="346391" cy="3354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BEACFE93-5D2D-415B-9DD3-CC58046D2048}"/>
                  </a:ext>
                </a:extLst>
              </p:cNvPr>
              <p:cNvCxnSpPr/>
              <p:nvPr/>
            </p:nvCxnSpPr>
            <p:spPr>
              <a:xfrm>
                <a:off x="971528" y="4034025"/>
                <a:ext cx="838205" cy="158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AB20690-A657-4D89-AE6F-DCBD0A3806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1492" y="3429000"/>
                <a:ext cx="346391" cy="3354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1D2BAB-E53F-4437-9D9A-06DA222470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9012" y="4343400"/>
                <a:ext cx="346391" cy="3354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0DA91F7F-A65E-4746-AB56-A126B86FDA66}"/>
                  </a:ext>
                </a:extLst>
              </p:cNvPr>
              <p:cNvCxnSpPr/>
              <p:nvPr/>
            </p:nvCxnSpPr>
            <p:spPr>
              <a:xfrm>
                <a:off x="990578" y="4953000"/>
                <a:ext cx="838205" cy="158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297B560-0E5E-4EA4-B64D-818A88C7F5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2188" y="2438910"/>
                <a:ext cx="10470" cy="67189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122BFC0-239A-4664-810C-58B4F70A201F}"/>
                  </a:ext>
                </a:extLst>
              </p:cNvPr>
              <p:cNvCxnSpPr/>
              <p:nvPr/>
            </p:nvCxnSpPr>
            <p:spPr>
              <a:xfrm>
                <a:off x="1752583" y="2438911"/>
                <a:ext cx="3048018" cy="158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6428B62-287A-4C18-B134-152872E533CC}"/>
                  </a:ext>
                </a:extLst>
              </p:cNvPr>
              <p:cNvCxnSpPr/>
              <p:nvPr/>
            </p:nvCxnSpPr>
            <p:spPr>
              <a:xfrm rot="5400000">
                <a:off x="64458" y="4037992"/>
                <a:ext cx="1828429" cy="158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58">
              <a:extLst>
                <a:ext uri="{FF2B5EF4-FFF2-40B4-BE49-F238E27FC236}">
                  <a16:creationId xmlns:a16="http://schemas.microsoft.com/office/drawing/2014/main" id="{E4361C16-F0F1-4B0F-A65D-C369092B3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599" y="3724275"/>
              <a:ext cx="457200" cy="3354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" name="TextBox 59">
              <a:extLst>
                <a:ext uri="{FF2B5EF4-FFF2-40B4-BE49-F238E27FC236}">
                  <a16:creationId xmlns:a16="http://schemas.microsoft.com/office/drawing/2014/main" id="{22FA61E6-4DED-405D-8D5D-1027BEDA1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9913" y="3711575"/>
              <a:ext cx="457200" cy="3354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" name="TextBox 60">
              <a:extLst>
                <a:ext uri="{FF2B5EF4-FFF2-40B4-BE49-F238E27FC236}">
                  <a16:creationId xmlns:a16="http://schemas.microsoft.com/office/drawing/2014/main" id="{F5298451-D3CF-42CE-AA84-C22C22981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2113" y="4652963"/>
              <a:ext cx="457200" cy="3354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2" name="TextBox 61">
              <a:extLst>
                <a:ext uri="{FF2B5EF4-FFF2-40B4-BE49-F238E27FC236}">
                  <a16:creationId xmlns:a16="http://schemas.microsoft.com/office/drawing/2014/main" id="{EB54770E-9A04-4AD5-925C-A7128B815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2613" y="4648200"/>
              <a:ext cx="457200" cy="3354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3" name="TextBox 66">
              <a:extLst>
                <a:ext uri="{FF2B5EF4-FFF2-40B4-BE49-F238E27FC236}">
                  <a16:creationId xmlns:a16="http://schemas.microsoft.com/office/drawing/2014/main" id="{481A7547-BD73-492D-B258-1D7E0CA91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5168900"/>
              <a:ext cx="2819400" cy="3354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 mã BCD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965556D-150A-4747-AF94-E1570364653A}"/>
              </a:ext>
            </a:extLst>
          </p:cNvPr>
          <p:cNvGrpSpPr/>
          <p:nvPr/>
        </p:nvGrpSpPr>
        <p:grpSpPr>
          <a:xfrm>
            <a:off x="6216882" y="2909198"/>
            <a:ext cx="5182338" cy="3772596"/>
            <a:chOff x="5601543" y="2209800"/>
            <a:chExt cx="3999658" cy="3346730"/>
          </a:xfrm>
        </p:grpSpPr>
        <p:grpSp>
          <p:nvGrpSpPr>
            <p:cNvPr id="35" name="Group 37">
              <a:extLst>
                <a:ext uri="{FF2B5EF4-FFF2-40B4-BE49-F238E27FC236}">
                  <a16:creationId xmlns:a16="http://schemas.microsoft.com/office/drawing/2014/main" id="{48C66CF1-81E2-491B-A781-61A11A9127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1543" y="2209800"/>
              <a:ext cx="3999658" cy="2733675"/>
              <a:chOff x="802507" y="2221468"/>
              <a:chExt cx="3999681" cy="273312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7A819F7-12D3-4EFE-8D57-B561572CDFFE}"/>
                  </a:ext>
                </a:extLst>
              </p:cNvPr>
              <p:cNvSpPr/>
              <p:nvPr/>
            </p:nvSpPr>
            <p:spPr>
              <a:xfrm>
                <a:off x="2895590" y="3124573"/>
                <a:ext cx="1905011" cy="91421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 dirty="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2296371-2158-4CB4-82E2-7FFA0B45DA6A}"/>
                  </a:ext>
                </a:extLst>
              </p:cNvPr>
              <p:cNvSpPr/>
              <p:nvPr/>
            </p:nvSpPr>
            <p:spPr>
              <a:xfrm>
                <a:off x="1752583" y="3124573"/>
                <a:ext cx="1524009" cy="91421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A72EE90-971C-445E-9659-A62B8F87955A}"/>
                  </a:ext>
                </a:extLst>
              </p:cNvPr>
              <p:cNvSpPr/>
              <p:nvPr/>
            </p:nvSpPr>
            <p:spPr>
              <a:xfrm>
                <a:off x="1752583" y="4038787"/>
                <a:ext cx="1524009" cy="91421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 dirty="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7F05200-EDFF-408A-AAEB-8EFCBB53E23B}"/>
                  </a:ext>
                </a:extLst>
              </p:cNvPr>
              <p:cNvSpPr/>
              <p:nvPr/>
            </p:nvSpPr>
            <p:spPr>
              <a:xfrm>
                <a:off x="3276592" y="4038787"/>
                <a:ext cx="1524009" cy="91421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C079F52-6561-4CC7-B81A-D9F3ECFD05A7}"/>
                  </a:ext>
                </a:extLst>
              </p:cNvPr>
              <p:cNvCxnSpPr/>
              <p:nvPr/>
            </p:nvCxnSpPr>
            <p:spPr>
              <a:xfrm>
                <a:off x="1066779" y="2515096"/>
                <a:ext cx="685804" cy="60947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D46A53CE-186F-4D47-A344-A3320EF069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0578" y="3124573"/>
                <a:ext cx="3808435" cy="917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FF5CDA19-2EAB-4BFC-A258-B41BDB2628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0120" y="2438910"/>
                <a:ext cx="4050" cy="251408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5">
                <a:extLst>
                  <a:ext uri="{FF2B5EF4-FFF2-40B4-BE49-F238E27FC236}">
                    <a16:creationId xmlns:a16="http://schemas.microsoft.com/office/drawing/2014/main" id="{43A1DEA8-342B-4E13-8CF9-180B564354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0607" y="2760256"/>
                <a:ext cx="476563" cy="363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TextBox 46">
                <a:extLst>
                  <a:ext uri="{FF2B5EF4-FFF2-40B4-BE49-F238E27FC236}">
                    <a16:creationId xmlns:a16="http://schemas.microsoft.com/office/drawing/2014/main" id="{01C1F088-0001-46C7-99FB-EB641069D3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6036" y="2429165"/>
                <a:ext cx="476563" cy="363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TextBox 47">
                <a:extLst>
                  <a:ext uri="{FF2B5EF4-FFF2-40B4-BE49-F238E27FC236}">
                    <a16:creationId xmlns:a16="http://schemas.microsoft.com/office/drawing/2014/main" id="{12738132-6995-41A4-ACF8-7D7A4EB7C4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2507" y="2221468"/>
                <a:ext cx="371403" cy="363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8BA3B32A-983F-485B-BCC4-5B18C69331D2}"/>
                  </a:ext>
                </a:extLst>
              </p:cNvPr>
              <p:cNvCxnSpPr/>
              <p:nvPr/>
            </p:nvCxnSpPr>
            <p:spPr>
              <a:xfrm rot="5400000">
                <a:off x="2896463" y="2809517"/>
                <a:ext cx="761845" cy="158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49">
                <a:extLst>
                  <a:ext uri="{FF2B5EF4-FFF2-40B4-BE49-F238E27FC236}">
                    <a16:creationId xmlns:a16="http://schemas.microsoft.com/office/drawing/2014/main" id="{B60D2C31-ECB2-43B0-8F2A-87D12BACF0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4248" y="2581565"/>
                <a:ext cx="300883" cy="363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3" name="TextBox 50">
                <a:extLst>
                  <a:ext uri="{FF2B5EF4-FFF2-40B4-BE49-F238E27FC236}">
                    <a16:creationId xmlns:a16="http://schemas.microsoft.com/office/drawing/2014/main" id="{16F0C135-61BF-46D2-81C0-5C32BD72FF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8074" y="2514329"/>
                <a:ext cx="300883" cy="363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2D76A84-8046-47FF-B620-4FCCB379D28E}"/>
                  </a:ext>
                </a:extLst>
              </p:cNvPr>
              <p:cNvCxnSpPr/>
              <p:nvPr/>
            </p:nvCxnSpPr>
            <p:spPr>
              <a:xfrm>
                <a:off x="971528" y="4034025"/>
                <a:ext cx="838205" cy="158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2">
                <a:extLst>
                  <a:ext uri="{FF2B5EF4-FFF2-40B4-BE49-F238E27FC236}">
                    <a16:creationId xmlns:a16="http://schemas.microsoft.com/office/drawing/2014/main" id="{13E952BF-6F73-4949-AA54-D8EE1C2D02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4246" y="3429000"/>
                <a:ext cx="300883" cy="363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6" name="TextBox 53">
                <a:extLst>
                  <a:ext uri="{FF2B5EF4-FFF2-40B4-BE49-F238E27FC236}">
                    <a16:creationId xmlns:a16="http://schemas.microsoft.com/office/drawing/2014/main" id="{02D4B0B9-7E4B-425F-93BC-754F5000FE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1767" y="4343401"/>
                <a:ext cx="300883" cy="363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8FEF4E9-746A-480E-B014-E624ED87E857}"/>
                  </a:ext>
                </a:extLst>
              </p:cNvPr>
              <p:cNvCxnSpPr/>
              <p:nvPr/>
            </p:nvCxnSpPr>
            <p:spPr>
              <a:xfrm>
                <a:off x="990578" y="4953001"/>
                <a:ext cx="838205" cy="158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C0659DF-CEBC-4D0B-A6F7-3EC9F6459640}"/>
                  </a:ext>
                </a:extLst>
              </p:cNvPr>
              <p:cNvCxnSpPr/>
              <p:nvPr/>
            </p:nvCxnSpPr>
            <p:spPr>
              <a:xfrm rot="5400000">
                <a:off x="4420472" y="2819040"/>
                <a:ext cx="761845" cy="158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344ACB0-2D4C-4EE9-A0EB-957C4D4DE9AF}"/>
                  </a:ext>
                </a:extLst>
              </p:cNvPr>
              <p:cNvCxnSpPr/>
              <p:nvPr/>
            </p:nvCxnSpPr>
            <p:spPr>
              <a:xfrm>
                <a:off x="1752583" y="2438912"/>
                <a:ext cx="3048018" cy="158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BA7FC8DD-9DFA-4B63-9366-06C4720F2A78}"/>
                  </a:ext>
                </a:extLst>
              </p:cNvPr>
              <p:cNvCxnSpPr/>
              <p:nvPr/>
            </p:nvCxnSpPr>
            <p:spPr>
              <a:xfrm rot="5400000">
                <a:off x="64458" y="4037993"/>
                <a:ext cx="1828429" cy="158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62">
              <a:extLst>
                <a:ext uri="{FF2B5EF4-FFF2-40B4-BE49-F238E27FC236}">
                  <a16:creationId xmlns:a16="http://schemas.microsoft.com/office/drawing/2014/main" id="{C777AB02-EBD7-4B47-92B4-75BE38E0DB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3733800"/>
              <a:ext cx="457200" cy="3638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7" name="TextBox 63">
              <a:extLst>
                <a:ext uri="{FF2B5EF4-FFF2-40B4-BE49-F238E27FC236}">
                  <a16:creationId xmlns:a16="http://schemas.microsoft.com/office/drawing/2014/main" id="{8A2D9A45-862B-4D33-B96E-9697E2698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4313" y="3721100"/>
              <a:ext cx="457200" cy="3638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" name="TextBox 64">
              <a:extLst>
                <a:ext uri="{FF2B5EF4-FFF2-40B4-BE49-F238E27FC236}">
                  <a16:creationId xmlns:a16="http://schemas.microsoft.com/office/drawing/2014/main" id="{E99D2F93-2C43-4958-82CE-F010B817E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6513" y="4660900"/>
              <a:ext cx="457200" cy="3638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" name="TextBox 65">
              <a:extLst>
                <a:ext uri="{FF2B5EF4-FFF2-40B4-BE49-F238E27FC236}">
                  <a16:creationId xmlns:a16="http://schemas.microsoft.com/office/drawing/2014/main" id="{0264BC5F-7949-4116-BAEA-69B72C371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7013" y="4657725"/>
              <a:ext cx="457200" cy="3638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" name="TextBox 67">
              <a:extLst>
                <a:ext uri="{FF2B5EF4-FFF2-40B4-BE49-F238E27FC236}">
                  <a16:creationId xmlns:a16="http://schemas.microsoft.com/office/drawing/2014/main" id="{116ED463-05F0-455A-A715-1A86B611D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5192713"/>
              <a:ext cx="2819400" cy="3638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 mã GRAY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665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</a:p>
        </p:txBody>
      </p:sp>
      <p:grpSp>
        <p:nvGrpSpPr>
          <p:cNvPr id="61" name="Group 63">
            <a:extLst>
              <a:ext uri="{FF2B5EF4-FFF2-40B4-BE49-F238E27FC236}">
                <a16:creationId xmlns:a16="http://schemas.microsoft.com/office/drawing/2014/main" id="{DD1CE2E7-6D32-4A9A-AC1E-7E3F82A54408}"/>
              </a:ext>
            </a:extLst>
          </p:cNvPr>
          <p:cNvGrpSpPr>
            <a:grpSpLocks/>
          </p:cNvGrpSpPr>
          <p:nvPr/>
        </p:nvGrpSpPr>
        <p:grpSpPr bwMode="auto">
          <a:xfrm>
            <a:off x="2720243" y="1233930"/>
            <a:ext cx="9303539" cy="2936051"/>
            <a:chOff x="1400841" y="1511300"/>
            <a:chExt cx="7950664" cy="258334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8EA041D-BC74-4079-825E-28144EB8E2F3}"/>
                </a:ext>
              </a:extLst>
            </p:cNvPr>
            <p:cNvSpPr/>
            <p:nvPr/>
          </p:nvSpPr>
          <p:spPr bwMode="auto">
            <a:xfrm>
              <a:off x="6905296" y="2254368"/>
              <a:ext cx="1201674" cy="8637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  <a:buFontTx/>
                <a:buChar char="-"/>
                <a:defRPr/>
              </a:pPr>
              <a:endParaRPr lang="en-US" sz="3200" dirty="0">
                <a:ln>
                  <a:solidFill>
                    <a:schemeClr val="bg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3634A66-520A-498C-8345-0BB08EE2708A}"/>
                </a:ext>
              </a:extLst>
            </p:cNvPr>
            <p:cNvSpPr/>
            <p:nvPr/>
          </p:nvSpPr>
          <p:spPr bwMode="auto">
            <a:xfrm>
              <a:off x="8076809" y="2257544"/>
              <a:ext cx="1201674" cy="8637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  <a:buFontTx/>
                <a:buChar char="-"/>
                <a:defRPr/>
              </a:pPr>
              <a:endParaRPr lang="en-US" sz="3200" dirty="0">
                <a:ln>
                  <a:solidFill>
                    <a:schemeClr val="bg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F13DEB6-C28D-4016-AD83-5B9288DFAEE0}"/>
                </a:ext>
              </a:extLst>
            </p:cNvPr>
            <p:cNvSpPr/>
            <p:nvPr/>
          </p:nvSpPr>
          <p:spPr bwMode="auto">
            <a:xfrm>
              <a:off x="5713147" y="2257544"/>
              <a:ext cx="1201673" cy="8637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  <a:buFontTx/>
                <a:buChar char="-"/>
                <a:defRPr/>
              </a:pPr>
              <a:endParaRPr lang="en-US" sz="3200" dirty="0">
                <a:ln>
                  <a:solidFill>
                    <a:schemeClr val="bg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58D16D4-E0F4-4BD2-8692-F5B283049FE5}"/>
                </a:ext>
              </a:extLst>
            </p:cNvPr>
            <p:cNvSpPr/>
            <p:nvPr/>
          </p:nvSpPr>
          <p:spPr bwMode="auto">
            <a:xfrm>
              <a:off x="4514648" y="2257544"/>
              <a:ext cx="1200087" cy="8637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  <a:buFontTx/>
                <a:buChar char="-"/>
                <a:defRPr/>
              </a:pPr>
              <a:endParaRPr lang="en-US" sz="3200" dirty="0">
                <a:ln>
                  <a:solidFill>
                    <a:schemeClr val="bg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FBBB7F8-8707-414A-BAA4-0B9275D8231B}"/>
                </a:ext>
              </a:extLst>
            </p:cNvPr>
            <p:cNvSpPr/>
            <p:nvPr/>
          </p:nvSpPr>
          <p:spPr bwMode="auto">
            <a:xfrm>
              <a:off x="4514648" y="3121281"/>
              <a:ext cx="1200087" cy="8637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  <a:buFontTx/>
                <a:buChar char="-"/>
                <a:defRPr/>
              </a:pPr>
              <a:endParaRPr lang="en-US" sz="3200" dirty="0">
                <a:ln>
                  <a:solidFill>
                    <a:schemeClr val="bg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AA6B0CD-E76C-4E55-80E1-82EA2C8845A0}"/>
                </a:ext>
              </a:extLst>
            </p:cNvPr>
            <p:cNvSpPr/>
            <p:nvPr/>
          </p:nvSpPr>
          <p:spPr bwMode="auto">
            <a:xfrm>
              <a:off x="5714734" y="3121281"/>
              <a:ext cx="1200087" cy="8637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  <a:buFontTx/>
                <a:buChar char="-"/>
                <a:defRPr/>
              </a:pPr>
              <a:endParaRPr lang="en-US" sz="3200">
                <a:ln>
                  <a:solidFill>
                    <a:schemeClr val="bg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B7D2122-5CBD-49A6-BA4A-581118068F37}"/>
                </a:ext>
              </a:extLst>
            </p:cNvPr>
            <p:cNvCxnSpPr/>
            <p:nvPr/>
          </p:nvCxnSpPr>
          <p:spPr bwMode="auto">
            <a:xfrm>
              <a:off x="3974926" y="1682777"/>
              <a:ext cx="539721" cy="57476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20">
              <a:extLst>
                <a:ext uri="{FF2B5EF4-FFF2-40B4-BE49-F238E27FC236}">
                  <a16:creationId xmlns:a16="http://schemas.microsoft.com/office/drawing/2014/main" id="{99C2EE73-A36D-4EDF-84BA-D152BDD98C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9143" y="1978080"/>
              <a:ext cx="527687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Box 21">
              <a:extLst>
                <a:ext uri="{FF2B5EF4-FFF2-40B4-BE49-F238E27FC236}">
                  <a16:creationId xmlns:a16="http://schemas.microsoft.com/office/drawing/2014/main" id="{F5325E60-8FFE-4DDD-A591-5749E75113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9298" y="1614616"/>
              <a:ext cx="985234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Box 22">
              <a:extLst>
                <a:ext uri="{FF2B5EF4-FFF2-40B4-BE49-F238E27FC236}">
                  <a16:creationId xmlns:a16="http://schemas.microsoft.com/office/drawing/2014/main" id="{D0ED4153-33C7-4737-BA28-E635275100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725" y="1511300"/>
              <a:ext cx="411245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72" name="TextBox 24">
              <a:extLst>
                <a:ext uri="{FF2B5EF4-FFF2-40B4-BE49-F238E27FC236}">
                  <a16:creationId xmlns:a16="http://schemas.microsoft.com/office/drawing/2014/main" id="{746590F7-AB7A-4DB4-9946-A3A9E7A92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3301" y="1978599"/>
              <a:ext cx="508508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73" name="TextBox 25">
              <a:extLst>
                <a:ext uri="{FF2B5EF4-FFF2-40B4-BE49-F238E27FC236}">
                  <a16:creationId xmlns:a16="http://schemas.microsoft.com/office/drawing/2014/main" id="{7185018F-9C07-44E7-91F5-5BA02037D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4404" y="1953141"/>
              <a:ext cx="508508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74" name="TextBox 27">
              <a:extLst>
                <a:ext uri="{FF2B5EF4-FFF2-40B4-BE49-F238E27FC236}">
                  <a16:creationId xmlns:a16="http://schemas.microsoft.com/office/drawing/2014/main" id="{E2B88424-A67E-4968-9C3D-832C45FD6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2532" y="2545678"/>
              <a:ext cx="333160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5" name="TextBox 28">
              <a:extLst>
                <a:ext uri="{FF2B5EF4-FFF2-40B4-BE49-F238E27FC236}">
                  <a16:creationId xmlns:a16="http://schemas.microsoft.com/office/drawing/2014/main" id="{EBDED7B6-3FAA-4877-8FB3-7698C57B1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8453" y="3408810"/>
              <a:ext cx="333160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6" name="TextBox 58">
              <a:extLst>
                <a:ext uri="{FF2B5EF4-FFF2-40B4-BE49-F238E27FC236}">
                  <a16:creationId xmlns:a16="http://schemas.microsoft.com/office/drawing/2014/main" id="{2E77565B-B9B1-4B5F-BA52-7C2E8C3AA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6319" y="2824927"/>
              <a:ext cx="359904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7" name="TextBox 59">
              <a:extLst>
                <a:ext uri="{FF2B5EF4-FFF2-40B4-BE49-F238E27FC236}">
                  <a16:creationId xmlns:a16="http://schemas.microsoft.com/office/drawing/2014/main" id="{F284DB68-D583-4543-8809-15E238D5A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4248" y="2812234"/>
              <a:ext cx="359904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8" name="TextBox 60">
              <a:extLst>
                <a:ext uri="{FF2B5EF4-FFF2-40B4-BE49-F238E27FC236}">
                  <a16:creationId xmlns:a16="http://schemas.microsoft.com/office/drawing/2014/main" id="{8434CFF8-825D-4AD4-91AA-2DF2D9CD8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5410" y="2819780"/>
              <a:ext cx="359904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9" name="TextBox 61">
              <a:extLst>
                <a:ext uri="{FF2B5EF4-FFF2-40B4-BE49-F238E27FC236}">
                  <a16:creationId xmlns:a16="http://schemas.microsoft.com/office/drawing/2014/main" id="{58D7340F-7A63-4697-A138-88D0603BE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209" y="2819780"/>
              <a:ext cx="359904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0" name="TextBox 66">
              <a:extLst>
                <a:ext uri="{FF2B5EF4-FFF2-40B4-BE49-F238E27FC236}">
                  <a16:creationId xmlns:a16="http://schemas.microsoft.com/office/drawing/2014/main" id="{4987969D-C7A9-4179-BBB1-F14C5FDCF5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0841" y="2567832"/>
              <a:ext cx="2819404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 mã BCD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EC2EEFA-0DEF-4A1D-970E-8E0BE52B9F1F}"/>
                </a:ext>
              </a:extLst>
            </p:cNvPr>
            <p:cNvSpPr/>
            <p:nvPr/>
          </p:nvSpPr>
          <p:spPr bwMode="auto">
            <a:xfrm>
              <a:off x="6906884" y="3124457"/>
              <a:ext cx="1200087" cy="8637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  <a:buFontTx/>
                <a:buChar char="-"/>
                <a:defRPr/>
              </a:pPr>
              <a:endParaRPr lang="en-US" sz="3200">
                <a:ln>
                  <a:solidFill>
                    <a:schemeClr val="bg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75">
              <a:extLst>
                <a:ext uri="{FF2B5EF4-FFF2-40B4-BE49-F238E27FC236}">
                  <a16:creationId xmlns:a16="http://schemas.microsoft.com/office/drawing/2014/main" id="{A4401C38-2415-44D5-A073-337B79EE2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376" y="1965844"/>
              <a:ext cx="495466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3AB65F2-3837-41E8-9AD9-180FBEC6026C}"/>
                </a:ext>
              </a:extLst>
            </p:cNvPr>
            <p:cNvSpPr/>
            <p:nvPr/>
          </p:nvSpPr>
          <p:spPr bwMode="auto">
            <a:xfrm>
              <a:off x="8078397" y="3121281"/>
              <a:ext cx="1200087" cy="86214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60000"/>
                </a:lnSpc>
                <a:spcBef>
                  <a:spcPct val="50000"/>
                </a:spcBef>
                <a:buFontTx/>
                <a:buChar char="-"/>
                <a:defRPr/>
              </a:pPr>
              <a:endParaRPr lang="en-US" sz="3200">
                <a:ln>
                  <a:solidFill>
                    <a:schemeClr val="bg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78">
              <a:extLst>
                <a:ext uri="{FF2B5EF4-FFF2-40B4-BE49-F238E27FC236}">
                  <a16:creationId xmlns:a16="http://schemas.microsoft.com/office/drawing/2014/main" id="{837EB5D1-6FD7-4635-945D-B16B24F2E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6250" y="1981233"/>
              <a:ext cx="508508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85" name="TextBox 58">
              <a:extLst>
                <a:ext uri="{FF2B5EF4-FFF2-40B4-BE49-F238E27FC236}">
                  <a16:creationId xmlns:a16="http://schemas.microsoft.com/office/drawing/2014/main" id="{227D52AA-BAE5-4371-8BDC-ADA36BDD9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7855" y="3719944"/>
              <a:ext cx="359904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6" name="TextBox 58">
              <a:extLst>
                <a:ext uri="{FF2B5EF4-FFF2-40B4-BE49-F238E27FC236}">
                  <a16:creationId xmlns:a16="http://schemas.microsoft.com/office/drawing/2014/main" id="{2351FBDD-F068-4639-9810-2D3CDB4BB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199" y="3733799"/>
              <a:ext cx="359904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7" name="TextBox 58">
              <a:extLst>
                <a:ext uri="{FF2B5EF4-FFF2-40B4-BE49-F238E27FC236}">
                  <a16:creationId xmlns:a16="http://schemas.microsoft.com/office/drawing/2014/main" id="{07B5EFAA-564C-4FCA-BBB0-C0C7B7B79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1601" y="3706122"/>
              <a:ext cx="359904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88" name="TextBox 58">
              <a:extLst>
                <a:ext uri="{FF2B5EF4-FFF2-40B4-BE49-F238E27FC236}">
                  <a16:creationId xmlns:a16="http://schemas.microsoft.com/office/drawing/2014/main" id="{8A9AC34D-52B6-4ED8-8552-554EE595F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733799"/>
              <a:ext cx="359904" cy="360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2EB3503-51AC-4BD0-85ED-ED3125C0A824}"/>
              </a:ext>
            </a:extLst>
          </p:cNvPr>
          <p:cNvGrpSpPr/>
          <p:nvPr/>
        </p:nvGrpSpPr>
        <p:grpSpPr>
          <a:xfrm>
            <a:off x="267576" y="3585719"/>
            <a:ext cx="9819244" cy="2974404"/>
            <a:chOff x="380722" y="3845869"/>
            <a:chExt cx="8855353" cy="2714540"/>
          </a:xfrm>
        </p:grpSpPr>
        <p:sp>
          <p:nvSpPr>
            <p:cNvPr id="90" name="TextBox 98">
              <a:extLst>
                <a:ext uri="{FF2B5EF4-FFF2-40B4-BE49-F238E27FC236}">
                  <a16:creationId xmlns:a16="http://schemas.microsoft.com/office/drawing/2014/main" id="{73CF4478-9CD6-4C07-AFB3-384C50723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6675" y="5288559"/>
              <a:ext cx="2819400" cy="374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mã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Gray</a:t>
              </a:r>
            </a:p>
          </p:txBody>
        </p:sp>
        <p:grpSp>
          <p:nvGrpSpPr>
            <p:cNvPr id="91" name="Group 65">
              <a:extLst>
                <a:ext uri="{FF2B5EF4-FFF2-40B4-BE49-F238E27FC236}">
                  <a16:creationId xmlns:a16="http://schemas.microsoft.com/office/drawing/2014/main" id="{F1A767EA-312E-40D7-89A2-BAE3E3BE43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722" y="3845869"/>
              <a:ext cx="5697816" cy="2714540"/>
              <a:chOff x="3674795" y="3860174"/>
              <a:chExt cx="5697805" cy="2714042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46D38C76-DE11-4071-8FD0-B928456B1425}"/>
                  </a:ext>
                </a:extLst>
              </p:cNvPr>
              <p:cNvSpPr/>
              <p:nvPr/>
            </p:nvSpPr>
            <p:spPr bwMode="auto">
              <a:xfrm>
                <a:off x="8077203" y="5570242"/>
                <a:ext cx="1219198" cy="8634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ED53BDC3-4614-4325-B147-1E83F450D331}"/>
                  </a:ext>
                </a:extLst>
              </p:cNvPr>
              <p:cNvSpPr/>
              <p:nvPr/>
            </p:nvSpPr>
            <p:spPr bwMode="auto">
              <a:xfrm>
                <a:off x="6924680" y="5568655"/>
                <a:ext cx="1152523" cy="86185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1AA732A9-FE01-47FE-AB9B-0F987D6A04A0}"/>
                  </a:ext>
                </a:extLst>
              </p:cNvPr>
              <p:cNvSpPr/>
              <p:nvPr/>
            </p:nvSpPr>
            <p:spPr bwMode="auto">
              <a:xfrm>
                <a:off x="5638807" y="5567068"/>
                <a:ext cx="1293810" cy="86185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FF3BFA7F-5771-4D01-B086-F91490B81337}"/>
                  </a:ext>
                </a:extLst>
              </p:cNvPr>
              <p:cNvSpPr/>
              <p:nvPr/>
            </p:nvSpPr>
            <p:spPr bwMode="auto">
              <a:xfrm>
                <a:off x="4527559" y="5567068"/>
                <a:ext cx="1198560" cy="86185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 dirty="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6" name="TextBox 58">
                <a:extLst>
                  <a:ext uri="{FF2B5EF4-FFF2-40B4-BE49-F238E27FC236}">
                    <a16:creationId xmlns:a16="http://schemas.microsoft.com/office/drawing/2014/main" id="{BF429B42-64EF-4E53-B03A-B925188200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00110" y="6199910"/>
                <a:ext cx="359905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97" name="TextBox 58">
                <a:extLst>
                  <a:ext uri="{FF2B5EF4-FFF2-40B4-BE49-F238E27FC236}">
                    <a16:creationId xmlns:a16="http://schemas.microsoft.com/office/drawing/2014/main" id="{CA1FCE3E-705A-49B7-A928-60A364B4D2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57109" y="6186145"/>
                <a:ext cx="359905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98" name="TextBox 58">
                <a:extLst>
                  <a:ext uri="{FF2B5EF4-FFF2-40B4-BE49-F238E27FC236}">
                    <a16:creationId xmlns:a16="http://schemas.microsoft.com/office/drawing/2014/main" id="{7138F381-DBFE-4B9A-AA4B-FD3DCDD268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31295" y="6200003"/>
                <a:ext cx="359905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99" name="TextBox 58">
                <a:extLst>
                  <a:ext uri="{FF2B5EF4-FFF2-40B4-BE49-F238E27FC236}">
                    <a16:creationId xmlns:a16="http://schemas.microsoft.com/office/drawing/2014/main" id="{7A636DB1-1298-4329-9974-EC93577CE8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12695" y="6200001"/>
                <a:ext cx="359905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9D55D0A5-15AE-4AEB-89DC-0D1F4AED845F}"/>
                  </a:ext>
                </a:extLst>
              </p:cNvPr>
              <p:cNvSpPr/>
              <p:nvPr/>
            </p:nvSpPr>
            <p:spPr bwMode="auto">
              <a:xfrm>
                <a:off x="6923092" y="4705214"/>
                <a:ext cx="1201736" cy="8634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 dirty="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F941DFE8-A8EB-4EE0-B063-4B5CFB15D224}"/>
                  </a:ext>
                </a:extLst>
              </p:cNvPr>
              <p:cNvSpPr/>
              <p:nvPr/>
            </p:nvSpPr>
            <p:spPr bwMode="auto">
              <a:xfrm>
                <a:off x="5730882" y="4708388"/>
                <a:ext cx="1201735" cy="8634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 dirty="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1E7FBF05-09B3-4856-84C8-A26F3C7BE7DE}"/>
                  </a:ext>
                </a:extLst>
              </p:cNvPr>
              <p:cNvSpPr/>
              <p:nvPr/>
            </p:nvSpPr>
            <p:spPr bwMode="auto">
              <a:xfrm>
                <a:off x="4532321" y="4708388"/>
                <a:ext cx="1200148" cy="8634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 dirty="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8C647753-DCFE-4871-A561-E6CB676C032E}"/>
                  </a:ext>
                </a:extLst>
              </p:cNvPr>
              <p:cNvCxnSpPr/>
              <p:nvPr/>
            </p:nvCxnSpPr>
            <p:spPr bwMode="auto">
              <a:xfrm>
                <a:off x="3992572" y="4133819"/>
                <a:ext cx="539749" cy="57457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TextBox 87">
                <a:extLst>
                  <a:ext uri="{FF2B5EF4-FFF2-40B4-BE49-F238E27FC236}">
                    <a16:creationId xmlns:a16="http://schemas.microsoft.com/office/drawing/2014/main" id="{92D79A79-E684-4F51-BD7B-7451B4A932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2036" y="4428954"/>
                <a:ext cx="556862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TextBox 88">
                <a:extLst>
                  <a:ext uri="{FF2B5EF4-FFF2-40B4-BE49-F238E27FC236}">
                    <a16:creationId xmlns:a16="http://schemas.microsoft.com/office/drawing/2014/main" id="{046D6D39-D813-4C2E-B945-A84FB9E9AE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6503" y="4024934"/>
                <a:ext cx="1039707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TextBox 89">
                <a:extLst>
                  <a:ext uri="{FF2B5EF4-FFF2-40B4-BE49-F238E27FC236}">
                    <a16:creationId xmlns:a16="http://schemas.microsoft.com/office/drawing/2014/main" id="{75F09B51-EDC7-48D8-AB23-324A2C586E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74795" y="3860174"/>
                <a:ext cx="433983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107" name="TextBox 90">
                <a:extLst>
                  <a:ext uri="{FF2B5EF4-FFF2-40B4-BE49-F238E27FC236}">
                    <a16:creationId xmlns:a16="http://schemas.microsoft.com/office/drawing/2014/main" id="{31F93B7D-71DF-4A91-8945-EE4C16B93C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6713" y="4429472"/>
                <a:ext cx="536623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00</a:t>
                </a:r>
              </a:p>
            </p:txBody>
          </p:sp>
          <p:sp>
            <p:nvSpPr>
              <p:cNvPr id="108" name="TextBox 91">
                <a:extLst>
                  <a:ext uri="{FF2B5EF4-FFF2-40B4-BE49-F238E27FC236}">
                    <a16:creationId xmlns:a16="http://schemas.microsoft.com/office/drawing/2014/main" id="{497A9702-1258-4BE8-A91D-C30C318D3B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7813" y="4404027"/>
                <a:ext cx="536623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sp>
            <p:nvSpPr>
              <p:cNvPr id="109" name="TextBox 92">
                <a:extLst>
                  <a:ext uri="{FF2B5EF4-FFF2-40B4-BE49-F238E27FC236}">
                    <a16:creationId xmlns:a16="http://schemas.microsoft.com/office/drawing/2014/main" id="{9239A2CD-1451-4946-A573-01BAA41EDC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0789" y="4996279"/>
                <a:ext cx="351580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10" name="TextBox 93">
                <a:extLst>
                  <a:ext uri="{FF2B5EF4-FFF2-40B4-BE49-F238E27FC236}">
                    <a16:creationId xmlns:a16="http://schemas.microsoft.com/office/drawing/2014/main" id="{1133CE0B-CAB0-4145-869B-71704F10B2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710" y="5858995"/>
                <a:ext cx="351580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11" name="TextBox 94">
                <a:extLst>
                  <a:ext uri="{FF2B5EF4-FFF2-40B4-BE49-F238E27FC236}">
                    <a16:creationId xmlns:a16="http://schemas.microsoft.com/office/drawing/2014/main" id="{F1A2112A-7D66-48C3-8FD2-86B5BA1F59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93786" y="5275392"/>
                <a:ext cx="359905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12" name="TextBox 95">
                <a:extLst>
                  <a:ext uri="{FF2B5EF4-FFF2-40B4-BE49-F238E27FC236}">
                    <a16:creationId xmlns:a16="http://schemas.microsoft.com/office/drawing/2014/main" id="{F5FAA0D8-2C03-4C97-BB42-0421CA04C3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61714" y="5262706"/>
                <a:ext cx="359905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13" name="TextBox 96">
                <a:extLst>
                  <a:ext uri="{FF2B5EF4-FFF2-40B4-BE49-F238E27FC236}">
                    <a16:creationId xmlns:a16="http://schemas.microsoft.com/office/drawing/2014/main" id="{F417BD81-E298-4D31-B385-92B209E1AE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2400" y="5257800"/>
                <a:ext cx="359905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14" name="TextBox 101">
                <a:extLst>
                  <a:ext uri="{FF2B5EF4-FFF2-40B4-BE49-F238E27FC236}">
                    <a16:creationId xmlns:a16="http://schemas.microsoft.com/office/drawing/2014/main" id="{902895DF-8ACD-4B74-91FE-4D00FBB525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5143" y="4416725"/>
                <a:ext cx="522860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E9F61768-C129-4AC9-BCBB-82B2D9CB5582}"/>
                  </a:ext>
                </a:extLst>
              </p:cNvPr>
              <p:cNvSpPr/>
              <p:nvPr/>
            </p:nvSpPr>
            <p:spPr bwMode="auto">
              <a:xfrm>
                <a:off x="8094664" y="4708388"/>
                <a:ext cx="1201736" cy="86185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 dirty="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TextBox 104">
                <a:extLst>
                  <a:ext uri="{FF2B5EF4-FFF2-40B4-BE49-F238E27FC236}">
                    <a16:creationId xmlns:a16="http://schemas.microsoft.com/office/drawing/2014/main" id="{314EB862-66E8-42C9-87E4-52BE7EF3E2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39656" y="4432106"/>
                <a:ext cx="536623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117" name="TextBox 97">
                <a:extLst>
                  <a:ext uri="{FF2B5EF4-FFF2-40B4-BE49-F238E27FC236}">
                    <a16:creationId xmlns:a16="http://schemas.microsoft.com/office/drawing/2014/main" id="{FAE17787-4A88-4A16-A9CC-19F35AB3E6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15400" y="5257800"/>
                <a:ext cx="359905" cy="374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1533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1E4212-E11C-4B3E-81C2-FF97FCEED0A9}"/>
              </a:ext>
            </a:extLst>
          </p:cNvPr>
          <p:cNvGrpSpPr/>
          <p:nvPr/>
        </p:nvGrpSpPr>
        <p:grpSpPr>
          <a:xfrm>
            <a:off x="886098" y="1430356"/>
            <a:ext cx="9961232" cy="5118742"/>
            <a:chOff x="886097" y="1430356"/>
            <a:chExt cx="9961232" cy="5118741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430F56D1-73EB-4565-88B7-C5A230283493}"/>
                </a:ext>
              </a:extLst>
            </p:cNvPr>
            <p:cNvGrpSpPr/>
            <p:nvPr/>
          </p:nvGrpSpPr>
          <p:grpSpPr>
            <a:xfrm>
              <a:off x="886097" y="1430356"/>
              <a:ext cx="9961232" cy="5118741"/>
              <a:chOff x="342900" y="1905000"/>
              <a:chExt cx="8429627" cy="4714947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8A6E9713-EEC0-4882-B474-4BEE988047ED}"/>
                  </a:ext>
                </a:extLst>
              </p:cNvPr>
              <p:cNvGrpSpPr/>
              <p:nvPr/>
            </p:nvGrpSpPr>
            <p:grpSpPr>
              <a:xfrm>
                <a:off x="342900" y="1905000"/>
                <a:ext cx="8429627" cy="4714947"/>
                <a:chOff x="914400" y="1828800"/>
                <a:chExt cx="8242302" cy="4404161"/>
              </a:xfrm>
            </p:grpSpPr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C0E8A175-71F7-4383-8A40-7A243C9FADF9}"/>
                    </a:ext>
                  </a:extLst>
                </p:cNvPr>
                <p:cNvCxnSpPr/>
                <p:nvPr/>
              </p:nvCxnSpPr>
              <p:spPr>
                <a:xfrm>
                  <a:off x="4064000" y="2220913"/>
                  <a:ext cx="617538" cy="59848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5BDE4E9F-A55D-47EC-B27D-58865A018B72}"/>
                    </a:ext>
                  </a:extLst>
                </p:cNvPr>
                <p:cNvGrpSpPr/>
                <p:nvPr/>
              </p:nvGrpSpPr>
              <p:grpSpPr>
                <a:xfrm>
                  <a:off x="914400" y="1828800"/>
                  <a:ext cx="8242302" cy="4404161"/>
                  <a:chOff x="914400" y="1828800"/>
                  <a:chExt cx="8242302" cy="4404161"/>
                </a:xfrm>
              </p:grpSpPr>
              <p:grpSp>
                <p:nvGrpSpPr>
                  <p:cNvPr id="124" name="Group 123">
                    <a:extLst>
                      <a:ext uri="{FF2B5EF4-FFF2-40B4-BE49-F238E27FC236}">
                        <a16:creationId xmlns:a16="http://schemas.microsoft.com/office/drawing/2014/main" id="{CE8D0499-A2B1-4489-B826-EF262DA58B12}"/>
                      </a:ext>
                    </a:extLst>
                  </p:cNvPr>
                  <p:cNvGrpSpPr/>
                  <p:nvPr/>
                </p:nvGrpSpPr>
                <p:grpSpPr>
                  <a:xfrm>
                    <a:off x="914400" y="1828800"/>
                    <a:ext cx="8242302" cy="4306888"/>
                    <a:chOff x="914400" y="1828800"/>
                    <a:chExt cx="8242302" cy="4306888"/>
                  </a:xfrm>
                </p:grpSpPr>
                <p:sp>
                  <p:nvSpPr>
                    <p:cNvPr id="138" name="TextBox 98">
                      <a:extLst>
                        <a:ext uri="{FF2B5EF4-FFF2-40B4-BE49-F238E27FC236}">
                          <a16:creationId xmlns:a16="http://schemas.microsoft.com/office/drawing/2014/main" id="{66B76D4C-426C-4F22-9B31-80F665336D9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14400" y="4278312"/>
                      <a:ext cx="2643188" cy="35286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algn="just" eaLnBrk="0" hangingPunct="0">
                        <a:lnSpc>
                          <a:spcPct val="60000"/>
                        </a:lnSpc>
                        <a:spcBef>
                          <a:spcPct val="50000"/>
                        </a:spcBef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mã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BCD</a:t>
                      </a:r>
                    </a:p>
                  </p:txBody>
                </p:sp>
                <p:grpSp>
                  <p:nvGrpSpPr>
                    <p:cNvPr id="139" name="Group 138">
                      <a:extLst>
                        <a:ext uri="{FF2B5EF4-FFF2-40B4-BE49-F238E27FC236}">
                          <a16:creationId xmlns:a16="http://schemas.microsoft.com/office/drawing/2014/main" id="{EC33202D-3D06-4F08-8DC4-6AD9871B82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03588" y="1828800"/>
                      <a:ext cx="5853114" cy="4306888"/>
                      <a:chOff x="3303588" y="1828800"/>
                      <a:chExt cx="5853114" cy="4306888"/>
                    </a:xfrm>
                  </p:grpSpPr>
                  <p:sp>
                    <p:nvSpPr>
                      <p:cNvPr id="140" name="Rectangle 139">
                        <a:extLst>
                          <a:ext uri="{FF2B5EF4-FFF2-40B4-BE49-F238E27FC236}">
                            <a16:creationId xmlns:a16="http://schemas.microsoft.com/office/drawing/2014/main" id="{F14971EE-5AA7-43FD-87FB-B22EBC6EA7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8363" y="3671888"/>
                        <a:ext cx="1123950" cy="8239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eaLnBrk="0" hangingPunct="0">
                          <a:lnSpc>
                            <a:spcPct val="60000"/>
                          </a:lnSpc>
                          <a:spcBef>
                            <a:spcPct val="50000"/>
                          </a:spcBef>
                          <a:buFontTx/>
                          <a:buChar char="-"/>
                          <a:defRPr/>
                        </a:pPr>
                        <a:endParaRPr lang="en-US" sz="3200" dirty="0">
                          <a:ln>
                            <a:solidFill>
                              <a:schemeClr val="bg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grpSp>
                    <p:nvGrpSpPr>
                      <p:cNvPr id="141" name="Group 140">
                        <a:extLst>
                          <a:ext uri="{FF2B5EF4-FFF2-40B4-BE49-F238E27FC236}">
                            <a16:creationId xmlns:a16="http://schemas.microsoft.com/office/drawing/2014/main" id="{A00A5149-4571-46DC-86F7-1E9EE1A654D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303588" y="1828800"/>
                        <a:ext cx="5853114" cy="4306888"/>
                        <a:chOff x="3303588" y="1828800"/>
                        <a:chExt cx="5853114" cy="4306888"/>
                      </a:xfrm>
                    </p:grpSpPr>
                    <p:sp>
                      <p:nvSpPr>
                        <p:cNvPr id="142" name="Rectangle 141">
                          <a:extLst>
                            <a:ext uri="{FF2B5EF4-FFF2-40B4-BE49-F238E27FC236}">
                              <a16:creationId xmlns:a16="http://schemas.microsoft.com/office/drawing/2014/main" id="{887F2926-2FA3-402C-889D-6ED37A5B8C4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00725" y="2846388"/>
                          <a:ext cx="1127125" cy="8255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  <a:buFontTx/>
                            <a:buChar char="-"/>
                            <a:defRPr/>
                          </a:pPr>
                          <a:endParaRPr lang="en-US" sz="3200" dirty="0">
                            <a:ln>
                              <a:solidFill>
                                <a:schemeClr val="bg1"/>
                              </a:solidFill>
                            </a:ln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43" name="Rectangle 142">
                          <a:extLst>
                            <a:ext uri="{FF2B5EF4-FFF2-40B4-BE49-F238E27FC236}">
                              <a16:creationId xmlns:a16="http://schemas.microsoft.com/office/drawing/2014/main" id="{327A5068-2B39-4E32-A1FE-510765F2E2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678363" y="2846388"/>
                          <a:ext cx="1123950" cy="8255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  <a:buFontTx/>
                            <a:buChar char="-"/>
                            <a:defRPr/>
                          </a:pPr>
                          <a:endParaRPr lang="en-US" sz="3200" dirty="0">
                            <a:ln>
                              <a:solidFill>
                                <a:schemeClr val="bg1"/>
                              </a:solidFill>
                            </a:ln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44" name="Rectangle 143">
                          <a:extLst>
                            <a:ext uri="{FF2B5EF4-FFF2-40B4-BE49-F238E27FC236}">
                              <a16:creationId xmlns:a16="http://schemas.microsoft.com/office/drawing/2014/main" id="{0CD3C11D-8800-4D0E-9349-C57A7C1B99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02313" y="3671888"/>
                          <a:ext cx="1125537" cy="82391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  <a:buFontTx/>
                            <a:buChar char="-"/>
                            <a:defRPr/>
                          </a:pPr>
                          <a:endParaRPr lang="en-US" sz="3200">
                            <a:ln>
                              <a:solidFill>
                                <a:schemeClr val="bg1"/>
                              </a:solidFill>
                            </a:ln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45" name="TextBox 87">
                          <a:extLst>
                            <a:ext uri="{FF2B5EF4-FFF2-40B4-BE49-F238E27FC236}">
                              <a16:creationId xmlns:a16="http://schemas.microsoft.com/office/drawing/2014/main" id="{F37495ED-7860-4E20-BE53-AD240F2F6249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303588" y="2438400"/>
                          <a:ext cx="1155574" cy="3528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 algn="just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</a:pPr>
                          <a:r>
                            <a:rPr lang="en-US" sz="3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32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sz="3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32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3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46" name="TextBox 88">
                          <a:extLst>
                            <a:ext uri="{FF2B5EF4-FFF2-40B4-BE49-F238E27FC236}">
                              <a16:creationId xmlns:a16="http://schemas.microsoft.com/office/drawing/2014/main" id="{09B0A33F-4F9F-4D1B-949D-262AD191F8F0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186712" y="2068513"/>
                          <a:ext cx="953937" cy="3528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algn="just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</a:pPr>
                          <a:r>
                            <a:rPr lang="en-US" sz="3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32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en-US" sz="3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X</a:t>
                          </a:r>
                          <a:r>
                            <a:rPr lang="en-US" sz="32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en-US" sz="3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47" name="TextBox 89">
                          <a:extLst>
                            <a:ext uri="{FF2B5EF4-FFF2-40B4-BE49-F238E27FC236}">
                              <a16:creationId xmlns:a16="http://schemas.microsoft.com/office/drawing/2014/main" id="{C259F8A7-3386-4C88-92BD-8C80108D30AB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80759" y="1828800"/>
                          <a:ext cx="398181" cy="3528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algn="just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</a:pPr>
                          <a:r>
                            <a:rPr lang="en-US" sz="3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</a:p>
                      </p:txBody>
                    </p:sp>
                    <p:sp>
                      <p:nvSpPr>
                        <p:cNvPr id="148" name="TextBox 90">
                          <a:extLst>
                            <a:ext uri="{FF2B5EF4-FFF2-40B4-BE49-F238E27FC236}">
                              <a16:creationId xmlns:a16="http://schemas.microsoft.com/office/drawing/2014/main" id="{3185B8C0-4657-490A-95FD-D5417049E605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071948" y="2579687"/>
                          <a:ext cx="492355" cy="3528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algn="just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</a:pPr>
                          <a:r>
                            <a:rPr lang="en-US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00</a:t>
                          </a:r>
                        </a:p>
                      </p:txBody>
                    </p:sp>
                    <p:sp>
                      <p:nvSpPr>
                        <p:cNvPr id="149" name="TextBox 91">
                          <a:extLst>
                            <a:ext uri="{FF2B5EF4-FFF2-40B4-BE49-F238E27FC236}">
                              <a16:creationId xmlns:a16="http://schemas.microsoft.com/office/drawing/2014/main" id="{18CAB5E2-D419-420A-AAD6-E1FA11D09AD7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178435" y="2555875"/>
                          <a:ext cx="492355" cy="3528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algn="just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</a:pPr>
                          <a:r>
                            <a:rPr lang="en-US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01</a:t>
                          </a:r>
                        </a:p>
                      </p:txBody>
                    </p:sp>
                    <p:sp>
                      <p:nvSpPr>
                        <p:cNvPr id="150" name="TextBox 92">
                          <a:extLst>
                            <a:ext uri="{FF2B5EF4-FFF2-40B4-BE49-F238E27FC236}">
                              <a16:creationId xmlns:a16="http://schemas.microsoft.com/office/drawing/2014/main" id="{8CC4BA0E-A900-47ED-B2F0-C2E6E16A7945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5016" y="3121024"/>
                          <a:ext cx="492355" cy="3528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algn="just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</a:pPr>
                          <a:r>
                            <a:rPr lang="en-US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00</a:t>
                          </a:r>
                        </a:p>
                      </p:txBody>
                    </p:sp>
                    <p:sp>
                      <p:nvSpPr>
                        <p:cNvPr id="151" name="TextBox 93">
                          <a:extLst>
                            <a:ext uri="{FF2B5EF4-FFF2-40B4-BE49-F238E27FC236}">
                              <a16:creationId xmlns:a16="http://schemas.microsoft.com/office/drawing/2014/main" id="{326DBF8D-F3E6-4715-8B82-9ADF96EA53C4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30573" y="3946525"/>
                          <a:ext cx="492355" cy="3528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algn="just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</a:pPr>
                          <a:r>
                            <a:rPr lang="en-US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01</a:t>
                          </a:r>
                        </a:p>
                      </p:txBody>
                    </p:sp>
                    <p:sp>
                      <p:nvSpPr>
                        <p:cNvPr id="152" name="Rectangle 151">
                          <a:extLst>
                            <a:ext uri="{FF2B5EF4-FFF2-40B4-BE49-F238E27FC236}">
                              <a16:creationId xmlns:a16="http://schemas.microsoft.com/office/drawing/2014/main" id="{0C97CAD6-A9D8-4F27-8A80-FDDF545AC1C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918325" y="2844800"/>
                          <a:ext cx="1127125" cy="82391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  <a:buFontTx/>
                            <a:buChar char="-"/>
                            <a:defRPr/>
                          </a:pPr>
                          <a:endParaRPr lang="en-US" sz="3200" dirty="0">
                            <a:ln>
                              <a:solidFill>
                                <a:schemeClr val="bg1"/>
                              </a:solidFill>
                            </a:ln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53" name="Rectangle 152">
                          <a:extLst>
                            <a:ext uri="{FF2B5EF4-FFF2-40B4-BE49-F238E27FC236}">
                              <a16:creationId xmlns:a16="http://schemas.microsoft.com/office/drawing/2014/main" id="{14B0A8A2-D055-46CA-87E9-A5C4B6D8E8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919913" y="3668713"/>
                          <a:ext cx="1125537" cy="90328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  <a:buFontTx/>
                            <a:buChar char="-"/>
                            <a:defRPr/>
                          </a:pPr>
                          <a:endParaRPr lang="en-US" sz="3200" dirty="0">
                            <a:ln>
                              <a:solidFill>
                                <a:schemeClr val="bg1"/>
                              </a:solidFill>
                            </a:ln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54" name="TextBox 101">
                          <a:extLst>
                            <a:ext uri="{FF2B5EF4-FFF2-40B4-BE49-F238E27FC236}">
                              <a16:creationId xmlns:a16="http://schemas.microsoft.com/office/drawing/2014/main" id="{64DEB321-25DD-4FEF-B23B-A5ABFDC4FA06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226151" y="2568575"/>
                          <a:ext cx="479727" cy="3528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algn="just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</a:pPr>
                          <a:r>
                            <a:rPr lang="en-US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</a:p>
                      </p:txBody>
                    </p:sp>
                    <p:sp>
                      <p:nvSpPr>
                        <p:cNvPr id="155" name="Rectangle 154">
                          <a:extLst>
                            <a:ext uri="{FF2B5EF4-FFF2-40B4-BE49-F238E27FC236}">
                              <a16:creationId xmlns:a16="http://schemas.microsoft.com/office/drawing/2014/main" id="{C01CB5C8-C226-4CD3-BBBF-3FBD0FE8C9F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16875" y="2846388"/>
                          <a:ext cx="1127125" cy="82391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  <a:buFontTx/>
                            <a:buChar char="-"/>
                            <a:defRPr/>
                          </a:pPr>
                          <a:endParaRPr lang="en-US" sz="3200" dirty="0">
                            <a:ln>
                              <a:solidFill>
                                <a:schemeClr val="bg1"/>
                              </a:solidFill>
                            </a:ln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56" name="Rectangle 155">
                          <a:extLst>
                            <a:ext uri="{FF2B5EF4-FFF2-40B4-BE49-F238E27FC236}">
                              <a16:creationId xmlns:a16="http://schemas.microsoft.com/office/drawing/2014/main" id="{6499CF7F-2E2F-4B32-9032-9B7A3052417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20050" y="3670300"/>
                          <a:ext cx="1123950" cy="8255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  <a:buFontTx/>
                            <a:buChar char="-"/>
                            <a:defRPr/>
                          </a:pPr>
                          <a:endParaRPr lang="en-US" sz="3200">
                            <a:ln>
                              <a:solidFill>
                                <a:schemeClr val="bg1"/>
                              </a:solidFill>
                            </a:ln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57" name="TextBox 104">
                          <a:extLst>
                            <a:ext uri="{FF2B5EF4-FFF2-40B4-BE49-F238E27FC236}">
                              <a16:creationId xmlns:a16="http://schemas.microsoft.com/office/drawing/2014/main" id="{8D3BDD19-B9B8-45C3-8F56-9F2DDC438AE0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8252505" y="2582863"/>
                          <a:ext cx="492355" cy="3528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algn="just" eaLnBrk="0" hangingPunct="0">
                            <a:lnSpc>
                              <a:spcPct val="60000"/>
                            </a:lnSpc>
                            <a:spcBef>
                              <a:spcPct val="50000"/>
                            </a:spcBef>
                          </a:pPr>
                          <a:r>
                            <a:rPr lang="en-US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p:txBody>
                    </p:sp>
                    <p:grpSp>
                      <p:nvGrpSpPr>
                        <p:cNvPr id="158" name="Group 63">
                          <a:extLst>
                            <a:ext uri="{FF2B5EF4-FFF2-40B4-BE49-F238E27FC236}">
                              <a16:creationId xmlns:a16="http://schemas.microsoft.com/office/drawing/2014/main" id="{9AF9E630-18AD-4A98-AC7C-97BCC4530F0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235852" y="4495800"/>
                          <a:ext cx="4911324" cy="827088"/>
                          <a:chOff x="4235848" y="4495800"/>
                          <a:chExt cx="4910962" cy="827281"/>
                        </a:xfrm>
                      </p:grpSpPr>
                      <p:sp>
                        <p:nvSpPr>
                          <p:cNvPr id="165" name="Rectangle 164">
                            <a:extLst>
                              <a:ext uri="{FF2B5EF4-FFF2-40B4-BE49-F238E27FC236}">
                                <a16:creationId xmlns:a16="http://schemas.microsoft.com/office/drawing/2014/main" id="{5FB20366-E164-4FB8-B9C0-D61F12728A8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91082" y="4498976"/>
                            <a:ext cx="1204824" cy="824105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eaLnBrk="0" hangingPunct="0">
                              <a:lnSpc>
                                <a:spcPct val="60000"/>
                              </a:lnSpc>
                              <a:spcBef>
                                <a:spcPct val="50000"/>
                              </a:spcBef>
                              <a:buFontTx/>
                              <a:buChar char="-"/>
                              <a:defRPr/>
                            </a:pPr>
                            <a:endParaRPr lang="en-US" sz="3200" dirty="0">
                              <a:ln>
                                <a:solidFill>
                                  <a:schemeClr val="bg1"/>
                                </a:solidFill>
                              </a:ln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66" name="Rectangle 165">
                            <a:extLst>
                              <a:ext uri="{FF2B5EF4-FFF2-40B4-BE49-F238E27FC236}">
                                <a16:creationId xmlns:a16="http://schemas.microsoft.com/office/drawing/2014/main" id="{C92C0F0D-AF56-4B8B-B71E-F4296307662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681502" y="4498976"/>
                            <a:ext cx="1123867" cy="824105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eaLnBrk="0" hangingPunct="0">
                              <a:lnSpc>
                                <a:spcPct val="60000"/>
                              </a:lnSpc>
                              <a:spcBef>
                                <a:spcPct val="50000"/>
                              </a:spcBef>
                              <a:buFontTx/>
                              <a:buChar char="-"/>
                              <a:defRPr/>
                            </a:pPr>
                            <a:endParaRPr lang="en-US" sz="3200" dirty="0">
                              <a:ln>
                                <a:solidFill>
                                  <a:schemeClr val="bg1"/>
                                </a:solidFill>
                              </a:ln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67" name="Rectangle 166">
                            <a:extLst>
                              <a:ext uri="{FF2B5EF4-FFF2-40B4-BE49-F238E27FC236}">
                                <a16:creationId xmlns:a16="http://schemas.microsoft.com/office/drawing/2014/main" id="{C233235F-A1FA-4D58-9BF7-A1B7C8350F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919712" y="4495800"/>
                            <a:ext cx="1127042" cy="824105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eaLnBrk="0" hangingPunct="0">
                              <a:lnSpc>
                                <a:spcPct val="60000"/>
                              </a:lnSpc>
                              <a:spcBef>
                                <a:spcPct val="50000"/>
                              </a:spcBef>
                              <a:buFontTx/>
                              <a:buChar char="-"/>
                              <a:defRPr/>
                            </a:pPr>
                            <a:endParaRPr lang="en-US" sz="3200" dirty="0">
                              <a:ln>
                                <a:solidFill>
                                  <a:schemeClr val="bg1"/>
                                </a:solidFill>
                              </a:ln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68" name="Rectangle 167">
                            <a:extLst>
                              <a:ext uri="{FF2B5EF4-FFF2-40B4-BE49-F238E27FC236}">
                                <a16:creationId xmlns:a16="http://schemas.microsoft.com/office/drawing/2014/main" id="{2E26CDDA-9DF4-4172-B009-84C3834B166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9768" y="4497388"/>
                            <a:ext cx="1127042" cy="82569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eaLnBrk="0" hangingPunct="0">
                              <a:lnSpc>
                                <a:spcPct val="60000"/>
                              </a:lnSpc>
                              <a:spcBef>
                                <a:spcPct val="50000"/>
                              </a:spcBef>
                              <a:buFontTx/>
                              <a:buChar char="-"/>
                              <a:defRPr/>
                            </a:pPr>
                            <a:endParaRPr lang="en-US" sz="3200" dirty="0">
                              <a:ln>
                                <a:solidFill>
                                  <a:schemeClr val="bg1"/>
                                </a:solidFill>
                              </a:ln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69" name="TextBox 62">
                            <a:extLst>
                              <a:ext uri="{FF2B5EF4-FFF2-40B4-BE49-F238E27FC236}">
                                <a16:creationId xmlns:a16="http://schemas.microsoft.com/office/drawing/2014/main" id="{4424F26A-8A23-42AF-A50D-0B37D8570757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235848" y="4724399"/>
                            <a:ext cx="479692" cy="3529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>
                            <a:spAutoFit/>
                          </a:bodyPr>
                          <a:lstStyle/>
                          <a:p>
                            <a:pPr algn="just" eaLnBrk="0" hangingPunct="0">
                              <a:lnSpc>
                                <a:spcPct val="60000"/>
                              </a:lnSpc>
                              <a:spcBef>
                                <a:spcPct val="50000"/>
                              </a:spcBef>
                            </a:pPr>
                            <a:r>
                              <a:rPr lang="en-US" sz="32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11</a:t>
                            </a:r>
                          </a:p>
                        </p:txBody>
                      </p:sp>
                    </p:grpSp>
                    <p:grpSp>
                      <p:nvGrpSpPr>
                        <p:cNvPr id="159" name="Group 64">
                          <a:extLst>
                            <a:ext uri="{FF2B5EF4-FFF2-40B4-BE49-F238E27FC236}">
                              <a16:creationId xmlns:a16="http://schemas.microsoft.com/office/drawing/2014/main" id="{E5D223AF-D1AA-45D8-B0D4-B174644CF52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229478" y="5308600"/>
                          <a:ext cx="4927224" cy="827088"/>
                          <a:chOff x="4231595" y="4495800"/>
                          <a:chExt cx="4927915" cy="827281"/>
                        </a:xfrm>
                      </p:grpSpPr>
                      <p:sp>
                        <p:nvSpPr>
                          <p:cNvPr id="160" name="Rectangle 159">
                            <a:extLst>
                              <a:ext uri="{FF2B5EF4-FFF2-40B4-BE49-F238E27FC236}">
                                <a16:creationId xmlns:a16="http://schemas.microsoft.com/office/drawing/2014/main" id="{24E68240-1B51-461E-ADF3-804E20B5E0A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04652" y="4498976"/>
                            <a:ext cx="1127283" cy="824105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eaLnBrk="0" hangingPunct="0">
                              <a:lnSpc>
                                <a:spcPct val="60000"/>
                              </a:lnSpc>
                              <a:spcBef>
                                <a:spcPct val="50000"/>
                              </a:spcBef>
                              <a:buFontTx/>
                              <a:buChar char="-"/>
                              <a:defRPr/>
                            </a:pPr>
                            <a:endParaRPr lang="en-US" sz="3200" dirty="0">
                              <a:ln>
                                <a:solidFill>
                                  <a:schemeClr val="bg1"/>
                                </a:solidFill>
                              </a:ln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61" name="Rectangle 160">
                            <a:extLst>
                              <a:ext uri="{FF2B5EF4-FFF2-40B4-BE49-F238E27FC236}">
                                <a16:creationId xmlns:a16="http://schemas.microsoft.com/office/drawing/2014/main" id="{95117366-27AE-469A-8E43-CE8298658D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680544" y="4498976"/>
                            <a:ext cx="1125695" cy="824105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eaLnBrk="0" hangingPunct="0">
                              <a:lnSpc>
                                <a:spcPct val="60000"/>
                              </a:lnSpc>
                              <a:spcBef>
                                <a:spcPct val="50000"/>
                              </a:spcBef>
                              <a:buFontTx/>
                              <a:buChar char="-"/>
                              <a:defRPr/>
                            </a:pPr>
                            <a:endParaRPr lang="en-US" sz="3200" dirty="0">
                              <a:ln>
                                <a:solidFill>
                                  <a:schemeClr val="bg1"/>
                                </a:solidFill>
                              </a:ln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62" name="Rectangle 161">
                            <a:extLst>
                              <a:ext uri="{FF2B5EF4-FFF2-40B4-BE49-F238E27FC236}">
                                <a16:creationId xmlns:a16="http://schemas.microsoft.com/office/drawing/2014/main" id="{708B2F74-4A5A-498A-886F-4B979E646C5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919234" y="4495800"/>
                            <a:ext cx="1127283" cy="824105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eaLnBrk="0" hangingPunct="0">
                              <a:lnSpc>
                                <a:spcPct val="60000"/>
                              </a:lnSpc>
                              <a:spcBef>
                                <a:spcPct val="50000"/>
                              </a:spcBef>
                              <a:buFontTx/>
                              <a:buChar char="-"/>
                              <a:defRPr/>
                            </a:pPr>
                            <a:endParaRPr lang="en-US" sz="3200" dirty="0">
                              <a:ln>
                                <a:solidFill>
                                  <a:schemeClr val="bg1"/>
                                </a:solidFill>
                              </a:ln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63" name="Rectangle 162">
                            <a:extLst>
                              <a:ext uri="{FF2B5EF4-FFF2-40B4-BE49-F238E27FC236}">
                                <a16:creationId xmlns:a16="http://schemas.microsoft.com/office/drawing/2014/main" id="{F9A34483-377B-4591-AC9C-F48400C5621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32227" y="4497388"/>
                            <a:ext cx="1127283" cy="82569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eaLnBrk="0" hangingPunct="0">
                              <a:lnSpc>
                                <a:spcPct val="60000"/>
                              </a:lnSpc>
                              <a:spcBef>
                                <a:spcPct val="50000"/>
                              </a:spcBef>
                              <a:buFontTx/>
                              <a:buChar char="-"/>
                              <a:defRPr/>
                            </a:pPr>
                            <a:endParaRPr lang="en-US" sz="3200" dirty="0">
                              <a:ln>
                                <a:solidFill>
                                  <a:schemeClr val="bg1"/>
                                </a:solidFill>
                              </a:ln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64" name="TextBox 72">
                            <a:extLst>
                              <a:ext uri="{FF2B5EF4-FFF2-40B4-BE49-F238E27FC236}">
                                <a16:creationId xmlns:a16="http://schemas.microsoft.com/office/drawing/2014/main" id="{E88DC86C-4B03-4716-B9F8-949B7FBA0CA6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231595" y="4724399"/>
                            <a:ext cx="492424" cy="3529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>
                            <a:spAutoFit/>
                          </a:bodyPr>
                          <a:lstStyle/>
                          <a:p>
                            <a:pPr algn="just" eaLnBrk="0" hangingPunct="0">
                              <a:lnSpc>
                                <a:spcPct val="60000"/>
                              </a:lnSpc>
                              <a:spcBef>
                                <a:spcPct val="50000"/>
                              </a:spcBef>
                            </a:pPr>
                            <a:r>
                              <a:rPr lang="en-US" sz="32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10</a:t>
                            </a:r>
                          </a:p>
                        </p:txBody>
                      </p:sp>
                    </p:grpSp>
                  </p:grpSp>
                </p:grpSp>
              </p:grpSp>
              <p:sp>
                <p:nvSpPr>
                  <p:cNvPr id="125" name="TextBox 74">
                    <a:extLst>
                      <a:ext uri="{FF2B5EF4-FFF2-40B4-BE49-F238E27FC236}">
                        <a16:creationId xmlns:a16="http://schemas.microsoft.com/office/drawing/2014/main" id="{5FF3CDAE-2D9F-443F-8109-D09AEEE9853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20000" y="3352800"/>
                    <a:ext cx="338138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126" name="TextBox 79">
                    <a:extLst>
                      <a:ext uri="{FF2B5EF4-FFF2-40B4-BE49-F238E27FC236}">
                        <a16:creationId xmlns:a16="http://schemas.microsoft.com/office/drawing/2014/main" id="{99DDFF91-154E-4FF2-BBAA-4E0BEBE81B5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805863" y="3352800"/>
                    <a:ext cx="338138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27" name="TextBox 80">
                    <a:extLst>
                      <a:ext uri="{FF2B5EF4-FFF2-40B4-BE49-F238E27FC236}">
                        <a16:creationId xmlns:a16="http://schemas.microsoft.com/office/drawing/2014/main" id="{F34A4D1A-57EE-45D0-B030-97C020E05D0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366173" y="4203700"/>
                    <a:ext cx="336550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128" name="TextBox 81">
                    <a:extLst>
                      <a:ext uri="{FF2B5EF4-FFF2-40B4-BE49-F238E27FC236}">
                        <a16:creationId xmlns:a16="http://schemas.microsoft.com/office/drawing/2014/main" id="{E5284070-4BDD-494F-AB47-42DBBFD43A1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29400" y="4191001"/>
                    <a:ext cx="338138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</a:p>
                </p:txBody>
              </p:sp>
              <p:sp>
                <p:nvSpPr>
                  <p:cNvPr id="129" name="TextBox 105">
                    <a:extLst>
                      <a:ext uri="{FF2B5EF4-FFF2-40B4-BE49-F238E27FC236}">
                        <a16:creationId xmlns:a16="http://schemas.microsoft.com/office/drawing/2014/main" id="{BF98EF5E-0B46-4495-A795-4ECCDECF71C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64450" y="4167188"/>
                    <a:ext cx="336550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130" name="TextBox 106">
                    <a:extLst>
                      <a:ext uri="{FF2B5EF4-FFF2-40B4-BE49-F238E27FC236}">
                        <a16:creationId xmlns:a16="http://schemas.microsoft.com/office/drawing/2014/main" id="{BC4F9024-6A03-494C-8F28-DB830D650BD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807450" y="4167188"/>
                    <a:ext cx="336550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6</a:t>
                    </a:r>
                  </a:p>
                </p:txBody>
              </p:sp>
              <p:sp>
                <p:nvSpPr>
                  <p:cNvPr id="131" name="TextBox 107">
                    <a:extLst>
                      <a:ext uri="{FF2B5EF4-FFF2-40B4-BE49-F238E27FC236}">
                        <a16:creationId xmlns:a16="http://schemas.microsoft.com/office/drawing/2014/main" id="{55CE012A-70B9-4601-8097-119C87A4A8B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291667" y="5041900"/>
                    <a:ext cx="720372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12</a:t>
                    </a:r>
                  </a:p>
                </p:txBody>
              </p:sp>
              <p:sp>
                <p:nvSpPr>
                  <p:cNvPr id="132" name="TextBox 108">
                    <a:extLst>
                      <a:ext uri="{FF2B5EF4-FFF2-40B4-BE49-F238E27FC236}">
                        <a16:creationId xmlns:a16="http://schemas.microsoft.com/office/drawing/2014/main" id="{5985E83D-2055-43E9-989A-88281EF6D56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417702" y="5016498"/>
                    <a:ext cx="666889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13</a:t>
                    </a:r>
                  </a:p>
                </p:txBody>
              </p:sp>
              <p:sp>
                <p:nvSpPr>
                  <p:cNvPr id="133" name="TextBox 109">
                    <a:extLst>
                      <a:ext uri="{FF2B5EF4-FFF2-40B4-BE49-F238E27FC236}">
                        <a16:creationId xmlns:a16="http://schemas.microsoft.com/office/drawing/2014/main" id="{37553AC1-7E74-45BD-B01A-9DF2A2C097E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495647" y="5006038"/>
                    <a:ext cx="679447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15</a:t>
                    </a:r>
                  </a:p>
                </p:txBody>
              </p:sp>
              <p:sp>
                <p:nvSpPr>
                  <p:cNvPr id="134" name="TextBox 110">
                    <a:extLst>
                      <a:ext uri="{FF2B5EF4-FFF2-40B4-BE49-F238E27FC236}">
                        <a16:creationId xmlns:a16="http://schemas.microsoft.com/office/drawing/2014/main" id="{E8778E98-81E4-42A3-BF75-63A3BC9E041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93140" y="4983346"/>
                    <a:ext cx="550859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135" name="TextBox 111">
                    <a:extLst>
                      <a:ext uri="{FF2B5EF4-FFF2-40B4-BE49-F238E27FC236}">
                        <a16:creationId xmlns:a16="http://schemas.microsoft.com/office/drawing/2014/main" id="{B551BAAF-CC3A-4AD7-927E-F3F72E63D8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410200" y="5880101"/>
                    <a:ext cx="457200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8</a:t>
                    </a:r>
                  </a:p>
                </p:txBody>
              </p:sp>
              <p:sp>
                <p:nvSpPr>
                  <p:cNvPr id="136" name="TextBox 112">
                    <a:extLst>
                      <a:ext uri="{FF2B5EF4-FFF2-40B4-BE49-F238E27FC236}">
                        <a16:creationId xmlns:a16="http://schemas.microsoft.com/office/drawing/2014/main" id="{0BF44735-805B-4810-908C-808A301C35C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553200" y="5867400"/>
                    <a:ext cx="458788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9</a:t>
                    </a:r>
                  </a:p>
                </p:txBody>
              </p:sp>
              <p:sp>
                <p:nvSpPr>
                  <p:cNvPr id="137" name="TextBox 114">
                    <a:extLst>
                      <a:ext uri="{FF2B5EF4-FFF2-40B4-BE49-F238E27FC236}">
                        <a16:creationId xmlns:a16="http://schemas.microsoft.com/office/drawing/2014/main" id="{642FD3C2-C77E-4C1C-B271-49AF7D6CB39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95453" y="5843588"/>
                    <a:ext cx="550859" cy="3528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</a:t>
                    </a:r>
                  </a:p>
                </p:txBody>
              </p:sp>
            </p:grpSp>
          </p:grpSp>
          <p:sp>
            <p:nvSpPr>
              <p:cNvPr id="120" name="TextBox 74">
                <a:extLst>
                  <a:ext uri="{FF2B5EF4-FFF2-40B4-BE49-F238E27FC236}">
                    <a16:creationId xmlns:a16="http://schemas.microsoft.com/office/drawing/2014/main" id="{3AEA2CC0-0BD1-4EFA-84C4-2B4910B45D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32192" y="3558636"/>
                <a:ext cx="345822" cy="3777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21" name="TextBox 74">
                <a:extLst>
                  <a:ext uri="{FF2B5EF4-FFF2-40B4-BE49-F238E27FC236}">
                    <a16:creationId xmlns:a16="http://schemas.microsoft.com/office/drawing/2014/main" id="{D540BF8F-3196-4607-B209-2AEA97050D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6559" y="3536544"/>
                <a:ext cx="345822" cy="3777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70" name="TextBox 114">
              <a:extLst>
                <a:ext uri="{FF2B5EF4-FFF2-40B4-BE49-F238E27FC236}">
                  <a16:creationId xmlns:a16="http://schemas.microsoft.com/office/drawing/2014/main" id="{9C76A8BE-5EC7-4F42-9908-33ECD291D0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4483" y="6067783"/>
              <a:ext cx="665741" cy="410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899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9C72A8-B7B6-47E9-A57E-973BDE36DFB6}"/>
              </a:ext>
            </a:extLst>
          </p:cNvPr>
          <p:cNvGrpSpPr/>
          <p:nvPr/>
        </p:nvGrpSpPr>
        <p:grpSpPr>
          <a:xfrm>
            <a:off x="3221505" y="1467408"/>
            <a:ext cx="8418999" cy="5131578"/>
            <a:chOff x="3221502" y="1467407"/>
            <a:chExt cx="8418999" cy="5131577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F9AFEA9-40EE-4E0F-A836-BF887873B11E}"/>
                </a:ext>
              </a:extLst>
            </p:cNvPr>
            <p:cNvGrpSpPr/>
            <p:nvPr/>
          </p:nvGrpSpPr>
          <p:grpSpPr>
            <a:xfrm>
              <a:off x="3221502" y="1467407"/>
              <a:ext cx="8418999" cy="5131577"/>
              <a:chOff x="3424855" y="1828800"/>
              <a:chExt cx="5818414" cy="4381072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D308775-9D1F-4556-85A8-960D1A4CBED3}"/>
                  </a:ext>
                </a:extLst>
              </p:cNvPr>
              <p:cNvSpPr/>
              <p:nvPr/>
            </p:nvSpPr>
            <p:spPr>
              <a:xfrm>
                <a:off x="4678363" y="3671888"/>
                <a:ext cx="1123950" cy="82391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lnSpc>
                    <a:spcPct val="60000"/>
                  </a:lnSpc>
                  <a:spcBef>
                    <a:spcPct val="50000"/>
                  </a:spcBef>
                  <a:buFontTx/>
                  <a:buChar char="-"/>
                  <a:defRPr/>
                </a:pPr>
                <a:endParaRPr lang="en-US" sz="3200" dirty="0">
                  <a:ln>
                    <a:solidFill>
                      <a:schemeClr val="bg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52210BBA-547F-4C3A-9764-5AB6D0E97A0F}"/>
                  </a:ext>
                </a:extLst>
              </p:cNvPr>
              <p:cNvGrpSpPr/>
              <p:nvPr/>
            </p:nvGrpSpPr>
            <p:grpSpPr>
              <a:xfrm>
                <a:off x="3424855" y="1828800"/>
                <a:ext cx="5731845" cy="4306888"/>
                <a:chOff x="3424855" y="1828800"/>
                <a:chExt cx="5731845" cy="4306888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03482C8D-915C-4055-8E7E-BF4CCED80C68}"/>
                    </a:ext>
                  </a:extLst>
                </p:cNvPr>
                <p:cNvSpPr/>
                <p:nvPr/>
              </p:nvSpPr>
              <p:spPr>
                <a:xfrm>
                  <a:off x="5800725" y="2846388"/>
                  <a:ext cx="1127125" cy="8255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0" hangingPunct="0">
                    <a:lnSpc>
                      <a:spcPct val="60000"/>
                    </a:lnSpc>
                    <a:spcBef>
                      <a:spcPct val="50000"/>
                    </a:spcBef>
                    <a:buFontTx/>
                    <a:buChar char="-"/>
                    <a:defRPr/>
                  </a:pPr>
                  <a:endParaRPr lang="en-US" sz="3200" dirty="0">
                    <a:ln>
                      <a:solidFill>
                        <a:schemeClr val="bg1"/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1A9E7E8D-26D1-4760-8CE9-867F4D0E342B}"/>
                    </a:ext>
                  </a:extLst>
                </p:cNvPr>
                <p:cNvSpPr/>
                <p:nvPr/>
              </p:nvSpPr>
              <p:spPr>
                <a:xfrm>
                  <a:off x="4678363" y="2846388"/>
                  <a:ext cx="1123950" cy="8255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0" hangingPunct="0">
                    <a:lnSpc>
                      <a:spcPct val="60000"/>
                    </a:lnSpc>
                    <a:spcBef>
                      <a:spcPct val="50000"/>
                    </a:spcBef>
                    <a:buFontTx/>
                    <a:buChar char="-"/>
                    <a:defRPr/>
                  </a:pPr>
                  <a:endParaRPr lang="en-US" sz="3200" dirty="0">
                    <a:ln>
                      <a:solidFill>
                        <a:schemeClr val="bg1"/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74B8FD8B-9E3B-4AED-B56E-DEA1B0680F3B}"/>
                    </a:ext>
                  </a:extLst>
                </p:cNvPr>
                <p:cNvSpPr/>
                <p:nvPr/>
              </p:nvSpPr>
              <p:spPr>
                <a:xfrm>
                  <a:off x="5802313" y="3671888"/>
                  <a:ext cx="1125537" cy="82391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0" hangingPunct="0">
                    <a:lnSpc>
                      <a:spcPct val="60000"/>
                    </a:lnSpc>
                    <a:spcBef>
                      <a:spcPct val="50000"/>
                    </a:spcBef>
                    <a:buFontTx/>
                    <a:buChar char="-"/>
                    <a:defRPr/>
                  </a:pPr>
                  <a:endParaRPr lang="en-US" sz="3200">
                    <a:ln>
                      <a:solidFill>
                        <a:schemeClr val="bg1"/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65917BF0-F4B9-4000-B672-9D5CB2429539}"/>
                    </a:ext>
                  </a:extLst>
                </p:cNvPr>
                <p:cNvCxnSpPr/>
                <p:nvPr/>
              </p:nvCxnSpPr>
              <p:spPr>
                <a:xfrm>
                  <a:off x="4064000" y="2220913"/>
                  <a:ext cx="617538" cy="59848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TextBox 87">
                  <a:extLst>
                    <a:ext uri="{FF2B5EF4-FFF2-40B4-BE49-F238E27FC236}">
                      <a16:creationId xmlns:a16="http://schemas.microsoft.com/office/drawing/2014/main" id="{E6EEB489-EA67-4430-AAC2-A749D53F85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24855" y="2438400"/>
                  <a:ext cx="1084795" cy="3501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algn="just" eaLnBrk="0" hangingPunct="0">
                    <a:lnSpc>
                      <a:spcPct val="60000"/>
                    </a:lnSpc>
                    <a:spcBef>
                      <a:spcPct val="50000"/>
                    </a:spcBef>
                  </a:pPr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sz="3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sz="3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" name="TextBox 88">
                  <a:extLst>
                    <a:ext uri="{FF2B5EF4-FFF2-40B4-BE49-F238E27FC236}">
                      <a16:creationId xmlns:a16="http://schemas.microsoft.com/office/drawing/2014/main" id="{77B66B84-16C4-4047-984F-F49BF27B51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65298" y="2068513"/>
                  <a:ext cx="796761" cy="3501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just" eaLnBrk="0" hangingPunct="0">
                    <a:lnSpc>
                      <a:spcPct val="60000"/>
                    </a:lnSpc>
                    <a:spcBef>
                      <a:spcPct val="50000"/>
                    </a:spcBef>
                  </a:pPr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sz="3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X</a:t>
                  </a:r>
                  <a:r>
                    <a:rPr lang="en-US" sz="3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TextBox 89">
                  <a:extLst>
                    <a:ext uri="{FF2B5EF4-FFF2-40B4-BE49-F238E27FC236}">
                      <a16:creationId xmlns:a16="http://schemas.microsoft.com/office/drawing/2014/main" id="{10DC5486-4E1F-4CD7-A37E-73ECD46CB4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13561" y="1828800"/>
                  <a:ext cx="332575" cy="3501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just" eaLnBrk="0" hangingPunct="0">
                    <a:lnSpc>
                      <a:spcPct val="60000"/>
                    </a:lnSpc>
                    <a:spcBef>
                      <a:spcPct val="50000"/>
                    </a:spcBef>
                  </a:pPr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</a:t>
                  </a:r>
                </a:p>
              </p:txBody>
            </p:sp>
            <p:sp>
              <p:nvSpPr>
                <p:cNvPr id="84" name="TextBox 90">
                  <a:extLst>
                    <a:ext uri="{FF2B5EF4-FFF2-40B4-BE49-F238E27FC236}">
                      <a16:creationId xmlns:a16="http://schemas.microsoft.com/office/drawing/2014/main" id="{C9082A34-A068-48AF-A28C-6BC2BA6D14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12510" y="2579688"/>
                  <a:ext cx="411232" cy="3501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just" eaLnBrk="0" hangingPunct="0">
                    <a:lnSpc>
                      <a:spcPct val="60000"/>
                    </a:lnSpc>
                    <a:spcBef>
                      <a:spcPct val="50000"/>
                    </a:spcBef>
                  </a:pPr>
                  <a:r>
                    <a:rPr lang="en-US" sz="3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00</a:t>
                  </a:r>
                </a:p>
              </p:txBody>
            </p:sp>
            <p:sp>
              <p:nvSpPr>
                <p:cNvPr id="85" name="TextBox 91">
                  <a:extLst>
                    <a:ext uri="{FF2B5EF4-FFF2-40B4-BE49-F238E27FC236}">
                      <a16:creationId xmlns:a16="http://schemas.microsoft.com/office/drawing/2014/main" id="{B688FC0B-66C8-4AD5-84BC-079C0D7563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18998" y="2555875"/>
                  <a:ext cx="411232" cy="3501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just" eaLnBrk="0" hangingPunct="0">
                    <a:lnSpc>
                      <a:spcPct val="60000"/>
                    </a:lnSpc>
                    <a:spcBef>
                      <a:spcPct val="50000"/>
                    </a:spcBef>
                  </a:pPr>
                  <a:r>
                    <a:rPr lang="en-US" sz="3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01</a:t>
                  </a:r>
                </a:p>
              </p:txBody>
            </p:sp>
            <p:sp>
              <p:nvSpPr>
                <p:cNvPr id="86" name="TextBox 92">
                  <a:extLst>
                    <a:ext uri="{FF2B5EF4-FFF2-40B4-BE49-F238E27FC236}">
                      <a16:creationId xmlns:a16="http://schemas.microsoft.com/office/drawing/2014/main" id="{3B96B214-C3B8-412C-B93A-B861A09310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65580" y="3121026"/>
                  <a:ext cx="411232" cy="3501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just" eaLnBrk="0" hangingPunct="0">
                    <a:lnSpc>
                      <a:spcPct val="60000"/>
                    </a:lnSpc>
                    <a:spcBef>
                      <a:spcPct val="50000"/>
                    </a:spcBef>
                  </a:pPr>
                  <a:r>
                    <a:rPr lang="en-US" sz="3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00</a:t>
                  </a:r>
                </a:p>
              </p:txBody>
            </p:sp>
            <p:sp>
              <p:nvSpPr>
                <p:cNvPr id="87" name="TextBox 93">
                  <a:extLst>
                    <a:ext uri="{FF2B5EF4-FFF2-40B4-BE49-F238E27FC236}">
                      <a16:creationId xmlns:a16="http://schemas.microsoft.com/office/drawing/2014/main" id="{7DD63F7E-B0C7-430F-8E5F-C4F6412B42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1135" y="3946525"/>
                  <a:ext cx="411232" cy="3501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just" eaLnBrk="0" hangingPunct="0">
                    <a:lnSpc>
                      <a:spcPct val="60000"/>
                    </a:lnSpc>
                    <a:spcBef>
                      <a:spcPct val="50000"/>
                    </a:spcBef>
                  </a:pPr>
                  <a:r>
                    <a:rPr lang="en-US" sz="3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01</a:t>
                  </a: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234C1DE4-4C46-484D-AEF6-C4D68049B0D7}"/>
                    </a:ext>
                  </a:extLst>
                </p:cNvPr>
                <p:cNvSpPr/>
                <p:nvPr/>
              </p:nvSpPr>
              <p:spPr>
                <a:xfrm>
                  <a:off x="6918325" y="2844800"/>
                  <a:ext cx="1127125" cy="82391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0" hangingPunct="0">
                    <a:lnSpc>
                      <a:spcPct val="60000"/>
                    </a:lnSpc>
                    <a:spcBef>
                      <a:spcPct val="50000"/>
                    </a:spcBef>
                    <a:buFontTx/>
                    <a:buChar char="-"/>
                    <a:defRPr/>
                  </a:pPr>
                  <a:endParaRPr lang="en-US" sz="3200" dirty="0">
                    <a:ln>
                      <a:solidFill>
                        <a:schemeClr val="bg1"/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1C7418DA-1A2B-4890-BDCB-E3C3244D0D9C}"/>
                    </a:ext>
                  </a:extLst>
                </p:cNvPr>
                <p:cNvSpPr/>
                <p:nvPr/>
              </p:nvSpPr>
              <p:spPr>
                <a:xfrm>
                  <a:off x="6919913" y="3668713"/>
                  <a:ext cx="1125537" cy="903287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0" hangingPunct="0">
                    <a:lnSpc>
                      <a:spcPct val="60000"/>
                    </a:lnSpc>
                    <a:spcBef>
                      <a:spcPct val="50000"/>
                    </a:spcBef>
                    <a:buFontTx/>
                    <a:buChar char="-"/>
                    <a:defRPr/>
                  </a:pPr>
                  <a:endParaRPr lang="en-US" sz="3200" dirty="0">
                    <a:ln>
                      <a:solidFill>
                        <a:schemeClr val="bg1"/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" name="TextBox 101">
                  <a:extLst>
                    <a:ext uri="{FF2B5EF4-FFF2-40B4-BE49-F238E27FC236}">
                      <a16:creationId xmlns:a16="http://schemas.microsoft.com/office/drawing/2014/main" id="{F8D13E29-68A6-4FA6-911C-D2D7583B55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65669" y="2568575"/>
                  <a:ext cx="400685" cy="3501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just" eaLnBrk="0" hangingPunct="0">
                    <a:lnSpc>
                      <a:spcPct val="60000"/>
                    </a:lnSpc>
                    <a:spcBef>
                      <a:spcPct val="50000"/>
                    </a:spcBef>
                  </a:pPr>
                  <a:r>
                    <a:rPr lang="en-US" sz="3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DDA9F386-1A71-4599-A947-EC0D1F98C6CF}"/>
                    </a:ext>
                  </a:extLst>
                </p:cNvPr>
                <p:cNvSpPr/>
                <p:nvPr/>
              </p:nvSpPr>
              <p:spPr>
                <a:xfrm>
                  <a:off x="8016875" y="2846388"/>
                  <a:ext cx="1127125" cy="82391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0" hangingPunct="0">
                    <a:lnSpc>
                      <a:spcPct val="60000"/>
                    </a:lnSpc>
                    <a:spcBef>
                      <a:spcPct val="50000"/>
                    </a:spcBef>
                    <a:buFontTx/>
                    <a:buChar char="-"/>
                    <a:defRPr/>
                  </a:pPr>
                  <a:endParaRPr lang="en-US" sz="3200" dirty="0">
                    <a:ln>
                      <a:solidFill>
                        <a:schemeClr val="bg1"/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EA2E49C7-5B83-4006-9A3C-89B07D063F74}"/>
                    </a:ext>
                  </a:extLst>
                </p:cNvPr>
                <p:cNvSpPr/>
                <p:nvPr/>
              </p:nvSpPr>
              <p:spPr>
                <a:xfrm>
                  <a:off x="8020050" y="3670300"/>
                  <a:ext cx="1123950" cy="8255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0" hangingPunct="0">
                    <a:lnSpc>
                      <a:spcPct val="60000"/>
                    </a:lnSpc>
                    <a:spcBef>
                      <a:spcPct val="50000"/>
                    </a:spcBef>
                    <a:buFontTx/>
                    <a:buChar char="-"/>
                    <a:defRPr/>
                  </a:pPr>
                  <a:endParaRPr lang="en-US" sz="3200">
                    <a:ln>
                      <a:solidFill>
                        <a:schemeClr val="bg1"/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" name="TextBox 104">
                  <a:extLst>
                    <a:ext uri="{FF2B5EF4-FFF2-40B4-BE49-F238E27FC236}">
                      <a16:creationId xmlns:a16="http://schemas.microsoft.com/office/drawing/2014/main" id="{9A52E3D3-6560-487B-ABE4-59A7B9D3F3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61353" y="2558118"/>
                  <a:ext cx="411232" cy="3501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just" eaLnBrk="0" hangingPunct="0">
                    <a:lnSpc>
                      <a:spcPct val="60000"/>
                    </a:lnSpc>
                    <a:spcBef>
                      <a:spcPct val="50000"/>
                    </a:spcBef>
                  </a:pPr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</a:p>
              </p:txBody>
            </p:sp>
            <p:grpSp>
              <p:nvGrpSpPr>
                <p:cNvPr id="94" name="Group 63">
                  <a:extLst>
                    <a:ext uri="{FF2B5EF4-FFF2-40B4-BE49-F238E27FC236}">
                      <a16:creationId xmlns:a16="http://schemas.microsoft.com/office/drawing/2014/main" id="{37BA7FF9-E693-4C41-BE42-05236AA8EB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75372" y="4495800"/>
                  <a:ext cx="4871801" cy="827088"/>
                  <a:chOff x="4275367" y="4495800"/>
                  <a:chExt cx="4871443" cy="827281"/>
                </a:xfrm>
              </p:grpSpPr>
              <p:sp>
                <p:nvSpPr>
                  <p:cNvPr id="101" name="Rectangle 100">
                    <a:extLst>
                      <a:ext uri="{FF2B5EF4-FFF2-40B4-BE49-F238E27FC236}">
                        <a16:creationId xmlns:a16="http://schemas.microsoft.com/office/drawing/2014/main" id="{4A6E2988-71DF-49C5-8B0A-D7870CD9D738}"/>
                      </a:ext>
                    </a:extLst>
                  </p:cNvPr>
                  <p:cNvSpPr/>
                  <p:nvPr/>
                </p:nvSpPr>
                <p:spPr>
                  <a:xfrm>
                    <a:off x="5791082" y="4498976"/>
                    <a:ext cx="1204824" cy="82410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  <a:buFontTx/>
                      <a:buChar char="-"/>
                      <a:defRPr/>
                    </a:pPr>
                    <a:endParaRPr lang="en-US" sz="3200" dirty="0">
                      <a:ln>
                        <a:solidFill>
                          <a:schemeClr val="bg1"/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" name="Rectangle 101">
                    <a:extLst>
                      <a:ext uri="{FF2B5EF4-FFF2-40B4-BE49-F238E27FC236}">
                        <a16:creationId xmlns:a16="http://schemas.microsoft.com/office/drawing/2014/main" id="{8ADA915C-549C-454C-83CF-22EAB4E26F58}"/>
                      </a:ext>
                    </a:extLst>
                  </p:cNvPr>
                  <p:cNvSpPr/>
                  <p:nvPr/>
                </p:nvSpPr>
                <p:spPr>
                  <a:xfrm>
                    <a:off x="4681502" y="4498976"/>
                    <a:ext cx="1123867" cy="82410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  <a:buFontTx/>
                      <a:buChar char="-"/>
                      <a:defRPr/>
                    </a:pPr>
                    <a:endParaRPr lang="en-US" sz="3200" dirty="0">
                      <a:ln>
                        <a:solidFill>
                          <a:schemeClr val="bg1"/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3" name="Rectangle 102">
                    <a:extLst>
                      <a:ext uri="{FF2B5EF4-FFF2-40B4-BE49-F238E27FC236}">
                        <a16:creationId xmlns:a16="http://schemas.microsoft.com/office/drawing/2014/main" id="{C177EE7D-C755-4AA7-AA62-CDA1A6CCAFEB}"/>
                      </a:ext>
                    </a:extLst>
                  </p:cNvPr>
                  <p:cNvSpPr/>
                  <p:nvPr/>
                </p:nvSpPr>
                <p:spPr>
                  <a:xfrm>
                    <a:off x="6919712" y="4495800"/>
                    <a:ext cx="1127042" cy="82410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  <a:buFontTx/>
                      <a:buChar char="-"/>
                      <a:defRPr/>
                    </a:pPr>
                    <a:endParaRPr lang="en-US" sz="3200" dirty="0">
                      <a:ln>
                        <a:solidFill>
                          <a:schemeClr val="bg1"/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DB09ED2A-7340-4412-B394-E7963CBBA5C3}"/>
                      </a:ext>
                    </a:extLst>
                  </p:cNvPr>
                  <p:cNvSpPr/>
                  <p:nvPr/>
                </p:nvSpPr>
                <p:spPr>
                  <a:xfrm>
                    <a:off x="8019768" y="4497388"/>
                    <a:ext cx="1127042" cy="82569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  <a:buFontTx/>
                      <a:buChar char="-"/>
                      <a:defRPr/>
                    </a:pPr>
                    <a:endParaRPr lang="en-US" sz="3200" dirty="0">
                      <a:ln>
                        <a:solidFill>
                          <a:schemeClr val="bg1"/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5" name="TextBox 62">
                    <a:extLst>
                      <a:ext uri="{FF2B5EF4-FFF2-40B4-BE49-F238E27FC236}">
                        <a16:creationId xmlns:a16="http://schemas.microsoft.com/office/drawing/2014/main" id="{BA598B9E-4534-463D-8113-878DEF6A7E4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75367" y="4724400"/>
                    <a:ext cx="400655" cy="35021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11</a:t>
                    </a:r>
                  </a:p>
                </p:txBody>
              </p:sp>
            </p:grpSp>
            <p:grpSp>
              <p:nvGrpSpPr>
                <p:cNvPr id="95" name="Group 64">
                  <a:extLst>
                    <a:ext uri="{FF2B5EF4-FFF2-40B4-BE49-F238E27FC236}">
                      <a16:creationId xmlns:a16="http://schemas.microsoft.com/office/drawing/2014/main" id="{D690BC43-EA35-48FB-B4EE-4E6A9ABEAAB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70099" y="5308600"/>
                  <a:ext cx="4886601" cy="827088"/>
                  <a:chOff x="4272223" y="4495800"/>
                  <a:chExt cx="4887287" cy="827281"/>
                </a:xfrm>
              </p:grpSpPr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06738A46-D0CF-41C6-B25D-06494BE93721}"/>
                      </a:ext>
                    </a:extLst>
                  </p:cNvPr>
                  <p:cNvSpPr/>
                  <p:nvPr/>
                </p:nvSpPr>
                <p:spPr>
                  <a:xfrm>
                    <a:off x="5804652" y="4498976"/>
                    <a:ext cx="1127283" cy="82410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  <a:buFontTx/>
                      <a:buChar char="-"/>
                      <a:defRPr/>
                    </a:pPr>
                    <a:endParaRPr lang="en-US" sz="3200" dirty="0">
                      <a:ln>
                        <a:solidFill>
                          <a:schemeClr val="bg1"/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D4D5F968-45D0-46D1-84FA-168656599500}"/>
                      </a:ext>
                    </a:extLst>
                  </p:cNvPr>
                  <p:cNvSpPr/>
                  <p:nvPr/>
                </p:nvSpPr>
                <p:spPr>
                  <a:xfrm>
                    <a:off x="4680544" y="4498976"/>
                    <a:ext cx="1125695" cy="82410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  <a:buFontTx/>
                      <a:buChar char="-"/>
                      <a:defRPr/>
                    </a:pPr>
                    <a:endParaRPr lang="en-US" sz="3200" dirty="0">
                      <a:ln>
                        <a:solidFill>
                          <a:schemeClr val="bg1"/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id="{7EE87F7B-5A8B-4131-A225-8A90F7EAC33B}"/>
                      </a:ext>
                    </a:extLst>
                  </p:cNvPr>
                  <p:cNvSpPr/>
                  <p:nvPr/>
                </p:nvSpPr>
                <p:spPr>
                  <a:xfrm>
                    <a:off x="6919234" y="4495800"/>
                    <a:ext cx="1127283" cy="82410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  <a:buFontTx/>
                      <a:buChar char="-"/>
                      <a:defRPr/>
                    </a:pPr>
                    <a:endParaRPr lang="en-US" sz="3200" dirty="0">
                      <a:ln>
                        <a:solidFill>
                          <a:schemeClr val="bg1"/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" name="Rectangle 98">
                    <a:extLst>
                      <a:ext uri="{FF2B5EF4-FFF2-40B4-BE49-F238E27FC236}">
                        <a16:creationId xmlns:a16="http://schemas.microsoft.com/office/drawing/2014/main" id="{02336E3B-25D4-4BDC-8E28-712761FEEEF9}"/>
                      </a:ext>
                    </a:extLst>
                  </p:cNvPr>
                  <p:cNvSpPr/>
                  <p:nvPr/>
                </p:nvSpPr>
                <p:spPr>
                  <a:xfrm>
                    <a:off x="8032227" y="4497388"/>
                    <a:ext cx="1127283" cy="82569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  <a:buFontTx/>
                      <a:buChar char="-"/>
                      <a:defRPr/>
                    </a:pPr>
                    <a:endParaRPr lang="en-US" sz="3200" dirty="0">
                      <a:ln>
                        <a:solidFill>
                          <a:schemeClr val="bg1"/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0" name="TextBox 72">
                    <a:extLst>
                      <a:ext uri="{FF2B5EF4-FFF2-40B4-BE49-F238E27FC236}">
                        <a16:creationId xmlns:a16="http://schemas.microsoft.com/office/drawing/2014/main" id="{9AF07061-279C-4C6B-A0DD-4030C0119D4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72223" y="4747414"/>
                    <a:ext cx="411290" cy="35021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just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</a:t>
                    </a:r>
                  </a:p>
                </p:txBody>
              </p:sp>
            </p:grpSp>
          </p:grpSp>
          <p:sp>
            <p:nvSpPr>
              <p:cNvPr id="63" name="TextBox 74">
                <a:extLst>
                  <a:ext uri="{FF2B5EF4-FFF2-40B4-BE49-F238E27FC236}">
                    <a16:creationId xmlns:a16="http://schemas.microsoft.com/office/drawing/2014/main" id="{FC8BC00F-C926-4974-9369-51235E880E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20000" y="3352800"/>
                <a:ext cx="338138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4" name="TextBox 79">
                <a:extLst>
                  <a:ext uri="{FF2B5EF4-FFF2-40B4-BE49-F238E27FC236}">
                    <a16:creationId xmlns:a16="http://schemas.microsoft.com/office/drawing/2014/main" id="{C17B63D0-F86A-4AD6-8486-AC5267A2C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05863" y="3352800"/>
                <a:ext cx="338137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5" name="TextBox 80">
                <a:extLst>
                  <a:ext uri="{FF2B5EF4-FFF2-40B4-BE49-F238E27FC236}">
                    <a16:creationId xmlns:a16="http://schemas.microsoft.com/office/drawing/2014/main" id="{CF188CD8-04A9-4215-999A-CCD637C346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30850" y="4203699"/>
                <a:ext cx="336550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66" name="TextBox 81">
                <a:extLst>
                  <a:ext uri="{FF2B5EF4-FFF2-40B4-BE49-F238E27FC236}">
                    <a16:creationId xmlns:a16="http://schemas.microsoft.com/office/drawing/2014/main" id="{F2FF0E36-8D85-4EF1-AE99-E0A24B6A1E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9400" y="4191000"/>
                <a:ext cx="338138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7" name="TextBox 105">
                <a:extLst>
                  <a:ext uri="{FF2B5EF4-FFF2-40B4-BE49-F238E27FC236}">
                    <a16:creationId xmlns:a16="http://schemas.microsoft.com/office/drawing/2014/main" id="{B32D0D48-CEC5-4FDB-95E3-E59DD94647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64450" y="4167188"/>
                <a:ext cx="336550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68" name="TextBox 106">
                <a:extLst>
                  <a:ext uri="{FF2B5EF4-FFF2-40B4-BE49-F238E27FC236}">
                    <a16:creationId xmlns:a16="http://schemas.microsoft.com/office/drawing/2014/main" id="{C1B32C07-C48C-4B04-80C6-1377CF508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07450" y="4167188"/>
                <a:ext cx="336550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9" name="TextBox 107">
                <a:extLst>
                  <a:ext uri="{FF2B5EF4-FFF2-40B4-BE49-F238E27FC236}">
                    <a16:creationId xmlns:a16="http://schemas.microsoft.com/office/drawing/2014/main" id="{B54B5E85-2552-4781-90FD-49EC27CC9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30850" y="5041900"/>
                <a:ext cx="336550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70" name="TextBox 108">
                <a:extLst>
                  <a:ext uri="{FF2B5EF4-FFF2-40B4-BE49-F238E27FC236}">
                    <a16:creationId xmlns:a16="http://schemas.microsoft.com/office/drawing/2014/main" id="{0AEAAE29-5F59-461B-8C1A-D3003C1339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9400" y="5029199"/>
                <a:ext cx="338138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71" name="TextBox 109">
                <a:extLst>
                  <a:ext uri="{FF2B5EF4-FFF2-40B4-BE49-F238E27FC236}">
                    <a16:creationId xmlns:a16="http://schemas.microsoft.com/office/drawing/2014/main" id="{6FAF2D6F-A871-43E2-A113-1A6E2F377C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05050" y="5006658"/>
                <a:ext cx="453099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72" name="TextBox 110">
                <a:extLst>
                  <a:ext uri="{FF2B5EF4-FFF2-40B4-BE49-F238E27FC236}">
                    <a16:creationId xmlns:a16="http://schemas.microsoft.com/office/drawing/2014/main" id="{117BCF5B-2BBD-4E44-934D-152C03E3DD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37600" y="5035440"/>
                <a:ext cx="484270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</a:p>
            </p:txBody>
          </p:sp>
          <p:sp>
            <p:nvSpPr>
              <p:cNvPr id="73" name="TextBox 111">
                <a:extLst>
                  <a:ext uri="{FF2B5EF4-FFF2-40B4-BE49-F238E27FC236}">
                    <a16:creationId xmlns:a16="http://schemas.microsoft.com/office/drawing/2014/main" id="{43803562-EE9E-49A1-8F0F-9342C1BB3F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5980" y="5859740"/>
                <a:ext cx="465529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</a:p>
            </p:txBody>
          </p:sp>
          <p:sp>
            <p:nvSpPr>
              <p:cNvPr id="74" name="TextBox 112">
                <a:extLst>
                  <a:ext uri="{FF2B5EF4-FFF2-40B4-BE49-F238E27FC236}">
                    <a16:creationId xmlns:a16="http://schemas.microsoft.com/office/drawing/2014/main" id="{4CB48B7D-D858-4A9A-BD2F-14F20CC448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2161" y="5840640"/>
                <a:ext cx="454418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</a:t>
                </a:r>
              </a:p>
            </p:txBody>
          </p:sp>
          <p:sp>
            <p:nvSpPr>
              <p:cNvPr id="75" name="TextBox 113">
                <a:extLst>
                  <a:ext uri="{FF2B5EF4-FFF2-40B4-BE49-F238E27FC236}">
                    <a16:creationId xmlns:a16="http://schemas.microsoft.com/office/drawing/2014/main" id="{6A94FAED-443A-4AD8-BD8D-24E2D5BF87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83839" y="5838172"/>
                <a:ext cx="484271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</a:p>
            </p:txBody>
          </p:sp>
          <p:sp>
            <p:nvSpPr>
              <p:cNvPr id="76" name="TextBox 114">
                <a:extLst>
                  <a:ext uri="{FF2B5EF4-FFF2-40B4-BE49-F238E27FC236}">
                    <a16:creationId xmlns:a16="http://schemas.microsoft.com/office/drawing/2014/main" id="{D5E0B540-A466-4672-8F68-D4C38852F3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58998" y="5859740"/>
                <a:ext cx="484271" cy="3501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 eaLnBrk="0" hangingPunct="0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</a:p>
            </p:txBody>
          </p:sp>
        </p:grpSp>
        <p:sp>
          <p:nvSpPr>
            <p:cNvPr id="106" name="TextBox 74">
              <a:extLst>
                <a:ext uri="{FF2B5EF4-FFF2-40B4-BE49-F238E27FC236}">
                  <a16:creationId xmlns:a16="http://schemas.microsoft.com/office/drawing/2014/main" id="{02BFC8AB-D1A6-4F7B-93F4-A60B6714D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8890" y="3263103"/>
              <a:ext cx="489271" cy="410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7" name="TextBox 74">
              <a:extLst>
                <a:ext uri="{FF2B5EF4-FFF2-40B4-BE49-F238E27FC236}">
                  <a16:creationId xmlns:a16="http://schemas.microsoft.com/office/drawing/2014/main" id="{E50C1C65-1D39-4C3A-9045-0611086D2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6958" y="3223927"/>
              <a:ext cx="489271" cy="410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108" name="TextBox 98">
            <a:extLst>
              <a:ext uri="{FF2B5EF4-FFF2-40B4-BE49-F238E27FC236}">
                <a16:creationId xmlns:a16="http://schemas.microsoft.com/office/drawing/2014/main" id="{405A7BC8-3F6C-4B5A-B8CC-BFE56591F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7" y="4277304"/>
            <a:ext cx="3194424" cy="41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GRAY</a:t>
            </a:r>
          </a:p>
        </p:txBody>
      </p:sp>
    </p:spTree>
    <p:extLst>
      <p:ext uri="{BB962C8B-B14F-4D97-AF65-F5344CB8AC3E}">
        <p14:creationId xmlns:p14="http://schemas.microsoft.com/office/powerpoint/2010/main" val="26801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-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Sự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tương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ứng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giữa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bảng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trạng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thái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và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bảng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Karnaugh: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7EE5D8-BDD2-71DB-BF55-E38BC03B62E9}"/>
              </a:ext>
            </a:extLst>
          </p:cNvPr>
          <p:cNvSpPr/>
          <p:nvPr/>
        </p:nvSpPr>
        <p:spPr bwMode="auto">
          <a:xfrm>
            <a:off x="6480019" y="3000708"/>
            <a:ext cx="1524000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  <a:buFontTx/>
              <a:buChar char="-"/>
              <a:defRPr/>
            </a:pPr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6C9AA-5699-32F3-0CD6-712C6F2901A8}"/>
              </a:ext>
            </a:extLst>
          </p:cNvPr>
          <p:cNvSpPr/>
          <p:nvPr/>
        </p:nvSpPr>
        <p:spPr bwMode="auto">
          <a:xfrm>
            <a:off x="6480019" y="3915108"/>
            <a:ext cx="1524000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  <a:buFontTx/>
              <a:buChar char="-"/>
              <a:defRPr/>
            </a:pPr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E411EC-D2C2-A8C2-CF3B-D3506EA6408D}"/>
              </a:ext>
            </a:extLst>
          </p:cNvPr>
          <p:cNvSpPr/>
          <p:nvPr/>
        </p:nvSpPr>
        <p:spPr bwMode="auto">
          <a:xfrm>
            <a:off x="9147019" y="2086308"/>
            <a:ext cx="1524000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  <a:buFontTx/>
              <a:buChar char="-"/>
              <a:defRPr/>
            </a:pPr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33ABBD-F97F-E634-4D9D-8C6258FEDD87}"/>
              </a:ext>
            </a:extLst>
          </p:cNvPr>
          <p:cNvSpPr/>
          <p:nvPr/>
        </p:nvSpPr>
        <p:spPr bwMode="auto">
          <a:xfrm>
            <a:off x="7623019" y="2086308"/>
            <a:ext cx="1524000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  <a:buFontTx/>
              <a:buChar char="-"/>
              <a:defRPr/>
            </a:pPr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717514-D66D-A759-8996-ABE0D5260769}"/>
              </a:ext>
            </a:extLst>
          </p:cNvPr>
          <p:cNvSpPr/>
          <p:nvPr/>
        </p:nvSpPr>
        <p:spPr bwMode="auto">
          <a:xfrm>
            <a:off x="9147019" y="2989595"/>
            <a:ext cx="1528763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9DD83E-C70F-E68C-5958-B054EB36C0C6}"/>
              </a:ext>
            </a:extLst>
          </p:cNvPr>
          <p:cNvSpPr/>
          <p:nvPr/>
        </p:nvSpPr>
        <p:spPr bwMode="auto">
          <a:xfrm>
            <a:off x="7627781" y="3000708"/>
            <a:ext cx="15240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A95DD5-C2B1-AEA0-D062-D7F5DF98D680}"/>
              </a:ext>
            </a:extLst>
          </p:cNvPr>
          <p:cNvSpPr/>
          <p:nvPr/>
        </p:nvSpPr>
        <p:spPr bwMode="auto">
          <a:xfrm>
            <a:off x="7627781" y="3917851"/>
            <a:ext cx="15240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8DA18-A099-A153-1D5F-A09E71D45C95}"/>
              </a:ext>
            </a:extLst>
          </p:cNvPr>
          <p:cNvSpPr/>
          <p:nvPr/>
        </p:nvSpPr>
        <p:spPr bwMode="auto">
          <a:xfrm>
            <a:off x="9151781" y="3903995"/>
            <a:ext cx="15240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D10877-24A6-C36E-847A-9E0EDD801632}"/>
              </a:ext>
            </a:extLst>
          </p:cNvPr>
          <p:cNvCxnSpPr/>
          <p:nvPr/>
        </p:nvCxnSpPr>
        <p:spPr bwMode="auto">
          <a:xfrm>
            <a:off x="6480021" y="2238708"/>
            <a:ext cx="1147763" cy="7508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20">
            <a:extLst>
              <a:ext uri="{FF2B5EF4-FFF2-40B4-BE49-F238E27FC236}">
                <a16:creationId xmlns:a16="http://schemas.microsoft.com/office/drawing/2014/main" id="{91DEAA86-8AF8-5147-4B96-7E5F89600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3373" y="2543511"/>
            <a:ext cx="423514" cy="269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dirty="0">
                <a:latin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</a:rPr>
              <a:t>1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0F86F68F-B2DD-62E5-A373-27A5AA411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573" y="2229185"/>
            <a:ext cx="423514" cy="269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dirty="0">
                <a:latin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</a:rPr>
              <a:t>0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AA9868F3-7827-E4ED-132F-687BA23DF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1" y="2010111"/>
            <a:ext cx="338554" cy="269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9" name="TextBox 24">
            <a:extLst>
              <a:ext uri="{FF2B5EF4-FFF2-40B4-BE49-F238E27FC236}">
                <a16:creationId xmlns:a16="http://schemas.microsoft.com/office/drawing/2014/main" id="{2453D5A0-1E0D-79D4-13B8-38B5BBC04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810" y="2446673"/>
            <a:ext cx="312906" cy="269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4BD25E13-49C5-47BA-2C7C-1DAA77830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848" y="2379999"/>
            <a:ext cx="312906" cy="269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1" name="TextBox 27">
            <a:extLst>
              <a:ext uri="{FF2B5EF4-FFF2-40B4-BE49-F238E27FC236}">
                <a16:creationId xmlns:a16="http://schemas.microsoft.com/office/drawing/2014/main" id="{22E792A6-59E3-3D03-3A63-4B676679E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3492" y="3294399"/>
            <a:ext cx="312906" cy="269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2" name="TextBox 28">
            <a:extLst>
              <a:ext uri="{FF2B5EF4-FFF2-40B4-BE49-F238E27FC236}">
                <a16:creationId xmlns:a16="http://schemas.microsoft.com/office/drawing/2014/main" id="{7B48294E-9B27-F356-0CDE-8B9769579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635" y="4208799"/>
            <a:ext cx="312906" cy="269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3" name="TextBox 66">
            <a:extLst>
              <a:ext uri="{FF2B5EF4-FFF2-40B4-BE49-F238E27FC236}">
                <a16:creationId xmlns:a16="http://schemas.microsoft.com/office/drawing/2014/main" id="{D45BBEC0-1176-A444-A892-ACF2E4BE3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3168" y="5439111"/>
            <a:ext cx="2819400" cy="269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dirty="0">
                <a:latin typeface="Arial" panose="020B0604020202020204" pitchFamily="34" charset="0"/>
              </a:rPr>
              <a:t>Theo </a:t>
            </a:r>
            <a:r>
              <a:rPr lang="en-US" dirty="0" err="1">
                <a:latin typeface="Arial" panose="020B0604020202020204" pitchFamily="34" charset="0"/>
              </a:rPr>
              <a:t>mã</a:t>
            </a:r>
            <a:r>
              <a:rPr lang="en-US" dirty="0">
                <a:latin typeface="Arial" panose="020B0604020202020204" pitchFamily="34" charset="0"/>
              </a:rPr>
              <a:t> BCD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B5B51F0-8C84-BE0A-A0C4-1B11011CE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867176"/>
              </p:ext>
            </p:extLst>
          </p:nvPr>
        </p:nvGraphicFramePr>
        <p:xfrm>
          <a:off x="1679422" y="2314908"/>
          <a:ext cx="4038602" cy="2667000"/>
        </p:xfrm>
        <a:graphic>
          <a:graphicData uri="http://schemas.openxmlformats.org/drawingml/2006/table">
            <a:tbl>
              <a:tblPr/>
              <a:tblGrid>
                <a:gridCol w="1019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3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800" b="1" baseline="-250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  <a:endParaRPr lang="en-US" sz="2800" b="1" dirty="0"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800" b="1" baseline="-250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  <a:endParaRPr lang="en-US" sz="2800" b="1" dirty="0"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 →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 →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 →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 →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5720063C-C0BA-921C-0478-9274119A067B}"/>
              </a:ext>
            </a:extLst>
          </p:cNvPr>
          <p:cNvGrpSpPr/>
          <p:nvPr/>
        </p:nvGrpSpPr>
        <p:grpSpPr>
          <a:xfrm>
            <a:off x="5565620" y="2670511"/>
            <a:ext cx="3740151" cy="1208409"/>
            <a:chOff x="4343400" y="2946400"/>
            <a:chExt cx="3740150" cy="1208408"/>
          </a:xfrm>
        </p:grpSpPr>
        <p:sp>
          <p:nvSpPr>
            <p:cNvPr id="26" name="TextBox 58">
              <a:extLst>
                <a:ext uri="{FF2B5EF4-FFF2-40B4-BE49-F238E27FC236}">
                  <a16:creationId xmlns:a16="http://schemas.microsoft.com/office/drawing/2014/main" id="{E96938FF-2506-193F-DA27-90B7EA50E7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6350" y="3865562"/>
              <a:ext cx="457200" cy="289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2000" dirty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27" name="Freeform 70">
              <a:extLst>
                <a:ext uri="{FF2B5EF4-FFF2-40B4-BE49-F238E27FC236}">
                  <a16:creationId xmlns:a16="http://schemas.microsoft.com/office/drawing/2014/main" id="{8ED48B07-C0CC-6439-7F59-E0489370260E}"/>
                </a:ext>
              </a:extLst>
            </p:cNvPr>
            <p:cNvSpPr/>
            <p:nvPr/>
          </p:nvSpPr>
          <p:spPr>
            <a:xfrm>
              <a:off x="4343400" y="2946400"/>
              <a:ext cx="2300288" cy="787400"/>
            </a:xfrm>
            <a:custGeom>
              <a:avLst/>
              <a:gdLst>
                <a:gd name="connsiteX0" fmla="*/ 0 w 2299854"/>
                <a:gd name="connsiteY0" fmla="*/ 551872 h 787399"/>
                <a:gd name="connsiteX1" fmla="*/ 692727 w 2299854"/>
                <a:gd name="connsiteY1" fmla="*/ 39254 h 787399"/>
                <a:gd name="connsiteX2" fmla="*/ 2299854 w 2299854"/>
                <a:gd name="connsiteY2" fmla="*/ 787399 h 787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99854" h="787399">
                  <a:moveTo>
                    <a:pt x="0" y="551872"/>
                  </a:moveTo>
                  <a:cubicBezTo>
                    <a:pt x="154709" y="275936"/>
                    <a:pt x="309418" y="0"/>
                    <a:pt x="692727" y="39254"/>
                  </a:cubicBezTo>
                  <a:cubicBezTo>
                    <a:pt x="1076036" y="78508"/>
                    <a:pt x="1687945" y="432953"/>
                    <a:pt x="2299854" y="787399"/>
                  </a:cubicBezTo>
                </a:path>
              </a:pathLst>
            </a:cu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81131E5-F592-3783-D10D-87E365B73526}"/>
              </a:ext>
            </a:extLst>
          </p:cNvPr>
          <p:cNvGrpSpPr/>
          <p:nvPr/>
        </p:nvGrpSpPr>
        <p:grpSpPr>
          <a:xfrm>
            <a:off x="5559270" y="3492833"/>
            <a:ext cx="5230813" cy="373385"/>
            <a:chOff x="4337050" y="3768725"/>
            <a:chExt cx="5230813" cy="373385"/>
          </a:xfrm>
        </p:grpSpPr>
        <p:sp>
          <p:nvSpPr>
            <p:cNvPr id="29" name="TextBox 59">
              <a:extLst>
                <a:ext uri="{FF2B5EF4-FFF2-40B4-BE49-F238E27FC236}">
                  <a16:creationId xmlns:a16="http://schemas.microsoft.com/office/drawing/2014/main" id="{9598AB4A-5232-9B87-9F80-632864D3B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0663" y="3852864"/>
              <a:ext cx="457200" cy="289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20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" name="Freeform 73">
              <a:extLst>
                <a:ext uri="{FF2B5EF4-FFF2-40B4-BE49-F238E27FC236}">
                  <a16:creationId xmlns:a16="http://schemas.microsoft.com/office/drawing/2014/main" id="{1E17E6A3-96DA-4F98-C28D-D3A425ED70B7}"/>
                </a:ext>
              </a:extLst>
            </p:cNvPr>
            <p:cNvSpPr/>
            <p:nvPr/>
          </p:nvSpPr>
          <p:spPr>
            <a:xfrm>
              <a:off x="4337050" y="3768725"/>
              <a:ext cx="3933825" cy="366713"/>
            </a:xfrm>
            <a:custGeom>
              <a:avLst/>
              <a:gdLst>
                <a:gd name="connsiteX0" fmla="*/ 0 w 3934691"/>
                <a:gd name="connsiteY0" fmla="*/ 124691 h 367146"/>
                <a:gd name="connsiteX1" fmla="*/ 817418 w 3934691"/>
                <a:gd name="connsiteY1" fmla="*/ 346364 h 367146"/>
                <a:gd name="connsiteX2" fmla="*/ 3934691 w 3934691"/>
                <a:gd name="connsiteY2" fmla="*/ 0 h 36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34691" h="367146">
                  <a:moveTo>
                    <a:pt x="0" y="124691"/>
                  </a:moveTo>
                  <a:cubicBezTo>
                    <a:pt x="80818" y="245918"/>
                    <a:pt x="161636" y="367146"/>
                    <a:pt x="817418" y="346364"/>
                  </a:cubicBezTo>
                  <a:cubicBezTo>
                    <a:pt x="1473200" y="325582"/>
                    <a:pt x="2703945" y="162791"/>
                    <a:pt x="3934691" y="0"/>
                  </a:cubicBezTo>
                </a:path>
              </a:pathLst>
            </a:cu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2ADA7C-ADA1-3071-AE8A-C8BD1F1C62E6}"/>
              </a:ext>
            </a:extLst>
          </p:cNvPr>
          <p:cNvGrpSpPr/>
          <p:nvPr/>
        </p:nvGrpSpPr>
        <p:grpSpPr>
          <a:xfrm>
            <a:off x="5475133" y="4170698"/>
            <a:ext cx="3867151" cy="636910"/>
            <a:chOff x="4252913" y="4446588"/>
            <a:chExt cx="3867150" cy="636910"/>
          </a:xfrm>
        </p:grpSpPr>
        <p:sp>
          <p:nvSpPr>
            <p:cNvPr id="32" name="TextBox 60">
              <a:extLst>
                <a:ext uri="{FF2B5EF4-FFF2-40B4-BE49-F238E27FC236}">
                  <a16:creationId xmlns:a16="http://schemas.microsoft.com/office/drawing/2014/main" id="{803C74E3-B897-CD9A-90BD-20BE400F7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2863" y="4794252"/>
              <a:ext cx="457200" cy="289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2000" dirty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3" name="Freeform 74">
              <a:extLst>
                <a:ext uri="{FF2B5EF4-FFF2-40B4-BE49-F238E27FC236}">
                  <a16:creationId xmlns:a16="http://schemas.microsoft.com/office/drawing/2014/main" id="{E3C23F99-8CA4-3F86-78E5-E4C7847E2811}"/>
                </a:ext>
              </a:extLst>
            </p:cNvPr>
            <p:cNvSpPr/>
            <p:nvPr/>
          </p:nvSpPr>
          <p:spPr>
            <a:xfrm>
              <a:off x="4252913" y="4446588"/>
              <a:ext cx="2355850" cy="506412"/>
            </a:xfrm>
            <a:custGeom>
              <a:avLst/>
              <a:gdLst>
                <a:gd name="connsiteX0" fmla="*/ 0 w 2355273"/>
                <a:gd name="connsiteY0" fmla="*/ 0 h 385619"/>
                <a:gd name="connsiteX1" fmla="*/ 789710 w 2355273"/>
                <a:gd name="connsiteY1" fmla="*/ 346364 h 385619"/>
                <a:gd name="connsiteX2" fmla="*/ 2355273 w 2355273"/>
                <a:gd name="connsiteY2" fmla="*/ 235527 h 385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55273" h="385619">
                  <a:moveTo>
                    <a:pt x="0" y="0"/>
                  </a:moveTo>
                  <a:cubicBezTo>
                    <a:pt x="198582" y="153554"/>
                    <a:pt x="397164" y="307109"/>
                    <a:pt x="789710" y="346364"/>
                  </a:cubicBezTo>
                  <a:cubicBezTo>
                    <a:pt x="1182256" y="385619"/>
                    <a:pt x="1768764" y="310573"/>
                    <a:pt x="2355273" y="235527"/>
                  </a:cubicBezTo>
                </a:path>
              </a:pathLst>
            </a:cu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13F7F45-28C1-977C-7C40-CF75C88C8389}"/>
              </a:ext>
            </a:extLst>
          </p:cNvPr>
          <p:cNvGrpSpPr/>
          <p:nvPr/>
        </p:nvGrpSpPr>
        <p:grpSpPr>
          <a:xfrm>
            <a:off x="5475133" y="4513599"/>
            <a:ext cx="5327651" cy="1042987"/>
            <a:chOff x="4252913" y="4789488"/>
            <a:chExt cx="5327650" cy="1042987"/>
          </a:xfrm>
        </p:grpSpPr>
        <p:sp>
          <p:nvSpPr>
            <p:cNvPr id="35" name="TextBox 61">
              <a:extLst>
                <a:ext uri="{FF2B5EF4-FFF2-40B4-BE49-F238E27FC236}">
                  <a16:creationId xmlns:a16="http://schemas.microsoft.com/office/drawing/2014/main" id="{2339A7F9-B844-42C6-C62B-94CD67402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3363" y="4789488"/>
              <a:ext cx="457200" cy="289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sz="20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36" name="Freeform 75">
              <a:extLst>
                <a:ext uri="{FF2B5EF4-FFF2-40B4-BE49-F238E27FC236}">
                  <a16:creationId xmlns:a16="http://schemas.microsoft.com/office/drawing/2014/main" id="{36EA420D-BF56-1044-06FB-9A0DCDE26CA7}"/>
                </a:ext>
              </a:extLst>
            </p:cNvPr>
            <p:cNvSpPr/>
            <p:nvPr/>
          </p:nvSpPr>
          <p:spPr>
            <a:xfrm>
              <a:off x="4252913" y="4891088"/>
              <a:ext cx="4017962" cy="941387"/>
            </a:xfrm>
            <a:custGeom>
              <a:avLst/>
              <a:gdLst>
                <a:gd name="connsiteX0" fmla="*/ 0 w 4017819"/>
                <a:gd name="connsiteY0" fmla="*/ 166254 h 942109"/>
                <a:gd name="connsiteX1" fmla="*/ 1205346 w 4017819"/>
                <a:gd name="connsiteY1" fmla="*/ 914400 h 942109"/>
                <a:gd name="connsiteX2" fmla="*/ 4017819 w 4017819"/>
                <a:gd name="connsiteY2" fmla="*/ 0 h 94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17819" h="942109">
                  <a:moveTo>
                    <a:pt x="0" y="166254"/>
                  </a:moveTo>
                  <a:cubicBezTo>
                    <a:pt x="267854" y="554181"/>
                    <a:pt x="535709" y="942109"/>
                    <a:pt x="1205346" y="914400"/>
                  </a:cubicBezTo>
                  <a:cubicBezTo>
                    <a:pt x="1874983" y="886691"/>
                    <a:pt x="2946401" y="443345"/>
                    <a:pt x="4017819" y="0"/>
                  </a:cubicBezTo>
                </a:path>
              </a:pathLst>
            </a:cu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649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D40C0DD9-C06A-77AA-FB78-CEBFD0263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112" y="1784944"/>
            <a:ext cx="10937779" cy="4618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533387" indent="-533387" algn="just" eaLnBrk="0" fontAlgn="base" hangingPunct="0">
              <a:lnSpc>
                <a:spcPct val="130000"/>
              </a:lnSpc>
              <a:spcAft>
                <a:spcPct val="0"/>
              </a:spcAft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	</a:t>
            </a: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* </a:t>
            </a:r>
            <a:r>
              <a:rPr lang="en-US" sz="2800" b="1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Rút</a:t>
            </a: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gọn</a:t>
            </a: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dạng</a:t>
            </a: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CTT </a:t>
            </a:r>
          </a:p>
          <a:p>
            <a:pPr marL="533387" indent="-533387" algn="just" eaLnBrk="0" fontAlgn="base" hangingPunct="0">
              <a:lnSpc>
                <a:spcPct val="130000"/>
              </a:lnSpc>
              <a:spcAft>
                <a:spcPct val="0"/>
              </a:spcAft>
              <a:buFontTx/>
              <a:buChar char="-"/>
            </a:pP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Phương</a:t>
            </a:r>
            <a:r>
              <a:rPr lang="en-US" sz="2800" b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pháp</a:t>
            </a:r>
            <a:r>
              <a:rPr lang="en-US" sz="2800" b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biểu</a:t>
            </a:r>
            <a:r>
              <a:rPr lang="en-US" sz="2800" b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diễn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Chỉ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chú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ý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đến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ô (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tổ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hợp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)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mà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giá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trị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bằng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1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không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xác</a:t>
            </a:r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định x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algn="just" eaLnBrk="0" fontAlgn="base" hangingPunct="0">
              <a:lnSpc>
                <a:spcPct val="130000"/>
              </a:lnSpc>
              <a:spcAft>
                <a:spcPct val="0"/>
              </a:spcAft>
            </a:pPr>
            <a:r>
              <a:rPr lang="en-US" sz="2800" b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     </a:t>
            </a: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Nguyên</a:t>
            </a:r>
            <a:r>
              <a:rPr lang="en-US" sz="2800" b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tắc</a:t>
            </a:r>
            <a:r>
              <a:rPr lang="en-US" sz="2800" b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chung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: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Nhóm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2</a:t>
            </a:r>
            <a:r>
              <a:rPr lang="en-US" sz="3000" baseline="30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k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ô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kế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cận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thì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khử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được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“k”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,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bị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khử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là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thay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đổi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giá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trị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. 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Trong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còn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lại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có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giá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trị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bằng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1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thì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giữ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nguyên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ký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hiệu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có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giá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trị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bằng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0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thì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lấy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đảo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. </a:t>
            </a:r>
          </a:p>
          <a:p>
            <a:pPr indent="-533387" algn="just" eaLnBrk="0" fontAlgn="base" hangingPunct="0">
              <a:lnSpc>
                <a:spcPct val="130000"/>
              </a:lnSpc>
              <a:spcAft>
                <a:spcPct val="0"/>
              </a:spcAft>
            </a:pP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Giá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trị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của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là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tổng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của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tích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nhóm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thành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phần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049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D40C0DD9-C06A-77AA-FB78-CEBFD0263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112" y="1784944"/>
            <a:ext cx="10937779" cy="4618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533387" indent="-533387" algn="just" eaLnBrk="0" fontAlgn="base" hangingPunct="0">
              <a:lnSpc>
                <a:spcPct val="130000"/>
              </a:lnSpc>
              <a:spcAft>
                <a:spcPct val="0"/>
              </a:spcAft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	</a:t>
            </a: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* </a:t>
            </a:r>
            <a:r>
              <a:rPr lang="en-US" sz="2800" b="1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Rút</a:t>
            </a: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gọn</a:t>
            </a: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dạng</a:t>
            </a: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CTH </a:t>
            </a:r>
            <a:endParaRPr lang="en-US" sz="2800" b="1" dirty="0">
              <a:solidFill>
                <a:srgbClr val="00000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533387" indent="-533387" algn="just" eaLnBrk="0" fontAlgn="base" hangingPunct="0">
              <a:lnSpc>
                <a:spcPct val="130000"/>
              </a:lnSpc>
              <a:spcAft>
                <a:spcPct val="0"/>
              </a:spcAft>
              <a:buFontTx/>
              <a:buChar char="-"/>
            </a:pP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Phương</a:t>
            </a:r>
            <a:r>
              <a:rPr lang="en-US" sz="2800" b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pháp</a:t>
            </a:r>
            <a:r>
              <a:rPr lang="en-US" sz="2800" b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biểu</a:t>
            </a:r>
            <a:r>
              <a:rPr lang="en-US" sz="2800" b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diễn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Chỉ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chú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ý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đến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ô (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tổ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hợp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)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mà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giá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trị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bằng</a:t>
            </a:r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0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không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xác</a:t>
            </a:r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định x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algn="just" eaLnBrk="0" fontAlgn="base" hangingPunct="0">
              <a:lnSpc>
                <a:spcPct val="130000"/>
              </a:lnSpc>
              <a:spcAft>
                <a:spcPct val="0"/>
              </a:spcAft>
            </a:pPr>
            <a:r>
              <a:rPr lang="en-US" sz="2800" b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     </a:t>
            </a: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Nguyên</a:t>
            </a:r>
            <a:r>
              <a:rPr lang="en-US" sz="2800" b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tắc</a:t>
            </a:r>
            <a:r>
              <a:rPr lang="en-US" sz="2800" b="1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chung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: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Nhóm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2</a:t>
            </a:r>
            <a:r>
              <a:rPr lang="en-US" sz="3000" baseline="30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k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ô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kế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cận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thì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khử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được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“k”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,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bị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khử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là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thay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đổi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giá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trị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. 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Trong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còn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lại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có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giá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trị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bằng</a:t>
            </a:r>
            <a:r>
              <a:rPr lang="en-US" sz="300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0</a:t>
            </a:r>
            <a:r>
              <a:rPr lang="en-US" sz="300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thì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giữ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nguyên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ký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hiệu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có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giá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trị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bằng</a:t>
            </a:r>
            <a:r>
              <a:rPr lang="en-US" sz="300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1</a:t>
            </a:r>
            <a:r>
              <a:rPr lang="en-US" sz="300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thì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lấy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đảo</a:t>
            </a:r>
            <a:r>
              <a:rPr lang="en-US" sz="3000" dirty="0">
                <a:solidFill>
                  <a:srgbClr val="1C5E29"/>
                </a:solidFill>
                <a:latin typeface="Arial" panose="020B0604020202020204" pitchFamily="34" charset="0"/>
                <a:cs typeface="Arial" pitchFamily="34" charset="0"/>
              </a:rPr>
              <a:t>. </a:t>
            </a:r>
          </a:p>
          <a:p>
            <a:pPr indent="-533387" algn="just" eaLnBrk="0" fontAlgn="base" hangingPunct="0">
              <a:lnSpc>
                <a:spcPct val="130000"/>
              </a:lnSpc>
              <a:spcAft>
                <a:spcPct val="0"/>
              </a:spcAft>
            </a:pP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Giá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trị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của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là</a:t>
            </a:r>
            <a:r>
              <a:rPr lang="en-US" sz="300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tích </a:t>
            </a:r>
            <a:r>
              <a:rPr lang="en-US" sz="300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của</a:t>
            </a:r>
            <a:r>
              <a:rPr lang="en-US" sz="300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tổng</a:t>
            </a:r>
            <a:r>
              <a:rPr lang="en-US" sz="300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nhóm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thành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phần</a:t>
            </a:r>
            <a:r>
              <a:rPr lang="en-US" sz="3000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37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A719676-1A76-E48A-D25A-1317120A9393}"/>
              </a:ext>
            </a:extLst>
          </p:cNvPr>
          <p:cNvGrpSpPr/>
          <p:nvPr/>
        </p:nvGrpSpPr>
        <p:grpSpPr>
          <a:xfrm>
            <a:off x="3605067" y="5487599"/>
            <a:ext cx="4786745" cy="533400"/>
            <a:chOff x="2147455" y="5306290"/>
            <a:chExt cx="4786745" cy="533400"/>
          </a:xfrm>
        </p:grpSpPr>
        <p:sp>
          <p:nvSpPr>
            <p:cNvPr id="25" name="Rounded Rectangle 21">
              <a:extLst>
                <a:ext uri="{FF2B5EF4-FFF2-40B4-BE49-F238E27FC236}">
                  <a16:creationId xmlns:a16="http://schemas.microsoft.com/office/drawing/2014/main" id="{7B1FA7CC-33BA-C0A5-5EFE-945DEE91EFD0}"/>
                </a:ext>
              </a:extLst>
            </p:cNvPr>
            <p:cNvSpPr/>
            <p:nvPr/>
          </p:nvSpPr>
          <p:spPr>
            <a:xfrm>
              <a:off x="5791200" y="5306290"/>
              <a:ext cx="1143000" cy="533400"/>
            </a:xfrm>
            <a:prstGeom prst="roundRect">
              <a:avLst/>
            </a:prstGeom>
            <a:solidFill>
              <a:srgbClr val="FFFF00"/>
            </a:solidFill>
            <a:ln w="25400" cap="flat" cmpd="sng" algn="ctr">
              <a:solidFill>
                <a:srgbClr val="3AA854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Verdana"/>
              </a:endParaRPr>
            </a:p>
          </p:txBody>
        </p:sp>
        <p:sp>
          <p:nvSpPr>
            <p:cNvPr id="26" name="Rounded Rectangle 22">
              <a:extLst>
                <a:ext uri="{FF2B5EF4-FFF2-40B4-BE49-F238E27FC236}">
                  <a16:creationId xmlns:a16="http://schemas.microsoft.com/office/drawing/2014/main" id="{442109A5-9085-3078-206B-01FDE2D192EB}"/>
                </a:ext>
              </a:extLst>
            </p:cNvPr>
            <p:cNvSpPr/>
            <p:nvPr/>
          </p:nvSpPr>
          <p:spPr>
            <a:xfrm>
              <a:off x="2147455" y="5306290"/>
              <a:ext cx="1143000" cy="533400"/>
            </a:xfrm>
            <a:prstGeom prst="roundRect">
              <a:avLst/>
            </a:prstGeom>
            <a:solidFill>
              <a:srgbClr val="FFFF00"/>
            </a:solidFill>
            <a:ln w="25400" cap="flat" cmpd="sng" algn="ctr">
              <a:solidFill>
                <a:srgbClr val="3AA854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Verdana"/>
              </a:endParaRPr>
            </a:p>
          </p:txBody>
        </p:sp>
      </p:grpSp>
      <p:sp>
        <p:nvSpPr>
          <p:cNvPr id="27" name="Rounded Rectangle 19">
            <a:extLst>
              <a:ext uri="{FF2B5EF4-FFF2-40B4-BE49-F238E27FC236}">
                <a16:creationId xmlns:a16="http://schemas.microsoft.com/office/drawing/2014/main" id="{DD3A4AEA-0818-7CF1-39A3-6F4ECB3370D1}"/>
              </a:ext>
            </a:extLst>
          </p:cNvPr>
          <p:cNvSpPr/>
          <p:nvPr/>
        </p:nvSpPr>
        <p:spPr>
          <a:xfrm>
            <a:off x="6182008" y="3194673"/>
            <a:ext cx="1524000" cy="5334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56C3C3-BB58-07BC-CAF9-37173ECE7532}"/>
              </a:ext>
            </a:extLst>
          </p:cNvPr>
          <p:cNvSpPr/>
          <p:nvPr/>
        </p:nvSpPr>
        <p:spPr>
          <a:xfrm>
            <a:off x="2067208" y="2543508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DA5260-660D-DC14-5E42-E605959A1348}"/>
              </a:ext>
            </a:extLst>
          </p:cNvPr>
          <p:cNvSpPr/>
          <p:nvPr/>
        </p:nvSpPr>
        <p:spPr>
          <a:xfrm>
            <a:off x="3286408" y="2010108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4027A5-DB7C-93AE-E808-0405827941A4}"/>
              </a:ext>
            </a:extLst>
          </p:cNvPr>
          <p:cNvSpPr/>
          <p:nvPr/>
        </p:nvSpPr>
        <p:spPr>
          <a:xfrm>
            <a:off x="2219608" y="1781508"/>
            <a:ext cx="990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6E2DB2D6-36FB-C2CD-0435-D769FA2DBC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938260"/>
              </p:ext>
            </p:extLst>
          </p:nvPr>
        </p:nvGraphicFramePr>
        <p:xfrm>
          <a:off x="8569608" y="3054687"/>
          <a:ext cx="20320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558720" imgH="253800" progId="">
                  <p:embed/>
                </p:oleObj>
              </mc:Choice>
              <mc:Fallback>
                <p:oleObj name="Equation" r:id="rId3" imgW="558720" imgH="253800" progId="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9608" y="3054687"/>
                        <a:ext cx="2032000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66EB7525-E0EF-5CAF-858B-3092F12422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578913"/>
              </p:ext>
            </p:extLst>
          </p:nvPr>
        </p:nvGraphicFramePr>
        <p:xfrm>
          <a:off x="9001408" y="5340687"/>
          <a:ext cx="217011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596880" imgH="253800" progId="">
                  <p:embed/>
                </p:oleObj>
              </mc:Choice>
              <mc:Fallback>
                <p:oleObj name="Equation" r:id="rId5" imgW="596880" imgH="253800" progId="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408" y="5340687"/>
                        <a:ext cx="2170112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C7F07EF-AAAD-B78D-9774-D2951EC42270}"/>
              </a:ext>
            </a:extLst>
          </p:cNvPr>
          <p:cNvCxnSpPr/>
          <p:nvPr/>
        </p:nvCxnSpPr>
        <p:spPr>
          <a:xfrm rot="16200000" flipV="1">
            <a:off x="3047419" y="2276808"/>
            <a:ext cx="838200" cy="762000"/>
          </a:xfrm>
          <a:prstGeom prst="line">
            <a:avLst/>
          </a:prstGeom>
          <a:noFill/>
          <a:ln w="28575" cap="flat" cmpd="sng" algn="ctr">
            <a:solidFill>
              <a:srgbClr val="3AA854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4" name="Freeform 20">
            <a:extLst>
              <a:ext uri="{FF2B5EF4-FFF2-40B4-BE49-F238E27FC236}">
                <a16:creationId xmlns:a16="http://schemas.microsoft.com/office/drawing/2014/main" id="{D37123B1-AF52-908B-EB42-E67D6E2C3B97}"/>
              </a:ext>
            </a:extLst>
          </p:cNvPr>
          <p:cNvSpPr/>
          <p:nvPr/>
        </p:nvSpPr>
        <p:spPr>
          <a:xfrm>
            <a:off x="7685228" y="3317058"/>
            <a:ext cx="935183" cy="217053"/>
          </a:xfrm>
          <a:custGeom>
            <a:avLst/>
            <a:gdLst>
              <a:gd name="connsiteX0" fmla="*/ 0 w 762000"/>
              <a:gd name="connsiteY0" fmla="*/ 113146 h 240146"/>
              <a:gd name="connsiteX1" fmla="*/ 540327 w 762000"/>
              <a:gd name="connsiteY1" fmla="*/ 16164 h 240146"/>
              <a:gd name="connsiteX2" fmla="*/ 498764 w 762000"/>
              <a:gd name="connsiteY2" fmla="*/ 210128 h 240146"/>
              <a:gd name="connsiteX3" fmla="*/ 762000 w 762000"/>
              <a:gd name="connsiteY3" fmla="*/ 196273 h 240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240146">
                <a:moveTo>
                  <a:pt x="0" y="113146"/>
                </a:moveTo>
                <a:cubicBezTo>
                  <a:pt x="228600" y="56573"/>
                  <a:pt x="457200" y="0"/>
                  <a:pt x="540327" y="16164"/>
                </a:cubicBezTo>
                <a:cubicBezTo>
                  <a:pt x="623454" y="32328"/>
                  <a:pt x="461819" y="180110"/>
                  <a:pt x="498764" y="210128"/>
                </a:cubicBezTo>
                <a:cubicBezTo>
                  <a:pt x="535709" y="240146"/>
                  <a:pt x="648854" y="218209"/>
                  <a:pt x="762000" y="196273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1C5E29"/>
              </a:solidFill>
              <a:latin typeface="Verdana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69B868-2D25-523C-F23A-9A7D0CD6F4F0}"/>
              </a:ext>
            </a:extLst>
          </p:cNvPr>
          <p:cNvSpPr/>
          <p:nvPr/>
        </p:nvSpPr>
        <p:spPr>
          <a:xfrm>
            <a:off x="8239408" y="5362908"/>
            <a:ext cx="381000" cy="762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2A8964-78C1-541F-6A96-26DB54991FAC}"/>
              </a:ext>
            </a:extLst>
          </p:cNvPr>
          <p:cNvSpPr/>
          <p:nvPr/>
        </p:nvSpPr>
        <p:spPr>
          <a:xfrm>
            <a:off x="3591208" y="5362908"/>
            <a:ext cx="152400" cy="762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4140E421-59E2-987F-AC63-80190DEF12F6}"/>
              </a:ext>
            </a:extLst>
          </p:cNvPr>
          <p:cNvSpPr/>
          <p:nvPr/>
        </p:nvSpPr>
        <p:spPr>
          <a:xfrm>
            <a:off x="8087011" y="5667710"/>
            <a:ext cx="935183" cy="217053"/>
          </a:xfrm>
          <a:custGeom>
            <a:avLst/>
            <a:gdLst>
              <a:gd name="connsiteX0" fmla="*/ 0 w 762000"/>
              <a:gd name="connsiteY0" fmla="*/ 113146 h 240146"/>
              <a:gd name="connsiteX1" fmla="*/ 540327 w 762000"/>
              <a:gd name="connsiteY1" fmla="*/ 16164 h 240146"/>
              <a:gd name="connsiteX2" fmla="*/ 498764 w 762000"/>
              <a:gd name="connsiteY2" fmla="*/ 210128 h 240146"/>
              <a:gd name="connsiteX3" fmla="*/ 762000 w 762000"/>
              <a:gd name="connsiteY3" fmla="*/ 196273 h 240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240146">
                <a:moveTo>
                  <a:pt x="0" y="113146"/>
                </a:moveTo>
                <a:cubicBezTo>
                  <a:pt x="228600" y="56573"/>
                  <a:pt x="457200" y="0"/>
                  <a:pt x="540327" y="16164"/>
                </a:cubicBezTo>
                <a:cubicBezTo>
                  <a:pt x="623454" y="32328"/>
                  <a:pt x="461819" y="180110"/>
                  <a:pt x="498764" y="210128"/>
                </a:cubicBezTo>
                <a:cubicBezTo>
                  <a:pt x="535709" y="240146"/>
                  <a:pt x="648854" y="218209"/>
                  <a:pt x="762000" y="196273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1C5E29"/>
              </a:solidFill>
              <a:latin typeface="Verdana"/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5A1A2DE-0B8F-E66C-7B5C-667AB356B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981310"/>
              </p:ext>
            </p:extLst>
          </p:nvPr>
        </p:nvGraphicFramePr>
        <p:xfrm>
          <a:off x="2803808" y="2314908"/>
          <a:ext cx="5207000" cy="3810000"/>
        </p:xfrm>
        <a:graphic>
          <a:graphicData uri="http://schemas.openxmlformats.org/drawingml/2006/table">
            <a:tbl>
              <a:tblPr firstRow="1" bandRow="1"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72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4" grpId="0" animBg="1"/>
      <p:bldP spid="3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sp>
        <p:nvSpPr>
          <p:cNvPr id="14" name="Rounded Rectangle 26">
            <a:extLst>
              <a:ext uri="{FF2B5EF4-FFF2-40B4-BE49-F238E27FC236}">
                <a16:creationId xmlns:a16="http://schemas.microsoft.com/office/drawing/2014/main" id="{1CA9D452-9C7F-6EC2-45F1-1D792DF36C4E}"/>
              </a:ext>
            </a:extLst>
          </p:cNvPr>
          <p:cNvSpPr/>
          <p:nvPr/>
        </p:nvSpPr>
        <p:spPr>
          <a:xfrm>
            <a:off x="5026183" y="3587153"/>
            <a:ext cx="3733800" cy="6096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03E6855-091B-D7D3-6AB0-8F1B24171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188853"/>
              </p:ext>
            </p:extLst>
          </p:nvPr>
        </p:nvGraphicFramePr>
        <p:xfrm>
          <a:off x="3781583" y="2000808"/>
          <a:ext cx="5207000" cy="3810000"/>
        </p:xfrm>
        <a:graphic>
          <a:graphicData uri="http://schemas.openxmlformats.org/drawingml/2006/table">
            <a:tbl>
              <a:tblPr firstRow="1" bandRow="1"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84438ADB-3A1C-342F-F803-B8FC7AE218EB}"/>
              </a:ext>
            </a:extLst>
          </p:cNvPr>
          <p:cNvSpPr/>
          <p:nvPr/>
        </p:nvSpPr>
        <p:spPr>
          <a:xfrm>
            <a:off x="3044983" y="2229408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019CC1-BE8A-AD5A-47A8-0879196D7211}"/>
              </a:ext>
            </a:extLst>
          </p:cNvPr>
          <p:cNvSpPr/>
          <p:nvPr/>
        </p:nvSpPr>
        <p:spPr>
          <a:xfrm>
            <a:off x="4264183" y="1696008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008D9A-C6C8-D0C9-6C24-7AB4762710FA}"/>
              </a:ext>
            </a:extLst>
          </p:cNvPr>
          <p:cNvSpPr/>
          <p:nvPr/>
        </p:nvSpPr>
        <p:spPr>
          <a:xfrm>
            <a:off x="3197383" y="1467408"/>
            <a:ext cx="990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4BCFDF61-E41B-80C7-4D20-551AED2691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232574"/>
              </p:ext>
            </p:extLst>
          </p:nvPr>
        </p:nvGraphicFramePr>
        <p:xfrm>
          <a:off x="9902983" y="3524811"/>
          <a:ext cx="13843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380880" imgH="253800" progId="">
                  <p:embed/>
                </p:oleObj>
              </mc:Choice>
              <mc:Fallback>
                <p:oleObj name="Equation" r:id="rId3" imgW="380880" imgH="253800" progId="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2983" y="3524811"/>
                        <a:ext cx="1384300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56AD28-8EAB-513B-A918-8657CA61D97C}"/>
              </a:ext>
            </a:extLst>
          </p:cNvPr>
          <p:cNvCxnSpPr/>
          <p:nvPr/>
        </p:nvCxnSpPr>
        <p:spPr>
          <a:xfrm rot="16200000" flipV="1">
            <a:off x="4025192" y="1962708"/>
            <a:ext cx="838200" cy="762000"/>
          </a:xfrm>
          <a:prstGeom prst="line">
            <a:avLst/>
          </a:prstGeom>
          <a:noFill/>
          <a:ln w="28575" cap="flat" cmpd="sng" algn="ctr">
            <a:solidFill>
              <a:srgbClr val="3AA854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25" name="Freeform 20">
            <a:extLst>
              <a:ext uri="{FF2B5EF4-FFF2-40B4-BE49-F238E27FC236}">
                <a16:creationId xmlns:a16="http://schemas.microsoft.com/office/drawing/2014/main" id="{54089A1E-7E05-AD48-CE24-3D7E88AFE3C3}"/>
              </a:ext>
            </a:extLst>
          </p:cNvPr>
          <p:cNvSpPr/>
          <p:nvPr/>
        </p:nvSpPr>
        <p:spPr>
          <a:xfrm>
            <a:off x="8850040" y="3801901"/>
            <a:ext cx="935183" cy="217053"/>
          </a:xfrm>
          <a:custGeom>
            <a:avLst/>
            <a:gdLst>
              <a:gd name="connsiteX0" fmla="*/ 0 w 762000"/>
              <a:gd name="connsiteY0" fmla="*/ 113146 h 240146"/>
              <a:gd name="connsiteX1" fmla="*/ 540327 w 762000"/>
              <a:gd name="connsiteY1" fmla="*/ 16164 h 240146"/>
              <a:gd name="connsiteX2" fmla="*/ 498764 w 762000"/>
              <a:gd name="connsiteY2" fmla="*/ 210128 h 240146"/>
              <a:gd name="connsiteX3" fmla="*/ 762000 w 762000"/>
              <a:gd name="connsiteY3" fmla="*/ 196273 h 240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240146">
                <a:moveTo>
                  <a:pt x="0" y="113146"/>
                </a:moveTo>
                <a:cubicBezTo>
                  <a:pt x="228600" y="56573"/>
                  <a:pt x="457200" y="0"/>
                  <a:pt x="540327" y="16164"/>
                </a:cubicBezTo>
                <a:cubicBezTo>
                  <a:pt x="623454" y="32328"/>
                  <a:pt x="461819" y="180110"/>
                  <a:pt x="498764" y="210128"/>
                </a:cubicBezTo>
                <a:cubicBezTo>
                  <a:pt x="535709" y="240146"/>
                  <a:pt x="648854" y="218209"/>
                  <a:pt x="762000" y="196273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1C5E29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25473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B92F9EEC-71B6-928E-9402-F8942C3DC64F}"/>
              </a:ext>
            </a:extLst>
          </p:cNvPr>
          <p:cNvSpPr/>
          <p:nvPr/>
        </p:nvSpPr>
        <p:spPr>
          <a:xfrm>
            <a:off x="6134477" y="3487779"/>
            <a:ext cx="1752600" cy="12954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203925C-73D5-1C2A-25D6-9282FF329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110378"/>
              </p:ext>
            </p:extLst>
          </p:nvPr>
        </p:nvGraphicFramePr>
        <p:xfrm>
          <a:off x="3899277" y="1852943"/>
          <a:ext cx="5207000" cy="3810000"/>
        </p:xfrm>
        <a:graphic>
          <a:graphicData uri="http://schemas.openxmlformats.org/drawingml/2006/table">
            <a:tbl>
              <a:tblPr firstRow="1" bandRow="1"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1F3F655B-E58E-D88F-D6D5-DC957FB8CDA1}"/>
              </a:ext>
            </a:extLst>
          </p:cNvPr>
          <p:cNvSpPr/>
          <p:nvPr/>
        </p:nvSpPr>
        <p:spPr>
          <a:xfrm>
            <a:off x="3162677" y="2081543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313FE0-E9AD-8F43-52BE-EAD6B4DBD98D}"/>
              </a:ext>
            </a:extLst>
          </p:cNvPr>
          <p:cNvSpPr/>
          <p:nvPr/>
        </p:nvSpPr>
        <p:spPr>
          <a:xfrm>
            <a:off x="4381877" y="1548143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2C9158-757D-209B-2AEB-556A6436216D}"/>
              </a:ext>
            </a:extLst>
          </p:cNvPr>
          <p:cNvSpPr/>
          <p:nvPr/>
        </p:nvSpPr>
        <p:spPr>
          <a:xfrm>
            <a:off x="3315077" y="1319543"/>
            <a:ext cx="990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58E64F0C-13CE-6B45-F32B-D742F88AD6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284568"/>
              </p:ext>
            </p:extLst>
          </p:nvPr>
        </p:nvGraphicFramePr>
        <p:xfrm>
          <a:off x="9998454" y="3719845"/>
          <a:ext cx="1430339" cy="706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393480" imgH="228600" progId="">
                  <p:embed/>
                </p:oleObj>
              </mc:Choice>
              <mc:Fallback>
                <p:oleObj name="Equation" r:id="rId3" imgW="393480" imgH="228600" progId="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8454" y="3719845"/>
                        <a:ext cx="1430339" cy="7064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E44ACB-4013-3938-00E6-679C3FEDBC8B}"/>
              </a:ext>
            </a:extLst>
          </p:cNvPr>
          <p:cNvCxnSpPr/>
          <p:nvPr/>
        </p:nvCxnSpPr>
        <p:spPr>
          <a:xfrm rot="16200000" flipV="1">
            <a:off x="4142887" y="1814843"/>
            <a:ext cx="838200" cy="762000"/>
          </a:xfrm>
          <a:prstGeom prst="line">
            <a:avLst/>
          </a:prstGeom>
          <a:noFill/>
          <a:ln w="28575" cap="flat" cmpd="sng" algn="ctr">
            <a:solidFill>
              <a:srgbClr val="3AA854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25" name="Freeform 20">
            <a:extLst>
              <a:ext uri="{FF2B5EF4-FFF2-40B4-BE49-F238E27FC236}">
                <a16:creationId xmlns:a16="http://schemas.microsoft.com/office/drawing/2014/main" id="{2E761321-8695-EF3B-6A86-C912D6E68CE2}"/>
              </a:ext>
            </a:extLst>
          </p:cNvPr>
          <p:cNvSpPr/>
          <p:nvPr/>
        </p:nvSpPr>
        <p:spPr>
          <a:xfrm>
            <a:off x="7887080" y="3654036"/>
            <a:ext cx="2015837" cy="561111"/>
          </a:xfrm>
          <a:custGeom>
            <a:avLst/>
            <a:gdLst>
              <a:gd name="connsiteX0" fmla="*/ 0 w 762000"/>
              <a:gd name="connsiteY0" fmla="*/ 113146 h 240146"/>
              <a:gd name="connsiteX1" fmla="*/ 540327 w 762000"/>
              <a:gd name="connsiteY1" fmla="*/ 16164 h 240146"/>
              <a:gd name="connsiteX2" fmla="*/ 498764 w 762000"/>
              <a:gd name="connsiteY2" fmla="*/ 210128 h 240146"/>
              <a:gd name="connsiteX3" fmla="*/ 762000 w 762000"/>
              <a:gd name="connsiteY3" fmla="*/ 196273 h 240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240146">
                <a:moveTo>
                  <a:pt x="0" y="113146"/>
                </a:moveTo>
                <a:cubicBezTo>
                  <a:pt x="228600" y="56573"/>
                  <a:pt x="457200" y="0"/>
                  <a:pt x="540327" y="16164"/>
                </a:cubicBezTo>
                <a:cubicBezTo>
                  <a:pt x="623454" y="32328"/>
                  <a:pt x="461819" y="180110"/>
                  <a:pt x="498764" y="210128"/>
                </a:cubicBezTo>
                <a:cubicBezTo>
                  <a:pt x="535709" y="240146"/>
                  <a:pt x="648854" y="218209"/>
                  <a:pt x="762000" y="196273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1C5E29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77881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sp>
        <p:nvSpPr>
          <p:cNvPr id="22" name="Rounded Rectangle 14">
            <a:extLst>
              <a:ext uri="{FF2B5EF4-FFF2-40B4-BE49-F238E27FC236}">
                <a16:creationId xmlns:a16="http://schemas.microsoft.com/office/drawing/2014/main" id="{5BB18429-2B0C-892A-495B-8639E5AD737B}"/>
              </a:ext>
            </a:extLst>
          </p:cNvPr>
          <p:cNvSpPr/>
          <p:nvPr/>
        </p:nvSpPr>
        <p:spPr>
          <a:xfrm>
            <a:off x="8034620" y="4327557"/>
            <a:ext cx="1371600" cy="12954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3" name="Rounded Rectangle 15">
            <a:extLst>
              <a:ext uri="{FF2B5EF4-FFF2-40B4-BE49-F238E27FC236}">
                <a16:creationId xmlns:a16="http://schemas.microsoft.com/office/drawing/2014/main" id="{A090BA7A-46A1-280E-83C5-E15E523227B6}"/>
              </a:ext>
            </a:extLst>
          </p:cNvPr>
          <p:cNvSpPr/>
          <p:nvPr/>
        </p:nvSpPr>
        <p:spPr>
          <a:xfrm>
            <a:off x="4529420" y="4327557"/>
            <a:ext cx="1143000" cy="12954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54344D0-BF66-8D2B-B150-A7C53C9EC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989788"/>
              </p:ext>
            </p:extLst>
          </p:nvPr>
        </p:nvGraphicFramePr>
        <p:xfrm>
          <a:off x="3742020" y="1889157"/>
          <a:ext cx="5207000" cy="3810000"/>
        </p:xfrm>
        <a:graphic>
          <a:graphicData uri="http://schemas.openxmlformats.org/drawingml/2006/table">
            <a:tbl>
              <a:tblPr firstRow="1" bandRow="1"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731AC49E-CB25-0145-00F4-4E4A3E5B8EFA}"/>
              </a:ext>
            </a:extLst>
          </p:cNvPr>
          <p:cNvSpPr/>
          <p:nvPr/>
        </p:nvSpPr>
        <p:spPr>
          <a:xfrm>
            <a:off x="3005420" y="2117757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237D81-85A4-E605-AF54-CA21C82AC45C}"/>
              </a:ext>
            </a:extLst>
          </p:cNvPr>
          <p:cNvSpPr/>
          <p:nvPr/>
        </p:nvSpPr>
        <p:spPr>
          <a:xfrm>
            <a:off x="4224620" y="1584357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42AA04-27B7-ABA5-8390-5CE09417609A}"/>
              </a:ext>
            </a:extLst>
          </p:cNvPr>
          <p:cNvSpPr/>
          <p:nvPr/>
        </p:nvSpPr>
        <p:spPr>
          <a:xfrm>
            <a:off x="3157820" y="1355757"/>
            <a:ext cx="990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2E1799FB-851E-5062-FE0B-B99380AF5B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322183"/>
              </p:ext>
            </p:extLst>
          </p:nvPr>
        </p:nvGraphicFramePr>
        <p:xfrm>
          <a:off x="10553986" y="4565685"/>
          <a:ext cx="147478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406080" imgH="253800" progId="Equation.DSMT4">
                  <p:embed/>
                </p:oleObj>
              </mc:Choice>
              <mc:Fallback>
                <p:oleObj name="Equation" r:id="rId3" imgW="406080" imgH="253800" progId="Equation.DSMT4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3986" y="4565685"/>
                        <a:ext cx="1474787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6A152DC-8881-EB60-CF4C-1B3E06C7A8D6}"/>
              </a:ext>
            </a:extLst>
          </p:cNvPr>
          <p:cNvCxnSpPr/>
          <p:nvPr/>
        </p:nvCxnSpPr>
        <p:spPr>
          <a:xfrm rot="16200000" flipV="1">
            <a:off x="3985631" y="1851057"/>
            <a:ext cx="838200" cy="762000"/>
          </a:xfrm>
          <a:prstGeom prst="line">
            <a:avLst/>
          </a:prstGeom>
          <a:noFill/>
          <a:ln w="28575" cap="flat" cmpd="sng" algn="ctr">
            <a:solidFill>
              <a:srgbClr val="3AA854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7353769-AF77-BE81-C9ED-02EAB81943E2}"/>
              </a:ext>
            </a:extLst>
          </p:cNvPr>
          <p:cNvSpPr/>
          <p:nvPr/>
        </p:nvSpPr>
        <p:spPr>
          <a:xfrm>
            <a:off x="9177620" y="4251357"/>
            <a:ext cx="228600" cy="14478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BA0272-6F09-F954-9438-97E8BBB73AF1}"/>
              </a:ext>
            </a:extLst>
          </p:cNvPr>
          <p:cNvSpPr/>
          <p:nvPr/>
        </p:nvSpPr>
        <p:spPr>
          <a:xfrm>
            <a:off x="4467077" y="4251357"/>
            <a:ext cx="180111" cy="14478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2" name="Freeform 20">
            <a:extLst>
              <a:ext uri="{FF2B5EF4-FFF2-40B4-BE49-F238E27FC236}">
                <a16:creationId xmlns:a16="http://schemas.microsoft.com/office/drawing/2014/main" id="{74089778-A020-49F0-B139-599725011B7C}"/>
              </a:ext>
            </a:extLst>
          </p:cNvPr>
          <p:cNvSpPr/>
          <p:nvPr/>
        </p:nvSpPr>
        <p:spPr>
          <a:xfrm>
            <a:off x="9156842" y="4666995"/>
            <a:ext cx="1406237" cy="561111"/>
          </a:xfrm>
          <a:custGeom>
            <a:avLst/>
            <a:gdLst>
              <a:gd name="connsiteX0" fmla="*/ 0 w 762000"/>
              <a:gd name="connsiteY0" fmla="*/ 113146 h 240146"/>
              <a:gd name="connsiteX1" fmla="*/ 540327 w 762000"/>
              <a:gd name="connsiteY1" fmla="*/ 16164 h 240146"/>
              <a:gd name="connsiteX2" fmla="*/ 498764 w 762000"/>
              <a:gd name="connsiteY2" fmla="*/ 210128 h 240146"/>
              <a:gd name="connsiteX3" fmla="*/ 762000 w 762000"/>
              <a:gd name="connsiteY3" fmla="*/ 196273 h 240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240146">
                <a:moveTo>
                  <a:pt x="0" y="113146"/>
                </a:moveTo>
                <a:cubicBezTo>
                  <a:pt x="228600" y="56573"/>
                  <a:pt x="457200" y="0"/>
                  <a:pt x="540327" y="16164"/>
                </a:cubicBezTo>
                <a:cubicBezTo>
                  <a:pt x="623454" y="32328"/>
                  <a:pt x="461819" y="180110"/>
                  <a:pt x="498764" y="210128"/>
                </a:cubicBezTo>
                <a:cubicBezTo>
                  <a:pt x="535709" y="240146"/>
                  <a:pt x="648854" y="218209"/>
                  <a:pt x="762000" y="196273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1C5E29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7012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sp>
        <p:nvSpPr>
          <p:cNvPr id="30" name="Rounded Rectangle 14">
            <a:extLst>
              <a:ext uri="{FF2B5EF4-FFF2-40B4-BE49-F238E27FC236}">
                <a16:creationId xmlns:a16="http://schemas.microsoft.com/office/drawing/2014/main" id="{710ADEB4-6BC9-1D21-959D-CAE82238C951}"/>
              </a:ext>
            </a:extLst>
          </p:cNvPr>
          <p:cNvSpPr/>
          <p:nvPr/>
        </p:nvSpPr>
        <p:spPr>
          <a:xfrm>
            <a:off x="7901023" y="5089567"/>
            <a:ext cx="1371600" cy="6096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1" name="Rounded Rectangle 15">
            <a:extLst>
              <a:ext uri="{FF2B5EF4-FFF2-40B4-BE49-F238E27FC236}">
                <a16:creationId xmlns:a16="http://schemas.microsoft.com/office/drawing/2014/main" id="{D62C0CA0-02A6-0B94-C890-7E01638E9106}"/>
              </a:ext>
            </a:extLst>
          </p:cNvPr>
          <p:cNvSpPr/>
          <p:nvPr/>
        </p:nvSpPr>
        <p:spPr>
          <a:xfrm>
            <a:off x="4395823" y="5165767"/>
            <a:ext cx="1143000" cy="5334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2" name="Rounded Rectangle 19">
            <a:extLst>
              <a:ext uri="{FF2B5EF4-FFF2-40B4-BE49-F238E27FC236}">
                <a16:creationId xmlns:a16="http://schemas.microsoft.com/office/drawing/2014/main" id="{D2347728-5E33-629D-5B3F-0982CDF08438}"/>
              </a:ext>
            </a:extLst>
          </p:cNvPr>
          <p:cNvSpPr/>
          <p:nvPr/>
        </p:nvSpPr>
        <p:spPr>
          <a:xfrm>
            <a:off x="7901023" y="2775857"/>
            <a:ext cx="1371600" cy="6096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3" name="Rounded Rectangle 21">
            <a:extLst>
              <a:ext uri="{FF2B5EF4-FFF2-40B4-BE49-F238E27FC236}">
                <a16:creationId xmlns:a16="http://schemas.microsoft.com/office/drawing/2014/main" id="{3FF43D1F-3EE6-165F-3DA0-06BFB4E48197}"/>
              </a:ext>
            </a:extLst>
          </p:cNvPr>
          <p:cNvSpPr/>
          <p:nvPr/>
        </p:nvSpPr>
        <p:spPr>
          <a:xfrm>
            <a:off x="4423533" y="2831277"/>
            <a:ext cx="1143000" cy="5334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C2C1D2C-C669-D288-DCAF-8C719E8E1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801344"/>
              </p:ext>
            </p:extLst>
          </p:nvPr>
        </p:nvGraphicFramePr>
        <p:xfrm>
          <a:off x="3608423" y="1965367"/>
          <a:ext cx="5207000" cy="3810000"/>
        </p:xfrm>
        <a:graphic>
          <a:graphicData uri="http://schemas.openxmlformats.org/drawingml/2006/table">
            <a:tbl>
              <a:tblPr firstRow="1" bandRow="1"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CD72367-F2B7-4B1F-4DB2-8AD189D63C38}"/>
              </a:ext>
            </a:extLst>
          </p:cNvPr>
          <p:cNvSpPr/>
          <p:nvPr/>
        </p:nvSpPr>
        <p:spPr>
          <a:xfrm>
            <a:off x="2871823" y="2193967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499E4D-980C-CBC4-D9CB-E5D02DE5B2B2}"/>
              </a:ext>
            </a:extLst>
          </p:cNvPr>
          <p:cNvSpPr/>
          <p:nvPr/>
        </p:nvSpPr>
        <p:spPr>
          <a:xfrm>
            <a:off x="4091023" y="1660567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687108-6E42-2A63-680F-00F92296300E}"/>
              </a:ext>
            </a:extLst>
          </p:cNvPr>
          <p:cNvSpPr/>
          <p:nvPr/>
        </p:nvSpPr>
        <p:spPr>
          <a:xfrm>
            <a:off x="3024223" y="1431967"/>
            <a:ext cx="990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02E1AAF-E9B2-4A34-3E6B-28EF0036306F}"/>
              </a:ext>
            </a:extLst>
          </p:cNvPr>
          <p:cNvCxnSpPr/>
          <p:nvPr/>
        </p:nvCxnSpPr>
        <p:spPr>
          <a:xfrm rot="16200000" flipV="1">
            <a:off x="3852033" y="1927267"/>
            <a:ext cx="838200" cy="762000"/>
          </a:xfrm>
          <a:prstGeom prst="line">
            <a:avLst/>
          </a:prstGeom>
          <a:noFill/>
          <a:ln w="28575" cap="flat" cmpd="sng" algn="ctr">
            <a:solidFill>
              <a:srgbClr val="3AA854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7F0B66A-65A5-5096-FEBC-03DC8FA4D967}"/>
              </a:ext>
            </a:extLst>
          </p:cNvPr>
          <p:cNvSpPr/>
          <p:nvPr/>
        </p:nvSpPr>
        <p:spPr>
          <a:xfrm>
            <a:off x="9044023" y="4327567"/>
            <a:ext cx="228600" cy="14478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51B21E-8A3C-6D8D-6BCC-F033A1DBE019}"/>
              </a:ext>
            </a:extLst>
          </p:cNvPr>
          <p:cNvSpPr/>
          <p:nvPr/>
        </p:nvSpPr>
        <p:spPr>
          <a:xfrm>
            <a:off x="4333480" y="4327567"/>
            <a:ext cx="180111" cy="14478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CB70303-E1E2-6A98-1D5B-B1A148A59AAC}"/>
              </a:ext>
            </a:extLst>
          </p:cNvPr>
          <p:cNvGrpSpPr/>
          <p:nvPr/>
        </p:nvGrpSpPr>
        <p:grpSpPr>
          <a:xfrm>
            <a:off x="8967827" y="4913357"/>
            <a:ext cx="2949575" cy="785813"/>
            <a:chOff x="6781800" y="5081587"/>
            <a:chExt cx="2949575" cy="785813"/>
          </a:xfrm>
        </p:grpSpPr>
        <p:graphicFrame>
          <p:nvGraphicFramePr>
            <p:cNvPr id="42" name="Object 41">
              <a:extLst>
                <a:ext uri="{FF2B5EF4-FFF2-40B4-BE49-F238E27FC236}">
                  <a16:creationId xmlns:a16="http://schemas.microsoft.com/office/drawing/2014/main" id="{44C7BE00-9E9E-72BA-79D9-91F59E7459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210550" y="5081587"/>
            <a:ext cx="1520825" cy="785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8" name="Equation" r:id="rId3" imgW="419040" imgH="253800" progId="">
                    <p:embed/>
                  </p:oleObj>
                </mc:Choice>
                <mc:Fallback>
                  <p:oleObj name="Equation" r:id="rId3" imgW="419040" imgH="253800" progId="">
                    <p:embed/>
                    <p:pic>
                      <p:nvPicPr>
                        <p:cNvPr id="1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10550" y="5081587"/>
                          <a:ext cx="1520825" cy="785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Freeform 20">
              <a:extLst>
                <a:ext uri="{FF2B5EF4-FFF2-40B4-BE49-F238E27FC236}">
                  <a16:creationId xmlns:a16="http://schemas.microsoft.com/office/drawing/2014/main" id="{2DA4C18F-B6A1-02DB-DFF5-0EFE88555C93}"/>
                </a:ext>
              </a:extLst>
            </p:cNvPr>
            <p:cNvSpPr/>
            <p:nvPr/>
          </p:nvSpPr>
          <p:spPr>
            <a:xfrm>
              <a:off x="6781800" y="5181600"/>
              <a:ext cx="1406237" cy="561110"/>
            </a:xfrm>
            <a:custGeom>
              <a:avLst/>
              <a:gdLst>
                <a:gd name="connsiteX0" fmla="*/ 0 w 762000"/>
                <a:gd name="connsiteY0" fmla="*/ 113146 h 240146"/>
                <a:gd name="connsiteX1" fmla="*/ 540327 w 762000"/>
                <a:gd name="connsiteY1" fmla="*/ 16164 h 240146"/>
                <a:gd name="connsiteX2" fmla="*/ 498764 w 762000"/>
                <a:gd name="connsiteY2" fmla="*/ 210128 h 240146"/>
                <a:gd name="connsiteX3" fmla="*/ 762000 w 762000"/>
                <a:gd name="connsiteY3" fmla="*/ 196273 h 24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240146">
                  <a:moveTo>
                    <a:pt x="0" y="113146"/>
                  </a:moveTo>
                  <a:cubicBezTo>
                    <a:pt x="228600" y="56573"/>
                    <a:pt x="457200" y="0"/>
                    <a:pt x="540327" y="16164"/>
                  </a:cubicBezTo>
                  <a:cubicBezTo>
                    <a:pt x="623454" y="32328"/>
                    <a:pt x="461819" y="180110"/>
                    <a:pt x="498764" y="210128"/>
                  </a:cubicBezTo>
                  <a:cubicBezTo>
                    <a:pt x="535709" y="240146"/>
                    <a:pt x="648854" y="218209"/>
                    <a:pt x="762000" y="196273"/>
                  </a:cubicBezTo>
                </a:path>
              </a:pathLst>
            </a:custGeom>
            <a:noFill/>
            <a:ln w="28575" cap="flat" cmpd="sng" algn="ctr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000" kern="0">
                <a:solidFill>
                  <a:srgbClr val="1C5E29"/>
                </a:solidFill>
                <a:latin typeface="Verdana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12AAD9C5-46AF-C7CE-C149-FC0E17D06774}"/>
              </a:ext>
            </a:extLst>
          </p:cNvPr>
          <p:cNvSpPr/>
          <p:nvPr/>
        </p:nvSpPr>
        <p:spPr>
          <a:xfrm>
            <a:off x="9044023" y="2623457"/>
            <a:ext cx="228600" cy="9906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6F4AC5-0C38-2B67-9E0D-FE5CEECEC0A5}"/>
              </a:ext>
            </a:extLst>
          </p:cNvPr>
          <p:cNvSpPr/>
          <p:nvPr/>
        </p:nvSpPr>
        <p:spPr>
          <a:xfrm>
            <a:off x="4333479" y="2727367"/>
            <a:ext cx="228600" cy="9906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5512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sp>
        <p:nvSpPr>
          <p:cNvPr id="3" name="Rounded Rectangle 21">
            <a:extLst>
              <a:ext uri="{FF2B5EF4-FFF2-40B4-BE49-F238E27FC236}">
                <a16:creationId xmlns:a16="http://schemas.microsoft.com/office/drawing/2014/main" id="{611AF9E5-1BDE-ADEA-72BE-FF17056CEF1A}"/>
              </a:ext>
            </a:extLst>
          </p:cNvPr>
          <p:cNvSpPr/>
          <p:nvPr/>
        </p:nvSpPr>
        <p:spPr>
          <a:xfrm>
            <a:off x="6172955" y="2736411"/>
            <a:ext cx="1524000" cy="28956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AB9034E-DBC4-59BF-77A7-58EBEC5EA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665806"/>
              </p:ext>
            </p:extLst>
          </p:nvPr>
        </p:nvGraphicFramePr>
        <p:xfrm>
          <a:off x="3785355" y="1898211"/>
          <a:ext cx="5207000" cy="3810000"/>
        </p:xfrm>
        <a:graphic>
          <a:graphicData uri="http://schemas.openxmlformats.org/drawingml/2006/table">
            <a:tbl>
              <a:tblPr firstRow="1" bandRow="1"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8C586A7-6D52-CAE1-C205-FCF015F34513}"/>
              </a:ext>
            </a:extLst>
          </p:cNvPr>
          <p:cNvSpPr/>
          <p:nvPr/>
        </p:nvSpPr>
        <p:spPr>
          <a:xfrm>
            <a:off x="3048755" y="2126811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74059B-0F37-464C-E793-1005909E3576}"/>
              </a:ext>
            </a:extLst>
          </p:cNvPr>
          <p:cNvSpPr/>
          <p:nvPr/>
        </p:nvSpPr>
        <p:spPr>
          <a:xfrm>
            <a:off x="4267955" y="1593411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02F66C-FAA7-638F-292A-D92F7FD08061}"/>
              </a:ext>
            </a:extLst>
          </p:cNvPr>
          <p:cNvSpPr/>
          <p:nvPr/>
        </p:nvSpPr>
        <p:spPr>
          <a:xfrm>
            <a:off x="3201155" y="1364811"/>
            <a:ext cx="990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703B02-3EB0-9AF7-EA89-977ADF1D9790}"/>
              </a:ext>
            </a:extLst>
          </p:cNvPr>
          <p:cNvCxnSpPr/>
          <p:nvPr/>
        </p:nvCxnSpPr>
        <p:spPr>
          <a:xfrm rot="16200000" flipV="1">
            <a:off x="4028964" y="1860111"/>
            <a:ext cx="838200" cy="762000"/>
          </a:xfrm>
          <a:prstGeom prst="line">
            <a:avLst/>
          </a:prstGeom>
          <a:noFill/>
          <a:ln w="28575" cap="flat" cmpd="sng" algn="ctr">
            <a:solidFill>
              <a:srgbClr val="3AA854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5AD236-5B58-BCEB-F5CE-2436F398A438}"/>
              </a:ext>
            </a:extLst>
          </p:cNvPr>
          <p:cNvGrpSpPr/>
          <p:nvPr/>
        </p:nvGrpSpPr>
        <p:grpSpPr>
          <a:xfrm>
            <a:off x="7696958" y="4946212"/>
            <a:ext cx="3679825" cy="782639"/>
            <a:chOff x="5334000" y="5181600"/>
            <a:chExt cx="3679825" cy="782638"/>
          </a:xfrm>
        </p:grpSpPr>
        <p:graphicFrame>
          <p:nvGraphicFramePr>
            <p:cNvPr id="13" name="Object 12">
              <a:extLst>
                <a:ext uri="{FF2B5EF4-FFF2-40B4-BE49-F238E27FC236}">
                  <a16:creationId xmlns:a16="http://schemas.microsoft.com/office/drawing/2014/main" id="{BBADBC57-77F9-5A8E-636A-9EC95DF0CF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229600" y="5257800"/>
            <a:ext cx="784225" cy="706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" name="Equation" r:id="rId3" imgW="215640" imgH="228600" progId="">
                    <p:embed/>
                  </p:oleObj>
                </mc:Choice>
                <mc:Fallback>
                  <p:oleObj name="Equation" r:id="rId3" imgW="215640" imgH="228600" progId="">
                    <p:embed/>
                    <p:pic>
                      <p:nvPicPr>
                        <p:cNvPr id="1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9600" y="5257800"/>
                          <a:ext cx="784225" cy="706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Freeform 20">
              <a:extLst>
                <a:ext uri="{FF2B5EF4-FFF2-40B4-BE49-F238E27FC236}">
                  <a16:creationId xmlns:a16="http://schemas.microsoft.com/office/drawing/2014/main" id="{FBABD9E5-176F-94D9-6939-52264B678411}"/>
                </a:ext>
              </a:extLst>
            </p:cNvPr>
            <p:cNvSpPr/>
            <p:nvPr/>
          </p:nvSpPr>
          <p:spPr>
            <a:xfrm>
              <a:off x="5334000" y="5181600"/>
              <a:ext cx="2854037" cy="561110"/>
            </a:xfrm>
            <a:custGeom>
              <a:avLst/>
              <a:gdLst>
                <a:gd name="connsiteX0" fmla="*/ 0 w 762000"/>
                <a:gd name="connsiteY0" fmla="*/ 113146 h 240146"/>
                <a:gd name="connsiteX1" fmla="*/ 540327 w 762000"/>
                <a:gd name="connsiteY1" fmla="*/ 16164 h 240146"/>
                <a:gd name="connsiteX2" fmla="*/ 498764 w 762000"/>
                <a:gd name="connsiteY2" fmla="*/ 210128 h 240146"/>
                <a:gd name="connsiteX3" fmla="*/ 762000 w 762000"/>
                <a:gd name="connsiteY3" fmla="*/ 196273 h 24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240146">
                  <a:moveTo>
                    <a:pt x="0" y="113146"/>
                  </a:moveTo>
                  <a:cubicBezTo>
                    <a:pt x="228600" y="56573"/>
                    <a:pt x="457200" y="0"/>
                    <a:pt x="540327" y="16164"/>
                  </a:cubicBezTo>
                  <a:cubicBezTo>
                    <a:pt x="623454" y="32328"/>
                    <a:pt x="461819" y="180110"/>
                    <a:pt x="498764" y="210128"/>
                  </a:cubicBezTo>
                  <a:cubicBezTo>
                    <a:pt x="535709" y="240146"/>
                    <a:pt x="648854" y="218209"/>
                    <a:pt x="762000" y="196273"/>
                  </a:cubicBezTo>
                </a:path>
              </a:pathLst>
            </a:custGeom>
            <a:noFill/>
            <a:ln w="28575" cap="flat" cmpd="sng" algn="ctr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000" kern="0">
                <a:solidFill>
                  <a:srgbClr val="1C5E29"/>
                </a:solidFill>
                <a:latin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238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sp>
        <p:nvSpPr>
          <p:cNvPr id="3" name="Rounded Rectangle 21">
            <a:extLst>
              <a:ext uri="{FF2B5EF4-FFF2-40B4-BE49-F238E27FC236}">
                <a16:creationId xmlns:a16="http://schemas.microsoft.com/office/drawing/2014/main" id="{8B9AADD2-3EF2-0572-54C8-C854E687F188}"/>
              </a:ext>
            </a:extLst>
          </p:cNvPr>
          <p:cNvSpPr/>
          <p:nvPr/>
        </p:nvSpPr>
        <p:spPr>
          <a:xfrm>
            <a:off x="5006567" y="2709249"/>
            <a:ext cx="1524000" cy="28956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73997C-64C9-3B9A-AB7C-0C0BEB452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657731"/>
              </p:ext>
            </p:extLst>
          </p:nvPr>
        </p:nvGraphicFramePr>
        <p:xfrm>
          <a:off x="3685767" y="1871049"/>
          <a:ext cx="5207000" cy="3810000"/>
        </p:xfrm>
        <a:graphic>
          <a:graphicData uri="http://schemas.openxmlformats.org/drawingml/2006/table">
            <a:tbl>
              <a:tblPr firstRow="1" bandRow="1"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US" sz="19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US" sz="19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US" sz="19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US" sz="19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83C71FC-B3D4-DAA3-91AE-3713870B89E5}"/>
              </a:ext>
            </a:extLst>
          </p:cNvPr>
          <p:cNvSpPr/>
          <p:nvPr/>
        </p:nvSpPr>
        <p:spPr>
          <a:xfrm>
            <a:off x="2949167" y="2099649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52CF9D-B1CB-A64D-BB58-36261CA07F20}"/>
              </a:ext>
            </a:extLst>
          </p:cNvPr>
          <p:cNvSpPr/>
          <p:nvPr/>
        </p:nvSpPr>
        <p:spPr>
          <a:xfrm>
            <a:off x="4168367" y="1566249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0EFBF1-07E6-75D0-03C4-AFC4E9E1C4A4}"/>
              </a:ext>
            </a:extLst>
          </p:cNvPr>
          <p:cNvSpPr/>
          <p:nvPr/>
        </p:nvSpPr>
        <p:spPr>
          <a:xfrm>
            <a:off x="3101567" y="1337649"/>
            <a:ext cx="990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F27BBD-9591-C03A-F647-977D5DF888B6}"/>
              </a:ext>
            </a:extLst>
          </p:cNvPr>
          <p:cNvCxnSpPr/>
          <p:nvPr/>
        </p:nvCxnSpPr>
        <p:spPr>
          <a:xfrm rot="16200000" flipV="1">
            <a:off x="3929376" y="1832949"/>
            <a:ext cx="838200" cy="762000"/>
          </a:xfrm>
          <a:prstGeom prst="line">
            <a:avLst/>
          </a:prstGeom>
          <a:noFill/>
          <a:ln w="28575" cap="flat" cmpd="sng" algn="ctr">
            <a:solidFill>
              <a:srgbClr val="3AA854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AF9218E-F1AB-4B3A-7B9E-05731ED16AAA}"/>
              </a:ext>
            </a:extLst>
          </p:cNvPr>
          <p:cNvGrpSpPr/>
          <p:nvPr/>
        </p:nvGrpSpPr>
        <p:grpSpPr>
          <a:xfrm>
            <a:off x="6682970" y="4957152"/>
            <a:ext cx="4594225" cy="784225"/>
            <a:chOff x="4419600" y="5219700"/>
            <a:chExt cx="4594225" cy="784225"/>
          </a:xfrm>
        </p:grpSpPr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63999D28-7C79-DCEB-30E5-7369344409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229600" y="5219700"/>
            <a:ext cx="784225" cy="784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6" name="Equation" r:id="rId3" imgW="215640" imgH="253800" progId="">
                    <p:embed/>
                  </p:oleObj>
                </mc:Choice>
                <mc:Fallback>
                  <p:oleObj name="Equation" r:id="rId3" imgW="215640" imgH="253800" progId="">
                    <p:embed/>
                    <p:pic>
                      <p:nvPicPr>
                        <p:cNvPr id="1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9600" y="5219700"/>
                          <a:ext cx="784225" cy="784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800D4198-16D7-F270-1298-A464963AEDBE}"/>
                </a:ext>
              </a:extLst>
            </p:cNvPr>
            <p:cNvSpPr/>
            <p:nvPr/>
          </p:nvSpPr>
          <p:spPr>
            <a:xfrm>
              <a:off x="4419600" y="5264730"/>
              <a:ext cx="3768437" cy="561110"/>
            </a:xfrm>
            <a:custGeom>
              <a:avLst/>
              <a:gdLst>
                <a:gd name="connsiteX0" fmla="*/ 0 w 762000"/>
                <a:gd name="connsiteY0" fmla="*/ 113146 h 240146"/>
                <a:gd name="connsiteX1" fmla="*/ 540327 w 762000"/>
                <a:gd name="connsiteY1" fmla="*/ 16164 h 240146"/>
                <a:gd name="connsiteX2" fmla="*/ 498764 w 762000"/>
                <a:gd name="connsiteY2" fmla="*/ 210128 h 240146"/>
                <a:gd name="connsiteX3" fmla="*/ 762000 w 762000"/>
                <a:gd name="connsiteY3" fmla="*/ 196273 h 24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240146">
                  <a:moveTo>
                    <a:pt x="0" y="113146"/>
                  </a:moveTo>
                  <a:cubicBezTo>
                    <a:pt x="228600" y="56573"/>
                    <a:pt x="457200" y="0"/>
                    <a:pt x="540327" y="16164"/>
                  </a:cubicBezTo>
                  <a:cubicBezTo>
                    <a:pt x="623454" y="32328"/>
                    <a:pt x="461819" y="180110"/>
                    <a:pt x="498764" y="210128"/>
                  </a:cubicBezTo>
                  <a:cubicBezTo>
                    <a:pt x="535709" y="240146"/>
                    <a:pt x="648854" y="218209"/>
                    <a:pt x="762000" y="196273"/>
                  </a:cubicBezTo>
                </a:path>
              </a:pathLst>
            </a:custGeom>
            <a:noFill/>
            <a:ln w="28575" cap="flat" cmpd="sng" algn="ctr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000" kern="0">
                <a:solidFill>
                  <a:srgbClr val="1C5E29"/>
                </a:solidFill>
                <a:latin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01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924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sp>
        <p:nvSpPr>
          <p:cNvPr id="3" name="Rounded Rectangle 21">
            <a:extLst>
              <a:ext uri="{FF2B5EF4-FFF2-40B4-BE49-F238E27FC236}">
                <a16:creationId xmlns:a16="http://schemas.microsoft.com/office/drawing/2014/main" id="{C87F2274-3F32-3A94-A028-B374B8E1CB39}"/>
              </a:ext>
            </a:extLst>
          </p:cNvPr>
          <p:cNvSpPr/>
          <p:nvPr/>
        </p:nvSpPr>
        <p:spPr>
          <a:xfrm>
            <a:off x="4572755" y="2736411"/>
            <a:ext cx="1066800" cy="28956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5838A78C-E066-520E-F773-0F4516300C83}"/>
              </a:ext>
            </a:extLst>
          </p:cNvPr>
          <p:cNvSpPr/>
          <p:nvPr/>
        </p:nvSpPr>
        <p:spPr>
          <a:xfrm>
            <a:off x="8154155" y="2736411"/>
            <a:ext cx="1066800" cy="28956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3AA85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210B1CA-9504-DF90-4451-B0F2DDFFD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644336"/>
              </p:ext>
            </p:extLst>
          </p:nvPr>
        </p:nvGraphicFramePr>
        <p:xfrm>
          <a:off x="3785355" y="1898211"/>
          <a:ext cx="5207000" cy="3810000"/>
        </p:xfrm>
        <a:graphic>
          <a:graphicData uri="http://schemas.openxmlformats.org/drawingml/2006/table">
            <a:tbl>
              <a:tblPr firstRow="1" bandRow="1"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400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US" sz="19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US" sz="19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US" sz="19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US" sz="19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US" sz="19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US" sz="190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US" sz="19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US" sz="1900" dirty="0"/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B57EB17-4334-7733-84BC-B6E8309073D5}"/>
              </a:ext>
            </a:extLst>
          </p:cNvPr>
          <p:cNvSpPr/>
          <p:nvPr/>
        </p:nvSpPr>
        <p:spPr>
          <a:xfrm>
            <a:off x="3048755" y="2126811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3C4752-DE60-A4FD-F172-A0E5EF7A8A0D}"/>
              </a:ext>
            </a:extLst>
          </p:cNvPr>
          <p:cNvSpPr/>
          <p:nvPr/>
        </p:nvSpPr>
        <p:spPr>
          <a:xfrm>
            <a:off x="4267955" y="1593411"/>
            <a:ext cx="1371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3000" kern="0" baseline="-250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3000" kern="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2CADFB-6DB4-4A23-4D56-D7C07144EC42}"/>
              </a:ext>
            </a:extLst>
          </p:cNvPr>
          <p:cNvSpPr/>
          <p:nvPr/>
        </p:nvSpPr>
        <p:spPr>
          <a:xfrm>
            <a:off x="3201155" y="1364811"/>
            <a:ext cx="9906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kern="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FC27A28-4CE6-B7DB-17E8-839FEFE707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345754"/>
              </p:ext>
            </p:extLst>
          </p:nvPr>
        </p:nvGraphicFramePr>
        <p:xfrm>
          <a:off x="10570333" y="4984314"/>
          <a:ext cx="83026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4" imgW="228600" imgH="253800" progId="">
                  <p:embed/>
                </p:oleObj>
              </mc:Choice>
              <mc:Fallback>
                <p:oleObj name="Equation" r:id="rId4" imgW="228600" imgH="253800" progId="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0333" y="4984314"/>
                        <a:ext cx="830263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4E0253-513D-558E-2D5A-62DA61ABD9FE}"/>
              </a:ext>
            </a:extLst>
          </p:cNvPr>
          <p:cNvCxnSpPr/>
          <p:nvPr/>
        </p:nvCxnSpPr>
        <p:spPr>
          <a:xfrm rot="16200000" flipV="1">
            <a:off x="4028965" y="1860111"/>
            <a:ext cx="838200" cy="762000"/>
          </a:xfrm>
          <a:prstGeom prst="line">
            <a:avLst/>
          </a:prstGeom>
          <a:noFill/>
          <a:ln w="28575" cap="flat" cmpd="sng" algn="ctr">
            <a:solidFill>
              <a:srgbClr val="3AA854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2FB6488-9281-3EB2-F667-85FC16960761}"/>
              </a:ext>
            </a:extLst>
          </p:cNvPr>
          <p:cNvSpPr/>
          <p:nvPr/>
        </p:nvSpPr>
        <p:spPr>
          <a:xfrm>
            <a:off x="9144755" y="2660211"/>
            <a:ext cx="304800" cy="3048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A8CAA0-4388-931B-F20A-D7D9985ACCE2}"/>
              </a:ext>
            </a:extLst>
          </p:cNvPr>
          <p:cNvSpPr/>
          <p:nvPr/>
        </p:nvSpPr>
        <p:spPr>
          <a:xfrm>
            <a:off x="4572755" y="2680991"/>
            <a:ext cx="152400" cy="3048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F016EB29-ACC6-0908-FDC7-C81D051E6421}"/>
              </a:ext>
            </a:extLst>
          </p:cNvPr>
          <p:cNvSpPr/>
          <p:nvPr/>
        </p:nvSpPr>
        <p:spPr>
          <a:xfrm>
            <a:off x="9158613" y="5001632"/>
            <a:ext cx="1330037" cy="561111"/>
          </a:xfrm>
          <a:custGeom>
            <a:avLst/>
            <a:gdLst>
              <a:gd name="connsiteX0" fmla="*/ 0 w 762000"/>
              <a:gd name="connsiteY0" fmla="*/ 113146 h 240146"/>
              <a:gd name="connsiteX1" fmla="*/ 540327 w 762000"/>
              <a:gd name="connsiteY1" fmla="*/ 16164 h 240146"/>
              <a:gd name="connsiteX2" fmla="*/ 498764 w 762000"/>
              <a:gd name="connsiteY2" fmla="*/ 210128 h 240146"/>
              <a:gd name="connsiteX3" fmla="*/ 762000 w 762000"/>
              <a:gd name="connsiteY3" fmla="*/ 196273 h 240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240146">
                <a:moveTo>
                  <a:pt x="0" y="113146"/>
                </a:moveTo>
                <a:cubicBezTo>
                  <a:pt x="228600" y="56573"/>
                  <a:pt x="457200" y="0"/>
                  <a:pt x="540327" y="16164"/>
                </a:cubicBezTo>
                <a:cubicBezTo>
                  <a:pt x="623454" y="32328"/>
                  <a:pt x="461819" y="180110"/>
                  <a:pt x="498764" y="210128"/>
                </a:cubicBezTo>
                <a:cubicBezTo>
                  <a:pt x="535709" y="240146"/>
                  <a:pt x="648854" y="218209"/>
                  <a:pt x="762000" y="196273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kern="0">
              <a:solidFill>
                <a:srgbClr val="1C5E29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636461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77"/>
            <a:ext cx="11761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C27CA0EC-DED6-4D76-B4F1-CAF4101D4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14" y="1344297"/>
            <a:ext cx="10692172" cy="5084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533387" indent="-533387" algn="just" eaLnBrk="0" hangingPunct="0">
              <a:spcBef>
                <a:spcPct val="10000"/>
              </a:spcBef>
            </a:pPr>
            <a:r>
              <a:rPr lang="en-US" sz="2800" b="1" dirty="0" err="1">
                <a:latin typeface="Arial" panose="020B0604020202020204" pitchFamily="34" charset="0"/>
              </a:rPr>
              <a:t>Các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</a:rPr>
              <a:t>bước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</a:rPr>
              <a:t>rút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</a:rPr>
              <a:t>gọn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</a:rPr>
              <a:t>theo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</a:rPr>
              <a:t>bảng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</a:rPr>
              <a:t>Karnaugh</a:t>
            </a:r>
            <a:r>
              <a:rPr lang="en-US" sz="2800" b="1" dirty="0">
                <a:latin typeface="Arial" panose="020B0604020202020204" pitchFamily="34" charset="0"/>
              </a:rPr>
              <a:t> (</a:t>
            </a:r>
            <a:r>
              <a:rPr lang="en-US" sz="2800" b="1" dirty="0" err="1">
                <a:latin typeface="Arial" panose="020B0604020202020204" pitchFamily="34" charset="0"/>
              </a:rPr>
              <a:t>dạng</a:t>
            </a:r>
            <a:r>
              <a:rPr lang="en-US" sz="2800" b="1" dirty="0">
                <a:latin typeface="Arial" panose="020B0604020202020204" pitchFamily="34" charset="0"/>
              </a:rPr>
              <a:t> CTT):</a:t>
            </a: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800" b="1" dirty="0">
                <a:latin typeface="Arial" panose="020B0604020202020204" pitchFamily="34" charset="0"/>
              </a:rPr>
              <a:t>	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</a:rPr>
              <a:t>-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</a:rPr>
              <a:t>Bước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</a:rPr>
              <a:t> 1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: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Biểu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diễn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hàm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logic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trên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bảng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Karnaugh</a:t>
            </a:r>
            <a:endParaRPr lang="en-US" sz="2800" dirty="0">
              <a:solidFill>
                <a:srgbClr val="030904"/>
              </a:solidFill>
              <a:latin typeface="Arial" panose="020B0604020202020204" pitchFamily="34" charset="0"/>
            </a:endParaRP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</a:rPr>
              <a:t>	- 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</a:rPr>
              <a:t>Bước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</a:rPr>
              <a:t> 2</a:t>
            </a:r>
            <a:r>
              <a:rPr lang="en-US" sz="2800">
                <a:solidFill>
                  <a:srgbClr val="030904"/>
                </a:solidFill>
                <a:latin typeface="Arial" panose="020B0604020202020204" pitchFamily="34" charset="0"/>
              </a:rPr>
              <a:t>: Nhóm hết các 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ô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có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giá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trị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err="1">
                <a:solidFill>
                  <a:srgbClr val="FF0000"/>
                </a:solidFill>
                <a:latin typeface="Arial" panose="020B0604020202020204" pitchFamily="34" charset="0"/>
              </a:rPr>
              <a:t>bằng</a:t>
            </a:r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</a:rPr>
              <a:t> 1 </a:t>
            </a:r>
            <a:r>
              <a:rPr lang="en-US" sz="2800">
                <a:latin typeface="Arial" panose="020B0604020202020204" pitchFamily="34" charset="0"/>
              </a:rPr>
              <a:t>tạo ra các nhóm.</a:t>
            </a:r>
            <a:endParaRPr lang="en-US" sz="2800" dirty="0">
              <a:latin typeface="Arial" panose="020B0604020202020204" pitchFamily="34" charset="0"/>
            </a:endParaRP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	</a:t>
            </a:r>
            <a:r>
              <a:rPr lang="en-US" sz="2800" i="1" dirty="0" err="1">
                <a:solidFill>
                  <a:srgbClr val="030904"/>
                </a:solidFill>
                <a:latin typeface="Arial" panose="020B0604020202020204" pitchFamily="34" charset="0"/>
              </a:rPr>
              <a:t>Chú</a:t>
            </a:r>
            <a:r>
              <a:rPr lang="en-US" sz="2800" i="1" dirty="0">
                <a:solidFill>
                  <a:srgbClr val="030904"/>
                </a:solidFill>
                <a:latin typeface="Arial" panose="020B0604020202020204" pitchFamily="34" charset="0"/>
              </a:rPr>
              <a:t> ý: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	+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Số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ô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trong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nhóm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phải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là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nhiều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nhất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và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err="1">
                <a:solidFill>
                  <a:srgbClr val="030904"/>
                </a:solidFill>
                <a:latin typeface="Arial" panose="020B0604020202020204" pitchFamily="34" charset="0"/>
              </a:rPr>
              <a:t>là</a:t>
            </a:r>
            <a:r>
              <a:rPr lang="en-US" sz="280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n-US" sz="2800" baseline="30000">
                <a:solidFill>
                  <a:srgbClr val="FF0000"/>
                </a:solidFill>
                <a:latin typeface="Arial" panose="020B0604020202020204" pitchFamily="34" charset="0"/>
              </a:rPr>
              <a:t>n</a:t>
            </a:r>
            <a:r>
              <a:rPr lang="en-US" sz="2800">
                <a:solidFill>
                  <a:srgbClr val="030904"/>
                </a:solidFill>
                <a:latin typeface="Arial" panose="020B0604020202020204" pitchFamily="34" charset="0"/>
              </a:rPr>
              <a:t> . </a:t>
            </a:r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</a:rPr>
              <a:t>Có thể kết hợp cả ô không xác định X.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			+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Số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nhóm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phải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ít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nhất</a:t>
            </a:r>
            <a:endParaRPr lang="en-US" sz="2800" dirty="0">
              <a:solidFill>
                <a:srgbClr val="030904"/>
              </a:solidFill>
              <a:latin typeface="Arial" panose="020B0604020202020204" pitchFamily="34" charset="0"/>
            </a:endParaRPr>
          </a:p>
          <a:p>
            <a:pPr algn="just" eaLnBrk="0" hangingPunct="0">
              <a:spcBef>
                <a:spcPct val="10000"/>
              </a:spcBef>
            </a:pP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		+ 1 ô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có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thể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tham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gia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nhiều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nhóm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,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nhưng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một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nhóm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phải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có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ít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nhất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1 ô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chưa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tham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gia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err="1">
                <a:solidFill>
                  <a:srgbClr val="030904"/>
                </a:solidFill>
                <a:latin typeface="Arial" panose="020B0604020202020204" pitchFamily="34" charset="0"/>
              </a:rPr>
              <a:t>nhóm</a:t>
            </a:r>
            <a:r>
              <a:rPr lang="en-US" sz="2800">
                <a:solidFill>
                  <a:srgbClr val="030904"/>
                </a:solidFill>
                <a:latin typeface="Arial" panose="020B0604020202020204" pitchFamily="34" charset="0"/>
              </a:rPr>
              <a:t> nào</a:t>
            </a:r>
            <a:r>
              <a:rPr lang="en-US" sz="280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</a:rPr>
              <a:t>(</a:t>
            </a:r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</a:rPr>
              <a:t>1 ô riêng</a:t>
            </a: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</a:rPr>
              <a:t>).</a:t>
            </a:r>
            <a:endParaRPr lang="en-US" sz="2800" dirty="0">
              <a:solidFill>
                <a:srgbClr val="030904"/>
              </a:solidFill>
              <a:latin typeface="Arial" panose="020B0604020202020204" pitchFamily="34" charset="0"/>
            </a:endParaRP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	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</a:rPr>
              <a:t>- 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</a:rPr>
              <a:t>Bước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</a:rPr>
              <a:t> 3: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Xác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định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kết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quả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theo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quy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tắc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: </a:t>
            </a: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			+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Mỗi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nhóm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sẽ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là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1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tích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của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các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biến</a:t>
            </a:r>
            <a:endParaRPr lang="en-US" sz="2800" dirty="0">
              <a:solidFill>
                <a:srgbClr val="030904"/>
              </a:solidFill>
              <a:latin typeface="Arial" panose="020B0604020202020204" pitchFamily="34" charset="0"/>
            </a:endParaRP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			+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Kết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quả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là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tổng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của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các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tích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ở </a:t>
            </a:r>
            <a:r>
              <a:rPr lang="en-US" sz="2800" dirty="0" err="1">
                <a:solidFill>
                  <a:srgbClr val="030904"/>
                </a:solidFill>
                <a:latin typeface="Arial" panose="020B0604020202020204" pitchFamily="34" charset="0"/>
              </a:rPr>
              <a:t>trên</a:t>
            </a:r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40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77"/>
            <a:ext cx="11761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2520A750-815B-4EF4-95F0-163031F8E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154" y="1268398"/>
            <a:ext cx="10954694" cy="5266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533387" indent="-533387" algn="just" eaLnBrk="0" hangingPunct="0">
              <a:spcBef>
                <a:spcPct val="10000"/>
              </a:spcBef>
            </a:pPr>
            <a:r>
              <a:rPr lang="en-US" sz="2900" b="1" dirty="0" err="1">
                <a:latin typeface="Arial" panose="020B0604020202020204" pitchFamily="34" charset="0"/>
              </a:rPr>
              <a:t>Các</a:t>
            </a:r>
            <a:r>
              <a:rPr lang="en-US" sz="2900" b="1" dirty="0">
                <a:latin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</a:rPr>
              <a:t>bước</a:t>
            </a:r>
            <a:r>
              <a:rPr lang="en-US" sz="2900" b="1" dirty="0">
                <a:latin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</a:rPr>
              <a:t>rút</a:t>
            </a:r>
            <a:r>
              <a:rPr lang="en-US" sz="2900" b="1" dirty="0">
                <a:latin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</a:rPr>
              <a:t>gọn</a:t>
            </a:r>
            <a:r>
              <a:rPr lang="en-US" sz="2900" b="1" dirty="0">
                <a:latin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</a:rPr>
              <a:t>theo</a:t>
            </a:r>
            <a:r>
              <a:rPr lang="en-US" sz="2900" b="1" dirty="0">
                <a:latin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</a:rPr>
              <a:t>bảng</a:t>
            </a:r>
            <a:r>
              <a:rPr lang="en-US" sz="2900" b="1" dirty="0">
                <a:latin typeface="Arial" panose="020B0604020202020204" pitchFamily="34" charset="0"/>
              </a:rPr>
              <a:t> Karnaugh (</a:t>
            </a:r>
            <a:r>
              <a:rPr lang="en-US" sz="2900" b="1" dirty="0" err="1">
                <a:latin typeface="Arial" panose="020B0604020202020204" pitchFamily="34" charset="0"/>
              </a:rPr>
              <a:t>dạng</a:t>
            </a:r>
            <a:r>
              <a:rPr lang="en-US" sz="2900" b="1" dirty="0">
                <a:latin typeface="Arial" panose="020B0604020202020204" pitchFamily="34" charset="0"/>
              </a:rPr>
              <a:t> CTH):</a:t>
            </a: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900" b="1" dirty="0">
                <a:latin typeface="Arial" panose="020B0604020202020204" pitchFamily="34" charset="0"/>
              </a:rPr>
              <a:t>	</a:t>
            </a:r>
            <a:r>
              <a:rPr lang="en-US" sz="2900" b="1" dirty="0">
                <a:solidFill>
                  <a:srgbClr val="030904"/>
                </a:solidFill>
                <a:latin typeface="Arial" panose="020B0604020202020204" pitchFamily="34" charset="0"/>
              </a:rPr>
              <a:t>-</a:t>
            </a:r>
            <a:r>
              <a:rPr lang="en-US" sz="2900" b="1" dirty="0">
                <a:latin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30904"/>
                </a:solidFill>
                <a:latin typeface="Arial" panose="020B0604020202020204" pitchFamily="34" charset="0"/>
              </a:rPr>
              <a:t>Bước</a:t>
            </a:r>
            <a:r>
              <a:rPr lang="en-US" sz="2900" b="1" dirty="0">
                <a:solidFill>
                  <a:srgbClr val="030904"/>
                </a:solidFill>
                <a:latin typeface="Arial" panose="020B0604020202020204" pitchFamily="34" charset="0"/>
              </a:rPr>
              <a:t> 1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: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Biểu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diễn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hàm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logic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trên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bảng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Karnaugh</a:t>
            </a:r>
            <a:endParaRPr lang="en-US" sz="2900" dirty="0">
              <a:solidFill>
                <a:srgbClr val="030904"/>
              </a:solidFill>
              <a:latin typeface="Arial" panose="020B0604020202020204" pitchFamily="34" charset="0"/>
            </a:endParaRP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900" b="1" dirty="0">
                <a:solidFill>
                  <a:srgbClr val="030904"/>
                </a:solidFill>
                <a:latin typeface="Arial" panose="020B0604020202020204" pitchFamily="34" charset="0"/>
              </a:rPr>
              <a:t>	- </a:t>
            </a:r>
            <a:r>
              <a:rPr lang="en-US" sz="2900" b="1" dirty="0" err="1">
                <a:solidFill>
                  <a:srgbClr val="030904"/>
                </a:solidFill>
                <a:latin typeface="Arial" panose="020B0604020202020204" pitchFamily="34" charset="0"/>
              </a:rPr>
              <a:t>Bước</a:t>
            </a:r>
            <a:r>
              <a:rPr lang="en-US" sz="2900" b="1" dirty="0">
                <a:solidFill>
                  <a:srgbClr val="030904"/>
                </a:solidFill>
                <a:latin typeface="Arial" panose="020B0604020202020204" pitchFamily="34" charset="0"/>
              </a:rPr>
              <a:t> 2</a:t>
            </a:r>
            <a:r>
              <a:rPr lang="en-US" sz="2900">
                <a:solidFill>
                  <a:srgbClr val="030904"/>
                </a:solidFill>
                <a:latin typeface="Arial" panose="020B0604020202020204" pitchFamily="34" charset="0"/>
              </a:rPr>
              <a:t>: Nhóm hết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các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ô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có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giá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trị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err="1">
                <a:solidFill>
                  <a:srgbClr val="FF0000"/>
                </a:solidFill>
                <a:latin typeface="Arial" panose="020B0604020202020204" pitchFamily="34" charset="0"/>
              </a:rPr>
              <a:t>bằng</a:t>
            </a:r>
            <a:r>
              <a:rPr lang="en-US" sz="2900">
                <a:solidFill>
                  <a:srgbClr val="FF0000"/>
                </a:solidFill>
                <a:latin typeface="Arial" panose="020B0604020202020204" pitchFamily="34" charset="0"/>
              </a:rPr>
              <a:t> 0 </a:t>
            </a:r>
            <a:r>
              <a:rPr lang="en-US" sz="2900">
                <a:latin typeface="Arial" panose="020B0604020202020204" pitchFamily="34" charset="0"/>
              </a:rPr>
              <a:t>tạo ra các nhóm.</a:t>
            </a:r>
            <a:endParaRPr lang="en-US" sz="2900" dirty="0">
              <a:latin typeface="Arial" panose="020B0604020202020204" pitchFamily="34" charset="0"/>
            </a:endParaRP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	</a:t>
            </a:r>
            <a:r>
              <a:rPr lang="en-US" sz="2900" i="1" dirty="0" err="1">
                <a:solidFill>
                  <a:srgbClr val="030904"/>
                </a:solidFill>
                <a:latin typeface="Arial" panose="020B0604020202020204" pitchFamily="34" charset="0"/>
              </a:rPr>
              <a:t>Chú</a:t>
            </a:r>
            <a:r>
              <a:rPr lang="en-US" sz="2900" i="1" dirty="0">
                <a:solidFill>
                  <a:srgbClr val="030904"/>
                </a:solidFill>
                <a:latin typeface="Arial" panose="020B0604020202020204" pitchFamily="34" charset="0"/>
              </a:rPr>
              <a:t> ý:</a:t>
            </a:r>
            <a:r>
              <a:rPr lang="en-US" sz="2900" b="1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	+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Số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ô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trong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nhóm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phải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là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nhiều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nhất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và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là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n-US" sz="290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n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.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Có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thể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kết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hợp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cả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ô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không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xác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định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X.</a:t>
            </a: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			+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Số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nhóm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phải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ít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nhất</a:t>
            </a:r>
            <a:endParaRPr lang="en-US" sz="2900" dirty="0">
              <a:solidFill>
                <a:srgbClr val="030904"/>
              </a:solidFill>
              <a:latin typeface="Arial" panose="020B0604020202020204" pitchFamily="34" charset="0"/>
            </a:endParaRPr>
          </a:p>
          <a:p>
            <a:pPr algn="just" eaLnBrk="0" hangingPunct="0">
              <a:spcBef>
                <a:spcPct val="10000"/>
              </a:spcBef>
            </a:pP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		+ 1 ô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có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thể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tham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gia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nhiều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nhóm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,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nhưng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một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nhóm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phải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có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ít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nhất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1 ô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chưa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tham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gia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nhóm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nào</a:t>
            </a:r>
            <a:r>
              <a:rPr lang="en-US" sz="28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1 ô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riêng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</a:rPr>
              <a:t>).</a:t>
            </a:r>
            <a:endParaRPr lang="en-US" sz="2900" dirty="0">
              <a:solidFill>
                <a:srgbClr val="030904"/>
              </a:solidFill>
              <a:latin typeface="Arial" panose="020B0604020202020204" pitchFamily="34" charset="0"/>
            </a:endParaRP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	</a:t>
            </a:r>
            <a:r>
              <a:rPr lang="en-US" sz="2900" b="1" dirty="0">
                <a:solidFill>
                  <a:srgbClr val="030904"/>
                </a:solidFill>
                <a:latin typeface="Arial" panose="020B0604020202020204" pitchFamily="34" charset="0"/>
              </a:rPr>
              <a:t>- </a:t>
            </a:r>
            <a:r>
              <a:rPr lang="en-US" sz="2900" b="1" dirty="0" err="1">
                <a:solidFill>
                  <a:srgbClr val="030904"/>
                </a:solidFill>
                <a:latin typeface="Arial" panose="020B0604020202020204" pitchFamily="34" charset="0"/>
              </a:rPr>
              <a:t>Bước</a:t>
            </a:r>
            <a:r>
              <a:rPr lang="en-US" sz="2900" b="1" dirty="0">
                <a:solidFill>
                  <a:srgbClr val="030904"/>
                </a:solidFill>
                <a:latin typeface="Arial" panose="020B0604020202020204" pitchFamily="34" charset="0"/>
              </a:rPr>
              <a:t> 3: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Xác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định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kết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quả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theo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quy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tắc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: </a:t>
            </a: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			+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Mỗi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nhóm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sẽ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là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1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tổng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của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các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biến</a:t>
            </a:r>
            <a:endParaRPr lang="en-US" sz="2900" dirty="0">
              <a:solidFill>
                <a:srgbClr val="030904"/>
              </a:solidFill>
              <a:latin typeface="Arial" panose="020B0604020202020204" pitchFamily="34" charset="0"/>
            </a:endParaRPr>
          </a:p>
          <a:p>
            <a:pPr marL="533387" indent="-533387" algn="just" eaLnBrk="0" hangingPunct="0">
              <a:spcBef>
                <a:spcPct val="10000"/>
              </a:spcBef>
            </a:pP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			+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Kết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quả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là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tích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của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các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 err="1">
                <a:solidFill>
                  <a:srgbClr val="FF0000"/>
                </a:solidFill>
                <a:latin typeface="Arial" panose="020B0604020202020204" pitchFamily="34" charset="0"/>
              </a:rPr>
              <a:t>tổng</a:t>
            </a:r>
            <a:r>
              <a:rPr lang="en-US" sz="29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900" dirty="0">
                <a:solidFill>
                  <a:srgbClr val="030904"/>
                </a:solidFill>
                <a:latin typeface="Arial" panose="020B0604020202020204" pitchFamily="34" charset="0"/>
              </a:rPr>
              <a:t>ở </a:t>
            </a:r>
            <a:r>
              <a:rPr lang="en-US" sz="2900" dirty="0" err="1">
                <a:solidFill>
                  <a:srgbClr val="030904"/>
                </a:solidFill>
                <a:latin typeface="Arial" panose="020B0604020202020204" pitchFamily="34" charset="0"/>
              </a:rPr>
              <a:t>trên</a:t>
            </a:r>
            <a:endParaRPr lang="en-US" sz="29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02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77"/>
            <a:ext cx="11761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1C585AC-8C4D-0C9F-D840-A141BE824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65561"/>
            <a:ext cx="10716285" cy="1397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Ví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dụ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1: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Tối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ưu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logic 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theo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mã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nhị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phân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trên</a:t>
            </a:r>
            <a:r>
              <a:rPr lang="en-US" sz="30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bảng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Karnaugh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:</a:t>
            </a:r>
          </a:p>
          <a:p>
            <a:pPr marL="533387" indent="-533387"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Bước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1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Biểu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diễn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logic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trên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ma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trận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Karnaugh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5CD692FF-F8E8-31B2-7122-C409840367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699223"/>
              </p:ext>
            </p:extLst>
          </p:nvPr>
        </p:nvGraphicFramePr>
        <p:xfrm>
          <a:off x="2971802" y="1808165"/>
          <a:ext cx="7883525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3136680" imgH="253800" progId="Equation.DSMT4">
                  <p:embed/>
                </p:oleObj>
              </mc:Choice>
              <mc:Fallback>
                <p:oleObj name="Equation" r:id="rId3" imgW="3136680" imgH="253800" progId="Equation.DSMT4">
                  <p:embed/>
                  <p:pic>
                    <p:nvPicPr>
                      <p:cNvPr id="1229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2" y="1808165"/>
                        <a:ext cx="7883525" cy="5524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Group 8">
            <a:extLst>
              <a:ext uri="{FF2B5EF4-FFF2-40B4-BE49-F238E27FC236}">
                <a16:creationId xmlns:a16="http://schemas.microsoft.com/office/drawing/2014/main" id="{767C8639-4379-40B9-AD2C-F90F495006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2539672"/>
              </p:ext>
            </p:extLst>
          </p:nvPr>
        </p:nvGraphicFramePr>
        <p:xfrm>
          <a:off x="2133601" y="3041963"/>
          <a:ext cx="6251164" cy="2913063"/>
        </p:xfrm>
        <a:graphic>
          <a:graphicData uri="http://schemas.openxmlformats.org/drawingml/2006/table">
            <a:tbl>
              <a:tblPr/>
              <a:tblGrid>
                <a:gridCol w="2411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42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X</a:t>
                      </a:r>
                      <a:r>
                        <a:rPr kumimoji="0" lang="en-US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5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E2EB94-458A-9F3F-E131-BB12C0C421A1}"/>
              </a:ext>
            </a:extLst>
          </p:cNvPr>
          <p:cNvCxnSpPr>
            <a:cxnSpLocks/>
          </p:cNvCxnSpPr>
          <p:nvPr/>
        </p:nvCxnSpPr>
        <p:spPr>
          <a:xfrm>
            <a:off x="2133601" y="3041963"/>
            <a:ext cx="2338812" cy="1053177"/>
          </a:xfrm>
          <a:prstGeom prst="line">
            <a:avLst/>
          </a:prstGeom>
          <a:noFill/>
          <a:ln w="28575" cap="flat" cmpd="sng" algn="ctr">
            <a:solidFill>
              <a:srgbClr val="030904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4D9575-045B-823B-BEF5-2A1529524C78}"/>
              </a:ext>
            </a:extLst>
          </p:cNvPr>
          <p:cNvSpPr txBox="1"/>
          <p:nvPr/>
        </p:nvSpPr>
        <p:spPr>
          <a:xfrm>
            <a:off x="1781176" y="2671583"/>
            <a:ext cx="3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52547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77"/>
            <a:ext cx="11761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1C585AC-8C4D-0C9F-D840-A141BE824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65560"/>
            <a:ext cx="1071628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Ví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dụ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1: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Tối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ưu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logic 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theo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mã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nhị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phân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trên</a:t>
            </a:r>
            <a:r>
              <a:rPr lang="en-US" sz="30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bảng </a:t>
            </a:r>
            <a:r>
              <a:rPr lang="en-US" sz="300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Karnaugh</a:t>
            </a:r>
            <a:r>
              <a:rPr lang="en-US" sz="30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:</a:t>
            </a:r>
            <a:endParaRPr lang="en-US" sz="3000" dirty="0">
              <a:solidFill>
                <a:srgbClr val="00000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5CD692FF-F8E8-31B2-7122-C409840367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2" y="1808165"/>
          <a:ext cx="7883525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3136680" imgH="253800" progId="Equation.DSMT4">
                  <p:embed/>
                </p:oleObj>
              </mc:Choice>
              <mc:Fallback>
                <p:oleObj name="Equation" r:id="rId3" imgW="3136680" imgH="25380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5CD692FF-F8E8-31B2-7122-C409840367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2" y="1808165"/>
                        <a:ext cx="7883525" cy="5524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">
            <a:extLst>
              <a:ext uri="{FF2B5EF4-FFF2-40B4-BE49-F238E27FC236}">
                <a16:creationId xmlns:a16="http://schemas.microsoft.com/office/drawing/2014/main" id="{4F18015E-1BA1-9995-0B2C-7C108689A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2322059"/>
            <a:ext cx="9144000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533387" indent="-533387"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Bước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1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Biểu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diễn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logic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trên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ma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trận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Karnaugh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533387" indent="-533387"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Bước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2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Nhóm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tổ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hợp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xác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định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hội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tối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ưu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0E45F6-0B8A-DCD4-F6E1-A06A32237ED9}"/>
              </a:ext>
            </a:extLst>
          </p:cNvPr>
          <p:cNvGrpSpPr/>
          <p:nvPr/>
        </p:nvGrpSpPr>
        <p:grpSpPr>
          <a:xfrm>
            <a:off x="4765677" y="5918277"/>
            <a:ext cx="3855741" cy="755381"/>
            <a:chOff x="4038600" y="4663015"/>
            <a:chExt cx="3855741" cy="755380"/>
          </a:xfrm>
        </p:grpSpPr>
        <p:sp>
          <p:nvSpPr>
            <p:cNvPr id="12" name="Oval 5">
              <a:extLst>
                <a:ext uri="{FF2B5EF4-FFF2-40B4-BE49-F238E27FC236}">
                  <a16:creationId xmlns:a16="http://schemas.microsoft.com/office/drawing/2014/main" id="{B9090DB8-EC42-2126-EF98-B922C8706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4663015"/>
              <a:ext cx="1676400" cy="545047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just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FontTx/>
                <a:buChar char="-"/>
              </a:pPr>
              <a:endParaRPr lang="en-US" sz="30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13" name="Text Box 8" descr="Parchment">
              <a:extLst>
                <a:ext uri="{FF2B5EF4-FFF2-40B4-BE49-F238E27FC236}">
                  <a16:creationId xmlns:a16="http://schemas.microsoft.com/office/drawing/2014/main" id="{12E3C89E-5BD4-4657-53C5-76CBF3471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6475" y="5030788"/>
              <a:ext cx="397866" cy="38760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just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sz="300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a</a:t>
              </a:r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D71CDD35-6FA1-9094-2C2A-B7BA7FCD84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5259388"/>
              <a:ext cx="20574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30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endParaRPr>
            </a:p>
          </p:txBody>
        </p:sp>
      </p:grpSp>
      <p:grpSp>
        <p:nvGrpSpPr>
          <p:cNvPr id="15" name="Group 66">
            <a:extLst>
              <a:ext uri="{FF2B5EF4-FFF2-40B4-BE49-F238E27FC236}">
                <a16:creationId xmlns:a16="http://schemas.microsoft.com/office/drawing/2014/main" id="{38BECC75-6E82-2720-9964-E08612C2002C}"/>
              </a:ext>
            </a:extLst>
          </p:cNvPr>
          <p:cNvGrpSpPr>
            <a:grpSpLocks/>
          </p:cNvGrpSpPr>
          <p:nvPr/>
        </p:nvGrpSpPr>
        <p:grpSpPr bwMode="auto">
          <a:xfrm>
            <a:off x="6632575" y="4838242"/>
            <a:ext cx="2400300" cy="677861"/>
            <a:chOff x="3720" y="1968"/>
            <a:chExt cx="1512" cy="427"/>
          </a:xfrm>
        </p:grpSpPr>
        <p:sp>
          <p:nvSpPr>
            <p:cNvPr id="16" name="Oval 53">
              <a:extLst>
                <a:ext uri="{FF2B5EF4-FFF2-40B4-BE49-F238E27FC236}">
                  <a16:creationId xmlns:a16="http://schemas.microsoft.com/office/drawing/2014/main" id="{F6CA597C-AE91-E5A4-C058-CCB5A6C3C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0" y="2052"/>
              <a:ext cx="288" cy="343"/>
            </a:xfrm>
            <a:prstGeom prst="ellipse">
              <a:avLst/>
            </a:prstGeom>
            <a:noFill/>
            <a:ln w="25400" algn="ctr">
              <a:solidFill>
                <a:srgbClr val="0000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just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FontTx/>
                <a:buChar char="-"/>
              </a:pPr>
              <a:endParaRPr lang="en-US" sz="30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endParaRPr>
            </a:p>
          </p:txBody>
        </p:sp>
        <p:grpSp>
          <p:nvGrpSpPr>
            <p:cNvPr id="17" name="Group 58">
              <a:extLst>
                <a:ext uri="{FF2B5EF4-FFF2-40B4-BE49-F238E27FC236}">
                  <a16:creationId xmlns:a16="http://schemas.microsoft.com/office/drawing/2014/main" id="{26702667-74AC-8DC4-20D8-BF274B027B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1968"/>
              <a:ext cx="1248" cy="244"/>
              <a:chOff x="4896" y="2841"/>
              <a:chExt cx="802" cy="244"/>
            </a:xfrm>
          </p:grpSpPr>
          <p:sp>
            <p:nvSpPr>
              <p:cNvPr id="18" name="Text Box 59" descr="Parchment">
                <a:extLst>
                  <a:ext uri="{FF2B5EF4-FFF2-40B4-BE49-F238E27FC236}">
                    <a16:creationId xmlns:a16="http://schemas.microsoft.com/office/drawing/2014/main" id="{3D1F0107-437D-955C-88F0-61355A4450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62" y="2841"/>
                <a:ext cx="236" cy="24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 eaLnBrk="0" fontAlgn="base" hangingPunct="0">
                  <a:lnSpc>
                    <a:spcPct val="6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sz="3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19" name="Line 60">
                <a:extLst>
                  <a:ext uri="{FF2B5EF4-FFF2-40B4-BE49-F238E27FC236}">
                    <a16:creationId xmlns:a16="http://schemas.microsoft.com/office/drawing/2014/main" id="{F043CD9B-752E-518D-BA7B-8A92ED3469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976"/>
                <a:ext cx="57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00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</p:grp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6C0087-B8C5-953F-209E-F26796E516B2}"/>
              </a:ext>
            </a:extLst>
          </p:cNvPr>
          <p:cNvCxnSpPr/>
          <p:nvPr/>
        </p:nvCxnSpPr>
        <p:spPr>
          <a:xfrm>
            <a:off x="2735985" y="3665948"/>
            <a:ext cx="2057400" cy="1066800"/>
          </a:xfrm>
          <a:prstGeom prst="line">
            <a:avLst/>
          </a:prstGeom>
          <a:noFill/>
          <a:ln w="28575" cap="flat" cmpd="sng" algn="ctr">
            <a:solidFill>
              <a:srgbClr val="030904"/>
            </a:solidFill>
            <a:prstDash val="solid"/>
          </a:ln>
          <a:effectLst/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7CDD1BC-BA91-DD1C-09E2-ECD7FAB294CF}"/>
              </a:ext>
            </a:extLst>
          </p:cNvPr>
          <p:cNvGrpSpPr/>
          <p:nvPr/>
        </p:nvGrpSpPr>
        <p:grpSpPr>
          <a:xfrm>
            <a:off x="4384677" y="5217659"/>
            <a:ext cx="4945592" cy="990600"/>
            <a:chOff x="3657600" y="3962400"/>
            <a:chExt cx="4945592" cy="9906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97804F4-B962-EE95-5218-A81027EB3C35}"/>
                </a:ext>
              </a:extLst>
            </p:cNvPr>
            <p:cNvSpPr/>
            <p:nvPr/>
          </p:nvSpPr>
          <p:spPr>
            <a:xfrm>
              <a:off x="3719945" y="4066310"/>
              <a:ext cx="1066800" cy="838200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rgbClr val="5EC57D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000" kern="0">
                <a:solidFill>
                  <a:srgbClr val="1C5E29"/>
                </a:solidFill>
                <a:latin typeface="Verdana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86AF801-5502-A5EB-BE0D-72E5BBB24FB6}"/>
                </a:ext>
              </a:extLst>
            </p:cNvPr>
            <p:cNvSpPr/>
            <p:nvPr/>
          </p:nvSpPr>
          <p:spPr>
            <a:xfrm>
              <a:off x="3657600" y="4010890"/>
              <a:ext cx="304800" cy="9144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Verdana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E3BFA8F-BF03-1489-8493-46A6602B8BD1}"/>
                </a:ext>
              </a:extLst>
            </p:cNvPr>
            <p:cNvSpPr/>
            <p:nvPr/>
          </p:nvSpPr>
          <p:spPr>
            <a:xfrm>
              <a:off x="6691745" y="4052455"/>
              <a:ext cx="1066800" cy="838200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rgbClr val="5EC57D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000" kern="0">
                <a:solidFill>
                  <a:srgbClr val="1C5E29"/>
                </a:solidFill>
                <a:latin typeface="Verdana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4BDB57E-E453-AFA7-725F-5FB2FF560904}"/>
                </a:ext>
              </a:extLst>
            </p:cNvPr>
            <p:cNvSpPr/>
            <p:nvPr/>
          </p:nvSpPr>
          <p:spPr>
            <a:xfrm>
              <a:off x="7543800" y="3962400"/>
              <a:ext cx="304800" cy="9906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000" kern="0">
                <a:solidFill>
                  <a:srgbClr val="FFFFFF"/>
                </a:solidFill>
                <a:latin typeface="Verdana"/>
              </a:endParaRPr>
            </a:p>
          </p:txBody>
        </p:sp>
        <p:sp>
          <p:nvSpPr>
            <p:cNvPr id="26" name="Text Box 8" descr="Parchment">
              <a:extLst>
                <a:ext uri="{FF2B5EF4-FFF2-40B4-BE49-F238E27FC236}">
                  <a16:creationId xmlns:a16="http://schemas.microsoft.com/office/drawing/2014/main" id="{7F6550CA-1672-0B51-E0CF-8963E1A59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5326" y="4308765"/>
              <a:ext cx="397866" cy="38760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just" defTabSz="914377" eaLnBrk="0" fontAlgn="base" hangingPunct="0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3000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itchFamily="34" charset="0"/>
                </a:rPr>
                <a:t>b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DEAD9B1-64EF-A82B-E631-93EFC22A32A7}"/>
                </a:ext>
              </a:extLst>
            </p:cNvPr>
            <p:cNvCxnSpPr>
              <a:stCxn id="25" idx="1"/>
            </p:cNvCxnSpPr>
            <p:nvPr/>
          </p:nvCxnSpPr>
          <p:spPr>
            <a:xfrm rot="10800000" flipH="1">
              <a:off x="7543800" y="4457700"/>
              <a:ext cx="762000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3AA854">
                  <a:shade val="95000"/>
                  <a:satMod val="105000"/>
                </a:srgbClr>
              </a:solidFill>
              <a:prstDash val="solid"/>
              <a:tailEnd type="arrow"/>
            </a:ln>
            <a:effectLst/>
          </p:spPr>
        </p:cxnSp>
      </p:grpSp>
      <p:graphicFrame>
        <p:nvGraphicFramePr>
          <p:cNvPr id="28" name="Group 14">
            <a:extLst>
              <a:ext uri="{FF2B5EF4-FFF2-40B4-BE49-F238E27FC236}">
                <a16:creationId xmlns:a16="http://schemas.microsoft.com/office/drawing/2014/main" id="{87F1153E-2738-2CA6-9E24-86F7D10E20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620833"/>
              </p:ext>
            </p:extLst>
          </p:nvPr>
        </p:nvGraphicFramePr>
        <p:xfrm>
          <a:off x="2708278" y="3631748"/>
          <a:ext cx="5410203" cy="3048007"/>
        </p:xfrm>
        <a:graphic>
          <a:graphicData uri="http://schemas.openxmlformats.org/drawingml/2006/table">
            <a:tbl>
              <a:tblPr/>
              <a:tblGrid>
                <a:gridCol w="208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366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X</a:t>
                      </a:r>
                      <a:r>
                        <a:rPr kumimoji="0" lang="en-US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8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8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90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3090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2843F95-A122-A430-C189-53C9FB5B8775}"/>
              </a:ext>
            </a:extLst>
          </p:cNvPr>
          <p:cNvSpPr txBox="1"/>
          <p:nvPr/>
        </p:nvSpPr>
        <p:spPr>
          <a:xfrm>
            <a:off x="2369706" y="3291084"/>
            <a:ext cx="3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922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77"/>
            <a:ext cx="11761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1C585AC-8C4D-0C9F-D840-A141BE824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65560"/>
            <a:ext cx="1071628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Ví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dụ</a:t>
            </a:r>
            <a:r>
              <a:rPr lang="en-US" sz="2800" b="1" dirty="0">
                <a:solidFill>
                  <a:srgbClr val="030904"/>
                </a:solidFill>
                <a:latin typeface="Arial" panose="020B0604020202020204" pitchFamily="34" charset="0"/>
                <a:cs typeface="Arial" pitchFamily="34" charset="0"/>
              </a:rPr>
              <a:t> 1: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Tối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ưu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logic 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theo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mã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nhị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phân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300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trên</a:t>
            </a:r>
            <a:r>
              <a:rPr lang="en-US" sz="30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bảng </a:t>
            </a:r>
            <a:r>
              <a:rPr lang="en-US" sz="300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Karnaugh</a:t>
            </a:r>
            <a:r>
              <a:rPr lang="en-US" sz="300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:</a:t>
            </a:r>
            <a:endParaRPr lang="en-US" sz="3000" dirty="0">
              <a:solidFill>
                <a:srgbClr val="00000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5CD692FF-F8E8-31B2-7122-C409840367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2" y="1808165"/>
          <a:ext cx="7883525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3136680" imgH="253800" progId="Equation.DSMT4">
                  <p:embed/>
                </p:oleObj>
              </mc:Choice>
              <mc:Fallback>
                <p:oleObj name="Equation" r:id="rId3" imgW="3136680" imgH="25380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5CD692FF-F8E8-31B2-7122-C409840367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2" y="1808165"/>
                        <a:ext cx="7883525" cy="5524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">
            <a:extLst>
              <a:ext uri="{FF2B5EF4-FFF2-40B4-BE49-F238E27FC236}">
                <a16:creationId xmlns:a16="http://schemas.microsoft.com/office/drawing/2014/main" id="{1B427CE9-0CAD-3015-A10B-8D3ADE186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5481" y="2711127"/>
            <a:ext cx="9144000" cy="1378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533387" indent="-533387"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Bước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1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Biểu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diễn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logic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trên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ma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trận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Karnaugh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533387" indent="-533387"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Bước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2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Nhóm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tổ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hợp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biến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xác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định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hội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tối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ưu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533387" indent="-533387"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Bước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3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Rút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gọn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xác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định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phương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trình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logic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hàm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A52C11B3-B2D5-740E-AC48-EC83ED2830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194640"/>
              </p:ext>
            </p:extLst>
          </p:nvPr>
        </p:nvGraphicFramePr>
        <p:xfrm>
          <a:off x="2481782" y="4311323"/>
          <a:ext cx="7048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2349360" imgH="253800" progId="Equation.DSMT4">
                  <p:embed/>
                </p:oleObj>
              </mc:Choice>
              <mc:Fallback>
                <p:oleObj name="Equation" r:id="rId5" imgW="2349360" imgH="253800" progId="Equation.DSMT4">
                  <p:embed/>
                  <p:pic>
                    <p:nvPicPr>
                      <p:cNvPr id="849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782" y="4311323"/>
                        <a:ext cx="70485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940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281356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ĐẠI SỐ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74603" y="821080"/>
            <a:ext cx="11761484" cy="1559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Karnaugh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189" algn="just">
              <a:spcBef>
                <a:spcPts val="400"/>
              </a:spcBef>
              <a:spcAft>
                <a:spcPts val="400"/>
              </a:spcAft>
            </a:pPr>
            <a:r>
              <a:rPr lang="en-US" sz="2800" u="sng" dirty="0" err="1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sz="28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u="sng" err="1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sz="2800" u="sng">
                <a:latin typeface="Times New Roman" pitchFamily="18" charset="0"/>
                <a:cs typeface="Times New Roman" pitchFamily="18" charset="0"/>
              </a:rPr>
              <a:t> 2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Y =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f(X</a:t>
            </a:r>
            <a:r>
              <a:rPr lang="en-US" sz="3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,X</a:t>
            </a:r>
            <a:r>
              <a:rPr lang="en-US" sz="3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,X</a:t>
            </a:r>
            <a:r>
              <a:rPr lang="en-US" sz="3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,X</a:t>
            </a:r>
            <a:r>
              <a:rPr lang="en-US" sz="3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(1, 5, 6, 7, 13, 15)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(BCD).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178B4EF-8BD4-4300-BA42-865603B8BF16}"/>
              </a:ext>
            </a:extLst>
          </p:cNvPr>
          <p:cNvGrpSpPr/>
          <p:nvPr/>
        </p:nvGrpSpPr>
        <p:grpSpPr>
          <a:xfrm>
            <a:off x="6000456" y="2514602"/>
            <a:ext cx="4658023" cy="1171145"/>
            <a:chOff x="4662054" y="2819616"/>
            <a:chExt cx="5100271" cy="1101220"/>
          </a:xfrm>
        </p:grpSpPr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4A88CCF6-84BA-4B99-84B7-CB1B1A7C68DD}"/>
                </a:ext>
              </a:extLst>
            </p:cNvPr>
            <p:cNvSpPr/>
            <p:nvPr/>
          </p:nvSpPr>
          <p:spPr>
            <a:xfrm>
              <a:off x="4662054" y="3195782"/>
              <a:ext cx="3186546" cy="725054"/>
            </a:xfrm>
            <a:custGeom>
              <a:avLst/>
              <a:gdLst>
                <a:gd name="connsiteX0" fmla="*/ 0 w 3186546"/>
                <a:gd name="connsiteY0" fmla="*/ 725054 h 725054"/>
                <a:gd name="connsiteX1" fmla="*/ 2410691 w 3186546"/>
                <a:gd name="connsiteY1" fmla="*/ 60036 h 725054"/>
                <a:gd name="connsiteX2" fmla="*/ 2770909 w 3186546"/>
                <a:gd name="connsiteY2" fmla="*/ 364836 h 725054"/>
                <a:gd name="connsiteX3" fmla="*/ 3186546 w 3186546"/>
                <a:gd name="connsiteY3" fmla="*/ 101600 h 725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6546" h="725054">
                  <a:moveTo>
                    <a:pt x="0" y="725054"/>
                  </a:moveTo>
                  <a:cubicBezTo>
                    <a:pt x="974436" y="422563"/>
                    <a:pt x="1948873" y="120072"/>
                    <a:pt x="2410691" y="60036"/>
                  </a:cubicBezTo>
                  <a:cubicBezTo>
                    <a:pt x="2872509" y="0"/>
                    <a:pt x="2641600" y="357909"/>
                    <a:pt x="2770909" y="364836"/>
                  </a:cubicBezTo>
                  <a:cubicBezTo>
                    <a:pt x="2900218" y="371763"/>
                    <a:pt x="3043382" y="236681"/>
                    <a:pt x="3186546" y="101600"/>
                  </a:cubicBezTo>
                </a:path>
              </a:pathLst>
            </a:custGeom>
            <a:ln w="28575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Object 14">
              <a:extLst>
                <a:ext uri="{FF2B5EF4-FFF2-40B4-BE49-F238E27FC236}">
                  <a16:creationId xmlns:a16="http://schemas.microsoft.com/office/drawing/2014/main" id="{1F294DDF-FD08-4D0B-B82A-AFC17062E4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63369" y="2819616"/>
            <a:ext cx="1998956" cy="962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6" name="Equation" r:id="rId3" imgW="596880" imgH="253800" progId="Equation.DSMT4">
                    <p:embed/>
                  </p:oleObj>
                </mc:Choice>
                <mc:Fallback>
                  <p:oleObj name="Equation" r:id="rId3" imgW="596880" imgH="253800" progId="Equation.DSMT4">
                    <p:embed/>
                    <p:pic>
                      <p:nvPicPr>
                        <p:cNvPr id="15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3369" y="2819616"/>
                          <a:ext cx="1998956" cy="96266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D988F8B-0454-47D0-865A-CCC0B18182D9}"/>
              </a:ext>
            </a:extLst>
          </p:cNvPr>
          <p:cNvGrpSpPr/>
          <p:nvPr/>
        </p:nvGrpSpPr>
        <p:grpSpPr>
          <a:xfrm>
            <a:off x="6873217" y="4753653"/>
            <a:ext cx="4203495" cy="924845"/>
            <a:chOff x="5638800" y="4835525"/>
            <a:chExt cx="4312260" cy="869625"/>
          </a:xfrm>
        </p:grpSpPr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F4E510A5-817E-4835-998E-6BB4529331F8}"/>
                </a:ext>
              </a:extLst>
            </p:cNvPr>
            <p:cNvSpPr/>
            <p:nvPr/>
          </p:nvSpPr>
          <p:spPr>
            <a:xfrm>
              <a:off x="5638800" y="5181600"/>
              <a:ext cx="2514600" cy="228600"/>
            </a:xfrm>
            <a:custGeom>
              <a:avLst/>
              <a:gdLst>
                <a:gd name="connsiteX0" fmla="*/ 0 w 3186546"/>
                <a:gd name="connsiteY0" fmla="*/ 725054 h 725054"/>
                <a:gd name="connsiteX1" fmla="*/ 2410691 w 3186546"/>
                <a:gd name="connsiteY1" fmla="*/ 60036 h 725054"/>
                <a:gd name="connsiteX2" fmla="*/ 2770909 w 3186546"/>
                <a:gd name="connsiteY2" fmla="*/ 364836 h 725054"/>
                <a:gd name="connsiteX3" fmla="*/ 3186546 w 3186546"/>
                <a:gd name="connsiteY3" fmla="*/ 101600 h 725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6546" h="725054">
                  <a:moveTo>
                    <a:pt x="0" y="725054"/>
                  </a:moveTo>
                  <a:cubicBezTo>
                    <a:pt x="974436" y="422563"/>
                    <a:pt x="1948873" y="120072"/>
                    <a:pt x="2410691" y="60036"/>
                  </a:cubicBezTo>
                  <a:cubicBezTo>
                    <a:pt x="2872509" y="0"/>
                    <a:pt x="2641600" y="357909"/>
                    <a:pt x="2770909" y="364836"/>
                  </a:cubicBezTo>
                  <a:cubicBezTo>
                    <a:pt x="2900218" y="371763"/>
                    <a:pt x="3043382" y="236681"/>
                    <a:pt x="3186546" y="101600"/>
                  </a:cubicBezTo>
                </a:path>
              </a:pathLst>
            </a:custGeom>
            <a:ln w="28575">
              <a:solidFill>
                <a:srgbClr val="FFC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BB0816A5-5CC8-4F3A-84D2-C01EABF07E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53400" y="4835525"/>
            <a:ext cx="1797660" cy="869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7" name="Equation" r:id="rId5" imgW="393480" imgH="228600" progId="Equation.DSMT4">
                    <p:embed/>
                  </p:oleObj>
                </mc:Choice>
                <mc:Fallback>
                  <p:oleObj name="Equation" r:id="rId5" imgW="393480" imgH="228600" progId="Equation.DSMT4">
                    <p:embed/>
                    <p:pic>
                      <p:nvPicPr>
                        <p:cNvPr id="22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3400" y="4835525"/>
                          <a:ext cx="1797660" cy="8696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60402B3-22CA-4F17-A631-B649221597A7}"/>
              </a:ext>
            </a:extLst>
          </p:cNvPr>
          <p:cNvGrpSpPr/>
          <p:nvPr/>
        </p:nvGrpSpPr>
        <p:grpSpPr>
          <a:xfrm>
            <a:off x="7872787" y="3640131"/>
            <a:ext cx="3295675" cy="988107"/>
            <a:chOff x="6553200" y="3831775"/>
            <a:chExt cx="3555861" cy="929110"/>
          </a:xfrm>
        </p:grpSpPr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49DA61F7-2174-4407-9651-144D1811818A}"/>
                </a:ext>
              </a:extLst>
            </p:cNvPr>
            <p:cNvSpPr/>
            <p:nvPr/>
          </p:nvSpPr>
          <p:spPr>
            <a:xfrm>
              <a:off x="6553200" y="4191000"/>
              <a:ext cx="1447800" cy="381000"/>
            </a:xfrm>
            <a:custGeom>
              <a:avLst/>
              <a:gdLst>
                <a:gd name="connsiteX0" fmla="*/ 0 w 3186546"/>
                <a:gd name="connsiteY0" fmla="*/ 725054 h 725054"/>
                <a:gd name="connsiteX1" fmla="*/ 2410691 w 3186546"/>
                <a:gd name="connsiteY1" fmla="*/ 60036 h 725054"/>
                <a:gd name="connsiteX2" fmla="*/ 2770909 w 3186546"/>
                <a:gd name="connsiteY2" fmla="*/ 364836 h 725054"/>
                <a:gd name="connsiteX3" fmla="*/ 3186546 w 3186546"/>
                <a:gd name="connsiteY3" fmla="*/ 101600 h 725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6546" h="725054">
                  <a:moveTo>
                    <a:pt x="0" y="725054"/>
                  </a:moveTo>
                  <a:cubicBezTo>
                    <a:pt x="974436" y="422563"/>
                    <a:pt x="1948873" y="120072"/>
                    <a:pt x="2410691" y="60036"/>
                  </a:cubicBezTo>
                  <a:cubicBezTo>
                    <a:pt x="2872509" y="0"/>
                    <a:pt x="2641600" y="357909"/>
                    <a:pt x="2770909" y="364836"/>
                  </a:cubicBezTo>
                  <a:cubicBezTo>
                    <a:pt x="2900218" y="371763"/>
                    <a:pt x="3043382" y="236681"/>
                    <a:pt x="3186546" y="101600"/>
                  </a:cubicBezTo>
                </a:path>
              </a:pathLst>
            </a:custGeom>
            <a:ln w="28575">
              <a:solidFill>
                <a:srgbClr val="92D05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7" name="Object 26">
              <a:extLst>
                <a:ext uri="{FF2B5EF4-FFF2-40B4-BE49-F238E27FC236}">
                  <a16:creationId xmlns:a16="http://schemas.microsoft.com/office/drawing/2014/main" id="{690662B3-F7AF-495C-898C-D9DAE1FCE7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45568" y="3831775"/>
            <a:ext cx="1963493" cy="929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8" name="Equation" r:id="rId7" imgW="545760" imgH="253800" progId="">
                    <p:embed/>
                  </p:oleObj>
                </mc:Choice>
                <mc:Fallback>
                  <p:oleObj name="Equation" r:id="rId7" imgW="545760" imgH="253800" progId="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5568" y="3831775"/>
                          <a:ext cx="1963493" cy="92911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4A8460A-F592-4B60-A715-9BD292E99B1F}"/>
              </a:ext>
            </a:extLst>
          </p:cNvPr>
          <p:cNvSpPr/>
          <p:nvPr/>
        </p:nvSpPr>
        <p:spPr>
          <a:xfrm>
            <a:off x="5212557" y="4310743"/>
            <a:ext cx="1759023" cy="153784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85FE7D8-9AC7-42D4-B52C-E486F2958FA1}"/>
              </a:ext>
            </a:extLst>
          </p:cNvPr>
          <p:cNvSpPr/>
          <p:nvPr/>
        </p:nvSpPr>
        <p:spPr>
          <a:xfrm>
            <a:off x="4893066" y="3532325"/>
            <a:ext cx="1194923" cy="153784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ounded Rectangle 31">
            <a:extLst>
              <a:ext uri="{FF2B5EF4-FFF2-40B4-BE49-F238E27FC236}">
                <a16:creationId xmlns:a16="http://schemas.microsoft.com/office/drawing/2014/main" id="{CE8A39AB-2AB8-4FFD-8293-08316E46E66E}"/>
              </a:ext>
            </a:extLst>
          </p:cNvPr>
          <p:cNvSpPr/>
          <p:nvPr/>
        </p:nvSpPr>
        <p:spPr>
          <a:xfrm>
            <a:off x="6221978" y="4467861"/>
            <a:ext cx="2061197" cy="60230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BC8C6E3-54C5-4469-8343-E40C476928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930" y="2302496"/>
            <a:ext cx="8220948" cy="424746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D57D302-7277-8016-C160-1E41E21E5D69}"/>
              </a:ext>
            </a:extLst>
          </p:cNvPr>
          <p:cNvCxnSpPr>
            <a:cxnSpLocks/>
          </p:cNvCxnSpPr>
          <p:nvPr/>
        </p:nvCxnSpPr>
        <p:spPr>
          <a:xfrm>
            <a:off x="511232" y="2316994"/>
            <a:ext cx="3110155" cy="15759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87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337628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– </a:t>
            </a:r>
            <a:r>
              <a:rPr lang="en-US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 NGHIÊN CỨ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B2024-AD60-418A-B911-779CAD8BF350}"/>
              </a:ext>
            </a:extLst>
          </p:cNvPr>
          <p:cNvSpPr/>
          <p:nvPr/>
        </p:nvSpPr>
        <p:spPr>
          <a:xfrm>
            <a:off x="1288743" y="1060267"/>
            <a:ext cx="8839200" cy="556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vi-VN" sz="28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Rút gọn hàm logic theo mã nhị phân</a:t>
            </a:r>
          </a:p>
          <a:p>
            <a:pPr algn="just"/>
            <a:endParaRPr lang="vi-VN" sz="280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 algn="just">
              <a:buAutoNum type="arabicPeriod"/>
            </a:pPr>
            <a:endParaRPr lang="vi-VN" sz="280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vi-VN" sz="280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vi-VN" sz="280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 algn="just">
              <a:buAutoNum type="arabicPeriod"/>
            </a:pPr>
            <a:endParaRPr lang="vi-VN" sz="280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vi-VN" sz="2800" dirty="0">
                <a:solidFill>
                  <a:srgbClr val="0309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Rút gọn hàm logic theo mã GRAY</a:t>
            </a:r>
          </a:p>
          <a:p>
            <a:pPr algn="just"/>
            <a:endParaRPr lang="vi-VN" sz="280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vi-VN" sz="280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 algn="just">
              <a:buAutoNum type="arabicPeriod"/>
            </a:pPr>
            <a:endParaRPr lang="vi-VN" sz="280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vi-VN" sz="280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vi-VN" sz="2800" dirty="0">
              <a:solidFill>
                <a:srgbClr val="03090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939EA86-E852-4D6F-99BB-0F4CA9E72E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560869"/>
              </p:ext>
            </p:extLst>
          </p:nvPr>
        </p:nvGraphicFramePr>
        <p:xfrm>
          <a:off x="1517342" y="5294399"/>
          <a:ext cx="8591551" cy="851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3276600" imgH="292100" progId="Equation.DSMT4">
                  <p:embed/>
                </p:oleObj>
              </mc:Choice>
              <mc:Fallback>
                <p:oleObj name="Equation" r:id="rId3" imgW="3276600" imgH="2921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8E510F93-DBB8-43B6-A8E9-A896B3DAB8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342" y="5294399"/>
                        <a:ext cx="8591551" cy="8517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AF7F5E41-D531-4081-A789-B8D428EEB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745" y="180892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2B3C24A0-89B0-4D85-9945-243F2446AA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808724"/>
              </p:ext>
            </p:extLst>
          </p:nvPr>
        </p:nvGraphicFramePr>
        <p:xfrm>
          <a:off x="1517342" y="1804813"/>
          <a:ext cx="8515351" cy="903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3987800" imgH="292100" progId="Equation.DSMT4">
                  <p:embed/>
                </p:oleObj>
              </mc:Choice>
              <mc:Fallback>
                <p:oleObj name="Equation" r:id="rId5" imgW="3987800" imgH="2921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CFE5EEE-D774-47E5-B3FB-D6752555D8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342" y="1804813"/>
                        <a:ext cx="8515351" cy="9031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313805D-DF7A-424A-B233-260B736C33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969955"/>
              </p:ext>
            </p:extLst>
          </p:nvPr>
        </p:nvGraphicFramePr>
        <p:xfrm>
          <a:off x="1593545" y="4295250"/>
          <a:ext cx="8391525" cy="831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2984500" imgH="254000" progId="Equation.DSMT4">
                  <p:embed/>
                </p:oleObj>
              </mc:Choice>
              <mc:Fallback>
                <p:oleObj name="Equation" r:id="rId7" imgW="2984500" imgH="2540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E17BADD2-23B0-4CFA-BF81-C33857D5F6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545" y="4295250"/>
                        <a:ext cx="8391525" cy="8316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1440155D-BE02-4733-90AA-1A2EFA9726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90659"/>
              </p:ext>
            </p:extLst>
          </p:nvPr>
        </p:nvGraphicFramePr>
        <p:xfrm>
          <a:off x="1441143" y="2807389"/>
          <a:ext cx="8661400" cy="795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3466800" imgH="291960" progId="Equation.DSMT4">
                  <p:embed/>
                </p:oleObj>
              </mc:Choice>
              <mc:Fallback>
                <p:oleObj name="Equation" r:id="rId9" imgW="3466800" imgH="29196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09A8653E-2082-4FB2-B29D-F1648805D2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143" y="2807389"/>
                        <a:ext cx="8661400" cy="7956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9">
            <a:extLst>
              <a:ext uri="{FF2B5EF4-FFF2-40B4-BE49-F238E27FC236}">
                <a16:creationId xmlns:a16="http://schemas.microsoft.com/office/drawing/2014/main" id="{523272CA-DBF8-4A35-A30A-22934D624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4944" y="2905782"/>
            <a:ext cx="18449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en-US" sz="2800" dirty="0">
                <a:solidFill>
                  <a:srgbClr val="03090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N=5,15</a:t>
            </a:r>
            <a:r>
              <a:rPr lang="en-US" altLang="en-US" sz="2800" dirty="0">
                <a:solidFill>
                  <a:srgbClr val="030904"/>
                </a:solidFill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411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31/03/2026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7" y="337628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– </a:t>
            </a:r>
            <a:r>
              <a:rPr lang="en-US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 NGHIÊN CỨ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4BB3C9C-A7DF-9B21-E74F-53EB94DE6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1" y="922401"/>
            <a:ext cx="11206151" cy="4860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89535" rIns="0" bIns="0">
            <a:spAutoFit/>
          </a:bodyPr>
          <a:lstStyle>
            <a:lvl1pPr marL="12700">
              <a:tabLst>
                <a:tab pos="2841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87325" indent="-174625">
              <a:tabLst>
                <a:tab pos="2841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tabLst>
                <a:tab pos="2841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tabLst>
                <a:tab pos="2841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tabLst>
                <a:tab pos="2841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41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41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41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41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ru-RU" altLang="en-US" sz="3000"/>
              <a:t>Hướng dẫn nghiên cứu:</a:t>
            </a:r>
          </a:p>
          <a:p>
            <a:pPr>
              <a:spcBef>
                <a:spcPts val="600"/>
              </a:spcBef>
              <a:buSzPct val="100000"/>
              <a:buFont typeface="Calibri" panose="020F0502020204030204" pitchFamily="34" charset="0"/>
              <a:buAutoNum type="arabicPeriod"/>
            </a:pPr>
            <a:r>
              <a:rPr lang="ru-RU" altLang="en-US" sz="3000"/>
              <a:t>Khái niệm, phân loại mạch tổ hợp?</a:t>
            </a:r>
          </a:p>
          <a:p>
            <a:pPr>
              <a:spcBef>
                <a:spcPts val="600"/>
              </a:spcBef>
              <a:buSzPct val="100000"/>
              <a:buFont typeface="Calibri" panose="020F0502020204030204" pitchFamily="34" charset="0"/>
              <a:buAutoNum type="arabicPeriod"/>
            </a:pPr>
            <a:r>
              <a:rPr lang="ru-RU" altLang="en-US" sz="3000"/>
              <a:t>Các bước thiết kế mạch tổ hợp (4 bước)?</a:t>
            </a:r>
          </a:p>
          <a:p>
            <a:pPr>
              <a:spcBef>
                <a:spcPts val="600"/>
              </a:spcBef>
              <a:buSzPct val="100000"/>
              <a:buFont typeface="Calibri" panose="020F0502020204030204" pitchFamily="34" charset="0"/>
              <a:buAutoNum type="arabicPeriod"/>
            </a:pPr>
            <a:r>
              <a:rPr lang="ru-RU" altLang="en-US" sz="3000"/>
              <a:t>Vận dụng thiết kế các mạch dưới theo các bước trình bày ở mục 2:</a:t>
            </a:r>
          </a:p>
          <a:p>
            <a:pPr lvl="1">
              <a:spcBef>
                <a:spcPts val="600"/>
              </a:spcBef>
              <a:buSzPct val="100000"/>
              <a:buFont typeface="Calibri" panose="020F0502020204030204" pitchFamily="34" charset="0"/>
              <a:buChar char="-"/>
            </a:pPr>
            <a:r>
              <a:rPr lang="ru-RU" altLang="en-US" sz="3000"/>
              <a:t>Thiết kế mạch chuyển mã BCD sang mã GRAY (3 bits)?</a:t>
            </a:r>
          </a:p>
          <a:p>
            <a:pPr lvl="1">
              <a:spcBef>
                <a:spcPts val="600"/>
              </a:spcBef>
              <a:buSzPct val="100000"/>
              <a:buFont typeface="Calibri" panose="020F0502020204030204" pitchFamily="34" charset="0"/>
              <a:buChar char="-"/>
            </a:pPr>
            <a:r>
              <a:rPr lang="ru-RU" altLang="en-US" sz="3000"/>
              <a:t>Thiết kế mạch giải mã nhị phân sang số thập phân (3 đầu vào, 8 đầu</a:t>
            </a:r>
            <a:r>
              <a:rPr lang="en-US" altLang="en-US" sz="3000"/>
              <a:t> </a:t>
            </a:r>
            <a:r>
              <a:rPr lang="ru-RU" altLang="en-US" sz="3000"/>
              <a:t>ra)</a:t>
            </a:r>
          </a:p>
          <a:p>
            <a:pPr lvl="1">
              <a:spcBef>
                <a:spcPts val="600"/>
              </a:spcBef>
              <a:buSzPct val="100000"/>
              <a:buFont typeface="Calibri" panose="020F0502020204030204" pitchFamily="34" charset="0"/>
              <a:buChar char="-"/>
            </a:pPr>
            <a:r>
              <a:rPr lang="ru-RU" altLang="en-US" sz="3000"/>
              <a:t>Thiết kế mạch giải mã BCD sang led 7 đoạn anode chung.</a:t>
            </a:r>
            <a:endParaRPr lang="en-US" altLang="en-US" sz="3000"/>
          </a:p>
          <a:p>
            <a:pPr marL="12700" lvl="1" indent="0">
              <a:spcBef>
                <a:spcPts val="600"/>
              </a:spcBef>
              <a:buSzPct val="100000"/>
            </a:pPr>
            <a:endParaRPr lang="en-US" altLang="en-US" sz="3000"/>
          </a:p>
          <a:p>
            <a:pPr marL="12700" lvl="1" indent="0" algn="ctr">
              <a:spcBef>
                <a:spcPts val="600"/>
              </a:spcBef>
              <a:buSzPct val="100000"/>
            </a:pPr>
            <a:r>
              <a:rPr lang="en-US" altLang="en-US" sz="3000">
                <a:highlight>
                  <a:srgbClr val="FFFF00"/>
                </a:highlight>
              </a:rPr>
              <a:t>Câu 3 chia 3 nhóm, mỗi nhóm chuẩn bị một nội dung</a:t>
            </a:r>
            <a:endParaRPr lang="ru-RU" altLang="en-US" sz="30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0415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F4B34464-3881-4075-9696-FA32171A656A}"/>
  <p:tag name="ISPRING_RESOURCE_FOLDER" val="D:\KT_Xung_So\KTXS_VXL_46t\Bai_2\Bai_2\"/>
  <p:tag name="ISPRING_PRESENTATION_PATH" val="D:\KT_Xung_So\KTXS_VXL_46t\Bai_2\Bai_2.pptx"/>
  <p:tag name="ISPRING_PROJECT_VERSION" val="9.3"/>
  <p:tag name="ISPRING_PROJECT_FOLDER_UPDATED" val="1"/>
  <p:tag name="ISPRING_SCREEN_RECS_UPDATED" val="D:\KT_Xung_So\KTXS_VXL_46t\Bai_2\Bai_2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hvhq</Template>
  <TotalTime>1562</TotalTime>
  <Words>3037</Words>
  <Application>Microsoft Office PowerPoint</Application>
  <PresentationFormat>Widescreen</PresentationFormat>
  <Paragraphs>773</Paragraphs>
  <Slides>39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Symbol</vt:lpstr>
      <vt:lpstr>Tahoma</vt:lpstr>
      <vt:lpstr>Times New Roman</vt:lpstr>
      <vt:lpstr>Verdana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277</cp:revision>
  <dcterms:created xsi:type="dcterms:W3CDTF">2021-03-31T07:22:55Z</dcterms:created>
  <dcterms:modified xsi:type="dcterms:W3CDTF">2026-03-31T11:08:49Z</dcterms:modified>
</cp:coreProperties>
</file>