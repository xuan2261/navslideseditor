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301" r:id="rId3"/>
    <p:sldId id="286" r:id="rId4"/>
    <p:sldId id="287" r:id="rId5"/>
    <p:sldId id="290" r:id="rId6"/>
    <p:sldId id="310" r:id="rId7"/>
    <p:sldId id="291" r:id="rId8"/>
    <p:sldId id="398" r:id="rId9"/>
    <p:sldId id="399" r:id="rId10"/>
    <p:sldId id="311" r:id="rId11"/>
    <p:sldId id="400" r:id="rId12"/>
    <p:sldId id="401" r:id="rId13"/>
    <p:sldId id="402" r:id="rId14"/>
    <p:sldId id="312" r:id="rId15"/>
    <p:sldId id="403" r:id="rId16"/>
    <p:sldId id="404" r:id="rId17"/>
    <p:sldId id="313" r:id="rId18"/>
    <p:sldId id="314" r:id="rId19"/>
    <p:sldId id="315" r:id="rId20"/>
    <p:sldId id="409" r:id="rId21"/>
    <p:sldId id="410" r:id="rId22"/>
    <p:sldId id="411" r:id="rId23"/>
    <p:sldId id="417" r:id="rId24"/>
    <p:sldId id="316" r:id="rId25"/>
    <p:sldId id="407" r:id="rId26"/>
    <p:sldId id="412" r:id="rId27"/>
    <p:sldId id="414" r:id="rId28"/>
    <p:sldId id="413" r:id="rId29"/>
    <p:sldId id="415" r:id="rId30"/>
    <p:sldId id="416" r:id="rId31"/>
    <p:sldId id="425" r:id="rId32"/>
    <p:sldId id="426" r:id="rId33"/>
    <p:sldId id="408" r:id="rId34"/>
    <p:sldId id="427" r:id="rId35"/>
    <p:sldId id="419" r:id="rId36"/>
    <p:sldId id="420" r:id="rId37"/>
    <p:sldId id="421" r:id="rId38"/>
    <p:sldId id="418" r:id="rId39"/>
    <p:sldId id="423" r:id="rId40"/>
    <p:sldId id="405" r:id="rId41"/>
    <p:sldId id="406" r:id="rId42"/>
  </p:sldIdLst>
  <p:sldSz cx="12192000" cy="6858000"/>
  <p:notesSz cx="6858000" cy="91440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25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AC464-B52B-446E-BEE0-6DDC832EFC1A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3109B-C0C9-4B10-88EF-6B1D6579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2750B71-8D8A-4FD1-ACEB-1564990CD2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2869"/>
            <a:ext cx="1022465" cy="2168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69F8C1F-8FD6-4673-8C56-0F60DFEB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7382" y="6622867"/>
            <a:ext cx="474617" cy="20406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43AE65-149B-47F7-B155-458B2D08FBA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2E060C60-6A06-2427-B6B2-01C1D2CC99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9387" y="81228"/>
            <a:ext cx="11844545" cy="106777"/>
          </a:xfrm>
          <a:prstGeom prst="rect">
            <a:avLst/>
          </a:prstGeom>
          <a:solidFill>
            <a:srgbClr val="005AA9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3" name="Line 14">
            <a:extLst>
              <a:ext uri="{FF2B5EF4-FFF2-40B4-BE49-F238E27FC236}">
                <a16:creationId xmlns:a16="http://schemas.microsoft.com/office/drawing/2014/main" id="{738AF944-44BB-0D6C-85B8-5DF7697A833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7" y="211403"/>
            <a:ext cx="11844545" cy="0"/>
          </a:xfrm>
          <a:prstGeom prst="line">
            <a:avLst/>
          </a:prstGeom>
          <a:noFill/>
          <a:ln w="152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579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8299-2088-4332-BDC4-C33E97DB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A272-3022-4197-90A8-037179942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A7CDC-8654-4A05-9148-34D4E53E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B58A-55CE-4238-91AF-302BFEE815C6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C121B-8345-4F96-AAE9-C0141E55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2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EDC2-91D2-4435-BFF6-2AD39D43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F3E0C-6717-477B-B0E4-6D3263B5D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0667-7AAF-4897-A278-FB57AF8F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6C0B-BB57-4929-AF2C-7EB155309351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B2808-D5BA-44FE-9A11-DA405284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2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CCA9-E899-4CC3-87AE-D8FC3410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4E01A-8199-4BEB-A8B5-DBEEE553F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F0B58-4975-4C7C-8582-7BD1929D7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F18B1-192B-4F77-8AF8-F4AADA6C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E750-C446-42AE-8FE4-ACB17EC7C632}" type="datetime1">
              <a:rPr lang="en-US" smtClean="0"/>
              <a:t>31/03/2026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05309-2DD6-4410-9725-48576439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9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DD56-FFC7-473F-BBDA-4863FE0A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2C960-7332-4D48-9399-EBB8A2701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7765A-E518-4B8F-99D3-0BD50CFB0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84805-DDC0-49C7-840C-9D764C6BC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F4D634-28CE-4B13-BC06-0F1FA71A9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01B9D-1478-414F-9C41-01873E86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339C-5B76-4E06-B5D4-735AA1C3A129}" type="datetime1">
              <a:rPr lang="en-US" smtClean="0"/>
              <a:t>31/03/2026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FA2FE1-B80C-4973-B7FB-EDBEA717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2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48CB-F16C-4ED8-BAA0-39C4126F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05DED-F69B-4049-AAB4-434F1D6BA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864-EA12-484F-BCC4-B23B2C3F1129}" type="datetime1">
              <a:rPr lang="en-US" smtClean="0"/>
              <a:t>31/03/2026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18D1A-B11E-4662-8B35-C3C53F4E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5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F402E-AC34-463E-B401-C05CB1E1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C397-7433-4B51-BCB4-7D00112A59A5}" type="datetime1">
              <a:rPr lang="en-US" smtClean="0"/>
              <a:t>31/03/2026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DC410-1F9F-4726-8FC5-7788B8FE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3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3B8C-3647-47E8-AB25-0438ACF9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E9865-53C4-4E20-AFA6-F14A8192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227FD-3F6D-4629-AB82-28529D6F1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45499-6C72-496B-9383-DB684FB4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BD39A-4B79-483D-9D9A-500CE626C690}" type="datetime1">
              <a:rPr lang="en-US" smtClean="0"/>
              <a:t>31/03/2026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EE258-2F9B-4F8B-8609-96A4E889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21C7-C55C-4EDB-9778-8860E7EE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24B8A-BE53-4AED-8775-C1A288477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B5911-2563-44F5-967C-6B31408A2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3FD5B-863E-4C5F-9276-6C675278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A8E25-002A-4E98-BB2A-01FB36D76154}" type="datetime1">
              <a:rPr lang="en-US" smtClean="0"/>
              <a:t>31/03/2026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137B4-42AE-4A85-874F-1A8B68BC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6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D7E4-F532-486B-A5D3-F415F754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61515-3A72-42B5-8BD9-897927B7E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EA63F-8CDE-42AD-8454-B5BBBF12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330F-7983-4560-A246-40FEC314E2D2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36A9E-902E-470A-9DA8-202AF391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5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D6D3A-1407-425E-8E92-0A63D8588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EABB4-D3CC-4726-90B8-55919C3AF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65C08-22A7-4A1A-A0C9-A0B6814E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DC28-D2E6-4010-B36E-6D7C8CD4A344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D7961-58B8-412D-BEAF-3E61B4E5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7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8C41E3-CC2B-471B-8C2F-35BCAC61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8D17E-5C7C-4B3C-A257-4B221632B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6B5E0-629F-464F-8BCA-AEB25DAC0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3270F-8B37-4C67-9C88-427EE729FD2E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41DEA-D031-4596-8A0A-924195302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3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20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2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4743343-206A-4803-8D31-2FE97E8BECF2}"/>
              </a:ext>
            </a:extLst>
          </p:cNvPr>
          <p:cNvGrpSpPr/>
          <p:nvPr/>
        </p:nvGrpSpPr>
        <p:grpSpPr>
          <a:xfrm>
            <a:off x="0" y="1"/>
            <a:ext cx="12192000" cy="6857999"/>
            <a:chOff x="0" y="1"/>
            <a:chExt cx="12192000" cy="68579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748F3A-6B06-44D1-9A78-AB743A76DDE8}"/>
                </a:ext>
              </a:extLst>
            </p:cNvPr>
            <p:cNvSpPr/>
            <p:nvPr/>
          </p:nvSpPr>
          <p:spPr>
            <a:xfrm>
              <a:off x="0" y="1"/>
              <a:ext cx="12192000" cy="35169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HỌC VIỆN HẢI QUÂN – KHOA KỸ THUẬT CƠ SỞ – BỘ MÔN KỸ THUẬT XUNG SỐ - VI XỬ LÝ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5CEBB23-C7AA-4CD9-BDCA-4BEA6276C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65761"/>
              <a:ext cx="12192000" cy="6492239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07139C2-4ACA-4375-9971-C58EF102ABFA}"/>
              </a:ext>
            </a:extLst>
          </p:cNvPr>
          <p:cNvSpPr txBox="1"/>
          <p:nvPr/>
        </p:nvSpPr>
        <p:spPr>
          <a:xfrm>
            <a:off x="1515912" y="3105443"/>
            <a:ext cx="7928774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HỌC PHẦN</a:t>
            </a:r>
          </a:p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KỸ THUẬT XUNG SỐ - VI XỬ LÝ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5CAA1B-1734-4714-A6C3-179494BC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0339FC4-FEBC-44F2-91AB-3E70432D17BF}" type="datetime1">
              <a:rPr lang="en-US" smtClean="0"/>
              <a:t>31/03/2026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73AC6DB-A6F5-4BCC-BC61-385B78A6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43AE65-149B-47F7-B155-458B2D08FB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7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TRA BÀI CŨ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33644" y="1347609"/>
            <a:ext cx="11924712" cy="88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6616" marR="0">
              <a:lnSpc>
                <a:spcPts val="3087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3200" b="1">
                <a:solidFill>
                  <a:srgbClr val="000000"/>
                </a:solidFill>
                <a:latin typeface="VVQNOC+URW DIN SemiCond Bold"/>
                <a:cs typeface="VVQNOC+URW DIN SemiCond Bold"/>
              </a:rPr>
              <a:t>Câu 1:</a:t>
            </a:r>
            <a:r>
              <a:rPr lang="vi-VN" sz="3200" b="1" spc="13">
                <a:solidFill>
                  <a:srgbClr val="000000"/>
                </a:solidFill>
                <a:latin typeface="VVQNOC+URW DIN SemiCond Bold"/>
                <a:cs typeface="VVQNOC+URW DIN SemiCond Bold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Mạch</a:t>
            </a:r>
            <a:r>
              <a:rPr lang="vi-VN" sz="3200" spc="-1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hạn</a:t>
            </a:r>
            <a:r>
              <a:rPr lang="vi-VN" sz="3200" spc="-1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biên</a:t>
            </a:r>
            <a:r>
              <a:rPr lang="vi-VN" sz="3200" spc="19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dưới</a:t>
            </a:r>
            <a:r>
              <a:rPr lang="vi-VN" sz="3200" spc="-1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đây</a:t>
            </a:r>
            <a:r>
              <a:rPr lang="vi-VN" sz="3200" spc="-16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thuộc</a:t>
            </a:r>
            <a:r>
              <a:rPr lang="vi-VN" sz="3200" spc="-1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loại</a:t>
            </a:r>
            <a:r>
              <a:rPr lang="vi-VN" sz="3200" spc="-17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nào? Phân tích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hoạt</a:t>
            </a:r>
            <a:r>
              <a:rPr lang="vi-VN" sz="3200" spc="-1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động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 </a:t>
            </a:r>
            <a:r>
              <a:rPr lang="vi-VN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và</a:t>
            </a:r>
            <a:r>
              <a:rPr lang="vi-VN" sz="3200" spc="-10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vẽ</a:t>
            </a:r>
            <a:r>
              <a:rPr lang="vi-VN" sz="3200" spc="-17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giản</a:t>
            </a:r>
            <a:r>
              <a:rPr lang="vi-VN" sz="3200" spc="-14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đồ</a:t>
            </a:r>
            <a:r>
              <a:rPr lang="vi-VN" sz="3200" spc="-1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tín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hiệu</a:t>
            </a:r>
            <a:r>
              <a:rPr lang="vi-VN" sz="3200" spc="-1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vào/ra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của</a:t>
            </a:r>
            <a:r>
              <a:rPr lang="vi-VN" sz="3200" spc="-1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mạch</a:t>
            </a:r>
            <a:r>
              <a:rPr lang="vi-VN" sz="3200" spc="-1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hạn</a:t>
            </a:r>
            <a:r>
              <a:rPr lang="vi-VN" sz="3200" spc="-1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vi-VN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biên</a:t>
            </a:r>
            <a:r>
              <a:rPr lang="vi-VN" sz="3200" spc="11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vi-VN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sau?</a:t>
            </a:r>
            <a:endParaRPr lang="vi-VN" sz="3200" dirty="0">
              <a:solidFill>
                <a:srgbClr val="000000"/>
              </a:solidFill>
              <a:latin typeface="VGLHGD+URW DIN SemiCond"/>
              <a:cs typeface="VGLHGD+URW DIN SemiCon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380A8-AD1D-F486-BA73-8FDD4A3925B4}"/>
              </a:ext>
            </a:extLst>
          </p:cNvPr>
          <p:cNvSpPr txBox="1"/>
          <p:nvPr/>
        </p:nvSpPr>
        <p:spPr>
          <a:xfrm>
            <a:off x="267286" y="4975194"/>
            <a:ext cx="11421235" cy="88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6616" marR="0">
              <a:lnSpc>
                <a:spcPts val="30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000000"/>
                </a:solidFill>
                <a:latin typeface="VVQNOC+URW DIN SemiCond Bold"/>
                <a:cs typeface="VVQNOC+URW DIN SemiCond Bold"/>
              </a:rPr>
              <a:t>Câu</a:t>
            </a:r>
            <a:r>
              <a:rPr lang="en-US" sz="3200" b="1" spc="39">
                <a:solidFill>
                  <a:srgbClr val="000000"/>
                </a:solidFill>
                <a:latin typeface="VVQNOC+URW DIN SemiCond Bold"/>
                <a:cs typeface="VVQNOC+URW DIN SemiCond Bold"/>
              </a:rPr>
              <a:t> </a:t>
            </a:r>
            <a:r>
              <a:rPr lang="en-US" sz="3200" b="1">
                <a:solidFill>
                  <a:srgbClr val="000000"/>
                </a:solidFill>
                <a:latin typeface="VVQNOC+URW DIN SemiCond Bold"/>
                <a:cs typeface="VVQNOC+URW DIN SemiCond Bold"/>
              </a:rPr>
              <a:t>2:</a:t>
            </a:r>
            <a:r>
              <a:rPr lang="en-US" sz="3200" b="1" spc="61">
                <a:solidFill>
                  <a:srgbClr val="000000"/>
                </a:solidFill>
                <a:latin typeface="VVQNOC+URW DIN SemiCond Bold"/>
                <a:cs typeface="VVQNOC+URW DIN SemiCond Bold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Mạch</a:t>
            </a:r>
            <a:r>
              <a:rPr lang="en-US" sz="3200" spc="-1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dao</a:t>
            </a:r>
            <a:r>
              <a:rPr lang="en-US" sz="3200" spc="64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động</a:t>
            </a:r>
            <a:r>
              <a:rPr lang="en-US" sz="3200" spc="-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đa</a:t>
            </a:r>
            <a:r>
              <a:rPr lang="en-US" sz="3200" spc="-1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hài</a:t>
            </a:r>
            <a:r>
              <a:rPr lang="en-US" sz="3200" spc="50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có</a:t>
            </a:r>
            <a:r>
              <a:rPr lang="en-US" sz="3200" spc="45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thể</a:t>
            </a:r>
            <a:r>
              <a:rPr lang="en-US" sz="3200" spc="-1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chia</a:t>
            </a:r>
            <a:r>
              <a:rPr lang="en-US" sz="3200" spc="35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thành</a:t>
            </a:r>
            <a:r>
              <a:rPr lang="en-US" sz="3200" spc="51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mấy</a:t>
            </a:r>
            <a:r>
              <a:rPr lang="en-US" sz="3200" spc="-1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loại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?</a:t>
            </a:r>
            <a:r>
              <a:rPr lang="en-US" sz="3200" spc="48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Đặc</a:t>
            </a:r>
            <a:r>
              <a:rPr lang="en-US" sz="3200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điểm của</a:t>
            </a:r>
            <a:r>
              <a:rPr lang="en-US" sz="3200" spc="-1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từng</a:t>
            </a:r>
            <a:r>
              <a:rPr lang="en-US" sz="3200" spc="-1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loại?</a:t>
            </a:r>
            <a:endParaRPr lang="en-US" sz="3200" dirty="0">
              <a:solidFill>
                <a:srgbClr val="000000"/>
              </a:solidFill>
              <a:latin typeface="CLKGOJ+URW DIN SemiCond"/>
              <a:cs typeface="CLKGOJ+URW DIN SemiCond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3AE970-BDAA-CF7F-B2BE-844D55C90E3F}"/>
              </a:ext>
            </a:extLst>
          </p:cNvPr>
          <p:cNvGrpSpPr/>
          <p:nvPr/>
        </p:nvGrpSpPr>
        <p:grpSpPr>
          <a:xfrm>
            <a:off x="4333112" y="2465544"/>
            <a:ext cx="3289581" cy="2279136"/>
            <a:chOff x="3183646" y="1584864"/>
            <a:chExt cx="2334741" cy="1783385"/>
          </a:xfrm>
        </p:grpSpPr>
        <p:sp>
          <p:nvSpPr>
            <p:cNvPr id="8" name="object 1">
              <a:extLst>
                <a:ext uri="{FF2B5EF4-FFF2-40B4-BE49-F238E27FC236}">
                  <a16:creationId xmlns:a16="http://schemas.microsoft.com/office/drawing/2014/main" id="{C1B24D98-EED2-0FA9-EC3C-988D4B4EC54B}"/>
                </a:ext>
              </a:extLst>
            </p:cNvPr>
            <p:cNvSpPr/>
            <p:nvPr/>
          </p:nvSpPr>
          <p:spPr>
            <a:xfrm>
              <a:off x="3200701" y="1755680"/>
              <a:ext cx="2128014" cy="161256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CFA9975A-59E0-1357-A8BA-07B6E5A17802}"/>
                </a:ext>
              </a:extLst>
            </p:cNvPr>
            <p:cNvSpPr txBox="1"/>
            <p:nvPr/>
          </p:nvSpPr>
          <p:spPr>
            <a:xfrm>
              <a:off x="3970731" y="1584864"/>
              <a:ext cx="284134" cy="18062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18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i="1" dirty="0">
                  <a:solidFill>
                    <a:srgbClr val="000000"/>
                  </a:solidFill>
                  <a:latin typeface="Times New Roman"/>
                  <a:cs typeface="Times New Roman"/>
                </a:rPr>
                <a:t>R</a:t>
              </a: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6EB977F6-7A2E-0053-1318-6291E58DABEA}"/>
                </a:ext>
              </a:extLst>
            </p:cNvPr>
            <p:cNvSpPr txBox="1"/>
            <p:nvPr/>
          </p:nvSpPr>
          <p:spPr>
            <a:xfrm>
              <a:off x="4425757" y="2119485"/>
              <a:ext cx="308143" cy="18062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18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i="1" dirty="0">
                  <a:solidFill>
                    <a:srgbClr val="000000"/>
                  </a:solidFill>
                  <a:latin typeface="Times New Roman"/>
                  <a:cs typeface="Times New Roman"/>
                </a:rPr>
                <a:t>D</a:t>
              </a: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D8B06BAA-4180-1431-3C62-B535DACEAAD3}"/>
                </a:ext>
              </a:extLst>
            </p:cNvPr>
            <p:cNvSpPr txBox="1"/>
            <p:nvPr/>
          </p:nvSpPr>
          <p:spPr>
            <a:xfrm>
              <a:off x="3183646" y="2259010"/>
              <a:ext cx="277868" cy="19065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18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i="1" spc="-19" dirty="0">
                  <a:solidFill>
                    <a:srgbClr val="000000"/>
                  </a:solidFill>
                  <a:latin typeface="Times New Roman"/>
                  <a:cs typeface="Times New Roman"/>
                </a:rPr>
                <a:t>v</a:t>
              </a:r>
              <a:r>
                <a:rPr i="1" baseline="-25782" dirty="0">
                  <a:solidFill>
                    <a:srgbClr val="000000"/>
                  </a:solidFill>
                  <a:latin typeface="Times New Roman"/>
                  <a:cs typeface="Times New Roman"/>
                </a:rPr>
                <a:t>i</a:t>
              </a: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416F7E14-18D1-A4BE-2580-CDA150CCFC69}"/>
                </a:ext>
              </a:extLst>
            </p:cNvPr>
            <p:cNvSpPr txBox="1"/>
            <p:nvPr/>
          </p:nvSpPr>
          <p:spPr>
            <a:xfrm>
              <a:off x="5210689" y="2258994"/>
              <a:ext cx="307698" cy="19065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18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i="1" dirty="0">
                  <a:solidFill>
                    <a:srgbClr val="000000"/>
                  </a:solidFill>
                  <a:latin typeface="Times New Roman"/>
                  <a:cs typeface="Times New Roman"/>
                </a:rPr>
                <a:t>v</a:t>
              </a:r>
              <a:r>
                <a:rPr i="1" baseline="-25782" dirty="0">
                  <a:solidFill>
                    <a:srgbClr val="000000"/>
                  </a:solidFill>
                  <a:latin typeface="Times New Roman"/>
                  <a:cs typeface="Times New Roman"/>
                </a:rPr>
                <a:t>o</a:t>
              </a: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2BDB559B-3436-9B0F-05D4-B4451CF0127B}"/>
                </a:ext>
              </a:extLst>
            </p:cNvPr>
            <p:cNvSpPr txBox="1"/>
            <p:nvPr/>
          </p:nvSpPr>
          <p:spPr>
            <a:xfrm>
              <a:off x="4382538" y="2491469"/>
              <a:ext cx="327549" cy="19065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18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i="1" spc="44">
                  <a:solidFill>
                    <a:srgbClr val="000000"/>
                  </a:solidFill>
                  <a:latin typeface="Times New Roman"/>
                  <a:cs typeface="Times New Roman"/>
                </a:rPr>
                <a:t>E</a:t>
              </a:r>
              <a:endParaRPr sz="1600" i="1" baseline="-25782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508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6" y="1856935"/>
            <a:ext cx="1176148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MỤC ĐÍCH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1.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2.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3.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7688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41380" y="840439"/>
            <a:ext cx="11924712" cy="5868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YÊU CẦU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457200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CĐR1.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CĐR2.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CĐR3.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CĐR4.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131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1425914"/>
            <a:ext cx="11924712" cy="410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  <a:p>
            <a:pPr indent="457200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pPr indent="457200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US" sz="3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3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THỜI GIAN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78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6" y="834379"/>
            <a:ext cx="11924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B21C663-1D79-451A-A5A4-31262D3F5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790154"/>
              </p:ext>
            </p:extLst>
          </p:nvPr>
        </p:nvGraphicFramePr>
        <p:xfrm>
          <a:off x="368404" y="1387405"/>
          <a:ext cx="11481664" cy="530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457">
                  <a:extLst>
                    <a:ext uri="{9D8B030D-6E8A-4147-A177-3AD203B41FA5}">
                      <a16:colId xmlns:a16="http://schemas.microsoft.com/office/drawing/2014/main" val="1041984891"/>
                    </a:ext>
                  </a:extLst>
                </a:gridCol>
                <a:gridCol w="4516207">
                  <a:extLst>
                    <a:ext uri="{9D8B030D-6E8A-4147-A177-3AD203B41FA5}">
                      <a16:colId xmlns:a16="http://schemas.microsoft.com/office/drawing/2014/main" val="2326625739"/>
                    </a:ext>
                  </a:extLst>
                </a:gridCol>
              </a:tblGrid>
              <a:tr h="2385401">
                <a:tc>
                  <a:txBody>
                    <a:bodyPr/>
                    <a:lstStyle/>
                    <a:p>
                      <a:r>
                        <a:rPr lang="it-IT" sz="2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2.1. Đại số logic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Các khái niệm, tính chất của đại số logic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Các phần tử logic cơ bản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Biểu diễn hàm logic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Rút gọn hàm logic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Bài tập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2.2. Mạch tổ hợp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Khái niệm về mạch tổ hợp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Mạch giải mã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Mạch dồn kênh, phân kênh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Bài tập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280216"/>
                  </a:ext>
                </a:extLst>
              </a:tr>
              <a:tr h="2385401">
                <a:tc>
                  <a:txBody>
                    <a:bodyPr/>
                    <a:lstStyle/>
                    <a:p>
                      <a:r>
                        <a:rPr lang="it-IT" sz="2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2.3. Hệ tuần tự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Khái niệm hệ tuần tự, các phần tử Flip-Flop cơ bản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Bộ đếm đồng bộ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Bộ đếm không đồng bộ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Bài tập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2.4. Thực hành khảo sát mạch số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1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51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5560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/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3200" b="1" i="1" dirty="0" err="1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đếm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:	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+ 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Hệ đếm không theo vị trí: hệ đếm la mã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+ 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Hệ đếm theo vị trí: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đếm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nhị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bát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thập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thập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lục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vi-VN" sz="3200" i="1" dirty="0">
                <a:latin typeface="Times New Roman" pitchFamily="18" charset="0"/>
                <a:cs typeface="Times New Roman" pitchFamily="18" charset="0"/>
              </a:rPr>
              <a:t>Đặc trưng của hệ đếm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				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X: con số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N: cơ số</a:t>
            </a:r>
          </a:p>
          <a:p>
            <a:pPr algn="just"/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i: vị trí thứ i trong con số</a:t>
            </a:r>
          </a:p>
          <a:p>
            <a:pPr algn="just"/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	  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			     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: trọng số của chữ số trong con số</a:t>
            </a:r>
          </a:p>
          <a:p>
            <a:pPr algn="just"/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			     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: chữ số tại vị trí thứ i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E77038B-8FC9-476E-A2B2-F8CBE781FB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636963"/>
              </p:ext>
            </p:extLst>
          </p:nvPr>
        </p:nvGraphicFramePr>
        <p:xfrm>
          <a:off x="961125" y="4457186"/>
          <a:ext cx="2485460" cy="129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952200" imgH="444240" progId="Equation.DSMT4">
                  <p:embed/>
                </p:oleObj>
              </mc:Choice>
              <mc:Fallback>
                <p:oleObj name="Equation" r:id="rId3" imgW="952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1125" y="4457186"/>
                        <a:ext cx="2485460" cy="129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F075E00-F05A-49A9-BAEB-F03384A9D9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686248"/>
              </p:ext>
            </p:extLst>
          </p:nvPr>
        </p:nvGraphicFramePr>
        <p:xfrm>
          <a:off x="4854914" y="5962933"/>
          <a:ext cx="434536" cy="47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203040" imgH="241200" progId="Equation.DSMT4">
                  <p:embed/>
                </p:oleObj>
              </mc:Choice>
              <mc:Fallback>
                <p:oleObj name="Equation" r:id="rId5" imgW="203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4914" y="5962933"/>
                        <a:ext cx="434536" cy="47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35D7223-B7FA-4D2F-9F72-8577BE69DA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994637"/>
              </p:ext>
            </p:extLst>
          </p:nvPr>
        </p:nvGraphicFramePr>
        <p:xfrm>
          <a:off x="4814629" y="5427446"/>
          <a:ext cx="502956" cy="47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228600" imgH="215640" progId="Equation.DSMT4">
                  <p:embed/>
                </p:oleObj>
              </mc:Choice>
              <mc:Fallback>
                <p:oleObj name="Equation" r:id="rId7" imgW="228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14629" y="5427446"/>
                        <a:ext cx="502956" cy="47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32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C0AFC4F-3CFA-4749-955F-714FC73C5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6886"/>
              </p:ext>
            </p:extLst>
          </p:nvPr>
        </p:nvGraphicFramePr>
        <p:xfrm>
          <a:off x="789373" y="1632916"/>
          <a:ext cx="10582922" cy="4652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8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5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91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Tên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hệ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đếm</a:t>
                      </a:r>
                      <a:endParaRPr lang="en-US" sz="28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sz="2800" baseline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aseline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ký</a:t>
                      </a:r>
                      <a:r>
                        <a:rPr lang="en-US" sz="2800" baseline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aseline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hiệu</a:t>
                      </a:r>
                      <a:endParaRPr lang="en-US" sz="280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Cơ</a:t>
                      </a:r>
                      <a:r>
                        <a:rPr lang="en-US" sz="280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sz="2800" baseline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(B)</a:t>
                      </a:r>
                      <a:endParaRPr lang="en-US" sz="280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895">
                <a:tc>
                  <a:txBody>
                    <a:bodyPr/>
                    <a:lstStyle/>
                    <a:p>
                      <a:pPr algn="ctr"/>
                      <a:r>
                        <a:rPr lang="en-US" sz="2800" b="1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Hệ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1" baseline="0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thập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1" baseline="0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phân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(Decimal)</a:t>
                      </a:r>
                      <a:endParaRPr lang="en-US" sz="2800" b="1">
                        <a:solidFill>
                          <a:srgbClr val="0000CC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0, 1, 2, 3, 4, 5, 6, 7, 8, 9</a:t>
                      </a: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885">
                <a:tc>
                  <a:txBody>
                    <a:bodyPr/>
                    <a:lstStyle/>
                    <a:p>
                      <a:pPr algn="ctr"/>
                      <a:r>
                        <a:rPr lang="en-US" sz="2800" b="1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Hệ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1" baseline="0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nhị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1" baseline="0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phân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(Binary)</a:t>
                      </a:r>
                      <a:endParaRPr lang="en-US" sz="2800" b="1">
                        <a:solidFill>
                          <a:srgbClr val="0000CC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0,1</a:t>
                      </a: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885">
                <a:tc>
                  <a:txBody>
                    <a:bodyPr/>
                    <a:lstStyle/>
                    <a:p>
                      <a:pPr algn="ctr"/>
                      <a:r>
                        <a:rPr lang="en-US" sz="2800" b="1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Hệ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1" baseline="0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bát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1" baseline="0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phân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(Octal)</a:t>
                      </a:r>
                      <a:endParaRPr lang="en-US" sz="2800" b="1">
                        <a:solidFill>
                          <a:srgbClr val="0000CC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0, 1, 2, 3, 4,</a:t>
                      </a:r>
                      <a:r>
                        <a:rPr lang="en-US" sz="2800" b="1" baseline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5, 6, 7</a:t>
                      </a:r>
                      <a:endParaRPr lang="en-US" sz="28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895">
                <a:tc>
                  <a:txBody>
                    <a:bodyPr/>
                    <a:lstStyle/>
                    <a:p>
                      <a:pPr algn="ctr"/>
                      <a:r>
                        <a:rPr lang="en-US" sz="2800" b="1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Hệ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1" baseline="0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thập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1" baseline="0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lục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1" baseline="0" err="1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phân</a:t>
                      </a:r>
                      <a:r>
                        <a:rPr lang="en-US" sz="2800" b="1" baseline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(Hexadecimal)</a:t>
                      </a:r>
                      <a:endParaRPr lang="en-US" sz="2800" b="1">
                        <a:solidFill>
                          <a:srgbClr val="0000CC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</a:t>
                      </a:r>
                      <a:r>
                        <a:rPr lang="en-US" sz="2800" b="1" baseline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1, 2, 3, 4, 5, 6, 7, 8, 9, A, B, C, D, E, F</a:t>
                      </a:r>
                      <a:endParaRPr lang="en-US" sz="28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692" marB="4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48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Group 540">
            <a:extLst>
              <a:ext uri="{FF2B5EF4-FFF2-40B4-BE49-F238E27FC236}">
                <a16:creationId xmlns:a16="http://schemas.microsoft.com/office/drawing/2014/main" id="{09FE12D3-8990-404D-8EEA-ABC39DD0B0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7297213"/>
              </p:ext>
            </p:extLst>
          </p:nvPr>
        </p:nvGraphicFramePr>
        <p:xfrm>
          <a:off x="514906" y="929407"/>
          <a:ext cx="11105966" cy="5730410"/>
        </p:xfrm>
        <a:graphic>
          <a:graphicData uri="http://schemas.openxmlformats.org/drawingml/2006/table">
            <a:tbl>
              <a:tblPr/>
              <a:tblGrid>
                <a:gridCol w="2776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4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6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8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 ĐẾM 10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 ĐẾM 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 ĐẾM 8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 ĐẾM 16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0000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0010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0011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0100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0101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0110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0111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1000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1001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1010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1011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1100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 1101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D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1110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1111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F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mpd="sng">
                      <a:solidFill>
                        <a:srgbClr val="B90000"/>
                      </a:solidFill>
                    </a:lnL>
                    <a:lnR w="12700" cmpd="sng">
                      <a:solidFill>
                        <a:srgbClr val="B90000"/>
                      </a:solidFill>
                    </a:lnR>
                    <a:lnT w="12700" cmpd="sng">
                      <a:solidFill>
                        <a:srgbClr val="B90000"/>
                      </a:solidFill>
                    </a:lnT>
                    <a:lnB w="12700" cmpd="sng">
                      <a:solidFill>
                        <a:srgbClr val="B9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83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6" y="702522"/>
            <a:ext cx="11924712" cy="2113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/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vi-VN" sz="3200" i="1" dirty="0">
                <a:latin typeface="Times New Roman" pitchFamily="18" charset="0"/>
                <a:cs typeface="Times New Roman" pitchFamily="18" charset="0"/>
              </a:rPr>
              <a:t>Quan hệ </a:t>
            </a:r>
            <a:endParaRPr lang="en-US" sz="3200" i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vi-VN" sz="3200" i="1" dirty="0">
                <a:latin typeface="Times New Roman" pitchFamily="18" charset="0"/>
                <a:cs typeface="Times New Roman" pitchFamily="18" charset="0"/>
              </a:rPr>
              <a:t>giữa các </a:t>
            </a:r>
            <a:endParaRPr lang="en-US" sz="3200" i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vi-VN" sz="3200" i="1" dirty="0">
                <a:latin typeface="Times New Roman" pitchFamily="18" charset="0"/>
                <a:cs typeface="Times New Roman" pitchFamily="18" charset="0"/>
              </a:rPr>
              <a:t>hệ đếm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21CC742-359E-49E3-A2A7-F97E6E1C0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847483"/>
              </p:ext>
            </p:extLst>
          </p:nvPr>
        </p:nvGraphicFramePr>
        <p:xfrm>
          <a:off x="3048000" y="1200877"/>
          <a:ext cx="9144000" cy="5638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1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4479"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Chuyển</a:t>
                      </a:r>
                      <a:r>
                        <a:rPr lang="vi-VN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đổi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80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580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580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8580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Multiply 5">
            <a:extLst>
              <a:ext uri="{FF2B5EF4-FFF2-40B4-BE49-F238E27FC236}">
                <a16:creationId xmlns:a16="http://schemas.microsoft.com/office/drawing/2014/main" id="{3428B2BD-42D5-4A38-B0E7-994869BC638E}"/>
              </a:ext>
            </a:extLst>
          </p:cNvPr>
          <p:cNvSpPr/>
          <p:nvPr/>
        </p:nvSpPr>
        <p:spPr>
          <a:xfrm>
            <a:off x="4648200" y="1886678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y 7">
            <a:extLst>
              <a:ext uri="{FF2B5EF4-FFF2-40B4-BE49-F238E27FC236}">
                <a16:creationId xmlns:a16="http://schemas.microsoft.com/office/drawing/2014/main" id="{0E862D81-FDED-41D1-AB79-A29C52A2750B}"/>
              </a:ext>
            </a:extLst>
          </p:cNvPr>
          <p:cNvSpPr/>
          <p:nvPr/>
        </p:nvSpPr>
        <p:spPr>
          <a:xfrm>
            <a:off x="10720455" y="5712034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y 8">
            <a:extLst>
              <a:ext uri="{FF2B5EF4-FFF2-40B4-BE49-F238E27FC236}">
                <a16:creationId xmlns:a16="http://schemas.microsoft.com/office/drawing/2014/main" id="{A5A86E16-E40E-433E-BB62-ECA8230502D1}"/>
              </a:ext>
            </a:extLst>
          </p:cNvPr>
          <p:cNvSpPr/>
          <p:nvPr/>
        </p:nvSpPr>
        <p:spPr>
          <a:xfrm>
            <a:off x="8965812" y="4377109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y 9">
            <a:extLst>
              <a:ext uri="{FF2B5EF4-FFF2-40B4-BE49-F238E27FC236}">
                <a16:creationId xmlns:a16="http://schemas.microsoft.com/office/drawing/2014/main" id="{5FCCFC7B-E523-493A-ABA8-EDA1E4B711A4}"/>
              </a:ext>
            </a:extLst>
          </p:cNvPr>
          <p:cNvSpPr/>
          <p:nvPr/>
        </p:nvSpPr>
        <p:spPr>
          <a:xfrm>
            <a:off x="6870313" y="3205346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BA49FF-93D4-425C-A7DD-F9E5C7C3D830}"/>
              </a:ext>
            </a:extLst>
          </p:cNvPr>
          <p:cNvSpPr/>
          <p:nvPr/>
        </p:nvSpPr>
        <p:spPr>
          <a:xfrm>
            <a:off x="6513341" y="1928882"/>
            <a:ext cx="1957169" cy="114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vi-V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Từ phải qua trái (2) </a:t>
            </a:r>
            <a:r>
              <a:rPr lang="vi-V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3 bit nhóm thành 1 nhóm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6857FD-FE61-460B-A397-42E33088FC7F}"/>
              </a:ext>
            </a:extLst>
          </p:cNvPr>
          <p:cNvSpPr/>
          <p:nvPr/>
        </p:nvSpPr>
        <p:spPr>
          <a:xfrm>
            <a:off x="8508612" y="1928882"/>
            <a:ext cx="18288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vi-V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Tổng của tích chữ số (2) với 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EA5A6-6FAA-410A-9CA7-EC7E662D0948}"/>
              </a:ext>
            </a:extLst>
          </p:cNvPr>
          <p:cNvSpPr/>
          <p:nvPr/>
        </p:nvSpPr>
        <p:spPr>
          <a:xfrm>
            <a:off x="6375011" y="4383427"/>
            <a:ext cx="2095500" cy="12192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r>
              <a:rPr lang="vi-VN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(10) : 8 </a:t>
            </a:r>
            <a:r>
              <a:rPr lang="vi-VN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lấy số dư.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Xếp </a:t>
            </a:r>
            <a:r>
              <a:rPr lang="vi-VN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LSB đến MSB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57D253-854A-4976-A52C-50995F8773C8}"/>
              </a:ext>
            </a:extLst>
          </p:cNvPr>
          <p:cNvSpPr/>
          <p:nvPr/>
        </p:nvSpPr>
        <p:spPr>
          <a:xfrm>
            <a:off x="6392594" y="5657122"/>
            <a:ext cx="2063631" cy="114856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vi-VN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(16) </a:t>
            </a:r>
            <a:r>
              <a:rPr lang="vi-VN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(2) (8)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D2213F-BA79-4470-A2AC-1DA1C5A70A8B}"/>
              </a:ext>
            </a:extLst>
          </p:cNvPr>
          <p:cNvSpPr/>
          <p:nvPr/>
        </p:nvSpPr>
        <p:spPr>
          <a:xfrm>
            <a:off x="8508612" y="3140746"/>
            <a:ext cx="1828800" cy="1238257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chữ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vi-V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A6D1F5-FA0F-4109-B096-7E7FAC7F95AA}"/>
              </a:ext>
            </a:extLst>
          </p:cNvPr>
          <p:cNvSpPr/>
          <p:nvPr/>
        </p:nvSpPr>
        <p:spPr>
          <a:xfrm>
            <a:off x="8508612" y="5597223"/>
            <a:ext cx="1870196" cy="1208459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chữ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vi-V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AF8C1F-1F44-49A2-8D11-7DDE2FADD56C}"/>
              </a:ext>
            </a:extLst>
          </p:cNvPr>
          <p:cNvSpPr/>
          <p:nvPr/>
        </p:nvSpPr>
        <p:spPr>
          <a:xfrm>
            <a:off x="10409986" y="1928882"/>
            <a:ext cx="1832425" cy="114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vi-V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Từ phải qua trái (2) </a:t>
            </a:r>
            <a:r>
              <a:rPr lang="vi-V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4 bit nhóm thành 1 nhóm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6EF28F-27C2-49E7-AE65-42B51C4FE38F}"/>
              </a:ext>
            </a:extLst>
          </p:cNvPr>
          <p:cNvSpPr/>
          <p:nvPr/>
        </p:nvSpPr>
        <p:spPr>
          <a:xfrm>
            <a:off x="10409986" y="3128816"/>
            <a:ext cx="1832425" cy="120652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(8) </a:t>
            </a:r>
            <a:r>
              <a:rPr lang="vi-V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(2) (16)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535BD2-1867-4849-9112-5D1A953A970E}"/>
              </a:ext>
            </a:extLst>
          </p:cNvPr>
          <p:cNvSpPr/>
          <p:nvPr/>
        </p:nvSpPr>
        <p:spPr>
          <a:xfrm>
            <a:off x="10337411" y="4443482"/>
            <a:ext cx="1806523" cy="11430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vi-V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(10) : 16 lấy số dư </a:t>
            </a:r>
            <a:r>
              <a:rPr lang="vi-V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chuyển sang cơ số 16 theo bảng mã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3DD2D3-2F56-4B6E-829F-B65C1B6F4E42}"/>
              </a:ext>
            </a:extLst>
          </p:cNvPr>
          <p:cNvSpPr/>
          <p:nvPr/>
        </p:nvSpPr>
        <p:spPr>
          <a:xfrm>
            <a:off x="4009291" y="3113157"/>
            <a:ext cx="2504049" cy="1196954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vi-V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Thay các chữ số (8) bằng con số (2)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AA32F1-E7FE-47B3-9CC2-29CA989B4298}"/>
              </a:ext>
            </a:extLst>
          </p:cNvPr>
          <p:cNvSpPr/>
          <p:nvPr/>
        </p:nvSpPr>
        <p:spPr>
          <a:xfrm>
            <a:off x="4051496" y="4372541"/>
            <a:ext cx="2289520" cy="122215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vi-V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(10)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vi-V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lấy số dư.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Xếp </a:t>
            </a:r>
            <a:r>
              <a:rPr lang="vi-V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LSB đến MSB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589EE8-E573-4B7D-B9AB-D450EED6094F}"/>
              </a:ext>
            </a:extLst>
          </p:cNvPr>
          <p:cNvSpPr/>
          <p:nvPr/>
        </p:nvSpPr>
        <p:spPr>
          <a:xfrm>
            <a:off x="4051495" y="5657122"/>
            <a:ext cx="2307103" cy="1148559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vi-V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Thay các chữ số (16) bằng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 bít </a:t>
            </a:r>
            <a:r>
              <a:rPr lang="vi-V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(2)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" name="Picture 3">
            <a:extLst>
              <a:ext uri="{FF2B5EF4-FFF2-40B4-BE49-F238E27FC236}">
                <a16:creationId xmlns:a16="http://schemas.microsoft.com/office/drawing/2014/main" id="{CFFC8712-A4F7-4F50-9202-B065B9B79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331" y="2625731"/>
            <a:ext cx="334881" cy="41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EA298629-FE5B-4CD2-AEDD-8E805B023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6539" y="3897640"/>
            <a:ext cx="429866" cy="449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5">
            <a:extLst>
              <a:ext uri="{FF2B5EF4-FFF2-40B4-BE49-F238E27FC236}">
                <a16:creationId xmlns:a16="http://schemas.microsoft.com/office/drawing/2014/main" id="{6415B360-8A5A-4801-9C8F-B59460303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2538" y="6339489"/>
            <a:ext cx="462793" cy="433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076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6" y="702522"/>
            <a:ext cx="11924712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/>
            <a:r>
              <a:rPr lang="en-US" sz="3200" i="1">
                <a:latin typeface="Times New Roman" pitchFamily="18" charset="0"/>
                <a:cs typeface="Times New Roman" pitchFamily="18" charset="0"/>
              </a:rPr>
              <a:t>* Ví dụ chuyển đổi giữa các hệ đếm:</a:t>
            </a:r>
            <a:endParaRPr lang="vi-VN" sz="32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7F400C9-3CEC-449A-9C84-AB54531D6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88" y="1831036"/>
            <a:ext cx="86106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1pPr>
            <a:lvl2pPr marL="742950" indent="-28575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2pPr>
            <a:lvl3pPr marL="11430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3pPr>
            <a:lvl4pPr marL="16002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4pPr>
            <a:lvl5pPr marL="20574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</a:rPr>
              <a:t>      </a:t>
            </a:r>
            <a:r>
              <a:rPr lang="en-US" altLang="en-US" sz="2600" dirty="0" err="1">
                <a:solidFill>
                  <a:srgbClr val="0000CC"/>
                </a:solidFill>
                <a:latin typeface="Calibri" panose="020F0502020204030204" pitchFamily="34" charset="0"/>
              </a:rPr>
              <a:t>Ví</a:t>
            </a: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600" dirty="0" err="1">
                <a:solidFill>
                  <a:srgbClr val="0000CC"/>
                </a:solidFill>
                <a:latin typeface="Calibri" panose="020F0502020204030204" pitchFamily="34" charset="0"/>
              </a:rPr>
              <a:t>dụ</a:t>
            </a: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</a:rPr>
              <a:t>: 1011</a:t>
            </a:r>
            <a:r>
              <a:rPr lang="en-US" altLang="en-US" sz="2600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(2)</a:t>
            </a: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</a:rPr>
              <a:t> = 1.2</a:t>
            </a:r>
            <a:r>
              <a:rPr lang="en-US" altLang="en-US" sz="2600" baseline="30000" dirty="0">
                <a:solidFill>
                  <a:srgbClr val="0000CC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</a:rPr>
              <a:t> + 0.2</a:t>
            </a:r>
            <a:r>
              <a:rPr lang="en-US" altLang="en-US" sz="2600" baseline="30000" dirty="0">
                <a:solidFill>
                  <a:srgbClr val="0000CC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</a:rPr>
              <a:t> + 1.2</a:t>
            </a:r>
            <a:r>
              <a:rPr lang="en-US" altLang="en-US" sz="2600" baseline="30000" dirty="0">
                <a:solidFill>
                  <a:srgbClr val="0000CC"/>
                </a:solidFill>
                <a:latin typeface="Calibri" panose="020F0502020204030204" pitchFamily="34" charset="0"/>
              </a:rPr>
              <a:t>1</a:t>
            </a: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</a:rPr>
              <a:t> + 1.2</a:t>
            </a:r>
            <a:r>
              <a:rPr lang="en-US" altLang="en-US" sz="2600" baseline="30000" dirty="0">
                <a:solidFill>
                  <a:srgbClr val="0000CC"/>
                </a:solidFill>
                <a:latin typeface="Calibri" panose="020F0502020204030204" pitchFamily="34" charset="0"/>
              </a:rPr>
              <a:t>0</a:t>
            </a:r>
          </a:p>
          <a:p>
            <a:pPr algn="just">
              <a:spcBef>
                <a:spcPct val="50000"/>
              </a:spcBef>
            </a:pPr>
            <a:r>
              <a:rPr lang="en-US" altLang="en-US" sz="2600" baseline="30000" dirty="0">
                <a:solidFill>
                  <a:srgbClr val="0000CC"/>
                </a:solidFill>
                <a:latin typeface="Calibri" panose="020F0502020204030204" pitchFamily="34" charset="0"/>
              </a:rPr>
              <a:t>                                                       </a:t>
            </a: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</a:rPr>
              <a:t>=   8    +   0    +   2   +   1</a:t>
            </a:r>
          </a:p>
          <a:p>
            <a:pPr algn="just">
              <a:spcBef>
                <a:spcPct val="50000"/>
              </a:spcBef>
            </a:pP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</a:rPr>
              <a:t>                                    =   11</a:t>
            </a:r>
            <a:r>
              <a:rPr lang="en-US" altLang="en-US" sz="2600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(10)                                                         </a:t>
            </a: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E673AC98-CD7F-44B7-AB03-660C58CFE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69825"/>
            <a:ext cx="8610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1pPr>
            <a:lvl2pPr marL="742950" indent="-28575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2pPr>
            <a:lvl3pPr marL="11430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3pPr>
            <a:lvl4pPr marL="16002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4pPr>
            <a:lvl5pPr marL="20574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            </a:t>
            </a:r>
            <a:r>
              <a:rPr lang="en-US" altLang="en-US" sz="2800" dirty="0" err="1">
                <a:solidFill>
                  <a:srgbClr val="0000CC"/>
                </a:solidFill>
                <a:latin typeface="Calibri" panose="020F0502020204030204" pitchFamily="34" charset="0"/>
              </a:rPr>
              <a:t>Ví</a:t>
            </a: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CC"/>
                </a:solidFill>
                <a:latin typeface="Calibri" panose="020F0502020204030204" pitchFamily="34" charset="0"/>
              </a:rPr>
              <a:t>dụ</a:t>
            </a: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: </a:t>
            </a:r>
            <a:r>
              <a:rPr lang="en-US" altLang="en-US" sz="2800" dirty="0" err="1">
                <a:solidFill>
                  <a:srgbClr val="0000CC"/>
                </a:solidFill>
                <a:latin typeface="Calibri" panose="020F0502020204030204" pitchFamily="34" charset="0"/>
              </a:rPr>
              <a:t>Chuyển</a:t>
            </a: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CC"/>
                </a:solidFill>
                <a:latin typeface="Calibri" panose="020F0502020204030204" pitchFamily="34" charset="0"/>
              </a:rPr>
              <a:t>số</a:t>
            </a: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 13 </a:t>
            </a:r>
            <a:r>
              <a:rPr lang="en-US" altLang="en-US" sz="2800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(10)</a:t>
            </a: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 sang </a:t>
            </a:r>
            <a:r>
              <a:rPr lang="en-US" altLang="en-US" sz="2800" dirty="0" err="1">
                <a:solidFill>
                  <a:srgbClr val="0000CC"/>
                </a:solidFill>
                <a:latin typeface="Calibri" panose="020F0502020204030204" pitchFamily="34" charset="0"/>
              </a:rPr>
              <a:t>hệ</a:t>
            </a: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 2.</a:t>
            </a:r>
            <a:endParaRPr lang="en-US" altLang="en-US" sz="2800" b="0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1100B2BF-8449-4247-8E7C-64B34405A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55625"/>
            <a:ext cx="8610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1pPr>
            <a:lvl2pPr marL="742950" indent="-28575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2pPr>
            <a:lvl3pPr marL="11430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3pPr>
            <a:lvl4pPr marL="16002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4pPr>
            <a:lvl5pPr marL="20574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            </a:t>
            </a:r>
            <a:r>
              <a:rPr lang="en-US" altLang="en-US" sz="2800" dirty="0" err="1">
                <a:solidFill>
                  <a:srgbClr val="0000CC"/>
                </a:solidFill>
                <a:latin typeface="Calibri" panose="020F0502020204030204" pitchFamily="34" charset="0"/>
              </a:rPr>
              <a:t>Kết</a:t>
            </a: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CC"/>
                </a:solidFill>
                <a:latin typeface="Calibri" panose="020F0502020204030204" pitchFamily="34" charset="0"/>
              </a:rPr>
              <a:t>quả</a:t>
            </a: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: 13 </a:t>
            </a:r>
            <a:r>
              <a:rPr lang="en-US" altLang="en-US" sz="2800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(10)</a:t>
            </a:r>
            <a:r>
              <a:rPr lang="en-US" altLang="en-US" sz="2800" dirty="0">
                <a:solidFill>
                  <a:srgbClr val="0000CC"/>
                </a:solidFill>
                <a:latin typeface="Calibri" panose="020F0502020204030204" pitchFamily="34" charset="0"/>
              </a:rPr>
              <a:t> = 1101 </a:t>
            </a:r>
            <a:r>
              <a:rPr lang="en-US" altLang="en-US" sz="2800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(2)</a:t>
            </a:r>
            <a:endParaRPr lang="en-US" altLang="en-US" sz="2800" b="0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Box 28">
            <a:extLst>
              <a:ext uri="{FF2B5EF4-FFF2-40B4-BE49-F238E27FC236}">
                <a16:creationId xmlns:a16="http://schemas.microsoft.com/office/drawing/2014/main" id="{C038C8E7-83EE-43D0-97E7-D076EAF48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7647" y="3007362"/>
            <a:ext cx="443566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1pPr>
            <a:lvl2pPr marL="742950" indent="-28575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2pPr>
            <a:lvl3pPr marL="11430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3pPr>
            <a:lvl4pPr marL="16002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4pPr>
            <a:lvl5pPr marL="20574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0000CC"/>
                </a:solidFill>
                <a:latin typeface="Calibri" panose="020F0502020204030204" pitchFamily="34" charset="0"/>
              </a:rPr>
              <a:t>       </a:t>
            </a:r>
            <a:r>
              <a:rPr lang="en-US" altLang="en-US" dirty="0" err="1">
                <a:solidFill>
                  <a:srgbClr val="0000CC"/>
                </a:solidFill>
                <a:latin typeface="Calibri" panose="020F0502020204030204" pitchFamily="34" charset="0"/>
              </a:rPr>
              <a:t>Ví</a:t>
            </a:r>
            <a:r>
              <a:rPr lang="en-US" altLang="en-US" dirty="0">
                <a:solidFill>
                  <a:srgbClr val="0000CC"/>
                </a:solidFill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rgbClr val="0000CC"/>
                </a:solidFill>
                <a:latin typeface="Calibri" panose="020F0502020204030204" pitchFamily="34" charset="0"/>
              </a:rPr>
              <a:t>dụ</a:t>
            </a:r>
            <a:r>
              <a:rPr lang="en-US" altLang="en-US" dirty="0">
                <a:solidFill>
                  <a:srgbClr val="0000CC"/>
                </a:solidFill>
                <a:latin typeface="Calibri" panose="020F0502020204030204" pitchFamily="34" charset="0"/>
              </a:rPr>
              <a:t>: 13</a:t>
            </a:r>
            <a:r>
              <a:rPr lang="en-US" altLang="en-US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(10)</a:t>
            </a:r>
            <a:r>
              <a:rPr lang="en-US" altLang="en-US" dirty="0">
                <a:solidFill>
                  <a:srgbClr val="0000CC"/>
                </a:solidFill>
                <a:latin typeface="Calibri" panose="020F0502020204030204" pitchFamily="34" charset="0"/>
              </a:rPr>
              <a:t> = 1101</a:t>
            </a:r>
            <a:r>
              <a:rPr lang="en-US" altLang="en-US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(2)</a:t>
            </a:r>
            <a:endParaRPr lang="en-US" altLang="en-US" b="0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Text Box 29">
            <a:extLst>
              <a:ext uri="{FF2B5EF4-FFF2-40B4-BE49-F238E27FC236}">
                <a16:creationId xmlns:a16="http://schemas.microsoft.com/office/drawing/2014/main" id="{BBD5E5A4-3391-49F4-84E1-6DB9DA454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847" y="3566162"/>
            <a:ext cx="443566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88975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1pPr>
            <a:lvl2pPr marL="742950" indent="-285750" defTabSz="688975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2pPr>
            <a:lvl3pPr marL="1143000" indent="-228600" defTabSz="688975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3pPr>
            <a:lvl4pPr marL="1600200" indent="-228600" defTabSz="688975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4pPr>
            <a:lvl5pPr marL="2057400" indent="-228600" defTabSz="688975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5pPr>
            <a:lvl6pPr marL="2514600" indent="-228600" defTabSz="6889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6pPr>
            <a:lvl7pPr marL="2971800" indent="-228600" defTabSz="6889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7pPr>
            <a:lvl8pPr marL="3429000" indent="-228600" defTabSz="6889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8pPr>
            <a:lvl9pPr marL="3886200" indent="-228600" defTabSz="6889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13 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: 2 = 6, d</a:t>
            </a:r>
            <a:r>
              <a:rPr lang="vi-VN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ư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­­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1    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  đ</a:t>
            </a:r>
            <a:r>
              <a:rPr lang="vi-VN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ư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ợc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a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= 1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6 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: 2 = 3, d</a:t>
            </a:r>
            <a:r>
              <a:rPr lang="vi-VN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ư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0        đ</a:t>
            </a:r>
            <a:r>
              <a:rPr lang="vi-VN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ư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ợc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a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= 0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 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: 2 = 1, d</a:t>
            </a:r>
            <a:r>
              <a:rPr lang="vi-VN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ư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1        đ</a:t>
            </a:r>
            <a:r>
              <a:rPr lang="vi-VN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ư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ợc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a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= 1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1 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: 2 = 0, d</a:t>
            </a:r>
            <a:r>
              <a:rPr lang="vi-VN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ư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1        đ</a:t>
            </a:r>
            <a:r>
              <a:rPr lang="vi-VN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ư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ợc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a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= 1</a:t>
            </a:r>
            <a:endParaRPr lang="en-US" altLang="en-US" b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93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6" y="702522"/>
            <a:ext cx="11924712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/>
            <a:r>
              <a:rPr lang="en-US" sz="3200" i="1">
                <a:latin typeface="Times New Roman" pitchFamily="18" charset="0"/>
                <a:cs typeface="Times New Roman" pitchFamily="18" charset="0"/>
              </a:rPr>
              <a:t>* Ví dụ chuyển đổi giữa các hệ đếm:</a:t>
            </a:r>
            <a:endParaRPr lang="vi-VN" sz="32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5F4BADEF-4658-4C9A-B8F4-8D53E3A1F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135" y="1764438"/>
            <a:ext cx="8686800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1pPr>
            <a:lvl2pPr marL="742950" indent="-28575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2pPr>
            <a:lvl3pPr marL="11430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3pPr>
            <a:lvl4pPr marL="16002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4pPr>
            <a:lvl5pPr marL="20574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9pPr>
          </a:lstStyle>
          <a:p>
            <a:pPr>
              <a:spcBef>
                <a:spcPts val="1800"/>
              </a:spcBef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Ví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dụ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: 10110101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(2) 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= 265 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(8)</a:t>
            </a:r>
          </a:p>
          <a:p>
            <a:pPr>
              <a:spcBef>
                <a:spcPts val="1800"/>
              </a:spcBef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     + Chia 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nhóm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:      010   110   101 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(2)</a:t>
            </a:r>
          </a:p>
          <a:p>
            <a:pPr>
              <a:spcBef>
                <a:spcPts val="1800"/>
              </a:spcBef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     + 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Kết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quả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      :        2       6        5   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(8)</a:t>
            </a: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97C3427E-5561-49AC-BAC8-5B739279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07" y="3484084"/>
            <a:ext cx="876300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1pPr>
            <a:lvl2pPr marL="742950" indent="-28575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2pPr>
            <a:lvl3pPr marL="11430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3pPr>
            <a:lvl4pPr marL="16002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4pPr>
            <a:lvl5pPr marL="20574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9pPr>
          </a:lstStyle>
          <a:p>
            <a:pPr algn="just">
              <a:spcBef>
                <a:spcPts val="2400"/>
              </a:spcBef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- 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Ví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dụ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:           5      1       2 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(8)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algn="just">
              <a:spcBef>
                <a:spcPts val="2400"/>
              </a:spcBef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                  =  101  001  010 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(2)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43B711-445D-47D0-9F00-7F7BEA78CE12}"/>
              </a:ext>
            </a:extLst>
          </p:cNvPr>
          <p:cNvSpPr/>
          <p:nvPr/>
        </p:nvSpPr>
        <p:spPr>
          <a:xfrm>
            <a:off x="727229" y="4711815"/>
            <a:ext cx="9220200" cy="1552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Ví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dụ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: 10011011011</a:t>
            </a:r>
            <a:r>
              <a:rPr kumimoji="0" lang="en-US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(2)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 = 4DB </a:t>
            </a:r>
            <a:r>
              <a:rPr kumimoji="0" lang="en-US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(16)</a:t>
            </a:r>
          </a:p>
          <a:p>
            <a:pPr marL="0" marR="0" lvl="0" indent="0" algn="just" defTabSz="91440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             + Chia </a:t>
            </a: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nhóm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: 0100    1101   1011 </a:t>
            </a:r>
            <a:r>
              <a:rPr kumimoji="0" lang="en-US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(2)</a:t>
            </a: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                  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+ </a:t>
            </a: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Kết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quả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:          4          D          B </a:t>
            </a:r>
            <a:r>
              <a:rPr kumimoji="0" lang="en-US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</a:rPr>
              <a:t>(16)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370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6" y="702522"/>
            <a:ext cx="11924712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/>
            <a:r>
              <a:rPr lang="en-US" sz="3200" i="1">
                <a:latin typeface="Times New Roman" pitchFamily="18" charset="0"/>
                <a:cs typeface="Times New Roman" pitchFamily="18" charset="0"/>
              </a:rPr>
              <a:t>* Ví dụ chuyển đổi giữa các hệ đếm:</a:t>
            </a:r>
            <a:endParaRPr lang="vi-VN" sz="32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Box 27">
            <a:extLst>
              <a:ext uri="{FF2B5EF4-FFF2-40B4-BE49-F238E27FC236}">
                <a16:creationId xmlns:a16="http://schemas.microsoft.com/office/drawing/2014/main" id="{09AD4120-939A-488A-99F0-078DF479F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591" y="2092493"/>
            <a:ext cx="8534400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1pPr>
            <a:lvl2pPr marL="742950" indent="-28575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2pPr>
            <a:lvl3pPr marL="11430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3pPr>
            <a:lvl4pPr marL="16002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4pPr>
            <a:lvl5pPr marL="2057400" indent="-228600"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.VnAvantH" panose="020BE200000000000000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en-US" sz="2800" i="1" dirty="0">
                <a:solidFill>
                  <a:srgbClr val="000000"/>
                </a:solidFill>
                <a:latin typeface="Calibri" panose="020F0502020204030204" pitchFamily="34" charset="0"/>
              </a:rPr>
              <a:t>-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Thay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một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chữ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số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trong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hệ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16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bằng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nhóm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4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bít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của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hệ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2.</a:t>
            </a:r>
          </a:p>
          <a:p>
            <a:pPr algn="just">
              <a:spcBef>
                <a:spcPct val="50000"/>
              </a:spcBef>
            </a:pP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-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Ví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dụ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:                 7         F         A         C        6      </a:t>
            </a:r>
            <a:r>
              <a:rPr lang="en-US" altLang="en-US" sz="28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(16)</a:t>
            </a:r>
          </a:p>
          <a:p>
            <a:pPr algn="just">
              <a:spcBef>
                <a:spcPct val="50000"/>
              </a:spcBef>
            </a:pPr>
            <a:r>
              <a:rPr lang="en-US" altLang="en-US" sz="28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        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+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Kết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quả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:   0111   1111  1010  1100  0110   </a:t>
            </a:r>
            <a:r>
              <a:rPr lang="en-US" altLang="en-US" sz="28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(2)</a:t>
            </a:r>
          </a:p>
          <a:p>
            <a:pPr algn="just">
              <a:spcBef>
                <a:spcPct val="50000"/>
              </a:spcBef>
            </a:pPr>
            <a:r>
              <a:rPr lang="en-US" altLang="en-US" sz="28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        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+ </a:t>
            </a:r>
            <a:r>
              <a:rPr lang="en-US" alt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Hoặc</a:t>
            </a: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:          111   1111  1010  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</a:rPr>
              <a:t>1100  0110   </a:t>
            </a:r>
            <a:r>
              <a:rPr lang="en-US" altLang="en-US" sz="2800" baseline="-250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28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2)</a:t>
            </a:r>
            <a:endParaRPr lang="en-US" altLang="en-US" sz="2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8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3652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/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b. </a:t>
            </a:r>
            <a:r>
              <a:rPr lang="en-US" sz="3200" b="1" i="1" dirty="0" err="1">
                <a:latin typeface="Times New Roman" pitchFamily="18" charset="0"/>
                <a:cs typeface="Times New Roman" pitchFamily="18" charset="0"/>
              </a:rPr>
              <a:t>Mã</a:t>
            </a: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/>
            <a:r>
              <a:rPr lang="en-US" sz="3600" i="1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vi-VN" sz="3600" i="1">
                <a:latin typeface="Times New Roman" pitchFamily="18" charset="0"/>
                <a:cs typeface="Times New Roman" pitchFamily="18" charset="0"/>
              </a:rPr>
              <a:t>Mã </a:t>
            </a:r>
            <a:r>
              <a:rPr lang="vi-VN" sz="3600" i="1" dirty="0">
                <a:latin typeface="Times New Roman" pitchFamily="18" charset="0"/>
                <a:cs typeface="Times New Roman" pitchFamily="18" charset="0"/>
              </a:rPr>
              <a:t>4 bit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ồm mã có trọng số (BCD, NBCD) và mã không có trọng số (XS3, G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RAY</a:t>
            </a:r>
            <a:r>
              <a:rPr lang="vi-VN" sz="320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vi-VN" sz="3200">
                <a:latin typeface="Times New Roman" pitchFamily="18" charset="0"/>
                <a:cs typeface="Times New Roman" pitchFamily="18" charset="0"/>
              </a:rPr>
              <a:t>Mã XS3(dư 3): XS3 = BCD + (0011)</a:t>
            </a:r>
          </a:p>
          <a:p>
            <a:pPr algn="just"/>
            <a:r>
              <a:rPr lang="vi-VN" sz="3200">
                <a:latin typeface="Times New Roman" pitchFamily="18" charset="0"/>
                <a:cs typeface="Times New Roman" pitchFamily="18" charset="0"/>
              </a:rPr>
              <a:t>Mã GRAY: Gray có các từ mã kế cận nhau chỉ khác nhau một biến số. 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200">
                <a:latin typeface="Times New Roman" pitchFamily="18" charset="0"/>
                <a:cs typeface="Times New Roman" pitchFamily="18" charset="0"/>
              </a:rPr>
              <a:t>* Mã led 7 đoạn</a:t>
            </a:r>
            <a:endParaRPr lang="vi-V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1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/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b. </a:t>
            </a:r>
            <a:r>
              <a:rPr lang="en-US" sz="3200" b="1" i="1" dirty="0" err="1">
                <a:latin typeface="Times New Roman" pitchFamily="18" charset="0"/>
                <a:cs typeface="Times New Roman" pitchFamily="18" charset="0"/>
              </a:rPr>
              <a:t>Mã</a:t>
            </a: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	</a:t>
            </a:r>
            <a:endParaRPr lang="vi-VN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7298B6-023B-466A-9F44-8A0A333B8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740" y="911323"/>
            <a:ext cx="6965950" cy="566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3C77A57-B2E5-4C02-A9C8-61D88950FF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971603"/>
              </p:ext>
            </p:extLst>
          </p:nvPr>
        </p:nvGraphicFramePr>
        <p:xfrm>
          <a:off x="1571440" y="1066800"/>
          <a:ext cx="8858250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Document" r:id="rId3" imgW="5928353" imgH="3848149" progId="Word.Document.12">
                  <p:embed/>
                </p:oleObj>
              </mc:Choice>
              <mc:Fallback>
                <p:oleObj name="Document" r:id="rId3" imgW="5928353" imgH="3848149" progId="Word.Documen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604FC9D-3D43-4BAE-9780-5B5B71B8FB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71440" y="1066800"/>
                        <a:ext cx="8858250" cy="563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592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4083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/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c. </a:t>
            </a:r>
            <a:r>
              <a:rPr lang="en-US" sz="3200" b="1" i="1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latin typeface="Times New Roman" pitchFamily="18" charset="0"/>
                <a:cs typeface="Times New Roman" pitchFamily="18" charset="0"/>
              </a:rPr>
              <a:t>hàm</a:t>
            </a: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 logic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- 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Biến logic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Là các biến độc lập chỉ nhận một trong hai giá trị ‘0’ hoặc ‘1’.</a:t>
            </a:r>
          </a:p>
          <a:p>
            <a:pPr algn="just"/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Hàm logic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Nếu Y là hàm của một tập biến logic </a:t>
            </a:r>
            <a:r>
              <a:rPr lang="vi-VN" sz="32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Y là hàm logic: </a:t>
            </a:r>
            <a:endParaRPr lang="en-US" sz="3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vi-VN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540E7D1-8747-4AC1-9AB4-59701CF31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117" y="3795545"/>
            <a:ext cx="7431258" cy="590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3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/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d.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chất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luật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đại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logic </a:t>
            </a:r>
            <a:endParaRPr lang="vi-VN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FCB6FCC-957E-47F1-A8AC-EC2B5B724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77" y="2827606"/>
            <a:ext cx="9284678" cy="209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45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497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>
              <a:lnSpc>
                <a:spcPct val="150000"/>
              </a:lnSpc>
            </a:pP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d.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nuốt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-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</a:p>
          <a:p>
            <a:pPr>
              <a:lnSpc>
                <a:spcPct val="150000"/>
              </a:lnSpc>
            </a:pPr>
            <a:r>
              <a:rPr lang="nl-NL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Định luật De Moorgan</a:t>
            </a:r>
            <a:r>
              <a:rPr lang="en-US" sz="3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32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57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2024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>
              <a:lnSpc>
                <a:spcPct val="150000"/>
              </a:lnSpc>
            </a:pP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d.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C93CD788-4C12-75DD-102C-F5E351449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017" y="3097545"/>
            <a:ext cx="10298318" cy="300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en-US" altLang="en-US" sz="3000" i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Định luật giao hoán:	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.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 = 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.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				Và:	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+X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= 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+X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	Định luật kết hợp: 	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(X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.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)  = (X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.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).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				Và: 	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+ (X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+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) = (X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+X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)+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                       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	Định luật phân bố:	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(X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+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)  =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.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+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.X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                        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				Và : 	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+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.X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= (X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+X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 ).( 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+X</a:t>
            </a:r>
            <a:r>
              <a:rPr lang="en-US" altLang="en-US" sz="30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n-US" altLang="en-US" sz="3000">
                <a:solidFill>
                  <a:srgbClr val="000000"/>
                </a:solidFill>
                <a:latin typeface="Arial" panose="020B0604020202020204" pitchFamily="34" charset="0"/>
              </a:rPr>
              <a:t>)	</a:t>
            </a:r>
          </a:p>
        </p:txBody>
      </p:sp>
    </p:spTree>
    <p:extLst>
      <p:ext uri="{BB962C8B-B14F-4D97-AF65-F5344CB8AC3E}">
        <p14:creationId xmlns:p14="http://schemas.microsoft.com/office/powerpoint/2010/main" val="70280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/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d.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86BE7A9A-85CD-9A83-C63C-37EAC0F63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295" y="2136208"/>
            <a:ext cx="9448800" cy="4222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33400" indent="-5334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Định luật dính: 	</a:t>
            </a:r>
            <a:endParaRPr lang="fr-FR" alt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fr-FR" altLang="en-US">
                <a:solidFill>
                  <a:srgbClr val="000000"/>
                </a:solidFill>
                <a:latin typeface="Arial" panose="020B0604020202020204" pitchFamily="34" charset="0"/>
              </a:rPr>
              <a:t>			Và :	    	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fr-FR" altLang="en-US">
                <a:solidFill>
                  <a:srgbClr val="000000"/>
                </a:solidFill>
                <a:latin typeface="Arial" panose="020B0604020202020204" pitchFamily="34" charset="0"/>
              </a:rPr>
              <a:t>	Định luật nuốt: 	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fr-FR" altLang="en-US">
                <a:solidFill>
                  <a:srgbClr val="000000"/>
                </a:solidFill>
                <a:latin typeface="Arial" panose="020B0604020202020204" pitchFamily="34" charset="0"/>
              </a:rPr>
              <a:t>			Và :        	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fr-FR" altLang="en-US">
                <a:solidFill>
                  <a:srgbClr val="000000"/>
                </a:solidFill>
                <a:latin typeface="Arial" panose="020B0604020202020204" pitchFamily="34" charset="0"/>
              </a:rPr>
              <a:t>	Định luật giản ước: 	</a:t>
            </a:r>
            <a:endParaRPr lang="nl-NL" alt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nl-NL" altLang="en-US">
                <a:solidFill>
                  <a:srgbClr val="000000"/>
                </a:solidFill>
                <a:latin typeface="Arial" panose="020B0604020202020204" pitchFamily="34" charset="0"/>
              </a:rPr>
              <a:t>			Và:	    	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nl-NL" altLang="en-US">
                <a:solidFill>
                  <a:srgbClr val="000000"/>
                </a:solidFill>
                <a:latin typeface="Arial" panose="020B0604020202020204" pitchFamily="34" charset="0"/>
              </a:rPr>
              <a:t>	Định luật De Moorgan:      </a:t>
            </a:r>
          </a:p>
          <a:p>
            <a:pPr algn="just">
              <a:spcBef>
                <a:spcPct val="10000"/>
              </a:spcBef>
              <a:buClrTx/>
              <a:buFontTx/>
              <a:buNone/>
            </a:pPr>
            <a:r>
              <a:rPr lang="nl-NL" altLang="en-US">
                <a:solidFill>
                  <a:srgbClr val="000000"/>
                </a:solidFill>
                <a:latin typeface="Arial" panose="020B0604020202020204" pitchFamily="34" charset="0"/>
              </a:rPr>
              <a:t>			Và: 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218B9F17-535C-0756-C667-8CDFC3137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958171"/>
              </p:ext>
            </p:extLst>
          </p:nvPr>
        </p:nvGraphicFramePr>
        <p:xfrm>
          <a:off x="6368216" y="2544961"/>
          <a:ext cx="25400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1244600" imgH="241300" progId="Equation.3">
                  <p:embed/>
                </p:oleObj>
              </mc:Choice>
              <mc:Fallback>
                <p:oleObj name="Equation" r:id="rId3" imgW="1244600" imgH="241300" progId="Equation.3">
                  <p:embed/>
                  <p:pic>
                    <p:nvPicPr>
                      <p:cNvPr id="189446" name="Object 6">
                        <a:extLst>
                          <a:ext uri="{FF2B5EF4-FFF2-40B4-BE49-F238E27FC236}">
                            <a16:creationId xmlns:a16="http://schemas.microsoft.com/office/drawing/2014/main" id="{67847113-6168-4AD3-8C3F-B6636D32E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8216" y="2544961"/>
                        <a:ext cx="25400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8F757A2-70CD-65F9-F9E4-DDAEA5DAC2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388349"/>
              </p:ext>
            </p:extLst>
          </p:nvPr>
        </p:nvGraphicFramePr>
        <p:xfrm>
          <a:off x="6353929" y="2986286"/>
          <a:ext cx="32400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1587500" imgH="241300" progId="Equation.3">
                  <p:embed/>
                </p:oleObj>
              </mc:Choice>
              <mc:Fallback>
                <p:oleObj name="Equation" r:id="rId5" imgW="1587500" imgH="241300" progId="Equation.3">
                  <p:embed/>
                  <p:pic>
                    <p:nvPicPr>
                      <p:cNvPr id="189448" name="Object 8">
                        <a:extLst>
                          <a:ext uri="{FF2B5EF4-FFF2-40B4-BE49-F238E27FC236}">
                            <a16:creationId xmlns:a16="http://schemas.microsoft.com/office/drawing/2014/main" id="{0BAB7517-706C-4BA0-BABC-F1CCA72D44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929" y="2986286"/>
                        <a:ext cx="3240087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2FA3772-1407-EFF8-1749-8E3045C49F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218258"/>
              </p:ext>
            </p:extLst>
          </p:nvPr>
        </p:nvGraphicFramePr>
        <p:xfrm>
          <a:off x="6380916" y="3545086"/>
          <a:ext cx="21256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1040948" imgH="215806" progId="Equation.3">
                  <p:embed/>
                </p:oleObj>
              </mc:Choice>
              <mc:Fallback>
                <p:oleObj name="Equation" r:id="rId7" imgW="1040948" imgH="215806" progId="Equation.3">
                  <p:embed/>
                  <p:pic>
                    <p:nvPicPr>
                      <p:cNvPr id="189449" name="Object 9">
                        <a:extLst>
                          <a:ext uri="{FF2B5EF4-FFF2-40B4-BE49-F238E27FC236}">
                            <a16:creationId xmlns:a16="http://schemas.microsoft.com/office/drawing/2014/main" id="{04488191-0C0B-4E63-A83A-B92CFBEB76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916" y="3545086"/>
                        <a:ext cx="2125663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244D7AF-ABC7-9042-C8A6-9318740A9D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753061"/>
              </p:ext>
            </p:extLst>
          </p:nvPr>
        </p:nvGraphicFramePr>
        <p:xfrm>
          <a:off x="6398379" y="4027686"/>
          <a:ext cx="2281237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1117115" imgH="215806" progId="Equation.3">
                  <p:embed/>
                </p:oleObj>
              </mc:Choice>
              <mc:Fallback>
                <p:oleObj name="Equation" r:id="rId9" imgW="1117115" imgH="215806" progId="Equation.3">
                  <p:embed/>
                  <p:pic>
                    <p:nvPicPr>
                      <p:cNvPr id="189450" name="Object 10">
                        <a:extLst>
                          <a:ext uri="{FF2B5EF4-FFF2-40B4-BE49-F238E27FC236}">
                            <a16:creationId xmlns:a16="http://schemas.microsoft.com/office/drawing/2014/main" id="{B5BBC6E0-8E4C-413A-A518-9C0BBDD257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8379" y="4027686"/>
                        <a:ext cx="2281237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AC57D948-4098-7D00-4D4C-C11AA31E4F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179308"/>
              </p:ext>
            </p:extLst>
          </p:nvPr>
        </p:nvGraphicFramePr>
        <p:xfrm>
          <a:off x="6363454" y="4459486"/>
          <a:ext cx="277336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1358310" imgH="241195" progId="Equation.3">
                  <p:embed/>
                </p:oleObj>
              </mc:Choice>
              <mc:Fallback>
                <p:oleObj name="Equation" r:id="rId11" imgW="1358310" imgH="241195" progId="Equation.3">
                  <p:embed/>
                  <p:pic>
                    <p:nvPicPr>
                      <p:cNvPr id="189452" name="Object 12">
                        <a:extLst>
                          <a:ext uri="{FF2B5EF4-FFF2-40B4-BE49-F238E27FC236}">
                            <a16:creationId xmlns:a16="http://schemas.microsoft.com/office/drawing/2014/main" id="{3910D900-F19C-464C-9825-5FB3BDFED2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3454" y="4459486"/>
                        <a:ext cx="277336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BC7DCEE3-211E-10AD-1DBE-BF8E02B4BB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938281"/>
              </p:ext>
            </p:extLst>
          </p:nvPr>
        </p:nvGraphicFramePr>
        <p:xfrm>
          <a:off x="6339641" y="4916686"/>
          <a:ext cx="27209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3" imgW="1333500" imgH="241300" progId="Equation.3">
                  <p:embed/>
                </p:oleObj>
              </mc:Choice>
              <mc:Fallback>
                <p:oleObj name="Equation" r:id="rId13" imgW="1333500" imgH="241300" progId="Equation.3">
                  <p:embed/>
                  <p:pic>
                    <p:nvPicPr>
                      <p:cNvPr id="189453" name="Object 13">
                        <a:extLst>
                          <a:ext uri="{FF2B5EF4-FFF2-40B4-BE49-F238E27FC236}">
                            <a16:creationId xmlns:a16="http://schemas.microsoft.com/office/drawing/2014/main" id="{8CF5A3C7-3689-4D99-94A5-3C09929257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9641" y="4916686"/>
                        <a:ext cx="27209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8FA1F534-4857-21F5-FCF6-9352CBC205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614333"/>
              </p:ext>
            </p:extLst>
          </p:nvPr>
        </p:nvGraphicFramePr>
        <p:xfrm>
          <a:off x="6317416" y="5351661"/>
          <a:ext cx="4041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15" imgW="1981200" imgH="254000" progId="Equation.3">
                  <p:embed/>
                </p:oleObj>
              </mc:Choice>
              <mc:Fallback>
                <p:oleObj name="Equation" r:id="rId15" imgW="1981200" imgH="254000" progId="Equation.3">
                  <p:embed/>
                  <p:pic>
                    <p:nvPicPr>
                      <p:cNvPr id="189454" name="Object 14">
                        <a:extLst>
                          <a:ext uri="{FF2B5EF4-FFF2-40B4-BE49-F238E27FC236}">
                            <a16:creationId xmlns:a16="http://schemas.microsoft.com/office/drawing/2014/main" id="{03E20FC4-29F2-4D42-A0B1-99B0AA6591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7416" y="5351661"/>
                        <a:ext cx="40417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3FDD4931-02AB-8C60-02F1-B9AD54F7C1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11112"/>
              </p:ext>
            </p:extLst>
          </p:nvPr>
        </p:nvGraphicFramePr>
        <p:xfrm>
          <a:off x="6342816" y="5780286"/>
          <a:ext cx="39893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7" imgW="1954951" imgH="253890" progId="Equation.3">
                  <p:embed/>
                </p:oleObj>
              </mc:Choice>
              <mc:Fallback>
                <p:oleObj name="Equation" r:id="rId17" imgW="1954951" imgH="253890" progId="Equation.3">
                  <p:embed/>
                  <p:pic>
                    <p:nvPicPr>
                      <p:cNvPr id="189455" name="Object 15">
                        <a:extLst>
                          <a:ext uri="{FF2B5EF4-FFF2-40B4-BE49-F238E27FC236}">
                            <a16:creationId xmlns:a16="http://schemas.microsoft.com/office/drawing/2014/main" id="{E4FAA05D-3B06-4597-B34A-EA50C07D8A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816" y="5780286"/>
                        <a:ext cx="39893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585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ĐSLG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d.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Ví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dụ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:</a:t>
            </a:r>
            <a:r>
              <a:rPr lang="en-US" sz="3200" spc="615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Rút</a:t>
            </a:r>
            <a:r>
              <a:rPr lang="en-US" sz="3200" spc="11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gọn</a:t>
            </a:r>
            <a:r>
              <a:rPr lang="en-US" sz="3200" spc="-1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biểu</a:t>
            </a:r>
            <a:r>
              <a:rPr lang="en-US" sz="3200" spc="-1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thức</a:t>
            </a:r>
            <a:r>
              <a:rPr lang="en-US" sz="3200" spc="-1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sau (A,</a:t>
            </a:r>
            <a:r>
              <a:rPr lang="en-US" sz="3200" spc="17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B,</a:t>
            </a:r>
            <a:r>
              <a:rPr lang="en-US" sz="3200" spc="-11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C</a:t>
            </a:r>
            <a:r>
              <a:rPr lang="en-US" sz="3200" spc="12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là các</a:t>
            </a:r>
            <a:r>
              <a:rPr lang="en-US" sz="3200" spc="23">
                <a:solidFill>
                  <a:srgbClr val="000000"/>
                </a:solidFill>
                <a:latin typeface="VGLHGD+URW DIN SemiCond"/>
                <a:cs typeface="VGLHGD+URW DIN SemiCond"/>
              </a:rPr>
              <a:t> </a:t>
            </a:r>
            <a:r>
              <a:rPr lang="en-US" sz="3200">
                <a:solidFill>
                  <a:srgbClr val="000000"/>
                </a:solidFill>
                <a:latin typeface="CLKGOJ+URW DIN SemiCond"/>
                <a:cs typeface="CLKGOJ+URW DIN SemiCond"/>
              </a:rPr>
              <a:t>biến</a:t>
            </a:r>
            <a:r>
              <a:rPr lang="en-US" sz="3200" spc="-1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VGLHGD+URW DIN SemiCond"/>
                <a:cs typeface="VGLHGD+URW DIN SemiCond"/>
              </a:rPr>
              <a:t>logic):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1">
            <a:extLst>
              <a:ext uri="{FF2B5EF4-FFF2-40B4-BE49-F238E27FC236}">
                <a16:creationId xmlns:a16="http://schemas.microsoft.com/office/drawing/2014/main" id="{0B7E03BD-29E4-A4EC-CABF-47C669B7B35C}"/>
              </a:ext>
            </a:extLst>
          </p:cNvPr>
          <p:cNvSpPr/>
          <p:nvPr/>
        </p:nvSpPr>
        <p:spPr>
          <a:xfrm>
            <a:off x="6852984" y="3664455"/>
            <a:ext cx="200041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75B5EC01-1D8B-6270-FB23-3EB5EDC88986}"/>
              </a:ext>
            </a:extLst>
          </p:cNvPr>
          <p:cNvSpPr/>
          <p:nvPr/>
        </p:nvSpPr>
        <p:spPr>
          <a:xfrm>
            <a:off x="6089586" y="3664455"/>
            <a:ext cx="210269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1A95414F-4281-CE73-2F86-80847DF603DD}"/>
              </a:ext>
            </a:extLst>
          </p:cNvPr>
          <p:cNvSpPr txBox="1"/>
          <p:nvPr/>
        </p:nvSpPr>
        <p:spPr>
          <a:xfrm>
            <a:off x="4695391" y="3635348"/>
            <a:ext cx="2950945" cy="38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58"/>
              </a:lnSpc>
              <a:spcBef>
                <a:spcPts val="0"/>
              </a:spcBef>
              <a:spcAft>
                <a:spcPts val="0"/>
              </a:spcAft>
            </a:pPr>
            <a:r>
              <a:rPr sz="2600" i="1" spc="-14" dirty="0">
                <a:solidFill>
                  <a:srgbClr val="000000"/>
                </a:solidFill>
                <a:latin typeface="Times New Roman"/>
                <a:cs typeface="Times New Roman"/>
              </a:rPr>
              <a:t>ABC</a:t>
            </a:r>
            <a:r>
              <a:rPr sz="2600" i="1" spc="-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DJLWTP+Symbol"/>
                <a:cs typeface="DJLWTP+Symbol"/>
              </a:rPr>
              <a:t>+</a:t>
            </a:r>
            <a:r>
              <a:rPr sz="2600" spc="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solidFill>
                  <a:srgbClr val="000000"/>
                </a:solidFill>
                <a:latin typeface="Times New Roman"/>
                <a:cs typeface="Times New Roman"/>
              </a:rPr>
              <a:t>ABC</a:t>
            </a:r>
            <a:r>
              <a:rPr sz="2600" i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DJLWTP+Symbol"/>
                <a:cs typeface="DJLWTP+Symbol"/>
              </a:rPr>
              <a:t>+</a:t>
            </a:r>
            <a:r>
              <a:rPr sz="2600" spc="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i="1" spc="65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600" i="1" spc="-175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2600" i="1" dirty="0">
                <a:solidFill>
                  <a:srgbClr val="000000"/>
                </a:solidFill>
                <a:latin typeface="Times New Roman"/>
                <a:cs typeface="Times New Roman"/>
              </a:rPr>
              <a:t>CD</a:t>
            </a:r>
          </a:p>
        </p:txBody>
      </p:sp>
    </p:spTree>
    <p:extLst>
      <p:ext uri="{BB962C8B-B14F-4D97-AF65-F5344CB8AC3E}">
        <p14:creationId xmlns:p14="http://schemas.microsoft.com/office/powerpoint/2010/main" val="373685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5790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 tử AND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(Và)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Phần tử N-AND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(Đảo – Và)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Phần tử OR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(Hoặc)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 Phần tử N-OR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(Đảo – Hoặc)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f. Phần tử XOR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(Cộng modul 2)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 Phần tử N-XOR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(Đảo - Cộng modul 2)</a:t>
            </a:r>
          </a:p>
        </p:txBody>
      </p:sp>
    </p:spTree>
    <p:extLst>
      <p:ext uri="{BB962C8B-B14F-4D97-AF65-F5344CB8AC3E}">
        <p14:creationId xmlns:p14="http://schemas.microsoft.com/office/powerpoint/2010/main" val="295703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927684"/>
            <a:ext cx="11924712" cy="4589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cơ bản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NOT </a:t>
            </a:r>
            <a:r>
              <a:rPr lang="en-US" sz="3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Đảo</a:t>
            </a:r>
            <a:r>
              <a:rPr lang="en-US" sz="3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3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3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vi-VN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Ký hiệu:</a:t>
            </a:r>
          </a:p>
          <a:p>
            <a:pPr algn="just">
              <a:lnSpc>
                <a:spcPct val="150000"/>
              </a:lnSpc>
            </a:pPr>
            <a:r>
              <a:rPr lang="vi-VN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Hàm logic:</a:t>
            </a:r>
          </a:p>
          <a:p>
            <a:pPr algn="just">
              <a:lnSpc>
                <a:spcPct val="150000"/>
              </a:lnSpc>
            </a:pPr>
            <a:r>
              <a:rPr lang="vi-VN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Bảng trạng thái:</a:t>
            </a:r>
          </a:p>
          <a:p>
            <a:pPr algn="just">
              <a:lnSpc>
                <a:spcPct val="150000"/>
              </a:lnSpc>
            </a:pPr>
            <a:r>
              <a:rPr lang="vi-VN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Quan hệ dạng sóng: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4D95E6-230C-461A-A0B5-541529CE27B7}"/>
              </a:ext>
            </a:extLst>
          </p:cNvPr>
          <p:cNvPicPr/>
          <p:nvPr/>
        </p:nvPicPr>
        <p:blipFill>
          <a:blip r:embed="rId3">
            <a:lum bright="20000"/>
          </a:blip>
          <a:srcRect l="11489" t="5628" r="10699" b="36796"/>
          <a:stretch>
            <a:fillRect/>
          </a:stretch>
        </p:blipFill>
        <p:spPr bwMode="auto">
          <a:xfrm>
            <a:off x="2432813" y="2512506"/>
            <a:ext cx="1523780" cy="942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ABAB500-76BA-4B07-802E-509B5CD6D2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71723"/>
              </p:ext>
            </p:extLst>
          </p:nvPr>
        </p:nvGraphicFramePr>
        <p:xfrm>
          <a:off x="3956593" y="2983774"/>
          <a:ext cx="1650336" cy="770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428653" imgH="199891" progId="Equation.DSMT4">
                  <p:embed/>
                </p:oleObj>
              </mc:Choice>
              <mc:Fallback>
                <p:oleObj name="Equation" r:id="rId4" imgW="428653" imgH="199891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4E621301-08A6-4B13-9A30-45D981DB03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6593" y="2983774"/>
                        <a:ext cx="1650336" cy="7701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8C7CF0-7098-41BC-8A59-5F2307236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06560"/>
              </p:ext>
            </p:extLst>
          </p:nvPr>
        </p:nvGraphicFramePr>
        <p:xfrm>
          <a:off x="7980130" y="2778589"/>
          <a:ext cx="2808331" cy="149624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382025">
                  <a:extLst>
                    <a:ext uri="{9D8B030D-6E8A-4147-A177-3AD203B41FA5}">
                      <a16:colId xmlns:a16="http://schemas.microsoft.com/office/drawing/2014/main" val="2778207966"/>
                    </a:ext>
                  </a:extLst>
                </a:gridCol>
                <a:gridCol w="1426306">
                  <a:extLst>
                    <a:ext uri="{9D8B030D-6E8A-4147-A177-3AD203B41FA5}">
                      <a16:colId xmlns:a16="http://schemas.microsoft.com/office/drawing/2014/main" val="3234977905"/>
                    </a:ext>
                  </a:extLst>
                </a:gridCol>
              </a:tblGrid>
              <a:tr h="498747"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pt-BR" sz="3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3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pt-BR" sz="3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46209"/>
                  </a:ext>
                </a:extLst>
              </a:tr>
              <a:tr h="498747"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pt-BR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pt-BR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1031630"/>
                  </a:ext>
                </a:extLst>
              </a:tr>
              <a:tr h="498747"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pt-BR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pt-BR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3153349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FF8ABF23-CC97-46D4-BB40-530AB46E9324}"/>
              </a:ext>
            </a:extLst>
          </p:cNvPr>
          <p:cNvGrpSpPr>
            <a:grpSpLocks/>
          </p:cNvGrpSpPr>
          <p:nvPr/>
        </p:nvGrpSpPr>
        <p:grpSpPr bwMode="auto">
          <a:xfrm>
            <a:off x="4079631" y="4805471"/>
            <a:ext cx="7637751" cy="1760348"/>
            <a:chOff x="4867" y="14425"/>
            <a:chExt cx="3455" cy="1061"/>
          </a:xfrm>
        </p:grpSpPr>
        <p:sp>
          <p:nvSpPr>
            <p:cNvPr id="11" name="Text Box 4300">
              <a:extLst>
                <a:ext uri="{FF2B5EF4-FFF2-40B4-BE49-F238E27FC236}">
                  <a16:creationId xmlns:a16="http://schemas.microsoft.com/office/drawing/2014/main" id="{5885C59D-8D18-4950-863B-FB193D04D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7" y="14975"/>
              <a:ext cx="205" cy="5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r>
                <a:rPr lang="en-US" sz="3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sz="3200" dirty="0">
                <a:effectLst/>
                <a:latin typeface=".VnTime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4301">
              <a:extLst>
                <a:ext uri="{FF2B5EF4-FFF2-40B4-BE49-F238E27FC236}">
                  <a16:creationId xmlns:a16="http://schemas.microsoft.com/office/drawing/2014/main" id="{4775B990-2334-4C6A-B1CE-F4782E97C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7" y="14425"/>
              <a:ext cx="205" cy="3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r>
                <a:rPr lang="en-US" sz="3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sz="3200" dirty="0">
                <a:effectLst/>
                <a:latin typeface=".VnTime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CF152A9-FBA4-482F-B4D4-3DACC626E5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2" y="14606"/>
              <a:ext cx="3250" cy="737"/>
              <a:chOff x="6233" y="5543"/>
              <a:chExt cx="4052" cy="737"/>
            </a:xfrm>
          </p:grpSpPr>
          <p:cxnSp>
            <p:nvCxnSpPr>
              <p:cNvPr id="14" name="Line 4303">
                <a:extLst>
                  <a:ext uri="{FF2B5EF4-FFF2-40B4-BE49-F238E27FC236}">
                    <a16:creationId xmlns:a16="http://schemas.microsoft.com/office/drawing/2014/main" id="{DEEB008D-5F59-4C4D-85F5-33827F66236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809" y="5831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Line 4304">
                <a:extLst>
                  <a:ext uri="{FF2B5EF4-FFF2-40B4-BE49-F238E27FC236}">
                    <a16:creationId xmlns:a16="http://schemas.microsoft.com/office/drawing/2014/main" id="{E1CA7EF8-E03B-408C-9C1E-2F60BD606EE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85" y="5831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Line 4305">
                <a:extLst>
                  <a:ext uri="{FF2B5EF4-FFF2-40B4-BE49-F238E27FC236}">
                    <a16:creationId xmlns:a16="http://schemas.microsoft.com/office/drawing/2014/main" id="{2D5A4E1D-AEBF-4357-81B0-A562F26C502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1" y="5831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Line 4306">
                <a:extLst>
                  <a:ext uri="{FF2B5EF4-FFF2-40B4-BE49-F238E27FC236}">
                    <a16:creationId xmlns:a16="http://schemas.microsoft.com/office/drawing/2014/main" id="{2BEDB446-C57C-42FC-8204-048D6E80395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537" y="5831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Line 4307">
                <a:extLst>
                  <a:ext uri="{FF2B5EF4-FFF2-40B4-BE49-F238E27FC236}">
                    <a16:creationId xmlns:a16="http://schemas.microsoft.com/office/drawing/2014/main" id="{EA3671A5-C6DD-4A10-BC01-E6297F6EC40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113" y="5831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Line 4308">
                <a:extLst>
                  <a:ext uri="{FF2B5EF4-FFF2-40B4-BE49-F238E27FC236}">
                    <a16:creationId xmlns:a16="http://schemas.microsoft.com/office/drawing/2014/main" id="{B8CC47E8-81BF-47F7-A828-0A1AC42A1DA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689" y="5831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Line 4309">
                <a:extLst>
                  <a:ext uri="{FF2B5EF4-FFF2-40B4-BE49-F238E27FC236}">
                    <a16:creationId xmlns:a16="http://schemas.microsoft.com/office/drawing/2014/main" id="{B2859C26-D735-406A-B574-DC636A0EA54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829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Line 4310">
                <a:extLst>
                  <a:ext uri="{FF2B5EF4-FFF2-40B4-BE49-F238E27FC236}">
                    <a16:creationId xmlns:a16="http://schemas.microsoft.com/office/drawing/2014/main" id="{2EBD0739-FC6D-48AE-A856-C40C9AC4C8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829" y="5992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Line 4311">
                <a:extLst>
                  <a:ext uri="{FF2B5EF4-FFF2-40B4-BE49-F238E27FC236}">
                    <a16:creationId xmlns:a16="http://schemas.microsoft.com/office/drawing/2014/main" id="{5DF966B1-B7F9-434B-8EB6-81978C8F591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117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Line 4312">
                <a:extLst>
                  <a:ext uri="{FF2B5EF4-FFF2-40B4-BE49-F238E27FC236}">
                    <a16:creationId xmlns:a16="http://schemas.microsoft.com/office/drawing/2014/main" id="{442BF837-DD53-4839-B282-F9CD9299F0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117" y="6280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Line 4313">
                <a:extLst>
                  <a:ext uri="{FF2B5EF4-FFF2-40B4-BE49-F238E27FC236}">
                    <a16:creationId xmlns:a16="http://schemas.microsoft.com/office/drawing/2014/main" id="{7909C279-7757-4DEA-8ADC-4D0E3C26007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405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Line 4314">
                <a:extLst>
                  <a:ext uri="{FF2B5EF4-FFF2-40B4-BE49-F238E27FC236}">
                    <a16:creationId xmlns:a16="http://schemas.microsoft.com/office/drawing/2014/main" id="{4F08BDC5-24C6-46AC-A558-39701BBC140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05" y="5992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Line 4315">
                <a:extLst>
                  <a:ext uri="{FF2B5EF4-FFF2-40B4-BE49-F238E27FC236}">
                    <a16:creationId xmlns:a16="http://schemas.microsoft.com/office/drawing/2014/main" id="{2B34EC61-3185-47CF-AD40-5E147F3A03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93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Line 4316">
                <a:extLst>
                  <a:ext uri="{FF2B5EF4-FFF2-40B4-BE49-F238E27FC236}">
                    <a16:creationId xmlns:a16="http://schemas.microsoft.com/office/drawing/2014/main" id="{7460ABB9-4145-4F8A-8C65-2DA20E78E5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93" y="6280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Line 4317">
                <a:extLst>
                  <a:ext uri="{FF2B5EF4-FFF2-40B4-BE49-F238E27FC236}">
                    <a16:creationId xmlns:a16="http://schemas.microsoft.com/office/drawing/2014/main" id="{1B80ADB9-6696-4782-BCFB-90B00406A57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981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Line 4318">
                <a:extLst>
                  <a:ext uri="{FF2B5EF4-FFF2-40B4-BE49-F238E27FC236}">
                    <a16:creationId xmlns:a16="http://schemas.microsoft.com/office/drawing/2014/main" id="{385549F7-B8AA-41AC-A13E-1BCC6DB8646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81" y="5992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Line 4319">
                <a:extLst>
                  <a:ext uri="{FF2B5EF4-FFF2-40B4-BE49-F238E27FC236}">
                    <a16:creationId xmlns:a16="http://schemas.microsoft.com/office/drawing/2014/main" id="{F1E792EC-1FE5-48A7-8039-9129327A510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69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Line 4320">
                <a:extLst>
                  <a:ext uri="{FF2B5EF4-FFF2-40B4-BE49-F238E27FC236}">
                    <a16:creationId xmlns:a16="http://schemas.microsoft.com/office/drawing/2014/main" id="{BF2CD6D4-F34B-40CB-8978-1E1207C41E9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69" y="6280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Line 4321">
                <a:extLst>
                  <a:ext uri="{FF2B5EF4-FFF2-40B4-BE49-F238E27FC236}">
                    <a16:creationId xmlns:a16="http://schemas.microsoft.com/office/drawing/2014/main" id="{4A42E7C4-8CE9-4E6D-8C1F-0A3E010C1D3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557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" name="Line 4322">
                <a:extLst>
                  <a:ext uri="{FF2B5EF4-FFF2-40B4-BE49-F238E27FC236}">
                    <a16:creationId xmlns:a16="http://schemas.microsoft.com/office/drawing/2014/main" id="{4583E013-B5E3-45BC-A33E-212EC3260C8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557" y="5992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Line 4323">
                <a:extLst>
                  <a:ext uri="{FF2B5EF4-FFF2-40B4-BE49-F238E27FC236}">
                    <a16:creationId xmlns:a16="http://schemas.microsoft.com/office/drawing/2014/main" id="{2E0D95BB-51E7-4BBC-92A7-67FF8472A97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845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Line 4324">
                <a:extLst>
                  <a:ext uri="{FF2B5EF4-FFF2-40B4-BE49-F238E27FC236}">
                    <a16:creationId xmlns:a16="http://schemas.microsoft.com/office/drawing/2014/main" id="{96EF1402-9F19-4416-AE60-089F5892426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845" y="6280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Line 4325">
                <a:extLst>
                  <a:ext uri="{FF2B5EF4-FFF2-40B4-BE49-F238E27FC236}">
                    <a16:creationId xmlns:a16="http://schemas.microsoft.com/office/drawing/2014/main" id="{BD0061A4-60F6-44AE-85EC-3839321D3F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133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Line 4326">
                <a:extLst>
                  <a:ext uri="{FF2B5EF4-FFF2-40B4-BE49-F238E27FC236}">
                    <a16:creationId xmlns:a16="http://schemas.microsoft.com/office/drawing/2014/main" id="{E1F30861-CE56-48C9-BABD-BE2A3AAADF6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133" y="5992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Line 4327">
                <a:extLst>
                  <a:ext uri="{FF2B5EF4-FFF2-40B4-BE49-F238E27FC236}">
                    <a16:creationId xmlns:a16="http://schemas.microsoft.com/office/drawing/2014/main" id="{8A511A01-F973-4F1F-A65D-C91AF954FDA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421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Line 4328">
                <a:extLst>
                  <a:ext uri="{FF2B5EF4-FFF2-40B4-BE49-F238E27FC236}">
                    <a16:creationId xmlns:a16="http://schemas.microsoft.com/office/drawing/2014/main" id="{756FAE72-64B8-4DDD-9D68-78A877FEC40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421" y="6280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" name="Line 4329">
                <a:extLst>
                  <a:ext uri="{FF2B5EF4-FFF2-40B4-BE49-F238E27FC236}">
                    <a16:creationId xmlns:a16="http://schemas.microsoft.com/office/drawing/2014/main" id="{1C4FD495-8B41-4133-9C38-2A777E16E3B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709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" name="Line 4330">
                <a:extLst>
                  <a:ext uri="{FF2B5EF4-FFF2-40B4-BE49-F238E27FC236}">
                    <a16:creationId xmlns:a16="http://schemas.microsoft.com/office/drawing/2014/main" id="{DB574F25-BD3D-44B4-A0EB-7B83E3E9045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709" y="5992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Line 4331">
                <a:extLst>
                  <a:ext uri="{FF2B5EF4-FFF2-40B4-BE49-F238E27FC236}">
                    <a16:creationId xmlns:a16="http://schemas.microsoft.com/office/drawing/2014/main" id="{57095D61-2428-4682-A9EF-E81CC06B1F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997" y="599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Line 4332">
                <a:extLst>
                  <a:ext uri="{FF2B5EF4-FFF2-40B4-BE49-F238E27FC236}">
                    <a16:creationId xmlns:a16="http://schemas.microsoft.com/office/drawing/2014/main" id="{449EFF19-31DF-4CF7-867D-73C7016C11A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997" y="6280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Line 4333">
                <a:extLst>
                  <a:ext uri="{FF2B5EF4-FFF2-40B4-BE49-F238E27FC236}">
                    <a16:creationId xmlns:a16="http://schemas.microsoft.com/office/drawing/2014/main" id="{CF971322-3A3E-4019-8D71-C8D2F9072E1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233" y="5831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Line 4334">
                <a:extLst>
                  <a:ext uri="{FF2B5EF4-FFF2-40B4-BE49-F238E27FC236}">
                    <a16:creationId xmlns:a16="http://schemas.microsoft.com/office/drawing/2014/main" id="{5040F47F-9FF5-48E3-853A-B8CDDF59827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233" y="6280"/>
                <a:ext cx="57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Line 4335">
                <a:extLst>
                  <a:ext uri="{FF2B5EF4-FFF2-40B4-BE49-F238E27FC236}">
                    <a16:creationId xmlns:a16="http://schemas.microsoft.com/office/drawing/2014/main" id="{51E08587-95B6-490F-802E-22EAE641B6E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521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" name="Line 4336">
                <a:extLst>
                  <a:ext uri="{FF2B5EF4-FFF2-40B4-BE49-F238E27FC236}">
                    <a16:creationId xmlns:a16="http://schemas.microsoft.com/office/drawing/2014/main" id="{5D144671-2E08-4D07-838F-6D58300577D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521" y="5543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" name="Line 4337">
                <a:extLst>
                  <a:ext uri="{FF2B5EF4-FFF2-40B4-BE49-F238E27FC236}">
                    <a16:creationId xmlns:a16="http://schemas.microsoft.com/office/drawing/2014/main" id="{2C400CD4-5FBA-455A-A852-38820AA7F6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809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" name="Line 4338">
                <a:extLst>
                  <a:ext uri="{FF2B5EF4-FFF2-40B4-BE49-F238E27FC236}">
                    <a16:creationId xmlns:a16="http://schemas.microsoft.com/office/drawing/2014/main" id="{51B55506-7F1F-4312-8A24-E8B02E00446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097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Line 4339">
                <a:extLst>
                  <a:ext uri="{FF2B5EF4-FFF2-40B4-BE49-F238E27FC236}">
                    <a16:creationId xmlns:a16="http://schemas.microsoft.com/office/drawing/2014/main" id="{87FC4B2D-7ED5-47E3-952B-6866BABB8F1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097" y="5543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Line 4340">
                <a:extLst>
                  <a:ext uri="{FF2B5EF4-FFF2-40B4-BE49-F238E27FC236}">
                    <a16:creationId xmlns:a16="http://schemas.microsoft.com/office/drawing/2014/main" id="{71A7B99A-95C0-4917-B149-6EC063635E4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85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Line 4341">
                <a:extLst>
                  <a:ext uri="{FF2B5EF4-FFF2-40B4-BE49-F238E27FC236}">
                    <a16:creationId xmlns:a16="http://schemas.microsoft.com/office/drawing/2014/main" id="{4EAAE762-A969-4B01-96E1-55653B07186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673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3" name="Line 4342">
                <a:extLst>
                  <a:ext uri="{FF2B5EF4-FFF2-40B4-BE49-F238E27FC236}">
                    <a16:creationId xmlns:a16="http://schemas.microsoft.com/office/drawing/2014/main" id="{A98C974C-0200-47F1-A308-A97BEF9DB8A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73" y="5543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Line 4343">
                <a:extLst>
                  <a:ext uri="{FF2B5EF4-FFF2-40B4-BE49-F238E27FC236}">
                    <a16:creationId xmlns:a16="http://schemas.microsoft.com/office/drawing/2014/main" id="{54AAF906-294F-45BE-BE56-DEE5CAE705E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1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" name="Line 4344">
                <a:extLst>
                  <a:ext uri="{FF2B5EF4-FFF2-40B4-BE49-F238E27FC236}">
                    <a16:creationId xmlns:a16="http://schemas.microsoft.com/office/drawing/2014/main" id="{C3457398-7D7E-4EA2-8DE4-6A2AEB9E26B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249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" name="Line 4345">
                <a:extLst>
                  <a:ext uri="{FF2B5EF4-FFF2-40B4-BE49-F238E27FC236}">
                    <a16:creationId xmlns:a16="http://schemas.microsoft.com/office/drawing/2014/main" id="{B4225EE2-2E7E-4873-A34B-00148ED5864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49" y="5543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7" name="Line 4346">
                <a:extLst>
                  <a:ext uri="{FF2B5EF4-FFF2-40B4-BE49-F238E27FC236}">
                    <a16:creationId xmlns:a16="http://schemas.microsoft.com/office/drawing/2014/main" id="{DBFA2F96-3B11-4FDC-8516-7792A4BB97B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537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8" name="Line 4347">
                <a:extLst>
                  <a:ext uri="{FF2B5EF4-FFF2-40B4-BE49-F238E27FC236}">
                    <a16:creationId xmlns:a16="http://schemas.microsoft.com/office/drawing/2014/main" id="{7FEF4A95-5423-4B5E-B95F-5CE46B4062A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825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9" name="Line 4348">
                <a:extLst>
                  <a:ext uri="{FF2B5EF4-FFF2-40B4-BE49-F238E27FC236}">
                    <a16:creationId xmlns:a16="http://schemas.microsoft.com/office/drawing/2014/main" id="{9AEEFC44-C2D3-4828-9A7A-3982D01393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825" y="5543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" name="Line 4349">
                <a:extLst>
                  <a:ext uri="{FF2B5EF4-FFF2-40B4-BE49-F238E27FC236}">
                    <a16:creationId xmlns:a16="http://schemas.microsoft.com/office/drawing/2014/main" id="{79E39F18-7AC4-4AA9-A878-01F76DFE73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113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1" name="Line 4350">
                <a:extLst>
                  <a:ext uri="{FF2B5EF4-FFF2-40B4-BE49-F238E27FC236}">
                    <a16:creationId xmlns:a16="http://schemas.microsoft.com/office/drawing/2014/main" id="{E5EBD475-71F6-4270-A4A4-637BCAEE04D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401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" name="Line 4351">
                <a:extLst>
                  <a:ext uri="{FF2B5EF4-FFF2-40B4-BE49-F238E27FC236}">
                    <a16:creationId xmlns:a16="http://schemas.microsoft.com/office/drawing/2014/main" id="{02EB2279-19CE-4EF2-AF43-437C42812E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401" y="5543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3" name="Line 4352">
                <a:extLst>
                  <a:ext uri="{FF2B5EF4-FFF2-40B4-BE49-F238E27FC236}">
                    <a16:creationId xmlns:a16="http://schemas.microsoft.com/office/drawing/2014/main" id="{2CA33E78-80A4-4C72-B69C-479A9EA2A1C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689" y="55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146064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1583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 tử AND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(Và)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FD7520A-10D7-EABD-B2AB-DA43F7848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40" y="2389629"/>
            <a:ext cx="109251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1583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Phần tử N-AND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(Đảo – Và)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B3EB9F-F558-3574-F617-96A5FC296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7" y="2476188"/>
            <a:ext cx="1076325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8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1583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Phần tử OR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(Hoặc)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ADFE1-9842-CB4E-AFB7-D3E8433F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387159"/>
            <a:ext cx="1078230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4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1583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 Phần tử N-OR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(Đảo – Hoặc)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8944FE-924F-4FE2-1F47-D47E487B7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2" y="2387159"/>
            <a:ext cx="108966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721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1583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f. Phần tử XOR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(Cộng modul 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2D382-9977-483B-4219-D918FCC57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85" y="2456304"/>
            <a:ext cx="106965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5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1583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 Phần tử N-XOR </a:t>
            </a:r>
            <a:r>
              <a:rPr lang="en-US" sz="32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(Đảo - Cộng modul 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591946-7004-19C3-C7ED-AFAC6039C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2" y="2565217"/>
            <a:ext cx="1087755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3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  <a:p>
            <a:pPr algn="just"/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Chuyển đổi các phần tử logic –chuyển đổi từ phần tử NAND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65C013-A529-6410-1B32-A10E4DB08690}"/>
              </a:ext>
            </a:extLst>
          </p:cNvPr>
          <p:cNvGrpSpPr/>
          <p:nvPr/>
        </p:nvGrpSpPr>
        <p:grpSpPr>
          <a:xfrm>
            <a:off x="1771075" y="2217660"/>
            <a:ext cx="8450674" cy="4507238"/>
            <a:chOff x="959376" y="1866345"/>
            <a:chExt cx="8450674" cy="450723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329C39C-765F-EA97-4C52-E2F09D7A68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lum bright="20000" contrast="20000"/>
            </a:blip>
            <a:srcRect t="8233" b="5701"/>
            <a:stretch/>
          </p:blipFill>
          <p:spPr>
            <a:xfrm>
              <a:off x="1325230" y="1866345"/>
              <a:ext cx="8084820" cy="4507238"/>
            </a:xfrm>
            <a:prstGeom prst="rect">
              <a:avLst/>
            </a:prstGeom>
          </p:spPr>
        </p:pic>
        <p:sp>
          <p:nvSpPr>
            <p:cNvPr id="9" name="Left-Right Arrow 2">
              <a:extLst>
                <a:ext uri="{FF2B5EF4-FFF2-40B4-BE49-F238E27FC236}">
                  <a16:creationId xmlns:a16="http://schemas.microsoft.com/office/drawing/2014/main" id="{00C4AC1A-992F-DC3F-C1EA-B3687646974A}"/>
                </a:ext>
              </a:extLst>
            </p:cNvPr>
            <p:cNvSpPr/>
            <p:nvPr/>
          </p:nvSpPr>
          <p:spPr>
            <a:xfrm>
              <a:off x="5867400" y="2209800"/>
              <a:ext cx="635000" cy="22860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10" name="Left-Right Arrow 10">
              <a:extLst>
                <a:ext uri="{FF2B5EF4-FFF2-40B4-BE49-F238E27FC236}">
                  <a16:creationId xmlns:a16="http://schemas.microsoft.com/office/drawing/2014/main" id="{B5180A42-1738-8EEE-687E-F2546697F9B7}"/>
                </a:ext>
              </a:extLst>
            </p:cNvPr>
            <p:cNvSpPr/>
            <p:nvPr/>
          </p:nvSpPr>
          <p:spPr>
            <a:xfrm>
              <a:off x="5898499" y="3530362"/>
              <a:ext cx="654701" cy="244585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03B91CA5-AE53-E90F-39F9-DFB8098BD5E7}"/>
                </a:ext>
              </a:extLst>
            </p:cNvPr>
            <p:cNvSpPr txBox="1"/>
            <p:nvPr/>
          </p:nvSpPr>
          <p:spPr>
            <a:xfrm>
              <a:off x="1421316" y="1971965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</a:p>
          </p:txBody>
        </p:sp>
        <p:sp>
          <p:nvSpPr>
            <p:cNvPr id="12" name="TextBox 14">
              <a:extLst>
                <a:ext uri="{FF2B5EF4-FFF2-40B4-BE49-F238E27FC236}">
                  <a16:creationId xmlns:a16="http://schemas.microsoft.com/office/drawing/2014/main" id="{0633988C-4BBE-D6C2-3E44-D2AA12F304E7}"/>
                </a:ext>
              </a:extLst>
            </p:cNvPr>
            <p:cNvSpPr txBox="1"/>
            <p:nvPr/>
          </p:nvSpPr>
          <p:spPr>
            <a:xfrm>
              <a:off x="4495800" y="2133600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4974AD73-912C-5090-2198-4CCFFB446590}"/>
                </a:ext>
              </a:extLst>
            </p:cNvPr>
            <p:cNvSpPr txBox="1"/>
            <p:nvPr/>
          </p:nvSpPr>
          <p:spPr>
            <a:xfrm>
              <a:off x="6831516" y="2133600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</a:p>
          </p:txBody>
        </p:sp>
        <p:sp>
          <p:nvSpPr>
            <p:cNvPr id="14" name="TextBox 16">
              <a:extLst>
                <a:ext uri="{FF2B5EF4-FFF2-40B4-BE49-F238E27FC236}">
                  <a16:creationId xmlns:a16="http://schemas.microsoft.com/office/drawing/2014/main" id="{B9698DC9-1E6A-3E83-7944-42B93676FD3F}"/>
                </a:ext>
              </a:extLst>
            </p:cNvPr>
            <p:cNvSpPr txBox="1"/>
            <p:nvPr/>
          </p:nvSpPr>
          <p:spPr>
            <a:xfrm>
              <a:off x="8534400" y="2133600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15" name="TextBox 17">
              <a:extLst>
                <a:ext uri="{FF2B5EF4-FFF2-40B4-BE49-F238E27FC236}">
                  <a16:creationId xmlns:a16="http://schemas.microsoft.com/office/drawing/2014/main" id="{029B6284-E01E-954B-5F0E-A10306062CE9}"/>
                </a:ext>
              </a:extLst>
            </p:cNvPr>
            <p:cNvSpPr txBox="1"/>
            <p:nvPr/>
          </p:nvSpPr>
          <p:spPr>
            <a:xfrm>
              <a:off x="959376" y="3248865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1</a:t>
              </a:r>
              <a:endParaRPr lang="en-US" sz="2400" dirty="0"/>
            </a:p>
          </p:txBody>
        </p:sp>
        <p:sp>
          <p:nvSpPr>
            <p:cNvPr id="16" name="TextBox 18">
              <a:extLst>
                <a:ext uri="{FF2B5EF4-FFF2-40B4-BE49-F238E27FC236}">
                  <a16:creationId xmlns:a16="http://schemas.microsoft.com/office/drawing/2014/main" id="{61C8EF15-C3A8-2D26-2697-C85F81666C71}"/>
                </a:ext>
              </a:extLst>
            </p:cNvPr>
            <p:cNvSpPr txBox="1"/>
            <p:nvPr/>
          </p:nvSpPr>
          <p:spPr>
            <a:xfrm>
              <a:off x="959376" y="3714886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0</a:t>
              </a:r>
              <a:endParaRPr lang="en-US" sz="2400" dirty="0"/>
            </a:p>
          </p:txBody>
        </p:sp>
        <p:sp>
          <p:nvSpPr>
            <p:cNvPr id="17" name="TextBox 19">
              <a:extLst>
                <a:ext uri="{FF2B5EF4-FFF2-40B4-BE49-F238E27FC236}">
                  <a16:creationId xmlns:a16="http://schemas.microsoft.com/office/drawing/2014/main" id="{FAA0249A-1FE7-1625-D9F1-C7CBE4A3FC36}"/>
                </a:ext>
              </a:extLst>
            </p:cNvPr>
            <p:cNvSpPr txBox="1"/>
            <p:nvPr/>
          </p:nvSpPr>
          <p:spPr>
            <a:xfrm>
              <a:off x="5463764" y="3263572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0CD4C00D-6112-CDFB-08FF-684E1B4E5733}"/>
                </a:ext>
              </a:extLst>
            </p:cNvPr>
            <p:cNvSpPr txBox="1"/>
            <p:nvPr/>
          </p:nvSpPr>
          <p:spPr>
            <a:xfrm>
              <a:off x="6571939" y="3115068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1</a:t>
              </a:r>
              <a:endParaRPr lang="en-US" sz="2400" dirty="0"/>
            </a:p>
          </p:txBody>
        </p:sp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EEFD9431-4533-B4CB-B3C4-B7F3850DC252}"/>
                </a:ext>
              </a:extLst>
            </p:cNvPr>
            <p:cNvSpPr txBox="1"/>
            <p:nvPr/>
          </p:nvSpPr>
          <p:spPr>
            <a:xfrm>
              <a:off x="6596652" y="3876965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0</a:t>
              </a:r>
              <a:endParaRPr lang="en-US" sz="2400" dirty="0"/>
            </a:p>
          </p:txBody>
        </p:sp>
        <p:sp>
          <p:nvSpPr>
            <p:cNvPr id="20" name="Left-Right Arrow 23">
              <a:extLst>
                <a:ext uri="{FF2B5EF4-FFF2-40B4-BE49-F238E27FC236}">
                  <a16:creationId xmlns:a16="http://schemas.microsoft.com/office/drawing/2014/main" id="{15858B1C-2386-866A-3C02-DCBB2B2B5B47}"/>
                </a:ext>
              </a:extLst>
            </p:cNvPr>
            <p:cNvSpPr/>
            <p:nvPr/>
          </p:nvSpPr>
          <p:spPr>
            <a:xfrm>
              <a:off x="5898499" y="5392077"/>
              <a:ext cx="654701" cy="244585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21" name="Left-Right Arrow 24">
              <a:extLst>
                <a:ext uri="{FF2B5EF4-FFF2-40B4-BE49-F238E27FC236}">
                  <a16:creationId xmlns:a16="http://schemas.microsoft.com/office/drawing/2014/main" id="{04CD4D2F-16B6-41A4-E937-08EC5984F598}"/>
                </a:ext>
              </a:extLst>
            </p:cNvPr>
            <p:cNvSpPr/>
            <p:nvPr/>
          </p:nvSpPr>
          <p:spPr>
            <a:xfrm>
              <a:off x="5866097" y="2222059"/>
              <a:ext cx="635000" cy="22860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22" name="TextBox 25">
              <a:extLst>
                <a:ext uri="{FF2B5EF4-FFF2-40B4-BE49-F238E27FC236}">
                  <a16:creationId xmlns:a16="http://schemas.microsoft.com/office/drawing/2014/main" id="{05BC9D23-505F-C030-8627-F4801242810F}"/>
                </a:ext>
              </a:extLst>
            </p:cNvPr>
            <p:cNvSpPr txBox="1"/>
            <p:nvPr/>
          </p:nvSpPr>
          <p:spPr>
            <a:xfrm>
              <a:off x="8908905" y="3467787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23" name="TextBox 26">
              <a:extLst>
                <a:ext uri="{FF2B5EF4-FFF2-40B4-BE49-F238E27FC236}">
                  <a16:creationId xmlns:a16="http://schemas.microsoft.com/office/drawing/2014/main" id="{410073AD-0C53-65ED-88FD-7C6487F83650}"/>
                </a:ext>
              </a:extLst>
            </p:cNvPr>
            <p:cNvSpPr txBox="1"/>
            <p:nvPr/>
          </p:nvSpPr>
          <p:spPr>
            <a:xfrm>
              <a:off x="8908905" y="5319251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24" name="TextBox 27">
              <a:extLst>
                <a:ext uri="{FF2B5EF4-FFF2-40B4-BE49-F238E27FC236}">
                  <a16:creationId xmlns:a16="http://schemas.microsoft.com/office/drawing/2014/main" id="{E67C6E84-9498-8CD3-A703-570C7ADDF0D5}"/>
                </a:ext>
              </a:extLst>
            </p:cNvPr>
            <p:cNvSpPr txBox="1"/>
            <p:nvPr/>
          </p:nvSpPr>
          <p:spPr>
            <a:xfrm>
              <a:off x="5491793" y="5124133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25" name="TextBox 28">
              <a:extLst>
                <a:ext uri="{FF2B5EF4-FFF2-40B4-BE49-F238E27FC236}">
                  <a16:creationId xmlns:a16="http://schemas.microsoft.com/office/drawing/2014/main" id="{A6F93D34-DE5F-A05F-5E1A-75C1BD58C1B8}"/>
                </a:ext>
              </a:extLst>
            </p:cNvPr>
            <p:cNvSpPr txBox="1"/>
            <p:nvPr/>
          </p:nvSpPr>
          <p:spPr>
            <a:xfrm>
              <a:off x="1013924" y="4535821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1</a:t>
              </a:r>
              <a:endParaRPr lang="en-US" sz="2400" dirty="0"/>
            </a:p>
          </p:txBody>
        </p:sp>
        <p:sp>
          <p:nvSpPr>
            <p:cNvPr id="26" name="TextBox 29">
              <a:extLst>
                <a:ext uri="{FF2B5EF4-FFF2-40B4-BE49-F238E27FC236}">
                  <a16:creationId xmlns:a16="http://schemas.microsoft.com/office/drawing/2014/main" id="{269499EC-C3A9-1E83-57AE-2CDDBE09BBAA}"/>
                </a:ext>
              </a:extLst>
            </p:cNvPr>
            <p:cNvSpPr txBox="1"/>
            <p:nvPr/>
          </p:nvSpPr>
          <p:spPr>
            <a:xfrm>
              <a:off x="1013924" y="5569137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0</a:t>
              </a:r>
              <a:endParaRPr lang="en-US" sz="2400" dirty="0"/>
            </a:p>
          </p:txBody>
        </p:sp>
        <p:sp>
          <p:nvSpPr>
            <p:cNvPr id="27" name="TextBox 30">
              <a:extLst>
                <a:ext uri="{FF2B5EF4-FFF2-40B4-BE49-F238E27FC236}">
                  <a16:creationId xmlns:a16="http://schemas.microsoft.com/office/drawing/2014/main" id="{F4B9CB4A-769E-F387-E34B-38A9654DE3AB}"/>
                </a:ext>
              </a:extLst>
            </p:cNvPr>
            <p:cNvSpPr txBox="1"/>
            <p:nvPr/>
          </p:nvSpPr>
          <p:spPr>
            <a:xfrm>
              <a:off x="6660772" y="5020068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1</a:t>
              </a:r>
              <a:endParaRPr lang="en-US" sz="2400" dirty="0"/>
            </a:p>
          </p:txBody>
        </p:sp>
        <p:sp>
          <p:nvSpPr>
            <p:cNvPr id="28" name="TextBox 31">
              <a:extLst>
                <a:ext uri="{FF2B5EF4-FFF2-40B4-BE49-F238E27FC236}">
                  <a16:creationId xmlns:a16="http://schemas.microsoft.com/office/drawing/2014/main" id="{76CC713E-7B40-97C4-7492-8DE59A8E20D1}"/>
                </a:ext>
              </a:extLst>
            </p:cNvPr>
            <p:cNvSpPr txBox="1"/>
            <p:nvPr/>
          </p:nvSpPr>
          <p:spPr>
            <a:xfrm>
              <a:off x="6660772" y="5755019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0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22817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  <a:p>
            <a:pPr algn="just"/>
            <a:r>
              <a:rPr lang="en-US" sz="32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Chuyển đổi các phần tử logic –chuyển đổi từ phần tử NOR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ED9FC1-C6E1-4FB3-5A7D-FA5CBA2656A6}"/>
              </a:ext>
            </a:extLst>
          </p:cNvPr>
          <p:cNvGrpSpPr/>
          <p:nvPr/>
        </p:nvGrpSpPr>
        <p:grpSpPr>
          <a:xfrm>
            <a:off x="1854024" y="2116494"/>
            <a:ext cx="8483951" cy="4608404"/>
            <a:chOff x="959376" y="1885821"/>
            <a:chExt cx="8614573" cy="471637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BE774A7-AE43-DE98-C788-6025537D2A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lum bright="20000" contrast="20000"/>
            </a:blip>
            <a:srcRect l="3269" t="8452" r="3269" b="8452"/>
            <a:stretch/>
          </p:blipFill>
          <p:spPr>
            <a:xfrm>
              <a:off x="1371600" y="1885821"/>
              <a:ext cx="7846208" cy="4716379"/>
            </a:xfrm>
            <a:prstGeom prst="rect">
              <a:avLst/>
            </a:prstGeom>
          </p:spPr>
        </p:pic>
        <p:sp>
          <p:nvSpPr>
            <p:cNvPr id="30" name="Left-Right Arrow 2">
              <a:extLst>
                <a:ext uri="{FF2B5EF4-FFF2-40B4-BE49-F238E27FC236}">
                  <a16:creationId xmlns:a16="http://schemas.microsoft.com/office/drawing/2014/main" id="{98F6056D-9272-39BF-5A51-047BD39883CB}"/>
                </a:ext>
              </a:extLst>
            </p:cNvPr>
            <p:cNvSpPr/>
            <p:nvPr/>
          </p:nvSpPr>
          <p:spPr>
            <a:xfrm>
              <a:off x="6070600" y="2140239"/>
              <a:ext cx="635000" cy="22860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31" name="Left-Right Arrow 10">
              <a:extLst>
                <a:ext uri="{FF2B5EF4-FFF2-40B4-BE49-F238E27FC236}">
                  <a16:creationId xmlns:a16="http://schemas.microsoft.com/office/drawing/2014/main" id="{89E33FBE-C9DD-E692-5CB7-863A5D91318D}"/>
                </a:ext>
              </a:extLst>
            </p:cNvPr>
            <p:cNvSpPr/>
            <p:nvPr/>
          </p:nvSpPr>
          <p:spPr>
            <a:xfrm>
              <a:off x="6127901" y="3441354"/>
              <a:ext cx="654701" cy="244585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32" name="TextBox 6">
              <a:extLst>
                <a:ext uri="{FF2B5EF4-FFF2-40B4-BE49-F238E27FC236}">
                  <a16:creationId xmlns:a16="http://schemas.microsoft.com/office/drawing/2014/main" id="{4D3583DE-057A-34A0-DACF-6F9FCFD34A75}"/>
                </a:ext>
              </a:extLst>
            </p:cNvPr>
            <p:cNvSpPr txBox="1"/>
            <p:nvPr/>
          </p:nvSpPr>
          <p:spPr>
            <a:xfrm>
              <a:off x="1856051" y="1946124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</a:p>
          </p:txBody>
        </p:sp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9A25297A-538F-1AC4-27BF-78AD8127F530}"/>
                </a:ext>
              </a:extLst>
            </p:cNvPr>
            <p:cNvSpPr txBox="1"/>
            <p:nvPr/>
          </p:nvSpPr>
          <p:spPr>
            <a:xfrm>
              <a:off x="4746865" y="2133600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AB3746A5-3927-A04E-C4AF-7F456ECB1469}"/>
                </a:ext>
              </a:extLst>
            </p:cNvPr>
            <p:cNvSpPr txBox="1"/>
            <p:nvPr/>
          </p:nvSpPr>
          <p:spPr>
            <a:xfrm>
              <a:off x="6804265" y="2133600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9C260EDE-00D8-187E-099C-BDC71AF42173}"/>
                </a:ext>
              </a:extLst>
            </p:cNvPr>
            <p:cNvSpPr txBox="1"/>
            <p:nvPr/>
          </p:nvSpPr>
          <p:spPr>
            <a:xfrm>
              <a:off x="8637851" y="2133600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36" name="TextBox 17">
              <a:extLst>
                <a:ext uri="{FF2B5EF4-FFF2-40B4-BE49-F238E27FC236}">
                  <a16:creationId xmlns:a16="http://schemas.microsoft.com/office/drawing/2014/main" id="{055AEEA4-4B30-FD3A-82ED-34BC54D202D5}"/>
                </a:ext>
              </a:extLst>
            </p:cNvPr>
            <p:cNvSpPr txBox="1"/>
            <p:nvPr/>
          </p:nvSpPr>
          <p:spPr>
            <a:xfrm>
              <a:off x="1106875" y="3164068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1</a:t>
              </a:r>
              <a:endParaRPr lang="en-US" sz="2400" dirty="0"/>
            </a:p>
          </p:txBody>
        </p:sp>
        <p:sp>
          <p:nvSpPr>
            <p:cNvPr id="37" name="TextBox 18">
              <a:extLst>
                <a:ext uri="{FF2B5EF4-FFF2-40B4-BE49-F238E27FC236}">
                  <a16:creationId xmlns:a16="http://schemas.microsoft.com/office/drawing/2014/main" id="{70431662-878E-C5EF-E2DD-E74A70D57A4C}"/>
                </a:ext>
              </a:extLst>
            </p:cNvPr>
            <p:cNvSpPr txBox="1"/>
            <p:nvPr/>
          </p:nvSpPr>
          <p:spPr>
            <a:xfrm>
              <a:off x="1126249" y="3657600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0</a:t>
              </a:r>
              <a:endParaRPr lang="en-US" sz="2400" dirty="0"/>
            </a:p>
          </p:txBody>
        </p:sp>
        <p:sp>
          <p:nvSpPr>
            <p:cNvPr id="38" name="TextBox 19">
              <a:extLst>
                <a:ext uri="{FF2B5EF4-FFF2-40B4-BE49-F238E27FC236}">
                  <a16:creationId xmlns:a16="http://schemas.microsoft.com/office/drawing/2014/main" id="{7E912E15-1AA3-04BC-BBDA-F0B4DEC2EC76}"/>
                </a:ext>
              </a:extLst>
            </p:cNvPr>
            <p:cNvSpPr txBox="1"/>
            <p:nvPr/>
          </p:nvSpPr>
          <p:spPr>
            <a:xfrm>
              <a:off x="5693417" y="3263572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39" name="TextBox 20">
              <a:extLst>
                <a:ext uri="{FF2B5EF4-FFF2-40B4-BE49-F238E27FC236}">
                  <a16:creationId xmlns:a16="http://schemas.microsoft.com/office/drawing/2014/main" id="{4B9B83EA-6472-F2BC-9A24-94BD9355D9E2}"/>
                </a:ext>
              </a:extLst>
            </p:cNvPr>
            <p:cNvSpPr txBox="1"/>
            <p:nvPr/>
          </p:nvSpPr>
          <p:spPr>
            <a:xfrm>
              <a:off x="6733825" y="3087868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1</a:t>
              </a:r>
              <a:endParaRPr lang="en-US" sz="2400" dirty="0"/>
            </a:p>
          </p:txBody>
        </p:sp>
        <p:sp>
          <p:nvSpPr>
            <p:cNvPr id="40" name="TextBox 21">
              <a:extLst>
                <a:ext uri="{FF2B5EF4-FFF2-40B4-BE49-F238E27FC236}">
                  <a16:creationId xmlns:a16="http://schemas.microsoft.com/office/drawing/2014/main" id="{724388B2-0BA3-6B60-B06F-D4E299B70588}"/>
                </a:ext>
              </a:extLst>
            </p:cNvPr>
            <p:cNvSpPr txBox="1"/>
            <p:nvPr/>
          </p:nvSpPr>
          <p:spPr>
            <a:xfrm>
              <a:off x="6733825" y="3810000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0</a:t>
              </a:r>
              <a:endParaRPr lang="en-US" sz="2400" dirty="0"/>
            </a:p>
          </p:txBody>
        </p:sp>
        <p:sp>
          <p:nvSpPr>
            <p:cNvPr id="41" name="Left-Right Arrow 23">
              <a:extLst>
                <a:ext uri="{FF2B5EF4-FFF2-40B4-BE49-F238E27FC236}">
                  <a16:creationId xmlns:a16="http://schemas.microsoft.com/office/drawing/2014/main" id="{2B9278B1-D693-071E-8499-2EE3BCFB76E7}"/>
                </a:ext>
              </a:extLst>
            </p:cNvPr>
            <p:cNvSpPr/>
            <p:nvPr/>
          </p:nvSpPr>
          <p:spPr>
            <a:xfrm>
              <a:off x="6173292" y="5600498"/>
              <a:ext cx="654701" cy="244585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42" name="TextBox 25">
              <a:extLst>
                <a:ext uri="{FF2B5EF4-FFF2-40B4-BE49-F238E27FC236}">
                  <a16:creationId xmlns:a16="http://schemas.microsoft.com/office/drawing/2014/main" id="{6156E5D5-3766-D374-897F-F65488DACD43}"/>
                </a:ext>
              </a:extLst>
            </p:cNvPr>
            <p:cNvSpPr txBox="1"/>
            <p:nvPr/>
          </p:nvSpPr>
          <p:spPr>
            <a:xfrm>
              <a:off x="9095051" y="3467787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43" name="TextBox 26">
              <a:extLst>
                <a:ext uri="{FF2B5EF4-FFF2-40B4-BE49-F238E27FC236}">
                  <a16:creationId xmlns:a16="http://schemas.microsoft.com/office/drawing/2014/main" id="{D3253A40-AD1C-3444-9D92-5CB2C1F886A5}"/>
                </a:ext>
              </a:extLst>
            </p:cNvPr>
            <p:cNvSpPr txBox="1"/>
            <p:nvPr/>
          </p:nvSpPr>
          <p:spPr>
            <a:xfrm>
              <a:off x="9166465" y="5562600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44" name="TextBox 27">
              <a:extLst>
                <a:ext uri="{FF2B5EF4-FFF2-40B4-BE49-F238E27FC236}">
                  <a16:creationId xmlns:a16="http://schemas.microsoft.com/office/drawing/2014/main" id="{A886EBC5-B8A7-2491-D745-0A2FCF05B04B}"/>
                </a:ext>
              </a:extLst>
            </p:cNvPr>
            <p:cNvSpPr txBox="1"/>
            <p:nvPr/>
          </p:nvSpPr>
          <p:spPr>
            <a:xfrm>
              <a:off x="5719901" y="5450068"/>
              <a:ext cx="40748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Y</a:t>
              </a:r>
            </a:p>
          </p:txBody>
        </p:sp>
        <p:sp>
          <p:nvSpPr>
            <p:cNvPr id="45" name="TextBox 28">
              <a:extLst>
                <a:ext uri="{FF2B5EF4-FFF2-40B4-BE49-F238E27FC236}">
                  <a16:creationId xmlns:a16="http://schemas.microsoft.com/office/drawing/2014/main" id="{A7520DAF-5C35-48D3-AA6F-3F473E0CBF83}"/>
                </a:ext>
              </a:extLst>
            </p:cNvPr>
            <p:cNvSpPr txBox="1"/>
            <p:nvPr/>
          </p:nvSpPr>
          <p:spPr>
            <a:xfrm>
              <a:off x="959376" y="4764268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1</a:t>
              </a:r>
              <a:endParaRPr lang="en-US" sz="2400" dirty="0"/>
            </a:p>
          </p:txBody>
        </p:sp>
        <p:sp>
          <p:nvSpPr>
            <p:cNvPr id="46" name="TextBox 29">
              <a:extLst>
                <a:ext uri="{FF2B5EF4-FFF2-40B4-BE49-F238E27FC236}">
                  <a16:creationId xmlns:a16="http://schemas.microsoft.com/office/drawing/2014/main" id="{72A213FE-2673-37CB-0C15-E6C0F0A37BC2}"/>
                </a:ext>
              </a:extLst>
            </p:cNvPr>
            <p:cNvSpPr txBox="1"/>
            <p:nvPr/>
          </p:nvSpPr>
          <p:spPr>
            <a:xfrm>
              <a:off x="959376" y="5907268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0</a:t>
              </a:r>
              <a:endParaRPr lang="en-US" sz="2400" dirty="0"/>
            </a:p>
          </p:txBody>
        </p:sp>
        <p:sp>
          <p:nvSpPr>
            <p:cNvPr id="47" name="TextBox 30">
              <a:extLst>
                <a:ext uri="{FF2B5EF4-FFF2-40B4-BE49-F238E27FC236}">
                  <a16:creationId xmlns:a16="http://schemas.microsoft.com/office/drawing/2014/main" id="{57976BAF-8B4B-EE46-B0C7-7BBFA7CF44B7}"/>
                </a:ext>
              </a:extLst>
            </p:cNvPr>
            <p:cNvSpPr txBox="1"/>
            <p:nvPr/>
          </p:nvSpPr>
          <p:spPr>
            <a:xfrm>
              <a:off x="6660772" y="5172365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1</a:t>
              </a:r>
              <a:endParaRPr lang="en-US" sz="2400" dirty="0"/>
            </a:p>
          </p:txBody>
        </p:sp>
        <p:sp>
          <p:nvSpPr>
            <p:cNvPr id="48" name="TextBox 31">
              <a:extLst>
                <a:ext uri="{FF2B5EF4-FFF2-40B4-BE49-F238E27FC236}">
                  <a16:creationId xmlns:a16="http://schemas.microsoft.com/office/drawing/2014/main" id="{495D2B45-2521-6420-D75E-685848A383FD}"/>
                </a:ext>
              </a:extLst>
            </p:cNvPr>
            <p:cNvSpPr txBox="1"/>
            <p:nvPr/>
          </p:nvSpPr>
          <p:spPr>
            <a:xfrm>
              <a:off x="6660772" y="6010565"/>
              <a:ext cx="51007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just" rtl="0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har char="-"/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sz="2400" dirty="0"/>
                <a:t>X</a:t>
              </a:r>
              <a:r>
                <a:rPr lang="en-US" sz="2400" baseline="-25000" dirty="0"/>
                <a:t>0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982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533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  <a:p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l-PL" sz="32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Ghi nhớ </a:t>
            </a: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tên của các loại vi mạch, chức năng các chân của các vi mạch thông dụng: </a:t>
            </a:r>
            <a:endParaRPr lang="en-US" sz="32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+ Vi mạch của phần tử NOT: </a:t>
            </a:r>
            <a:r>
              <a:rPr lang="en-US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7404; 74LS04; 7414; 74LS14</a:t>
            </a:r>
            <a:endParaRPr lang="en-US" sz="32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+ Vi mạch của phần tử AND: </a:t>
            </a:r>
            <a:r>
              <a:rPr lang="en-US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7408; 74LS08</a:t>
            </a:r>
            <a:endParaRPr lang="en-US" sz="32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+ Vi mạch của phần tử NAND: </a:t>
            </a:r>
            <a:r>
              <a:rPr lang="en-US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7400; 74LS00</a:t>
            </a:r>
            <a:endParaRPr lang="en-US" sz="32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+ Vi mạch của phần tử OR: </a:t>
            </a:r>
            <a:r>
              <a:rPr lang="en-US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7432; 74LS32</a:t>
            </a:r>
            <a:endParaRPr lang="en-US" sz="32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+ Vi mạch của phần tử NOR: </a:t>
            </a:r>
            <a:r>
              <a:rPr lang="en-US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7428; 74LS28</a:t>
            </a:r>
            <a:endParaRPr lang="en-US" sz="32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+ Vi mạch của phần tử XOR: </a:t>
            </a:r>
            <a:r>
              <a:rPr lang="en-US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l-PL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7486; 74LS86</a:t>
            </a:r>
            <a:endParaRPr lang="nl-NL" sz="3200" b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97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803392"/>
            <a:ext cx="119247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2.1.2. </a:t>
            </a:r>
            <a:r>
              <a:rPr lang="nl-NL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phần tử logic </a:t>
            </a:r>
            <a:r>
              <a:rPr lang="nl-NL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bản</a:t>
            </a:r>
          </a:p>
        </p:txBody>
      </p:sp>
      <p:pic>
        <p:nvPicPr>
          <p:cNvPr id="3" name="Picture 2" descr="Parchment">
            <a:extLst>
              <a:ext uri="{FF2B5EF4-FFF2-40B4-BE49-F238E27FC236}">
                <a16:creationId xmlns:a16="http://schemas.microsoft.com/office/drawing/2014/main" id="{21F16CF2-E1F1-E2BE-6FED-5F6B87B44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34" y="1703103"/>
            <a:ext cx="3542091" cy="2320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Parchment">
            <a:extLst>
              <a:ext uri="{FF2B5EF4-FFF2-40B4-BE49-F238E27FC236}">
                <a16:creationId xmlns:a16="http://schemas.microsoft.com/office/drawing/2014/main" id="{868BD6DA-4922-CAA4-04F8-549E455E5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59" y="4276118"/>
            <a:ext cx="3634439" cy="207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Parchment">
            <a:extLst>
              <a:ext uri="{FF2B5EF4-FFF2-40B4-BE49-F238E27FC236}">
                <a16:creationId xmlns:a16="http://schemas.microsoft.com/office/drawing/2014/main" id="{7FC37F78-FB3D-C4E4-CC56-5EB7EFEBC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449" y="4241582"/>
            <a:ext cx="3427507" cy="2224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Parchment">
            <a:extLst>
              <a:ext uri="{FF2B5EF4-FFF2-40B4-BE49-F238E27FC236}">
                <a16:creationId xmlns:a16="http://schemas.microsoft.com/office/drawing/2014/main" id="{8640C3B7-2D1D-E3C2-E2EE-CA2B6C661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670" y="1733992"/>
            <a:ext cx="3683637" cy="2224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Parchment">
            <a:extLst>
              <a:ext uri="{FF2B5EF4-FFF2-40B4-BE49-F238E27FC236}">
                <a16:creationId xmlns:a16="http://schemas.microsoft.com/office/drawing/2014/main" id="{67FFC430-0025-304C-D16A-CB45C2D70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443" y="1662719"/>
            <a:ext cx="3418498" cy="22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Parchment">
            <a:extLst>
              <a:ext uri="{FF2B5EF4-FFF2-40B4-BE49-F238E27FC236}">
                <a16:creationId xmlns:a16="http://schemas.microsoft.com/office/drawing/2014/main" id="{ED59C9BE-1E5E-80EE-D0F4-4743EDA32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907" y="4211056"/>
            <a:ext cx="3530384" cy="214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171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KIỂM TRA TRẮC NGHIỆM NHANH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D5703D-A112-99E8-75C6-81A0B0F6E0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69"/>
          <a:stretch/>
        </p:blipFill>
        <p:spPr>
          <a:xfrm>
            <a:off x="1951823" y="1837854"/>
            <a:ext cx="8867775" cy="331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41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KIỂM TRA TRẮC NGHIỆM NHANH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986498-874F-EC54-D835-649482E5D9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64" b="1"/>
          <a:stretch/>
        </p:blipFill>
        <p:spPr>
          <a:xfrm>
            <a:off x="482003" y="1811169"/>
            <a:ext cx="11372850" cy="347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09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KIỂM TRA TRẮC NGHIỆM NHANH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0D4FB-3673-B419-793A-34604922A3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13"/>
          <a:stretch/>
        </p:blipFill>
        <p:spPr>
          <a:xfrm>
            <a:off x="1348685" y="1210721"/>
            <a:ext cx="9277350" cy="512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2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– </a:t>
            </a:r>
            <a:r>
              <a:rPr lang="en-US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NGHIÊN CỨ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85672" y="1184767"/>
            <a:ext cx="11924712" cy="475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Câu hỏi ôn tập: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Khái niệm hệ đếm, phân loại, chuyển đổi giữa các loại hệ đếm?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Khái niệm biến logic, hàm logic, các tính chất và định luật cơ bản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của đại số logic?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Trình bày ký hiệu, hàm logic, bảng trạng thái, giản đồ xung của các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phần tử logic cơ bản?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Mô phỏng hoạt động các vi mạch số của phần tử logic cơ bản trên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phần mềm Proteus?</a:t>
            </a:r>
          </a:p>
        </p:txBody>
      </p:sp>
    </p:spTree>
    <p:extLst>
      <p:ext uri="{BB962C8B-B14F-4D97-AF65-F5344CB8AC3E}">
        <p14:creationId xmlns:p14="http://schemas.microsoft.com/office/powerpoint/2010/main" val="215367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– </a:t>
            </a:r>
            <a:r>
              <a:rPr lang="en-US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NGHIÊN CỨ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33644" y="1100106"/>
            <a:ext cx="11924712" cy="4442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Nghiên cứu tài liệu và trả lời các câu hỏi sau: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Câu 1. Trình bày phương pháp biểu diễn hàm logic bằng bảng trạng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thái?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Câu 2. Trình bày phương pháp biểu diễn hàm logic bằng phương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pháp đại số?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Câu 3. Trình bày phương pháp biểu diễn hàm logic bằng bảng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Karnaugh?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Câu 4. Trình bày phương pháp rút gọn hàm logic bằng bảng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Karnaugh?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ED1AC-3368-B00D-9D97-BEDCF2568627}"/>
              </a:ext>
            </a:extLst>
          </p:cNvPr>
          <p:cNvSpPr txBox="1"/>
          <p:nvPr/>
        </p:nvSpPr>
        <p:spPr>
          <a:xfrm>
            <a:off x="3177766" y="5720054"/>
            <a:ext cx="7206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Nhóm 1: Câu 1 + 2. Nhóm 2: Câu 3 + 4</a:t>
            </a:r>
          </a:p>
        </p:txBody>
      </p:sp>
    </p:spTree>
    <p:extLst>
      <p:ext uri="{BB962C8B-B14F-4D97-AF65-F5344CB8AC3E}">
        <p14:creationId xmlns:p14="http://schemas.microsoft.com/office/powerpoint/2010/main" val="235574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BỔ TRỢ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D1C5FD-95A8-43E2-928B-AD07ABD04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628" y="1051511"/>
            <a:ext cx="9448800" cy="557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6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BỔ TRỢ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2926DF-99E6-4DC5-98E1-A0B37D99E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371" y="1012918"/>
            <a:ext cx="9372600" cy="563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6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F4B34464-3881-4075-9696-FA32171A656A}"/>
  <p:tag name="ISPRING_RESOURCE_FOLDER" val="D:\KT_Xung_So\KTXS_VXL_46t\Bai_2\Bai_2\"/>
  <p:tag name="ISPRING_PRESENTATION_PATH" val="D:\KT_Xung_So\KTXS_VXL_46t\Bai_2\Bai_2.pptx"/>
  <p:tag name="ISPRING_PROJECT_VERSION" val="9.3"/>
  <p:tag name="ISPRING_PROJECT_FOLDER_UPDATED" val="1"/>
  <p:tag name="ISPRING_SCREEN_RECS_UPDATED" val="D:\KT_Xung_So\KTXS_VXL_46t\Bai_2\Bai_2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2661</Words>
  <Application>Microsoft Office PowerPoint</Application>
  <PresentationFormat>Widescreen</PresentationFormat>
  <Paragraphs>455</Paragraphs>
  <Slides>41</Slides>
  <Notes>0</Notes>
  <HiddenSlides>1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7" baseType="lpstr">
      <vt:lpstr>.VnTime</vt:lpstr>
      <vt:lpstr>Arial</vt:lpstr>
      <vt:lpstr>Calibri</vt:lpstr>
      <vt:lpstr>Calibri Light</vt:lpstr>
      <vt:lpstr>CLKGOJ+URW DIN SemiCond</vt:lpstr>
      <vt:lpstr>DJLWTP+Symbol</vt:lpstr>
      <vt:lpstr>Symbol</vt:lpstr>
      <vt:lpstr>Tahoma</vt:lpstr>
      <vt:lpstr>Times New Roman</vt:lpstr>
      <vt:lpstr>Verdana</vt:lpstr>
      <vt:lpstr>VGLHGD+URW DIN SemiCond</vt:lpstr>
      <vt:lpstr>VVQNOC+URW DIN SemiCond Bold</vt:lpstr>
      <vt:lpstr>Wingdings</vt:lpstr>
      <vt:lpstr>Office Theme</vt:lpstr>
      <vt:lpstr>Equation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238</cp:revision>
  <dcterms:created xsi:type="dcterms:W3CDTF">2021-03-31T07:22:55Z</dcterms:created>
  <dcterms:modified xsi:type="dcterms:W3CDTF">2026-03-31T11:08:12Z</dcterms:modified>
</cp:coreProperties>
</file>