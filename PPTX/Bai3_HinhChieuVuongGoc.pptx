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734" r:id="rId3"/>
  </p:sldMasterIdLst>
  <p:notesMasterIdLst>
    <p:notesMasterId r:id="rId86"/>
  </p:notesMasterIdLst>
  <p:handoutMasterIdLst>
    <p:handoutMasterId r:id="rId87"/>
  </p:handoutMasterIdLst>
  <p:sldIdLst>
    <p:sldId id="314" r:id="rId4"/>
    <p:sldId id="332" r:id="rId5"/>
    <p:sldId id="593" r:id="rId6"/>
    <p:sldId id="591" r:id="rId7"/>
    <p:sldId id="592" r:id="rId8"/>
    <p:sldId id="375" r:id="rId9"/>
    <p:sldId id="318" r:id="rId10"/>
    <p:sldId id="406" r:id="rId11"/>
    <p:sldId id="319" r:id="rId12"/>
    <p:sldId id="405" r:id="rId13"/>
    <p:sldId id="596" r:id="rId14"/>
    <p:sldId id="407" r:id="rId15"/>
    <p:sldId id="409" r:id="rId16"/>
    <p:sldId id="547" r:id="rId17"/>
    <p:sldId id="597" r:id="rId18"/>
    <p:sldId id="415" r:id="rId19"/>
    <p:sldId id="410" r:id="rId20"/>
    <p:sldId id="612" r:id="rId21"/>
    <p:sldId id="598" r:id="rId22"/>
    <p:sldId id="599" r:id="rId23"/>
    <p:sldId id="600" r:id="rId24"/>
    <p:sldId id="601" r:id="rId25"/>
    <p:sldId id="536" r:id="rId26"/>
    <p:sldId id="553" r:id="rId27"/>
    <p:sldId id="412" r:id="rId28"/>
    <p:sldId id="613" r:id="rId29"/>
    <p:sldId id="602" r:id="rId30"/>
    <p:sldId id="417" r:id="rId31"/>
    <p:sldId id="418" r:id="rId32"/>
    <p:sldId id="420" r:id="rId33"/>
    <p:sldId id="423" r:id="rId34"/>
    <p:sldId id="424" r:id="rId35"/>
    <p:sldId id="421" r:id="rId36"/>
    <p:sldId id="422" r:id="rId37"/>
    <p:sldId id="594" r:id="rId38"/>
    <p:sldId id="425" r:id="rId39"/>
    <p:sldId id="604" r:id="rId40"/>
    <p:sldId id="426" r:id="rId41"/>
    <p:sldId id="595" r:id="rId42"/>
    <p:sldId id="603" r:id="rId43"/>
    <p:sldId id="605" r:id="rId44"/>
    <p:sldId id="607" r:id="rId45"/>
    <p:sldId id="608" r:id="rId46"/>
    <p:sldId id="609" r:id="rId47"/>
    <p:sldId id="610" r:id="rId48"/>
    <p:sldId id="427" r:id="rId49"/>
    <p:sldId id="428" r:id="rId50"/>
    <p:sldId id="429" r:id="rId51"/>
    <p:sldId id="430" r:id="rId52"/>
    <p:sldId id="431" r:id="rId53"/>
    <p:sldId id="611" r:id="rId54"/>
    <p:sldId id="580" r:id="rId55"/>
    <p:sldId id="433" r:id="rId56"/>
    <p:sldId id="581" r:id="rId57"/>
    <p:sldId id="434" r:id="rId58"/>
    <p:sldId id="435" r:id="rId59"/>
    <p:sldId id="402" r:id="rId60"/>
    <p:sldId id="436" r:id="rId61"/>
    <p:sldId id="437" r:id="rId62"/>
    <p:sldId id="518" r:id="rId63"/>
    <p:sldId id="438" r:id="rId64"/>
    <p:sldId id="439" r:id="rId65"/>
    <p:sldId id="441" r:id="rId66"/>
    <p:sldId id="442" r:id="rId67"/>
    <p:sldId id="443" r:id="rId68"/>
    <p:sldId id="445" r:id="rId69"/>
    <p:sldId id="446" r:id="rId70"/>
    <p:sldId id="447" r:id="rId71"/>
    <p:sldId id="448" r:id="rId72"/>
    <p:sldId id="449" r:id="rId73"/>
    <p:sldId id="450" r:id="rId74"/>
    <p:sldId id="451" r:id="rId75"/>
    <p:sldId id="452" r:id="rId76"/>
    <p:sldId id="453" r:id="rId77"/>
    <p:sldId id="454" r:id="rId78"/>
    <p:sldId id="462" r:id="rId79"/>
    <p:sldId id="540" r:id="rId80"/>
    <p:sldId id="539" r:id="rId81"/>
    <p:sldId id="538" r:id="rId82"/>
    <p:sldId id="549" r:id="rId83"/>
    <p:sldId id="496" r:id="rId84"/>
    <p:sldId id="590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947" autoAdjust="0"/>
  </p:normalViewPr>
  <p:slideViewPr>
    <p:cSldViewPr snapToGrid="0">
      <p:cViewPr varScale="1">
        <p:scale>
          <a:sx n="81" d="100"/>
          <a:sy n="81" d="100"/>
        </p:scale>
        <p:origin x="120" y="198"/>
      </p:cViewPr>
      <p:guideLst>
        <p:guide orient="horz" pos="2160"/>
        <p:guide pos="384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theme" Target="theme/theme1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0EE50-5BA7-4EC7-8E44-B8737B365CBB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0598B-460F-417A-89D6-D6C5AA21C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5639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27.372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641 273,'-4'5,"1"0,-1 0,1 0,0 1,0-1,0 1,1 0,0-1,-2 11,-9 59,11-55,-50 396,52-415,0 0,0 1,0-1,0 0,-1 1,1-1,0 0,-1 1,1-1,0 0,-1 1,0-1,1 0,-1 0,0 0,1 0,-3 2,2-3,1 0,-1 0,1 0,-1 0,0 0,1 0,-1-1,1 1,-1 0,1 0,-1-1,1 1,-1 0,1-1,-1 1,1-1,-1 1,1 0,0-1,-1 1,1-1,0 1,-1-1,1 1,0-1,-1-1,-2-5,-1 0,1-1,0 0,1 1,-2-10,-2-30,2-88,6 100,-3-1,-1 1,-1 0,-14-59,10 82,1 22,-2 33,7-33,-32 156,17-97,-13 131,28-178,-2 30,3-52,0 0,0 0,0 0,0 0,0-1,-1 1,1 0,0 0,0 0,0 0,0 0,0 0,0 0,0 0,0 0,0 0,-1 0,1 0,0 0,0 0,0 0,0 0,0 0,0 0,0 0,0 0,-1 0,1 0,0 0,0 0,0 0,0 0,0 0,0 0,0 0,0 0,0 0,0 1,-1-1,1 0,0 0,0 0,0 0,0 0,0 0,-7-33,-78-544,72 493,4 63,9 20,0 1,-1 0,1 0,0 0,0 0,-1 0,1-1,0 1,0 0,0 0,-1 0,1 0,0 0,0 0,-1 0,1 0,0 0,0 0,-1 0,1 0,0 0,0 0,-1 0,1 0,0 0,0 0,-1 1,1-1,0 0,0 0,-1 0,1 0,0 0,0 1,0-1,0 0,-1 0,1 0,0 0,0 1,-17 37,-73 339,64-248,2-6,-23 95,38-193,9-25,0 0,0 0,0 0,0 0,-1 1,1-1,0 0,0 0,0 0,0 0,0 1,0-1,0 0,0 0,0 0,0 0,-1 1,1-1,0 0,0 0,0 0,0 0,0 0,-1 0,1 0,0 0,0 0,0 1,0-1,-1 0,1 0,0 0,0 0,0 0,-1 0,1 0,0 0,0 0,0 0,0 0,-1 0,1 0,0-1,0 1,0 0,0 0,-1 0,1 0,-9-44,-2-599,14 432,-2 67,0 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27.768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0,'0'17,"0"17,0 16,0 8,0 6,0 5,0 3,0-2,0-10,0-14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28.123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76 1,'0'12,"-4"25,-1 23,-5 18,0 12,-2 12,0-4,3-1,3-14,2-7,2-14,1-12,1-28,0-42,1-18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28.746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1,'4'16,"1"23,0 17,0 15,-2 0,-2-8,0-10,0-11,-1-12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29.123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1,'0'4,"0"26,0 34,0 30,0 28,0 19,0 14,0 1,0-13,0-18,0-27,0-25,0-22,4-43,14-49,12-46,1-9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29.477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0,'0'13,"0"32,0 30,0 19,0 6,0-2,0-9,0-12,0-14,0-26,-4-49,-1-23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29.833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3T14:39:30.614"/>
    </inkml:context>
    <inkml:brush xml:id="br0">
      <inkml:brushProperty name="width" value="0.3" units="cm"/>
      <inkml:brushProperty name="height" value="0.6" units="cm"/>
      <inkml:brushProperty name="color" value="#FFFFF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FB383-6463-4280-AF95-5725A7C82B9B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BF19E-3DF9-4045-B325-44D4377F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507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1</a:t>
            </a:fld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64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2</a:t>
            </a:fld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64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3</a:t>
            </a:fld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23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4</a:t>
            </a:fld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5</a:t>
            </a:fld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87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</a:t>
            </a:fld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72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49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49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49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49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49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48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44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43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224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65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490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81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9F3534B-4281-4B0B-A74D-A4B2D6870316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609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BF19E-3DF9-4045-B325-44D4377F6D8F}" type="slidenum">
              <a:rPr lang="en-US" smtClean="0"/>
              <a:t>82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9F3534B-4281-4B0B-A74D-A4B2D6870316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17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91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/>
          <a:lstStyle/>
          <a:p>
            <a:fld id="{E9595B96-6420-4505-863A-D3960640B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4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89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95B96-6420-4505-863A-D3960640B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8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3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9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8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0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9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67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88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97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92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895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89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/>
          <p:cNvSpPr/>
          <p:nvPr userDrawn="1"/>
        </p:nvSpPr>
        <p:spPr>
          <a:xfrm>
            <a:off x="2574929" y="2146300"/>
            <a:ext cx="6864351" cy="15113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</a:rPr>
              <a:t>BÀI</a:t>
            </a:r>
            <a:r>
              <a:rPr lang="en-US" sz="3600" baseline="0">
                <a:solidFill>
                  <a:schemeClr val="tx1"/>
                </a:solidFill>
              </a:rPr>
              <a:t> GIẢNG</a:t>
            </a:r>
          </a:p>
          <a:p>
            <a:pPr algn="ctr"/>
            <a:r>
              <a:rPr lang="en-US" sz="4400" baseline="0">
                <a:solidFill>
                  <a:schemeClr val="tx1"/>
                </a:solidFill>
              </a:rPr>
              <a:t>HÌNH HỌA – VẼ KỸ THUẬT</a:t>
            </a:r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8" name="Flowchart: Terminator 7"/>
          <p:cNvSpPr/>
          <p:nvPr userDrawn="1"/>
        </p:nvSpPr>
        <p:spPr>
          <a:xfrm>
            <a:off x="3695700" y="304800"/>
            <a:ext cx="4622800" cy="787400"/>
          </a:xfrm>
          <a:prstGeom prst="flowChartTerminator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schemeClr val="tx1"/>
                </a:solidFill>
              </a:rPr>
              <a:t>BỘ</a:t>
            </a:r>
            <a:r>
              <a:rPr lang="en-US" sz="2800" baseline="0">
                <a:solidFill>
                  <a:schemeClr val="tx1"/>
                </a:solidFill>
              </a:rPr>
              <a:t> MÔN CƠ KỸ THUẬT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Scroll: Horizontal 9"/>
          <p:cNvSpPr/>
          <p:nvPr userDrawn="1"/>
        </p:nvSpPr>
        <p:spPr>
          <a:xfrm>
            <a:off x="1153552" y="4459464"/>
            <a:ext cx="9650437" cy="1617785"/>
          </a:xfrm>
          <a:prstGeom prst="horizontalScroll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5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38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B6B1E-0C8C-4FF8-A412-AE7030EE3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41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9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2.png"/><Relationship Id="rId5" Type="http://schemas.openxmlformats.org/officeDocument/2006/relationships/image" Target="../media/image68.png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50.png"/><Relationship Id="rId18" Type="http://schemas.openxmlformats.org/officeDocument/2006/relationships/image" Target="../media/image78.png"/><Relationship Id="rId3" Type="http://schemas.openxmlformats.org/officeDocument/2006/relationships/image" Target="../media/image600.png"/><Relationship Id="rId7" Type="http://schemas.openxmlformats.org/officeDocument/2006/relationships/image" Target="../media/image620.png"/><Relationship Id="rId12" Type="http://schemas.openxmlformats.org/officeDocument/2006/relationships/customXml" Target="../ink/ink6.xml"/><Relationship Id="rId17" Type="http://schemas.openxmlformats.org/officeDocument/2006/relationships/image" Target="../media/image77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6.xml"/><Relationship Id="rId6" Type="http://schemas.openxmlformats.org/officeDocument/2006/relationships/customXml" Target="../ink/ink3.xml"/><Relationship Id="rId11" Type="http://schemas.openxmlformats.org/officeDocument/2006/relationships/image" Target="../media/image640.png"/><Relationship Id="rId5" Type="http://schemas.openxmlformats.org/officeDocument/2006/relationships/image" Target="../media/image610.png"/><Relationship Id="rId15" Type="http://schemas.openxmlformats.org/officeDocument/2006/relationships/image" Target="../media/image66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30.png"/><Relationship Id="rId14" Type="http://schemas.openxmlformats.org/officeDocument/2006/relationships/customXml" Target="../ink/ink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gi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6.jpg"/><Relationship Id="rId4" Type="http://schemas.openxmlformats.org/officeDocument/2006/relationships/image" Target="../media/image9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1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0997"/>
            <a:ext cx="12192000" cy="95075"/>
          </a:xfrm>
          <a:prstGeom prst="rect">
            <a:avLst/>
          </a:prstGeom>
        </p:spPr>
      </p:pic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202131" y="4167738"/>
            <a:ext cx="11887200" cy="2418134"/>
            <a:chOff x="0" y="3090"/>
            <a:chExt cx="5760" cy="1230"/>
          </a:xfrm>
        </p:grpSpPr>
        <p:pic>
          <p:nvPicPr>
            <p:cNvPr id="11" name="Picture 4" descr="04902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3090"/>
              <a:ext cx="1800" cy="1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5" descr="drafting1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562" y="3096"/>
              <a:ext cx="1632" cy="1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6" descr="drafting0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288" y="3093"/>
              <a:ext cx="1472" cy="1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7" descr="7348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919" y="3096"/>
              <a:ext cx="475" cy="1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extBox 1"/>
          <p:cNvSpPr txBox="1"/>
          <p:nvPr/>
        </p:nvSpPr>
        <p:spPr>
          <a:xfrm>
            <a:off x="-25668" y="1809568"/>
            <a:ext cx="12217667" cy="1261884"/>
          </a:xfrm>
          <a:prstGeom prst="rect">
            <a:avLst/>
          </a:prstGeom>
          <a:solidFill>
            <a:srgbClr val="00B0F0">
              <a:alpha val="86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/>
              <a:t>BÀI GIẢNG </a:t>
            </a:r>
          </a:p>
          <a:p>
            <a:pPr algn="ctr"/>
            <a:r>
              <a:rPr lang="en-US" sz="3800" b="1" dirty="0"/>
              <a:t>VẼ KỸ THUẬT CƠ KHÍ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0" y="3224466"/>
            <a:ext cx="599333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GV. </a:t>
            </a:r>
            <a:r>
              <a:rPr lang="en-US" sz="2600" b="1" dirty="0" err="1"/>
              <a:t>ThS</a:t>
            </a:r>
            <a:r>
              <a:rPr lang="en-US" sz="2600" b="1" dirty="0"/>
              <a:t>. </a:t>
            </a:r>
            <a:r>
              <a:rPr lang="en-US" sz="2600" b="1" dirty="0" smtClean="0"/>
              <a:t>ĐINH VĂN TỨ</a:t>
            </a:r>
            <a:endParaRPr lang="en-US" sz="2600" b="1" dirty="0"/>
          </a:p>
          <a:p>
            <a:r>
              <a:rPr lang="en-US" sz="2600" b="1" dirty="0" err="1"/>
              <a:t>Bộ</a:t>
            </a:r>
            <a:r>
              <a:rPr lang="en-US" sz="2600" b="1" dirty="0"/>
              <a:t> </a:t>
            </a:r>
            <a:r>
              <a:rPr lang="en-US" sz="2600" b="1" dirty="0" err="1"/>
              <a:t>Môn</a:t>
            </a:r>
            <a:r>
              <a:rPr lang="en-US" sz="2600" b="1" dirty="0"/>
              <a:t> </a:t>
            </a:r>
            <a:r>
              <a:rPr lang="en-US" sz="2600" b="1" dirty="0" err="1"/>
              <a:t>Cơ</a:t>
            </a:r>
            <a:r>
              <a:rPr lang="en-US" sz="2600" b="1" dirty="0"/>
              <a:t> </a:t>
            </a:r>
            <a:r>
              <a:rPr lang="en-US" sz="2600" b="1" dirty="0" err="1"/>
              <a:t>khí</a:t>
            </a:r>
            <a:r>
              <a:rPr lang="en-US" sz="2600" b="1" dirty="0"/>
              <a:t> – </a:t>
            </a:r>
            <a:r>
              <a:rPr lang="en-US" sz="2600" b="1" dirty="0" err="1"/>
              <a:t>Khoa</a:t>
            </a:r>
            <a:r>
              <a:rPr lang="en-US" sz="2600" b="1" dirty="0"/>
              <a:t> </a:t>
            </a:r>
            <a:r>
              <a:rPr lang="en-US" sz="2600" b="1" dirty="0" err="1"/>
              <a:t>Kỹ</a:t>
            </a:r>
            <a:r>
              <a:rPr lang="en-US" sz="2600" b="1" dirty="0"/>
              <a:t> </a:t>
            </a:r>
            <a:r>
              <a:rPr lang="en-US" sz="2600" b="1" dirty="0" err="1"/>
              <a:t>thuật</a:t>
            </a:r>
            <a:r>
              <a:rPr lang="en-US" sz="2600" b="1" dirty="0"/>
              <a:t> </a:t>
            </a:r>
            <a:r>
              <a:rPr lang="en-US" sz="2600" b="1" dirty="0" err="1"/>
              <a:t>Cơ</a:t>
            </a:r>
            <a:r>
              <a:rPr lang="en-US" sz="2600" b="1" dirty="0"/>
              <a:t> </a:t>
            </a:r>
            <a:r>
              <a:rPr lang="en-US" sz="2600" b="1" dirty="0" err="1"/>
              <a:t>sở</a:t>
            </a:r>
            <a:endParaRPr lang="en-US" sz="2600" b="1" dirty="0"/>
          </a:p>
        </p:txBody>
      </p:sp>
      <p:pic>
        <p:nvPicPr>
          <p:cNvPr id="13314" name="Picture 2" descr="Không có mô tả ảnh.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8" y="0"/>
            <a:ext cx="1708867" cy="18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61937" y="471638"/>
            <a:ext cx="1106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41854" y="333196"/>
            <a:ext cx="33017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Học</a:t>
            </a:r>
            <a:r>
              <a:rPr lang="en-US" sz="2800" b="1" dirty="0"/>
              <a:t> </a:t>
            </a:r>
            <a:r>
              <a:rPr lang="en-US" sz="2800" b="1" dirty="0" err="1"/>
              <a:t>viện</a:t>
            </a:r>
            <a:r>
              <a:rPr lang="en-US" sz="2800" b="1" dirty="0"/>
              <a:t> </a:t>
            </a:r>
            <a:r>
              <a:rPr lang="en-US" sz="2800" b="1" dirty="0" err="1"/>
              <a:t>Hải</a:t>
            </a:r>
            <a:r>
              <a:rPr lang="en-US" sz="2800" b="1" dirty="0"/>
              <a:t> </a:t>
            </a:r>
            <a:r>
              <a:rPr lang="en-US" sz="2800" b="1" dirty="0" err="1"/>
              <a:t>quân</a:t>
            </a:r>
            <a:endParaRPr lang="en-US" sz="2800" b="1" dirty="0"/>
          </a:p>
          <a:p>
            <a:pPr algn="ctr"/>
            <a:r>
              <a:rPr lang="en-US" sz="2800" b="1" dirty="0" err="1"/>
              <a:t>Khoa</a:t>
            </a:r>
            <a:r>
              <a:rPr lang="en-US" sz="2800" b="1" dirty="0"/>
              <a:t> </a:t>
            </a:r>
            <a:r>
              <a:rPr lang="en-US" sz="2800" b="1" dirty="0" err="1"/>
              <a:t>Kỹ</a:t>
            </a:r>
            <a:r>
              <a:rPr lang="en-US" sz="2800" b="1" dirty="0"/>
              <a:t> </a:t>
            </a:r>
            <a:r>
              <a:rPr lang="en-US" sz="2800" b="1" dirty="0" err="1"/>
              <a:t>thuật</a:t>
            </a:r>
            <a:r>
              <a:rPr lang="en-US" sz="2800" b="1" dirty="0"/>
              <a:t> </a:t>
            </a:r>
            <a:r>
              <a:rPr lang="en-US" sz="2800" b="1" dirty="0" err="1"/>
              <a:t>Cơ</a:t>
            </a:r>
            <a:r>
              <a:rPr lang="en-US" sz="2800" b="1" dirty="0"/>
              <a:t> </a:t>
            </a:r>
            <a:r>
              <a:rPr lang="en-US" sz="2800" b="1" dirty="0" err="1"/>
              <a:t>sở</a:t>
            </a:r>
            <a:endParaRPr lang="en-US" sz="2800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338934" y="1258428"/>
            <a:ext cx="2136808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48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561574" y="2084081"/>
            <a:ext cx="6582424" cy="64008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33526" y="907294"/>
            <a:ext cx="9471631" cy="140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anchor="ctr" anchorCtr="0">
            <a:noAutofit/>
          </a:bodyPr>
          <a:lstStyle/>
          <a:p>
            <a:pPr algn="ctr"/>
            <a:endParaRPr lang="en-US" sz="4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cs typeface="Arial" charset="0"/>
            </a:endParaRPr>
          </a:p>
          <a:p>
            <a:pPr algn="ctr"/>
            <a:endParaRPr lang="en-US" sz="3200" b="1" dirty="0">
              <a:ln w="0"/>
              <a:effectLst>
                <a:reflection blurRad="6350" stA="53000" endA="300" endPos="35500" dir="5400000" sy="-90000" algn="bl" rotWithShape="0"/>
              </a:effectLst>
              <a:latin typeface="Cambria" panose="02040503050406030204" pitchFamily="18" charset="0"/>
              <a:cs typeface="Arial" charset="0"/>
            </a:endParaRPr>
          </a:p>
          <a:p>
            <a:pPr algn="ctr"/>
            <a:endParaRPr lang="en-US" sz="3200" b="1" dirty="0">
              <a:ln w="0"/>
              <a:effectLst>
                <a:reflection blurRad="6350" stA="53000" endA="300" endPos="35500" dir="5400000" sy="-90000" algn="bl" rotWithShape="0"/>
              </a:effectLst>
              <a:latin typeface="Cambria" panose="02040503050406030204" pitchFamily="18" charset="0"/>
              <a:cs typeface="Arial" charset="0"/>
            </a:endParaRPr>
          </a:p>
          <a:p>
            <a:pPr algn="ctr"/>
            <a:endParaRPr lang="vi-VN" sz="3200" b="1" dirty="0">
              <a:ln w="0">
                <a:solidFill>
                  <a:srgbClr val="C00000"/>
                </a:solidFill>
              </a:ln>
              <a:effectLst>
                <a:reflection blurRad="6350" stA="53000" endA="300" endPos="35500" dir="5400000" sy="-90000" algn="bl" rotWithShape="0"/>
              </a:effectLst>
              <a:latin typeface="Cambria" panose="020405030504060302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0997"/>
            <a:ext cx="12192000" cy="950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18265" y="3954050"/>
            <a:ext cx="7921592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Bộ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môn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Cơ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khí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Khoa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Kỹ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thuật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cơ</a:t>
            </a:r>
            <a:r>
              <a:rPr lang="en-US" sz="38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sở</a:t>
            </a:r>
            <a:endParaRPr lang="en-US" sz="3800" b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474805" y="1891531"/>
            <a:ext cx="1015786" cy="100824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175" cmpd="dbl">
            <a:noFill/>
          </a:ln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.VnBodoni" pitchFamily="34" charset="0"/>
              </a:rPr>
              <a:t>3</a:t>
            </a:r>
            <a:endParaRPr lang="en-US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.VnBodon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75495" y="2071998"/>
            <a:ext cx="650754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HÌNH CHIẾU VUÔNG GÓC</a:t>
            </a:r>
            <a:endParaRPr lang="en-US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1528" y="101600"/>
            <a:ext cx="45689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VẼ KỸ THUẬT CƠ KHÍ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639728" y="719667"/>
            <a:ext cx="2878667" cy="0"/>
          </a:xfrm>
          <a:prstGeom prst="line">
            <a:avLst/>
          </a:prstGeom>
          <a:ln w="349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0" y="4476206"/>
            <a:ext cx="12148537" cy="2083331"/>
            <a:chOff x="0" y="4476206"/>
            <a:chExt cx="12148537" cy="2083331"/>
          </a:xfrm>
        </p:grpSpPr>
        <p:grpSp>
          <p:nvGrpSpPr>
            <p:cNvPr id="10" name="Group 3"/>
            <p:cNvGrpSpPr>
              <a:grpSpLocks/>
            </p:cNvGrpSpPr>
            <p:nvPr/>
          </p:nvGrpSpPr>
          <p:grpSpPr bwMode="auto">
            <a:xfrm>
              <a:off x="2807330" y="4611674"/>
              <a:ext cx="6097588" cy="1947863"/>
              <a:chOff x="1919" y="3093"/>
              <a:chExt cx="3841" cy="1227"/>
            </a:xfrm>
          </p:grpSpPr>
          <p:pic>
            <p:nvPicPr>
              <p:cNvPr id="12" name="Picture 5" descr="drafting11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562" y="3096"/>
                <a:ext cx="1632" cy="1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3" name="Picture 6" descr="drafting08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288" y="3093"/>
                <a:ext cx="1472" cy="1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" name="Picture 7" descr="73483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919" y="3096"/>
                <a:ext cx="475" cy="1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602965"/>
              <a:ext cx="2847703" cy="1910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 descr="Những phần mềm thiết kế cơ khí phổ biến hiện nay | TechK.vn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6689" y="4476206"/>
              <a:ext cx="3221848" cy="2083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0747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0991"/>
            <a:ext cx="12192000" cy="950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1314" y="184294"/>
            <a:ext cx="11009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KIỂM TRA BÀI CŨ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1" y="818151"/>
            <a:ext cx="12192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err="1"/>
              <a:t>Câu</a:t>
            </a:r>
            <a:r>
              <a:rPr lang="en-US" sz="2800" b="1" dirty="0"/>
              <a:t> </a:t>
            </a:r>
            <a:r>
              <a:rPr lang="en-US" sz="2800" b="1" dirty="0" smtClean="0"/>
              <a:t>1: </a:t>
            </a: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thành</a:t>
            </a:r>
            <a:r>
              <a:rPr lang="en-US" sz="2800" b="1" dirty="0"/>
              <a:t> </a:t>
            </a:r>
            <a:r>
              <a:rPr lang="en-US" sz="2800" b="1" dirty="0" err="1"/>
              <a:t>phần</a:t>
            </a:r>
            <a:r>
              <a:rPr lang="en-US" sz="2800" b="1" dirty="0"/>
              <a:t> </a:t>
            </a:r>
            <a:r>
              <a:rPr lang="en-US" sz="2800" b="1" dirty="0" err="1"/>
              <a:t>của</a:t>
            </a:r>
            <a:r>
              <a:rPr lang="en-US" sz="2800" b="1" dirty="0"/>
              <a:t> </a:t>
            </a:r>
            <a:r>
              <a:rPr lang="en-US" sz="2800" b="1" dirty="0" err="1"/>
              <a:t>kích</a:t>
            </a:r>
            <a:r>
              <a:rPr lang="en-US" sz="2800" b="1" dirty="0"/>
              <a:t> </a:t>
            </a:r>
            <a:r>
              <a:rPr lang="en-US" sz="2800" b="1" dirty="0" err="1"/>
              <a:t>thước</a:t>
            </a:r>
            <a:r>
              <a:rPr lang="en-US" sz="2800" b="1" dirty="0"/>
              <a:t>? </a:t>
            </a:r>
            <a:r>
              <a:rPr lang="en-US" sz="2800" b="1" dirty="0" err="1"/>
              <a:t>Sửa</a:t>
            </a:r>
            <a:r>
              <a:rPr lang="en-US" sz="2800" b="1" dirty="0"/>
              <a:t> </a:t>
            </a:r>
            <a:r>
              <a:rPr lang="en-US" sz="2800" b="1" dirty="0" err="1"/>
              <a:t>lỗi</a:t>
            </a:r>
            <a:r>
              <a:rPr lang="en-US" sz="2800" b="1" dirty="0"/>
              <a:t> </a:t>
            </a:r>
            <a:r>
              <a:rPr lang="en-US" sz="2800" b="1" dirty="0" err="1"/>
              <a:t>ghi</a:t>
            </a:r>
            <a:r>
              <a:rPr lang="en-US" sz="2800" b="1" dirty="0"/>
              <a:t> </a:t>
            </a:r>
            <a:r>
              <a:rPr lang="en-US" sz="2800" b="1" dirty="0" err="1"/>
              <a:t>trên</a:t>
            </a:r>
            <a:r>
              <a:rPr lang="en-US" sz="2800" b="1" dirty="0"/>
              <a:t> </a:t>
            </a:r>
            <a:r>
              <a:rPr lang="en-US" sz="2800" b="1" dirty="0" err="1"/>
              <a:t>bản</a:t>
            </a:r>
            <a:r>
              <a:rPr lang="en-US" sz="2800" b="1" dirty="0"/>
              <a:t> </a:t>
            </a:r>
            <a:r>
              <a:rPr lang="en-US" sz="2800" b="1" dirty="0" err="1"/>
              <a:t>vẽ</a:t>
            </a:r>
            <a:r>
              <a:rPr lang="en-US" sz="2800" b="1" dirty="0"/>
              <a:t> </a:t>
            </a:r>
            <a:r>
              <a:rPr lang="en-US" sz="2800" b="1" dirty="0" err="1"/>
              <a:t>sau</a:t>
            </a:r>
            <a:r>
              <a:rPr lang="en-US" sz="2800" b="1" dirty="0"/>
              <a:t>?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2950"/>
            <a:ext cx="12192000" cy="67901"/>
          </a:xfrm>
          <a:prstGeom prst="rect">
            <a:avLst/>
          </a:prstGeom>
          <a:gradFill flip="none" rotWithShape="1">
            <a:gsLst>
              <a:gs pos="0">
                <a:srgbClr val="FC9FCB"/>
              </a:gs>
              <a:gs pos="13000">
                <a:srgbClr val="F8B049"/>
              </a:gs>
              <a:gs pos="21001">
                <a:srgbClr val="F8B049"/>
              </a:gs>
              <a:gs pos="63000">
                <a:srgbClr val="FEE7F2"/>
              </a:gs>
              <a:gs pos="67000">
                <a:srgbClr val="F952A0"/>
              </a:gs>
              <a:gs pos="69000">
                <a:srgbClr val="C50849"/>
              </a:gs>
              <a:gs pos="82001">
                <a:srgbClr val="B43E85"/>
              </a:gs>
              <a:gs pos="100000">
                <a:srgbClr val="F8B049"/>
              </a:gs>
            </a:gsLst>
            <a:path path="circle">
              <a:fillToRect l="100000" t="100000"/>
            </a:path>
            <a:tileRect r="-100000" b="-10000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D9B0940-0FCC-F838-D908-7C73CB27322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048" y="1996507"/>
            <a:ext cx="4601924" cy="29576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lowchart: Summing Junction 3">
            <a:extLst>
              <a:ext uri="{FF2B5EF4-FFF2-40B4-BE49-F238E27FC236}">
                <a16:creationId xmlns="" xmlns:a16="http://schemas.microsoft.com/office/drawing/2014/main" id="{55651826-98AA-7A18-1C71-7E9EAEC9FCB0}"/>
              </a:ext>
            </a:extLst>
          </p:cNvPr>
          <p:cNvSpPr/>
          <p:nvPr/>
        </p:nvSpPr>
        <p:spPr>
          <a:xfrm>
            <a:off x="2324147" y="2036897"/>
            <a:ext cx="322217" cy="3048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Summing Junction 4">
            <a:extLst>
              <a:ext uri="{FF2B5EF4-FFF2-40B4-BE49-F238E27FC236}">
                <a16:creationId xmlns="" xmlns:a16="http://schemas.microsoft.com/office/drawing/2014/main" id="{285E51AE-C049-E78C-24CA-67C40EFDAB92}"/>
              </a:ext>
            </a:extLst>
          </p:cNvPr>
          <p:cNvSpPr/>
          <p:nvPr/>
        </p:nvSpPr>
        <p:spPr>
          <a:xfrm>
            <a:off x="2965392" y="4410092"/>
            <a:ext cx="322217" cy="3048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Summing Junction 5">
            <a:extLst>
              <a:ext uri="{FF2B5EF4-FFF2-40B4-BE49-F238E27FC236}">
                <a16:creationId xmlns="" xmlns:a16="http://schemas.microsoft.com/office/drawing/2014/main" id="{8E4AD0A1-7E66-42DE-2506-148F581FD9B9}"/>
              </a:ext>
            </a:extLst>
          </p:cNvPr>
          <p:cNvSpPr/>
          <p:nvPr/>
        </p:nvSpPr>
        <p:spPr>
          <a:xfrm>
            <a:off x="1149817" y="3179806"/>
            <a:ext cx="322217" cy="3048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Summing Junction 7">
            <a:extLst>
              <a:ext uri="{FF2B5EF4-FFF2-40B4-BE49-F238E27FC236}">
                <a16:creationId xmlns="" xmlns:a16="http://schemas.microsoft.com/office/drawing/2014/main" id="{31E8F04D-4A42-2012-6264-0BD8F2FF4342}"/>
              </a:ext>
            </a:extLst>
          </p:cNvPr>
          <p:cNvSpPr/>
          <p:nvPr/>
        </p:nvSpPr>
        <p:spPr>
          <a:xfrm>
            <a:off x="4689660" y="3044253"/>
            <a:ext cx="322217" cy="3048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Summing Junction 8">
            <a:extLst>
              <a:ext uri="{FF2B5EF4-FFF2-40B4-BE49-F238E27FC236}">
                <a16:creationId xmlns="" xmlns:a16="http://schemas.microsoft.com/office/drawing/2014/main" id="{EE9B8599-3C98-04C9-FCF2-B221BA43A927}"/>
              </a:ext>
            </a:extLst>
          </p:cNvPr>
          <p:cNvSpPr/>
          <p:nvPr/>
        </p:nvSpPr>
        <p:spPr>
          <a:xfrm>
            <a:off x="5151214" y="3730714"/>
            <a:ext cx="322217" cy="3048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Summing Junction 9">
            <a:extLst>
              <a:ext uri="{FF2B5EF4-FFF2-40B4-BE49-F238E27FC236}">
                <a16:creationId xmlns="" xmlns:a16="http://schemas.microsoft.com/office/drawing/2014/main" id="{25CCC417-5A86-9B9B-2291-9D146CC08668}"/>
              </a:ext>
            </a:extLst>
          </p:cNvPr>
          <p:cNvSpPr/>
          <p:nvPr/>
        </p:nvSpPr>
        <p:spPr>
          <a:xfrm>
            <a:off x="4924792" y="3475330"/>
            <a:ext cx="322217" cy="3048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Summing Junction 10">
            <a:extLst>
              <a:ext uri="{FF2B5EF4-FFF2-40B4-BE49-F238E27FC236}">
                <a16:creationId xmlns="" xmlns:a16="http://schemas.microsoft.com/office/drawing/2014/main" id="{68BE62BD-73B5-E497-7356-E5D4E8E21FE4}"/>
              </a:ext>
            </a:extLst>
          </p:cNvPr>
          <p:cNvSpPr/>
          <p:nvPr/>
        </p:nvSpPr>
        <p:spPr>
          <a:xfrm>
            <a:off x="1579022" y="2701970"/>
            <a:ext cx="322217" cy="3048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29BB9E3F-7C85-67A4-8BFC-FD64C115D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681" y="1838062"/>
            <a:ext cx="5086168" cy="314823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F9FFCD8D-2FEF-7ACD-E7F7-804CABEFA881}"/>
              </a:ext>
            </a:extLst>
          </p:cNvPr>
          <p:cNvCxnSpPr/>
          <p:nvPr/>
        </p:nvCxnSpPr>
        <p:spPr>
          <a:xfrm>
            <a:off x="5943600" y="1571141"/>
            <a:ext cx="0" cy="4023380"/>
          </a:xfrm>
          <a:prstGeom prst="line">
            <a:avLst/>
          </a:prstGeom>
          <a:ln w="69850" cmpd="tri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05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0991"/>
            <a:ext cx="12192000" cy="950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1314" y="184294"/>
            <a:ext cx="11009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KIỂM TRA BÀI CŨ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-6327" y="761223"/>
            <a:ext cx="12192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err="1"/>
              <a:t>Câu</a:t>
            </a:r>
            <a:r>
              <a:rPr lang="en-US" sz="2800" b="1" dirty="0"/>
              <a:t> </a:t>
            </a:r>
            <a:r>
              <a:rPr lang="en-US" sz="2800" b="1" dirty="0" smtClean="0"/>
              <a:t>2: </a:t>
            </a:r>
            <a:r>
              <a:rPr lang="en-US" sz="2800" b="1" dirty="0" err="1"/>
              <a:t>Phân</a:t>
            </a:r>
            <a:r>
              <a:rPr lang="en-US" sz="2800" b="1" dirty="0"/>
              <a:t> </a:t>
            </a:r>
            <a:r>
              <a:rPr lang="en-US" sz="2800" b="1" dirty="0" err="1"/>
              <a:t>tích</a:t>
            </a:r>
            <a:r>
              <a:rPr lang="en-US" sz="2800" b="1" dirty="0"/>
              <a:t> </a:t>
            </a: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loại</a:t>
            </a:r>
            <a:r>
              <a:rPr lang="en-US" sz="2800" b="1" dirty="0"/>
              <a:t> </a:t>
            </a:r>
            <a:r>
              <a:rPr lang="en-US" sz="2800" b="1" dirty="0" err="1"/>
              <a:t>nét</a:t>
            </a:r>
            <a:r>
              <a:rPr lang="en-US" sz="2800" b="1" dirty="0"/>
              <a:t> </a:t>
            </a:r>
            <a:r>
              <a:rPr lang="en-US" sz="2800" b="1" dirty="0" err="1"/>
              <a:t>vẽ</a:t>
            </a:r>
            <a:r>
              <a:rPr lang="en-US" sz="2800" b="1" dirty="0"/>
              <a:t> </a:t>
            </a:r>
            <a:r>
              <a:rPr lang="en-US" sz="2800" b="1" dirty="0" err="1"/>
              <a:t>trên</a:t>
            </a:r>
            <a:r>
              <a:rPr lang="en-US" sz="2800" b="1" dirty="0"/>
              <a:t> </a:t>
            </a:r>
            <a:r>
              <a:rPr lang="en-US" sz="2800" b="1" dirty="0" err="1"/>
              <a:t>hình</a:t>
            </a:r>
            <a:r>
              <a:rPr lang="en-US" sz="2800" b="1" dirty="0"/>
              <a:t> </a:t>
            </a:r>
            <a:r>
              <a:rPr lang="en-US" sz="2800" b="1" dirty="0" err="1"/>
              <a:t>biểu</a:t>
            </a:r>
            <a:r>
              <a:rPr lang="en-US" sz="2800" b="1" dirty="0"/>
              <a:t> </a:t>
            </a:r>
            <a:r>
              <a:rPr lang="en-US" sz="2800" b="1" dirty="0" err="1"/>
              <a:t>diễn</a:t>
            </a:r>
            <a:r>
              <a:rPr lang="en-US" sz="2800" b="1" dirty="0"/>
              <a:t> </a:t>
            </a:r>
            <a:r>
              <a:rPr lang="en-US" sz="2800" b="1" dirty="0" err="1"/>
              <a:t>sau</a:t>
            </a:r>
            <a:r>
              <a:rPr lang="en-US" sz="2800" b="1"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2950"/>
            <a:ext cx="12192000" cy="67901"/>
          </a:xfrm>
          <a:prstGeom prst="rect">
            <a:avLst/>
          </a:prstGeom>
          <a:gradFill flip="none" rotWithShape="1">
            <a:gsLst>
              <a:gs pos="0">
                <a:srgbClr val="FC9FCB"/>
              </a:gs>
              <a:gs pos="13000">
                <a:srgbClr val="F8B049"/>
              </a:gs>
              <a:gs pos="21001">
                <a:srgbClr val="F8B049"/>
              </a:gs>
              <a:gs pos="63000">
                <a:srgbClr val="FEE7F2"/>
              </a:gs>
              <a:gs pos="67000">
                <a:srgbClr val="F952A0"/>
              </a:gs>
              <a:gs pos="69000">
                <a:srgbClr val="C50849"/>
              </a:gs>
              <a:gs pos="82001">
                <a:srgbClr val="B43E85"/>
              </a:gs>
              <a:gs pos="100000">
                <a:srgbClr val="F8B049"/>
              </a:gs>
            </a:gsLst>
            <a:path path="circle">
              <a:fillToRect l="100000" t="100000"/>
            </a:path>
            <a:tileRect r="-100000" b="-10000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4303BD62-CB9B-C1FD-4820-1ACEF63B4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180" y="1457972"/>
            <a:ext cx="5749278" cy="342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8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0991"/>
            <a:ext cx="12192000" cy="950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1314" y="184294"/>
            <a:ext cx="11009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KIỂM TRA BÀI CŨ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-6327" y="761223"/>
            <a:ext cx="12192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err="1"/>
              <a:t>Câu</a:t>
            </a:r>
            <a:r>
              <a:rPr lang="en-US" sz="2800" b="1" dirty="0"/>
              <a:t> </a:t>
            </a:r>
            <a:r>
              <a:rPr lang="en-US" sz="2800" b="1" dirty="0" smtClean="0"/>
              <a:t>3: </a:t>
            </a:r>
            <a:r>
              <a:rPr lang="en-US" sz="2800" b="1" dirty="0" err="1"/>
              <a:t>Tìm</a:t>
            </a:r>
            <a:r>
              <a:rPr lang="en-US" sz="2800" b="1" dirty="0"/>
              <a:t> </a:t>
            </a:r>
            <a:r>
              <a:rPr lang="en-US" sz="2800" b="1" dirty="0" err="1"/>
              <a:t>hình</a:t>
            </a:r>
            <a:r>
              <a:rPr lang="en-US" sz="2800" b="1" dirty="0"/>
              <a:t> </a:t>
            </a:r>
            <a:r>
              <a:rPr lang="en-US" sz="2800" b="1" dirty="0" err="1"/>
              <a:t>chiếu</a:t>
            </a:r>
            <a:r>
              <a:rPr lang="en-US" sz="2800" b="1" dirty="0"/>
              <a:t> </a:t>
            </a:r>
            <a:r>
              <a:rPr lang="en-US" sz="2800" b="1" dirty="0" err="1"/>
              <a:t>thứ</a:t>
            </a:r>
            <a:r>
              <a:rPr lang="en-US" sz="2800" b="1" dirty="0"/>
              <a:t> 3 (</a:t>
            </a:r>
            <a:r>
              <a:rPr lang="en-US" sz="2800" b="1" dirty="0" err="1"/>
              <a:t>Hình</a:t>
            </a:r>
            <a:r>
              <a:rPr lang="en-US" sz="2800" b="1" dirty="0"/>
              <a:t> </a:t>
            </a:r>
            <a:r>
              <a:rPr lang="en-US" sz="2800" b="1" dirty="0" err="1"/>
              <a:t>chiếu</a:t>
            </a:r>
            <a:r>
              <a:rPr lang="en-US" sz="2800" b="1" dirty="0"/>
              <a:t> </a:t>
            </a:r>
            <a:r>
              <a:rPr lang="en-US" sz="2800" b="1" dirty="0" err="1"/>
              <a:t>cạnh</a:t>
            </a:r>
            <a:r>
              <a:rPr lang="en-US" sz="2800" b="1" dirty="0"/>
              <a:t>)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của</a:t>
            </a:r>
            <a:r>
              <a:rPr lang="en-US" sz="2800" b="1" dirty="0"/>
              <a:t> </a:t>
            </a:r>
            <a:r>
              <a:rPr lang="en-US" sz="2800" b="1" dirty="0" err="1"/>
              <a:t>hình</a:t>
            </a:r>
            <a:r>
              <a:rPr lang="en-US" sz="2800" b="1" dirty="0"/>
              <a:t> </a:t>
            </a:r>
            <a:r>
              <a:rPr lang="en-US" sz="2800" b="1" dirty="0" err="1"/>
              <a:t>phẳng</a:t>
            </a:r>
            <a:r>
              <a:rPr lang="en-US" sz="2800" b="1" dirty="0"/>
              <a:t> </a:t>
            </a:r>
            <a:r>
              <a:rPr lang="en-US" sz="2800" b="1" dirty="0" err="1"/>
              <a:t>sau</a:t>
            </a:r>
            <a:r>
              <a:rPr lang="en-US" sz="2800" b="1"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2950"/>
            <a:ext cx="12192000" cy="67901"/>
          </a:xfrm>
          <a:prstGeom prst="rect">
            <a:avLst/>
          </a:prstGeom>
          <a:gradFill flip="none" rotWithShape="1">
            <a:gsLst>
              <a:gs pos="0">
                <a:srgbClr val="FC9FCB"/>
              </a:gs>
              <a:gs pos="13000">
                <a:srgbClr val="F8B049"/>
              </a:gs>
              <a:gs pos="21001">
                <a:srgbClr val="F8B049"/>
              </a:gs>
              <a:gs pos="63000">
                <a:srgbClr val="FEE7F2"/>
              </a:gs>
              <a:gs pos="67000">
                <a:srgbClr val="F952A0"/>
              </a:gs>
              <a:gs pos="69000">
                <a:srgbClr val="C50849"/>
              </a:gs>
              <a:gs pos="82001">
                <a:srgbClr val="B43E85"/>
              </a:gs>
              <a:gs pos="100000">
                <a:srgbClr val="F8B049"/>
              </a:gs>
            </a:gsLst>
            <a:path path="circle">
              <a:fillToRect l="100000" t="100000"/>
            </a:path>
            <a:tileRect r="-100000" b="-10000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77D0479-BBAA-EF71-BA4C-26AFA8BA6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582410"/>
            <a:ext cx="5334906" cy="402050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40195445-32D9-C2DA-A8AF-653D56488149}"/>
              </a:ext>
            </a:extLst>
          </p:cNvPr>
          <p:cNvCxnSpPr/>
          <p:nvPr/>
        </p:nvCxnSpPr>
        <p:spPr>
          <a:xfrm>
            <a:off x="5667620" y="1582410"/>
            <a:ext cx="0" cy="4023380"/>
          </a:xfrm>
          <a:prstGeom prst="line">
            <a:avLst/>
          </a:prstGeom>
          <a:ln w="69850" cmpd="tri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C1DBD3B-BB68-E91D-E224-548656EC3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822" y="1552575"/>
            <a:ext cx="5334906" cy="402050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C63C76CC-3F40-BB10-2B3D-6C795A93475A}"/>
              </a:ext>
            </a:extLst>
          </p:cNvPr>
          <p:cNvCxnSpPr/>
          <p:nvPr/>
        </p:nvCxnSpPr>
        <p:spPr>
          <a:xfrm>
            <a:off x="8477250" y="2070100"/>
            <a:ext cx="2578100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CD61E1E5-A54F-7E5F-6BE8-BAA039AE43DE}"/>
              </a:ext>
            </a:extLst>
          </p:cNvPr>
          <p:cNvCxnSpPr>
            <a:cxnSpLocks/>
          </p:cNvCxnSpPr>
          <p:nvPr/>
        </p:nvCxnSpPr>
        <p:spPr>
          <a:xfrm>
            <a:off x="7886700" y="3244850"/>
            <a:ext cx="3435350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40DA0048-C758-3E09-8756-CEA9870808E3}"/>
              </a:ext>
            </a:extLst>
          </p:cNvPr>
          <p:cNvCxnSpPr>
            <a:cxnSpLocks/>
          </p:cNvCxnSpPr>
          <p:nvPr/>
        </p:nvCxnSpPr>
        <p:spPr>
          <a:xfrm>
            <a:off x="9068594" y="3597591"/>
            <a:ext cx="1618456" cy="155574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C87D3F5E-128F-E690-DC87-ACDAA4A24172}"/>
              </a:ext>
            </a:extLst>
          </p:cNvPr>
          <p:cNvGrpSpPr/>
          <p:nvPr/>
        </p:nvGrpSpPr>
        <p:grpSpPr>
          <a:xfrm>
            <a:off x="9068594" y="3598067"/>
            <a:ext cx="611981" cy="267180"/>
            <a:chOff x="9068594" y="3629817"/>
            <a:chExt cx="611981" cy="267180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3FA88136-41B2-8EB8-C6AD-25AEFCDF8E85}"/>
                </a:ext>
              </a:extLst>
            </p:cNvPr>
            <p:cNvSpPr/>
            <p:nvPr/>
          </p:nvSpPr>
          <p:spPr>
            <a:xfrm>
              <a:off x="9068594" y="3629817"/>
              <a:ext cx="289719" cy="228600"/>
            </a:xfrm>
            <a:prstGeom prst="arc">
              <a:avLst>
                <a:gd name="adj1" fmla="val 17457317"/>
                <a:gd name="adj2" fmla="val 3094853"/>
              </a:avLst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E57B809-9831-F778-5345-819C5EB0D4AC}"/>
                </a:ext>
              </a:extLst>
            </p:cNvPr>
            <p:cNvSpPr txBox="1"/>
            <p:nvPr/>
          </p:nvSpPr>
          <p:spPr>
            <a:xfrm>
              <a:off x="9301957" y="3650776"/>
              <a:ext cx="3786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/>
                <a:t>45</a:t>
              </a:r>
              <a:r>
                <a:rPr lang="en-US" sz="1000" baseline="30000"/>
                <a:t>0</a:t>
              </a:r>
              <a:endParaRPr lang="en-US" sz="1000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B4558B02-B601-8853-56FB-5FA64E408FAE}"/>
              </a:ext>
            </a:extLst>
          </p:cNvPr>
          <p:cNvCxnSpPr>
            <a:cxnSpLocks/>
          </p:cNvCxnSpPr>
          <p:nvPr/>
        </p:nvCxnSpPr>
        <p:spPr>
          <a:xfrm>
            <a:off x="7886700" y="4133850"/>
            <a:ext cx="1717675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D0664AFB-1FFD-1C27-E319-BE6C5EDFDE21}"/>
              </a:ext>
            </a:extLst>
          </p:cNvPr>
          <p:cNvCxnSpPr>
            <a:cxnSpLocks/>
          </p:cNvCxnSpPr>
          <p:nvPr/>
        </p:nvCxnSpPr>
        <p:spPr>
          <a:xfrm>
            <a:off x="8499475" y="4838700"/>
            <a:ext cx="1854200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C3375D2A-A59A-74DB-51E1-A1FEE1047429}"/>
              </a:ext>
            </a:extLst>
          </p:cNvPr>
          <p:cNvCxnSpPr>
            <a:cxnSpLocks/>
          </p:cNvCxnSpPr>
          <p:nvPr/>
        </p:nvCxnSpPr>
        <p:spPr>
          <a:xfrm flipV="1">
            <a:off x="9604375" y="3244850"/>
            <a:ext cx="0" cy="859631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1C126447-0AEF-A07B-EF19-CFD6ED3457DE}"/>
              </a:ext>
            </a:extLst>
          </p:cNvPr>
          <p:cNvCxnSpPr>
            <a:cxnSpLocks/>
          </p:cNvCxnSpPr>
          <p:nvPr/>
        </p:nvCxnSpPr>
        <p:spPr>
          <a:xfrm flipV="1">
            <a:off x="10353675" y="2070100"/>
            <a:ext cx="0" cy="276860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="" xmlns:a16="http://schemas.microsoft.com/office/drawing/2014/main" id="{25FE5CE7-EC9D-0244-52E0-7ADB1F5935CD}"/>
              </a:ext>
            </a:extLst>
          </p:cNvPr>
          <p:cNvCxnSpPr>
            <a:cxnSpLocks/>
          </p:cNvCxnSpPr>
          <p:nvPr/>
        </p:nvCxnSpPr>
        <p:spPr>
          <a:xfrm flipH="1">
            <a:off x="9601543" y="2069596"/>
            <a:ext cx="750253" cy="117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="" xmlns:a16="http://schemas.microsoft.com/office/drawing/2014/main" id="{A56DDF57-A7D7-A064-C51D-93A7B6016AA3}"/>
              </a:ext>
            </a:extLst>
          </p:cNvPr>
          <p:cNvSpPr/>
          <p:nvPr/>
        </p:nvSpPr>
        <p:spPr>
          <a:xfrm>
            <a:off x="10330815" y="2047239"/>
            <a:ext cx="45719" cy="45719"/>
          </a:xfrm>
          <a:prstGeom prst="ellipse">
            <a:avLst/>
          </a:prstGeom>
          <a:solidFill>
            <a:srgbClr val="92D050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99981BB8-6782-35AF-BC30-AB046B2FD869}"/>
              </a:ext>
            </a:extLst>
          </p:cNvPr>
          <p:cNvSpPr/>
          <p:nvPr/>
        </p:nvSpPr>
        <p:spPr>
          <a:xfrm>
            <a:off x="9580562" y="3221039"/>
            <a:ext cx="45719" cy="45719"/>
          </a:xfrm>
          <a:prstGeom prst="ellipse">
            <a:avLst/>
          </a:prstGeom>
          <a:solidFill>
            <a:srgbClr val="92D050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26A1A0E-9E39-2D4D-3B10-6EC3DDCE27AF}"/>
              </a:ext>
            </a:extLst>
          </p:cNvPr>
          <p:cNvSpPr txBox="1"/>
          <p:nvPr/>
        </p:nvSpPr>
        <p:spPr>
          <a:xfrm>
            <a:off x="10042128" y="1762326"/>
            <a:ext cx="9613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/>
              <a:t>A</a:t>
            </a:r>
            <a:r>
              <a:rPr lang="en-US" sz="1500" i="1" baseline="-25000"/>
              <a:t>3 </a:t>
            </a:r>
            <a:r>
              <a:rPr lang="en-US" sz="1500" i="1"/>
              <a:t>=B</a:t>
            </a:r>
            <a:r>
              <a:rPr lang="en-US" sz="1500" i="1" baseline="-25000"/>
              <a:t>3  </a:t>
            </a:r>
            <a:endParaRPr lang="en-US" sz="1500" i="1"/>
          </a:p>
        </p:txBody>
      </p:sp>
    </p:spTree>
    <p:extLst>
      <p:ext uri="{BB962C8B-B14F-4D97-AF65-F5344CB8AC3E}">
        <p14:creationId xmlns:p14="http://schemas.microsoft.com/office/powerpoint/2010/main" val="10165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3" grpId="0" animBg="1"/>
      <p:bldP spid="32" grpId="0" animBg="1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0991"/>
            <a:ext cx="12192000" cy="950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1314" y="184294"/>
            <a:ext cx="11009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MỤC ĐÍCH – YÊU CẦU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2950"/>
            <a:ext cx="12192000" cy="67901"/>
          </a:xfrm>
          <a:prstGeom prst="rect">
            <a:avLst/>
          </a:prstGeom>
          <a:gradFill flip="none" rotWithShape="1">
            <a:gsLst>
              <a:gs pos="0">
                <a:srgbClr val="FC9FCB"/>
              </a:gs>
              <a:gs pos="13000">
                <a:srgbClr val="F8B049"/>
              </a:gs>
              <a:gs pos="21001">
                <a:srgbClr val="F8B049"/>
              </a:gs>
              <a:gs pos="63000">
                <a:srgbClr val="FEE7F2"/>
              </a:gs>
              <a:gs pos="67000">
                <a:srgbClr val="F952A0"/>
              </a:gs>
              <a:gs pos="69000">
                <a:srgbClr val="C50849"/>
              </a:gs>
              <a:gs pos="82001">
                <a:srgbClr val="B43E85"/>
              </a:gs>
              <a:gs pos="100000">
                <a:srgbClr val="F8B049"/>
              </a:gs>
            </a:gsLst>
            <a:path path="circle">
              <a:fillToRect l="100000" t="100000"/>
            </a:path>
            <a:tileRect r="-100000" b="-10000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4735" y="814073"/>
            <a:ext cx="11887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A. MỤC ĐÍCH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kiến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 smtClean="0"/>
              <a:t>vuông</a:t>
            </a:r>
            <a:r>
              <a:rPr lang="en-US" sz="2400" dirty="0" smtClean="0"/>
              <a:t>  </a:t>
            </a:r>
            <a:r>
              <a:rPr lang="en-US" sz="2400" dirty="0" err="1"/>
              <a:t>góc</a:t>
            </a:r>
            <a:r>
              <a:rPr lang="en-US" sz="2400" dirty="0"/>
              <a:t>,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trích</a:t>
            </a:r>
            <a:r>
              <a:rPr lang="en-US" sz="2400" dirty="0"/>
              <a:t>; </a:t>
            </a:r>
            <a:r>
              <a:rPr lang="en-US" sz="2400" dirty="0" err="1"/>
              <a:t>bước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kiến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đọc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vẽ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triển</a:t>
            </a:r>
            <a:r>
              <a:rPr lang="en-US" sz="2400" dirty="0"/>
              <a:t>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đọc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vẽ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endParaRPr lang="en-US" sz="2400" dirty="0"/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B. YÊU CẦU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 err="1"/>
              <a:t>Học</a:t>
            </a:r>
            <a:r>
              <a:rPr lang="en-US" sz="2400" i="1" dirty="0"/>
              <a:t> </a:t>
            </a:r>
            <a:r>
              <a:rPr lang="en-US" sz="2400" i="1" dirty="0" err="1"/>
              <a:t>xong</a:t>
            </a:r>
            <a:r>
              <a:rPr lang="en-US" sz="2400" i="1" dirty="0"/>
              <a:t> </a:t>
            </a:r>
            <a:r>
              <a:rPr lang="en-US" sz="2400" i="1" dirty="0" err="1"/>
              <a:t>bài</a:t>
            </a:r>
            <a:r>
              <a:rPr lang="en-US" sz="2400" i="1" dirty="0"/>
              <a:t> </a:t>
            </a:r>
            <a:r>
              <a:rPr lang="en-US" sz="2400" i="1" dirty="0" err="1"/>
              <a:t>này</a:t>
            </a:r>
            <a:r>
              <a:rPr lang="en-US" sz="2400" i="1" dirty="0"/>
              <a:t>, </a:t>
            </a:r>
            <a:r>
              <a:rPr lang="en-US" sz="2400" i="1" dirty="0" err="1"/>
              <a:t>học</a:t>
            </a:r>
            <a:r>
              <a:rPr lang="en-US" sz="2400" i="1" dirty="0"/>
              <a:t> </a:t>
            </a:r>
            <a:r>
              <a:rPr lang="en-US" sz="2400" i="1" dirty="0" err="1" smtClean="0"/>
              <a:t>viên</a:t>
            </a:r>
            <a:r>
              <a:rPr lang="en-US" sz="2400" i="1" dirty="0" smtClean="0"/>
              <a:t>:</a:t>
            </a:r>
            <a:endParaRPr lang="en-US" sz="2400" dirty="0"/>
          </a:p>
          <a:p>
            <a:pPr lvl="1"/>
            <a:r>
              <a:rPr lang="en-US" sz="2400" dirty="0"/>
              <a:t>- </a:t>
            </a:r>
            <a:r>
              <a:rPr lang="en-US" sz="2400" dirty="0" err="1"/>
              <a:t>Đọc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vẽ</a:t>
            </a:r>
            <a:r>
              <a:rPr lang="en-US" sz="2400" dirty="0"/>
              <a:t> 3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 smtClean="0"/>
              <a:t>vuông</a:t>
            </a:r>
            <a:r>
              <a:rPr lang="en-US" sz="2400" dirty="0" smtClean="0"/>
              <a:t> </a:t>
            </a:r>
            <a:r>
              <a:rPr lang="en-US" sz="2400" dirty="0" err="1"/>
              <a:t>góc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- </a:t>
            </a:r>
            <a:r>
              <a:rPr lang="en-US" sz="2400" dirty="0" err="1">
                <a:solidFill>
                  <a:srgbClr val="FF0000"/>
                </a:solidFill>
              </a:rPr>
              <a:t>Vẽ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được</a:t>
            </a:r>
            <a:r>
              <a:rPr lang="en-US" sz="2400" dirty="0">
                <a:solidFill>
                  <a:srgbClr val="FF0000"/>
                </a:solidFill>
              </a:rPr>
              <a:t> 3 </a:t>
            </a:r>
            <a:r>
              <a:rPr lang="en-US" sz="2400" dirty="0" err="1">
                <a:solidFill>
                  <a:srgbClr val="FF0000"/>
                </a:solidFill>
              </a:rPr>
              <a:t>hình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chiếu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vuông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góc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của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vật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thể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từ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mô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hình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cho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trước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- </a:t>
            </a:r>
            <a:r>
              <a:rPr lang="en-US" sz="2400" dirty="0" err="1">
                <a:solidFill>
                  <a:srgbClr val="FF0000"/>
                </a:solidFill>
              </a:rPr>
              <a:t>Vẽ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được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hình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chiếu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chiếu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thứ</a:t>
            </a:r>
            <a:r>
              <a:rPr lang="en-US" sz="2400" dirty="0">
                <a:solidFill>
                  <a:srgbClr val="FF0000"/>
                </a:solidFill>
              </a:rPr>
              <a:t> 3 </a:t>
            </a:r>
            <a:r>
              <a:rPr lang="en-US" sz="2400" dirty="0" err="1">
                <a:solidFill>
                  <a:srgbClr val="FF0000"/>
                </a:solidFill>
              </a:rPr>
              <a:t>từ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hai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hình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chiếu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cho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trước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n-US" sz="2400" dirty="0" smtClean="0"/>
              <a:t>- </a:t>
            </a:r>
            <a:r>
              <a:rPr lang="en-US" sz="2400" dirty="0" err="1"/>
              <a:t>Rèn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phong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cẩn</a:t>
            </a:r>
            <a:r>
              <a:rPr lang="en-US" sz="2400" dirty="0"/>
              <a:t> </a:t>
            </a:r>
            <a:r>
              <a:rPr lang="en-US" sz="2400" dirty="0" err="1"/>
              <a:t>thận</a:t>
            </a:r>
            <a:r>
              <a:rPr lang="en-US" sz="2400" dirty="0"/>
              <a:t> 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mỷ</a:t>
            </a:r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C. PHƯƠNG PHÁP</a:t>
            </a:r>
          </a:p>
          <a:p>
            <a:pPr algn="just"/>
            <a:r>
              <a:rPr lang="en-US" sz="2400" b="1" dirty="0"/>
              <a:t>       </a:t>
            </a:r>
            <a:r>
              <a:rPr lang="en-US" sz="2400" dirty="0"/>
              <a:t>-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não</a:t>
            </a:r>
            <a:r>
              <a:rPr lang="en-US" sz="2400" dirty="0"/>
              <a:t>, </a:t>
            </a:r>
            <a:r>
              <a:rPr lang="en-US" sz="2400" dirty="0" err="1"/>
              <a:t>thuyết</a:t>
            </a:r>
            <a:r>
              <a:rPr lang="en-US" sz="2400" dirty="0"/>
              <a:t> </a:t>
            </a:r>
            <a:r>
              <a:rPr lang="en-US" sz="2400" dirty="0" err="1"/>
              <a:t>giảng</a:t>
            </a:r>
            <a:r>
              <a:rPr lang="en-US" sz="2400" dirty="0"/>
              <a:t> </a:t>
            </a:r>
            <a:r>
              <a:rPr lang="en-US" sz="2400" dirty="0" err="1"/>
              <a:t>chủ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(TGCĐ),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mẫu</a:t>
            </a:r>
            <a:r>
              <a:rPr lang="en-US" sz="2400" dirty="0"/>
              <a:t>,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hành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D. THỜI GIAN</a:t>
            </a:r>
          </a:p>
          <a:p>
            <a:pPr algn="just"/>
            <a:r>
              <a:rPr lang="en-US" sz="2400" dirty="0"/>
              <a:t>       - 04 </a:t>
            </a:r>
            <a:r>
              <a:rPr lang="en-US" sz="2400" dirty="0" err="1"/>
              <a:t>tiết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260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smConfetti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12950"/>
            <a:ext cx="12192000" cy="67901"/>
          </a:xfrm>
          <a:prstGeom prst="rect">
            <a:avLst/>
          </a:prstGeom>
          <a:gradFill flip="none" rotWithShape="1">
            <a:gsLst>
              <a:gs pos="0">
                <a:srgbClr val="FC9FCB"/>
              </a:gs>
              <a:gs pos="13000">
                <a:srgbClr val="F8B049"/>
              </a:gs>
              <a:gs pos="21001">
                <a:srgbClr val="F8B049"/>
              </a:gs>
              <a:gs pos="63000">
                <a:srgbClr val="FEE7F2"/>
              </a:gs>
              <a:gs pos="67000">
                <a:srgbClr val="F952A0"/>
              </a:gs>
              <a:gs pos="69000">
                <a:srgbClr val="C50849"/>
              </a:gs>
              <a:gs pos="82001">
                <a:srgbClr val="B43E85"/>
              </a:gs>
              <a:gs pos="100000">
                <a:srgbClr val="F8B049"/>
              </a:gs>
            </a:gsLst>
            <a:path path="circle">
              <a:fillToRect l="100000" t="100000"/>
            </a:path>
            <a:tileRect r="-100000" b="-10000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NỘI DUNG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BÀI 3 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72554" y="1267171"/>
            <a:ext cx="9089679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q"/>
            </a:pPr>
            <a:r>
              <a:rPr lang="en-US" sz="3600" b="1" dirty="0">
                <a:solidFill>
                  <a:srgbClr val="FF0000"/>
                </a:solidFill>
              </a:rPr>
              <a:t>HÌNH </a:t>
            </a:r>
            <a:r>
              <a:rPr lang="en-US" sz="3600" b="1">
                <a:solidFill>
                  <a:srgbClr val="FF0000"/>
                </a:solidFill>
              </a:rPr>
              <a:t>CHIẾU VUÔNG GÓC</a:t>
            </a:r>
            <a:endParaRPr lang="en-US" sz="3600" b="1" dirty="0">
              <a:solidFill>
                <a:srgbClr val="FF0000"/>
              </a:solidFill>
            </a:endParaRP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q"/>
            </a:pPr>
            <a:r>
              <a:rPr lang="en-US" sz="3600" b="1" dirty="0"/>
              <a:t>HÌNH TRÍCH 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q"/>
            </a:pPr>
            <a:r>
              <a:rPr lang="en-US" sz="3600" b="1" dirty="0"/>
              <a:t>HƯỚNG DẪN BÀI </a:t>
            </a:r>
            <a:r>
              <a:rPr lang="en-US" sz="3600" b="1"/>
              <a:t>TẬP 1</a:t>
            </a:r>
            <a:endParaRPr lang="en-US" sz="2600" dirty="0"/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3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VUÔNG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0" y="836704"/>
            <a:ext cx="4907280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1. KHÁI NIỆM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99473" y="1193533"/>
            <a:ext cx="8549161" cy="5462883"/>
            <a:chOff x="2299474" y="1193533"/>
            <a:chExt cx="8549161" cy="5462883"/>
          </a:xfrm>
        </p:grpSpPr>
        <p:pic>
          <p:nvPicPr>
            <p:cNvPr id="4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474" y="1193533"/>
              <a:ext cx="8549161" cy="4981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340993" y="6287084"/>
              <a:ext cx="2233061" cy="369332"/>
            </a:xfrm>
            <a:prstGeom prst="rect">
              <a:avLst/>
            </a:prstGeom>
            <a:noFill/>
            <a:ln w="15875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VẼ KỸ THUẬT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410875" y="6287084"/>
              <a:ext cx="2233061" cy="369332"/>
            </a:xfrm>
            <a:prstGeom prst="rect">
              <a:avLst/>
            </a:prstGeom>
            <a:noFill/>
            <a:ln w="15875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VẼ MỸ THUẬT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ACABED9-15CE-14B6-0897-DCDDCFF5DF2D}"/>
              </a:ext>
            </a:extLst>
          </p:cNvPr>
          <p:cNvSpPr/>
          <p:nvPr/>
        </p:nvSpPr>
        <p:spPr>
          <a:xfrm>
            <a:off x="2103805" y="3370218"/>
            <a:ext cx="2233061" cy="2813376"/>
          </a:xfrm>
          <a:prstGeom prst="rect">
            <a:avLst/>
          </a:prstGeom>
          <a:noFill/>
          <a:ln w="412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1767BB9-AD07-CA96-8608-CCC5DB2C04AB}"/>
              </a:ext>
            </a:extLst>
          </p:cNvPr>
          <p:cNvSpPr/>
          <p:nvPr/>
        </p:nvSpPr>
        <p:spPr>
          <a:xfrm>
            <a:off x="4532533" y="3370217"/>
            <a:ext cx="3653523" cy="280466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1ECB3CE-BB42-674B-A028-6D2C8842E609}"/>
              </a:ext>
            </a:extLst>
          </p:cNvPr>
          <p:cNvSpPr txBox="1"/>
          <p:nvPr/>
        </p:nvSpPr>
        <p:spPr>
          <a:xfrm>
            <a:off x="3412840" y="5656776"/>
            <a:ext cx="745273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smtClean="0"/>
              <a:t>3: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6BA87E-2CBB-0154-F638-757B6F35B15D}"/>
              </a:ext>
            </a:extLst>
          </p:cNvPr>
          <p:cNvSpPr txBox="1"/>
          <p:nvPr/>
        </p:nvSpPr>
        <p:spPr>
          <a:xfrm>
            <a:off x="5986657" y="5695144"/>
            <a:ext cx="745273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Bài</a:t>
            </a:r>
            <a:r>
              <a:rPr lang="en-US" dirty="0"/>
              <a:t> 5:</a:t>
            </a:r>
          </a:p>
        </p:txBody>
      </p:sp>
    </p:spTree>
    <p:extLst>
      <p:ext uri="{BB962C8B-B14F-4D97-AF65-F5344CB8AC3E}">
        <p14:creationId xmlns:p14="http://schemas.microsoft.com/office/powerpoint/2010/main" val="364388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VUÔNG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274187"/>
            <a:ext cx="12191999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bg1"/>
            </a:solidFill>
            <a:miter lim="800000"/>
          </a:ln>
          <a:effectLst>
            <a:glow>
              <a:schemeClr val="accent1">
                <a:alpha val="73000"/>
              </a:schemeClr>
            </a:glow>
            <a:reflection stA="45000" endPos="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	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vẽ</a:t>
            </a:r>
            <a:r>
              <a:rPr lang="en-US" sz="2800" dirty="0"/>
              <a:t> </a:t>
            </a:r>
            <a:r>
              <a:rPr lang="en-US" sz="2800" dirty="0" err="1"/>
              <a:t>kỹ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,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hiện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cấu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tạo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học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vật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ta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hình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biểu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diễn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-1" y="2270627"/>
            <a:ext cx="12192000" cy="224883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biểu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diễn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gồm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solidFill>
                  <a:srgbClr val="C00000"/>
                </a:solidFill>
              </a:rPr>
              <a:t>Các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hình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chiếu</a:t>
            </a:r>
            <a:r>
              <a:rPr lang="en-US" sz="2800" dirty="0">
                <a:solidFill>
                  <a:srgbClr val="C00000"/>
                </a:solidFill>
              </a:rPr>
              <a:t> ( HC </a:t>
            </a:r>
            <a:r>
              <a:rPr lang="en-US" sz="2800" dirty="0" err="1">
                <a:solidFill>
                  <a:srgbClr val="C00000"/>
                </a:solidFill>
              </a:rPr>
              <a:t>cơ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bản</a:t>
            </a:r>
            <a:r>
              <a:rPr lang="en-US" sz="2800" dirty="0">
                <a:solidFill>
                  <a:srgbClr val="C00000"/>
                </a:solidFill>
              </a:rPr>
              <a:t>, HC </a:t>
            </a:r>
            <a:r>
              <a:rPr lang="en-US" sz="2800" dirty="0" err="1">
                <a:solidFill>
                  <a:srgbClr val="C00000"/>
                </a:solidFill>
              </a:rPr>
              <a:t>phụ</a:t>
            </a:r>
            <a:r>
              <a:rPr lang="en-US" sz="2800" dirty="0">
                <a:solidFill>
                  <a:srgbClr val="C00000"/>
                </a:solidFill>
              </a:rPr>
              <a:t>, HC </a:t>
            </a:r>
            <a:r>
              <a:rPr lang="en-US" sz="2800" dirty="0" err="1">
                <a:solidFill>
                  <a:srgbClr val="C00000"/>
                </a:solidFill>
              </a:rPr>
              <a:t>riêng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phần</a:t>
            </a:r>
            <a:r>
              <a:rPr lang="en-US" sz="2800" dirty="0">
                <a:solidFill>
                  <a:srgbClr val="C00000"/>
                </a:solidFill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trích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cắt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mặt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cắt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2800" dirty="0" err="1">
                <a:solidFill>
                  <a:srgbClr val="C00000"/>
                </a:solidFill>
              </a:rPr>
              <a:t>Hình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chiếu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trục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đo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0" y="836704"/>
            <a:ext cx="4907280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1. KHÁI NIỆM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8309708" y="2997200"/>
            <a:ext cx="1926167" cy="578391"/>
            <a:chOff x="8318500" y="2997200"/>
            <a:chExt cx="1926167" cy="905933"/>
          </a:xfrm>
        </p:grpSpPr>
        <p:sp>
          <p:nvSpPr>
            <p:cNvPr id="4" name="Right Brace 3"/>
            <p:cNvSpPr/>
            <p:nvPr/>
          </p:nvSpPr>
          <p:spPr>
            <a:xfrm>
              <a:off x="8318500" y="2997200"/>
              <a:ext cx="381000" cy="905933"/>
            </a:xfrm>
            <a:prstGeom prst="rightBrac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45601" y="3158873"/>
              <a:ext cx="9990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 </a:t>
              </a:r>
              <a:r>
                <a:rPr lang="en-US" sz="2400" b="1" err="1"/>
                <a:t>Bài</a:t>
              </a:r>
              <a:r>
                <a:rPr lang="en-US" sz="2400" b="1"/>
                <a:t> 3</a:t>
              </a:r>
              <a:endParaRPr lang="en-US" sz="2400" b="1" dirty="0"/>
            </a:p>
          </p:txBody>
        </p:sp>
        <p:sp>
          <p:nvSpPr>
            <p:cNvPr id="18" name="Right Arrow 17"/>
            <p:cNvSpPr/>
            <p:nvPr/>
          </p:nvSpPr>
          <p:spPr>
            <a:xfrm>
              <a:off x="8940800" y="3378111"/>
              <a:ext cx="381000" cy="295416"/>
            </a:xfrm>
            <a:prstGeom prst="rightArrow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364363" y="4024028"/>
            <a:ext cx="6921174" cy="461665"/>
            <a:chOff x="3305094" y="4344798"/>
            <a:chExt cx="6921174" cy="461665"/>
          </a:xfrm>
        </p:grpSpPr>
        <p:sp>
          <p:nvSpPr>
            <p:cNvPr id="45" name="TextBox 44"/>
            <p:cNvSpPr txBox="1"/>
            <p:nvPr/>
          </p:nvSpPr>
          <p:spPr>
            <a:xfrm>
              <a:off x="9227202" y="4344798"/>
              <a:ext cx="9990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 </a:t>
              </a:r>
              <a:r>
                <a:rPr lang="en-US" sz="2400" b="1" dirty="0" err="1"/>
                <a:t>Bài</a:t>
              </a:r>
              <a:r>
                <a:rPr lang="en-US" sz="2400" b="1" dirty="0"/>
                <a:t> 5</a:t>
              </a:r>
            </a:p>
          </p:txBody>
        </p:sp>
        <p:sp>
          <p:nvSpPr>
            <p:cNvPr id="46" name="Right Arrow 45"/>
            <p:cNvSpPr/>
            <p:nvPr/>
          </p:nvSpPr>
          <p:spPr>
            <a:xfrm>
              <a:off x="3305094" y="4500160"/>
              <a:ext cx="5980723" cy="189145"/>
            </a:xfrm>
            <a:prstGeom prst="rightArrow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-1" y="4686254"/>
            <a:ext cx="12191999" cy="954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cap="rnd">
            <a:solidFill>
              <a:schemeClr val="bg1"/>
            </a:solidFill>
            <a:miter lim="800000"/>
          </a:ln>
          <a:effectLst>
            <a:glow>
              <a:schemeClr val="accent1">
                <a:alpha val="73000"/>
              </a:schemeClr>
            </a:glow>
            <a:reflection stA="45000" endPos="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v"/>
            </a:pP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sở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lập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phương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pháp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chiếu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vuông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góc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>
                <a:solidFill>
                  <a:srgbClr val="FF0000"/>
                </a:solidFill>
              </a:rPr>
              <a:t>(</a:t>
            </a:r>
            <a:r>
              <a:rPr lang="en-US" sz="2800" b="1" i="1" dirty="0" err="1">
                <a:solidFill>
                  <a:srgbClr val="FF0000"/>
                </a:solidFill>
              </a:rPr>
              <a:t>hình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chiếu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vuông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góc</a:t>
            </a:r>
            <a:r>
              <a:rPr lang="en-US" sz="2800" b="1" i="1" dirty="0">
                <a:solidFill>
                  <a:srgbClr val="FF0000"/>
                </a:solidFill>
              </a:rPr>
              <a:t>, </a:t>
            </a:r>
            <a:r>
              <a:rPr lang="en-US" sz="2800" b="1" i="1" dirty="0" err="1">
                <a:solidFill>
                  <a:srgbClr val="FF0000"/>
                </a:solidFill>
              </a:rPr>
              <a:t>hình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chiếu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xiên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góc</a:t>
            </a:r>
            <a:r>
              <a:rPr lang="en-US" sz="2800" b="1" i="1" dirty="0">
                <a:solidFill>
                  <a:srgbClr val="FF0000"/>
                </a:solidFill>
              </a:rPr>
              <a:t>)</a:t>
            </a:r>
            <a:endParaRPr lang="en-US" sz="28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C05C6AB0-9143-4D5C-E264-875FD5A5FD8B}"/>
              </a:ext>
            </a:extLst>
          </p:cNvPr>
          <p:cNvGrpSpPr/>
          <p:nvPr/>
        </p:nvGrpSpPr>
        <p:grpSpPr>
          <a:xfrm>
            <a:off x="3358661" y="3615803"/>
            <a:ext cx="6921174" cy="461665"/>
            <a:chOff x="3358661" y="3598219"/>
            <a:chExt cx="6921174" cy="461665"/>
          </a:xfrm>
        </p:grpSpPr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036719E8-2E0A-49FD-50D9-7D3B5FBC8F41}"/>
                </a:ext>
              </a:extLst>
            </p:cNvPr>
            <p:cNvSpPr txBox="1"/>
            <p:nvPr/>
          </p:nvSpPr>
          <p:spPr>
            <a:xfrm>
              <a:off x="9280769" y="3598219"/>
              <a:ext cx="9990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 </a:t>
              </a:r>
              <a:r>
                <a:rPr lang="en-US" sz="2400" b="1" err="1"/>
                <a:t>Bài</a:t>
              </a:r>
              <a:r>
                <a:rPr lang="en-US" sz="2400" b="1"/>
                <a:t> 4</a:t>
              </a:r>
              <a:endParaRPr lang="en-US" sz="2400" b="1" dirty="0"/>
            </a:p>
          </p:txBody>
        </p:sp>
        <p:sp>
          <p:nvSpPr>
            <p:cNvPr id="7" name="Right Arrow 17">
              <a:extLst>
                <a:ext uri="{FF2B5EF4-FFF2-40B4-BE49-F238E27FC236}">
                  <a16:creationId xmlns="" xmlns:a16="http://schemas.microsoft.com/office/drawing/2014/main" id="{4CDB16EF-54CA-1AA3-4236-03210FD22F04}"/>
                </a:ext>
              </a:extLst>
            </p:cNvPr>
            <p:cNvSpPr/>
            <p:nvPr/>
          </p:nvSpPr>
          <p:spPr>
            <a:xfrm>
              <a:off x="3358661" y="3720607"/>
              <a:ext cx="5980723" cy="189145"/>
            </a:xfrm>
            <a:prstGeom prst="rightArrow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VUÔNG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219176"/>
            <a:ext cx="12191999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bg1"/>
            </a:solidFill>
            <a:miter lim="800000"/>
          </a:ln>
          <a:effectLst>
            <a:glow>
              <a:schemeClr val="accent1">
                <a:alpha val="73000"/>
              </a:schemeClr>
            </a:glow>
            <a:reflection stA="45000" endPos="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	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Phương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pháp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chiếu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vuông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góc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pháp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phép</a:t>
            </a:r>
            <a:r>
              <a:rPr lang="en-US" sz="2800" dirty="0"/>
              <a:t> </a:t>
            </a:r>
            <a:r>
              <a:rPr lang="en-US" sz="2800" dirty="0" err="1"/>
              <a:t>chiếu</a:t>
            </a:r>
            <a:r>
              <a:rPr lang="en-US" sz="2800" dirty="0"/>
              <a:t> </a:t>
            </a:r>
            <a:r>
              <a:rPr lang="en-US" sz="2800" dirty="0" err="1"/>
              <a:t>vuông</a:t>
            </a:r>
            <a:r>
              <a:rPr lang="en-US" sz="2800" dirty="0"/>
              <a:t> </a:t>
            </a:r>
            <a:r>
              <a:rPr lang="en-US" sz="2800" dirty="0" err="1"/>
              <a:t>góc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các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chiếu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vật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.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0" y="836704"/>
            <a:ext cx="4907280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1. KHÁI NIỆM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727" y="2293460"/>
            <a:ext cx="6835407" cy="361526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6929119" y="3280833"/>
            <a:ext cx="1290318" cy="1508760"/>
            <a:chOff x="5867400" y="3479800"/>
            <a:chExt cx="1290318" cy="1508760"/>
          </a:xfrm>
        </p:grpSpPr>
        <p:cxnSp>
          <p:nvCxnSpPr>
            <p:cNvPr id="22" name="Straight Connector 21"/>
            <p:cNvCxnSpPr/>
            <p:nvPr/>
          </p:nvCxnSpPr>
          <p:spPr>
            <a:xfrm flipV="1">
              <a:off x="6697977" y="4069926"/>
              <a:ext cx="228599" cy="12700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6928601" y="4463627"/>
              <a:ext cx="228599" cy="12700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/>
            <p:cNvGrpSpPr/>
            <p:nvPr/>
          </p:nvGrpSpPr>
          <p:grpSpPr>
            <a:xfrm>
              <a:off x="5867400" y="3479800"/>
              <a:ext cx="1290318" cy="1508760"/>
              <a:chOff x="5867400" y="3479800"/>
              <a:chExt cx="1290318" cy="1508760"/>
            </a:xfrm>
          </p:grpSpPr>
          <p:cxnSp>
            <p:nvCxnSpPr>
              <p:cNvPr id="8" name="Straight Connector 7"/>
              <p:cNvCxnSpPr/>
              <p:nvPr/>
            </p:nvCxnSpPr>
            <p:spPr>
              <a:xfrm flipV="1">
                <a:off x="5867400" y="3479800"/>
                <a:ext cx="228599" cy="127000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867400" y="3606800"/>
                <a:ext cx="833120" cy="594360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693747" y="4196926"/>
                <a:ext cx="232829" cy="393701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6924371" y="4069926"/>
                <a:ext cx="232829" cy="393701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H="1">
                <a:off x="6926576" y="4590627"/>
                <a:ext cx="1" cy="397933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H="1">
                <a:off x="7157201" y="4463627"/>
                <a:ext cx="1" cy="397933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V="1">
                <a:off x="6929119" y="4861560"/>
                <a:ext cx="228599" cy="127000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867400" y="3606800"/>
                <a:ext cx="0" cy="630766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5867400" y="4237566"/>
                <a:ext cx="1061201" cy="750994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6095999" y="3479800"/>
                <a:ext cx="833120" cy="594360"/>
              </a:xfrm>
              <a:prstGeom prst="line">
                <a:avLst/>
              </a:prstGeom>
              <a:ln w="222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Parallelogram 73"/>
          <p:cNvSpPr/>
          <p:nvPr/>
        </p:nvSpPr>
        <p:spPr>
          <a:xfrm>
            <a:off x="4926759" y="3305255"/>
            <a:ext cx="3523512" cy="2155745"/>
          </a:xfrm>
          <a:prstGeom prst="parallelogram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8400000" lon="1800000" rev="99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/>
          <p:cNvGrpSpPr/>
          <p:nvPr/>
        </p:nvGrpSpPr>
        <p:grpSpPr>
          <a:xfrm>
            <a:off x="6022769" y="3877858"/>
            <a:ext cx="1061201" cy="1381760"/>
            <a:chOff x="5695519" y="3877858"/>
            <a:chExt cx="1061201" cy="1381760"/>
          </a:xfrm>
        </p:grpSpPr>
        <p:cxnSp>
          <p:nvCxnSpPr>
            <p:cNvPr id="75" name="Straight Connector 74"/>
            <p:cNvCxnSpPr/>
            <p:nvPr/>
          </p:nvCxnSpPr>
          <p:spPr>
            <a:xfrm>
              <a:off x="5695519" y="3877858"/>
              <a:ext cx="833120" cy="59436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6521866" y="4467984"/>
              <a:ext cx="232829" cy="393701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>
              <a:off x="6754695" y="4861685"/>
              <a:ext cx="1" cy="397933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5695519" y="3877858"/>
              <a:ext cx="0" cy="630766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5695519" y="4508624"/>
              <a:ext cx="1061201" cy="750994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/>
          <p:cNvGrpSpPr/>
          <p:nvPr/>
        </p:nvGrpSpPr>
        <p:grpSpPr>
          <a:xfrm>
            <a:off x="6022769" y="3407833"/>
            <a:ext cx="1968915" cy="1851785"/>
            <a:chOff x="6022769" y="3407833"/>
            <a:chExt cx="1968915" cy="1851785"/>
          </a:xfrm>
        </p:grpSpPr>
        <p:cxnSp>
          <p:nvCxnSpPr>
            <p:cNvPr id="82" name="Straight Arrow Connector 81"/>
            <p:cNvCxnSpPr/>
            <p:nvPr/>
          </p:nvCxnSpPr>
          <p:spPr>
            <a:xfrm flipH="1">
              <a:off x="6022769" y="3407833"/>
              <a:ext cx="906350" cy="463126"/>
            </a:xfrm>
            <a:prstGeom prst="straightConnector1">
              <a:avLst/>
            </a:prstGeom>
            <a:ln>
              <a:solidFill>
                <a:srgbClr val="7030A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>
              <a:off x="6849116" y="3997959"/>
              <a:ext cx="906350" cy="463126"/>
            </a:xfrm>
            <a:prstGeom prst="straightConnector1">
              <a:avLst/>
            </a:prstGeom>
            <a:ln>
              <a:solidFill>
                <a:srgbClr val="7030A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>
              <a:off x="6022769" y="4039528"/>
              <a:ext cx="906350" cy="463126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7084488" y="4796492"/>
              <a:ext cx="906350" cy="463126"/>
            </a:xfrm>
            <a:prstGeom prst="straightConnector1">
              <a:avLst/>
            </a:prstGeom>
            <a:ln>
              <a:solidFill>
                <a:srgbClr val="7030A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flipH="1">
              <a:off x="6572900" y="4039528"/>
              <a:ext cx="356220" cy="18510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H="1">
              <a:off x="7085334" y="4391660"/>
              <a:ext cx="906350" cy="463126"/>
            </a:xfrm>
            <a:prstGeom prst="straightConnector1">
              <a:avLst/>
            </a:prstGeom>
            <a:ln>
              <a:solidFill>
                <a:srgbClr val="7030A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5994043" y="3864062"/>
            <a:ext cx="1117281" cy="1404346"/>
            <a:chOff x="5994043" y="3864062"/>
            <a:chExt cx="1117281" cy="1404346"/>
          </a:xfrm>
        </p:grpSpPr>
        <p:sp>
          <p:nvSpPr>
            <p:cNvPr id="95" name="Oval 94"/>
            <p:cNvSpPr/>
            <p:nvPr/>
          </p:nvSpPr>
          <p:spPr>
            <a:xfrm>
              <a:off x="7046047" y="5211807"/>
              <a:ext cx="54864" cy="5660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>
              <a:off x="6846999" y="4439683"/>
              <a:ext cx="54864" cy="5660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5994043" y="3864062"/>
              <a:ext cx="54864" cy="5660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7056460" y="4833384"/>
              <a:ext cx="54864" cy="5660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5997369" y="4481703"/>
              <a:ext cx="54864" cy="5660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872081" y="2545316"/>
            <a:ext cx="5801308" cy="2755258"/>
            <a:chOff x="3872081" y="2545316"/>
            <a:chExt cx="5801308" cy="2755258"/>
          </a:xfrm>
        </p:grpSpPr>
        <p:cxnSp>
          <p:nvCxnSpPr>
            <p:cNvPr id="7" name="Curved Connector 6"/>
            <p:cNvCxnSpPr/>
            <p:nvPr/>
          </p:nvCxnSpPr>
          <p:spPr>
            <a:xfrm rot="10800000" flipV="1">
              <a:off x="5594350" y="2781300"/>
              <a:ext cx="501650" cy="311150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098966" y="2545316"/>
              <a:ext cx="2406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Mặt</a:t>
              </a:r>
              <a:r>
                <a:rPr lang="en-US" dirty="0"/>
                <a:t> </a:t>
              </a:r>
              <a:r>
                <a:rPr lang="en-US" dirty="0" err="1"/>
                <a:t>phẳng</a:t>
              </a:r>
              <a:r>
                <a:rPr lang="en-US" dirty="0"/>
                <a:t> </a:t>
              </a:r>
              <a:r>
                <a:rPr lang="en-US" dirty="0" err="1"/>
                <a:t>chiếu</a:t>
              </a:r>
              <a:endParaRPr 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872081" y="4168972"/>
              <a:ext cx="172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Hình</a:t>
              </a:r>
              <a:r>
                <a:rPr lang="en-US" dirty="0"/>
                <a:t> </a:t>
              </a:r>
              <a:r>
                <a:rPr lang="en-US" dirty="0" err="1"/>
                <a:t>chiếu</a:t>
              </a:r>
              <a:endParaRPr lang="en-US" dirty="0"/>
            </a:p>
          </p:txBody>
        </p:sp>
        <p:cxnSp>
          <p:nvCxnSpPr>
            <p:cNvPr id="23" name="Curved Connector 22"/>
            <p:cNvCxnSpPr/>
            <p:nvPr/>
          </p:nvCxnSpPr>
          <p:spPr>
            <a:xfrm flipV="1">
              <a:off x="5029200" y="4160361"/>
              <a:ext cx="992275" cy="231299"/>
            </a:xfrm>
            <a:prstGeom prst="curved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8105137" y="4931242"/>
              <a:ext cx="156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Hướng</a:t>
              </a:r>
              <a:r>
                <a:rPr lang="en-US" dirty="0"/>
                <a:t> </a:t>
              </a:r>
              <a:r>
                <a:rPr lang="en-US" dirty="0" err="1"/>
                <a:t>chiếu</a:t>
              </a:r>
              <a:endParaRPr lang="en-US" dirty="0"/>
            </a:p>
          </p:txBody>
        </p:sp>
        <p:cxnSp>
          <p:nvCxnSpPr>
            <p:cNvPr id="28" name="Curved Connector 27"/>
            <p:cNvCxnSpPr/>
            <p:nvPr/>
          </p:nvCxnSpPr>
          <p:spPr>
            <a:xfrm rot="10800000">
              <a:off x="7459719" y="4664837"/>
              <a:ext cx="759718" cy="465429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Connector 69">
            <a:extLst>
              <a:ext uri="{FF2B5EF4-FFF2-40B4-BE49-F238E27FC236}">
                <a16:creationId xmlns="" xmlns:a16="http://schemas.microsoft.com/office/drawing/2014/main" id="{FA3F3C92-89A1-701B-372B-F2E21082638A}"/>
              </a:ext>
            </a:extLst>
          </p:cNvPr>
          <p:cNvCxnSpPr/>
          <p:nvPr/>
        </p:nvCxnSpPr>
        <p:spPr>
          <a:xfrm>
            <a:off x="7156341" y="3280833"/>
            <a:ext cx="0" cy="6536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="" xmlns:a16="http://schemas.microsoft.com/office/drawing/2014/main" id="{6160C181-D935-A4A8-427B-1D8106EDD715}"/>
              </a:ext>
            </a:extLst>
          </p:cNvPr>
          <p:cNvCxnSpPr/>
          <p:nvPr/>
        </p:nvCxnSpPr>
        <p:spPr>
          <a:xfrm>
            <a:off x="7156341" y="3943353"/>
            <a:ext cx="1018361" cy="7192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="" xmlns:a16="http://schemas.microsoft.com/office/drawing/2014/main" id="{EDA702FB-D333-AB4A-EDD7-C373223D7473}"/>
              </a:ext>
            </a:extLst>
          </p:cNvPr>
          <p:cNvCxnSpPr/>
          <p:nvPr/>
        </p:nvCxnSpPr>
        <p:spPr>
          <a:xfrm flipV="1">
            <a:off x="6929119" y="3943353"/>
            <a:ext cx="227222" cy="9524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D896DC6C-06A6-ABA4-E3C9-CAB553DB3AEA}"/>
              </a:ext>
            </a:extLst>
          </p:cNvPr>
          <p:cNvGrpSpPr/>
          <p:nvPr/>
        </p:nvGrpSpPr>
        <p:grpSpPr>
          <a:xfrm>
            <a:off x="8060403" y="2700690"/>
            <a:ext cx="1631737" cy="1508760"/>
            <a:chOff x="8060403" y="2696457"/>
            <a:chExt cx="1631737" cy="1508760"/>
          </a:xfrm>
        </p:grpSpPr>
        <p:cxnSp>
          <p:nvCxnSpPr>
            <p:cNvPr id="66" name="Straight Connector 65">
              <a:extLst>
                <a:ext uri="{FF2B5EF4-FFF2-40B4-BE49-F238E27FC236}">
                  <a16:creationId xmlns="" xmlns:a16="http://schemas.microsoft.com/office/drawing/2014/main" id="{458C9686-2DF9-E465-5D71-56960AFB0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6641" y="3185407"/>
              <a:ext cx="551604" cy="239513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="" xmlns:a16="http://schemas.microsoft.com/office/drawing/2014/main" id="{E2757634-C3C2-5500-F7D2-030C228FDB6D}"/>
                </a:ext>
              </a:extLst>
            </p:cNvPr>
            <p:cNvCxnSpPr>
              <a:cxnSpLocks/>
            </p:cNvCxnSpPr>
            <p:nvPr/>
          </p:nvCxnSpPr>
          <p:spPr>
            <a:xfrm>
              <a:off x="9467777" y="3177431"/>
              <a:ext cx="208840" cy="377801"/>
            </a:xfrm>
            <a:prstGeom prst="line">
              <a:avLst/>
            </a:prstGeom>
            <a:ln w="2222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Group 101">
              <a:extLst>
                <a:ext uri="{FF2B5EF4-FFF2-40B4-BE49-F238E27FC236}">
                  <a16:creationId xmlns="" xmlns:a16="http://schemas.microsoft.com/office/drawing/2014/main" id="{D136EC90-3F06-192F-B49A-CDF231C4CABD}"/>
                </a:ext>
              </a:extLst>
            </p:cNvPr>
            <p:cNvGrpSpPr/>
            <p:nvPr/>
          </p:nvGrpSpPr>
          <p:grpSpPr>
            <a:xfrm>
              <a:off x="8060403" y="2696457"/>
              <a:ext cx="1631737" cy="1508760"/>
              <a:chOff x="8060403" y="2696457"/>
              <a:chExt cx="1631737" cy="150876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="" xmlns:a16="http://schemas.microsoft.com/office/drawing/2014/main" id="{67EAB484-C012-6152-9F1A-6F926D3E4029}"/>
                  </a:ext>
                </a:extLst>
              </p:cNvPr>
              <p:cNvGrpSpPr/>
              <p:nvPr/>
            </p:nvGrpSpPr>
            <p:grpSpPr>
              <a:xfrm>
                <a:off x="8060403" y="2696457"/>
                <a:ext cx="1631737" cy="1508760"/>
                <a:chOff x="5867400" y="3479800"/>
                <a:chExt cx="1631737" cy="1508760"/>
              </a:xfrm>
            </p:grpSpPr>
            <p:cxnSp>
              <p:nvCxnSpPr>
                <p:cNvPr id="39" name="Straight Connector 38">
                  <a:extLst>
                    <a:ext uri="{FF2B5EF4-FFF2-40B4-BE49-F238E27FC236}">
                      <a16:creationId xmlns="" xmlns:a16="http://schemas.microsoft.com/office/drawing/2014/main" id="{5247DB69-FAE3-73AD-AB92-A9F4905856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28601" y="4338575"/>
                  <a:ext cx="546547" cy="252052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3" name="Group 42">
                  <a:extLst>
                    <a:ext uri="{FF2B5EF4-FFF2-40B4-BE49-F238E27FC236}">
                      <a16:creationId xmlns="" xmlns:a16="http://schemas.microsoft.com/office/drawing/2014/main" id="{8A475B0F-23A5-351B-D1F3-FE33E7F15390}"/>
                    </a:ext>
                  </a:extLst>
                </p:cNvPr>
                <p:cNvGrpSpPr/>
                <p:nvPr/>
              </p:nvGrpSpPr>
              <p:grpSpPr>
                <a:xfrm>
                  <a:off x="5867400" y="3479800"/>
                  <a:ext cx="1631737" cy="1508760"/>
                  <a:chOff x="5867400" y="3479800"/>
                  <a:chExt cx="1631737" cy="1508760"/>
                </a:xfrm>
              </p:grpSpPr>
              <p:cxnSp>
                <p:nvCxnSpPr>
                  <p:cNvPr id="44" name="Straight Connector 43">
                    <a:extLst>
                      <a:ext uri="{FF2B5EF4-FFF2-40B4-BE49-F238E27FC236}">
                        <a16:creationId xmlns="" xmlns:a16="http://schemas.microsoft.com/office/drawing/2014/main" id="{4BF2C4DA-E438-3A62-F930-DF6E857608F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867400" y="3479800"/>
                    <a:ext cx="228599" cy="127000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="" xmlns:a16="http://schemas.microsoft.com/office/drawing/2014/main" id="{53570070-D89A-37F5-D6F2-34D638A2D337}"/>
                      </a:ext>
                    </a:extLst>
                  </p:cNvPr>
                  <p:cNvCxnSpPr/>
                  <p:nvPr/>
                </p:nvCxnSpPr>
                <p:spPr>
                  <a:xfrm>
                    <a:off x="5867400" y="3606800"/>
                    <a:ext cx="833120" cy="594360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="" xmlns:a16="http://schemas.microsoft.com/office/drawing/2014/main" id="{5DFD7664-D24A-A20D-1C9D-7A7C46E6C6D5}"/>
                      </a:ext>
                    </a:extLst>
                  </p:cNvPr>
                  <p:cNvCxnSpPr/>
                  <p:nvPr/>
                </p:nvCxnSpPr>
                <p:spPr>
                  <a:xfrm>
                    <a:off x="6693747" y="4196926"/>
                    <a:ext cx="232829" cy="393701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="" xmlns:a16="http://schemas.microsoft.com/office/drawing/2014/main" id="{A348DB8D-1EFD-6636-06E9-09670973310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926576" y="4590627"/>
                    <a:ext cx="1" cy="397933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="" xmlns:a16="http://schemas.microsoft.com/office/drawing/2014/main" id="{E83EBD92-FD9B-907F-F451-2BEBB41B576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486600" y="4321148"/>
                    <a:ext cx="1" cy="397933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="" xmlns:a16="http://schemas.microsoft.com/office/drawing/2014/main" id="{F1255BD3-9367-5708-BC3C-F13C6AAF8F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929119" y="4723256"/>
                    <a:ext cx="570018" cy="265304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="" xmlns:a16="http://schemas.microsoft.com/office/drawing/2014/main" id="{AD367CB6-C53A-F3E0-4A03-0399E49A7172}"/>
                      </a:ext>
                    </a:extLst>
                  </p:cNvPr>
                  <p:cNvCxnSpPr/>
                  <p:nvPr/>
                </p:nvCxnSpPr>
                <p:spPr>
                  <a:xfrm>
                    <a:off x="5867400" y="3606800"/>
                    <a:ext cx="0" cy="630766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="" xmlns:a16="http://schemas.microsoft.com/office/drawing/2014/main" id="{F2AA6560-E339-1863-18F9-079B0C8CAF75}"/>
                      </a:ext>
                    </a:extLst>
                  </p:cNvPr>
                  <p:cNvCxnSpPr/>
                  <p:nvPr/>
                </p:nvCxnSpPr>
                <p:spPr>
                  <a:xfrm>
                    <a:off x="5867400" y="4237566"/>
                    <a:ext cx="1061201" cy="750994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="" xmlns:a16="http://schemas.microsoft.com/office/drawing/2014/main" id="{82749C7A-8C95-3DC9-63DB-E6E9C29363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95999" y="3479800"/>
                    <a:ext cx="1170309" cy="480974"/>
                  </a:xfrm>
                  <a:prstGeom prst="line">
                    <a:avLst/>
                  </a:prstGeom>
                  <a:ln w="2222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3" name="Straight Connector 82">
                <a:extLst>
                  <a:ext uri="{FF2B5EF4-FFF2-40B4-BE49-F238E27FC236}">
                    <a16:creationId xmlns="" xmlns:a16="http://schemas.microsoft.com/office/drawing/2014/main" id="{607072FF-6063-B6BB-6E70-F0D08FB545AA}"/>
                  </a:ext>
                </a:extLst>
              </p:cNvPr>
              <p:cNvCxnSpPr/>
              <p:nvPr/>
            </p:nvCxnSpPr>
            <p:spPr>
              <a:xfrm>
                <a:off x="8292169" y="2702808"/>
                <a:ext cx="0" cy="653626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="" xmlns:a16="http://schemas.microsoft.com/office/drawing/2014/main" id="{42E96CFB-CB9E-C7E1-516D-4DD7844A4ADE}"/>
                  </a:ext>
                </a:extLst>
              </p:cNvPr>
              <p:cNvCxnSpPr/>
              <p:nvPr/>
            </p:nvCxnSpPr>
            <p:spPr>
              <a:xfrm flipV="1">
                <a:off x="8061780" y="3342963"/>
                <a:ext cx="227222" cy="95246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="" xmlns:a16="http://schemas.microsoft.com/office/drawing/2014/main" id="{2ACB273B-C76B-0D19-1C90-6457435582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8777" y="3339021"/>
                <a:ext cx="1357031" cy="60089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0" name="Group 119">
            <a:extLst>
              <a:ext uri="{FF2B5EF4-FFF2-40B4-BE49-F238E27FC236}">
                <a16:creationId xmlns="" xmlns:a16="http://schemas.microsoft.com/office/drawing/2014/main" id="{03CD0D42-694F-ACAC-2DA6-B1E4F845A62C}"/>
              </a:ext>
            </a:extLst>
          </p:cNvPr>
          <p:cNvGrpSpPr/>
          <p:nvPr/>
        </p:nvGrpSpPr>
        <p:grpSpPr>
          <a:xfrm>
            <a:off x="7156341" y="2823457"/>
            <a:ext cx="1977145" cy="1842645"/>
            <a:chOff x="7156341" y="2823457"/>
            <a:chExt cx="1977145" cy="1842645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="" xmlns:a16="http://schemas.microsoft.com/office/drawing/2014/main" id="{D0348706-8E37-BFA8-F00F-A72CB3082395}"/>
                </a:ext>
              </a:extLst>
            </p:cNvPr>
            <p:cNvCxnSpPr/>
            <p:nvPr/>
          </p:nvCxnSpPr>
          <p:spPr>
            <a:xfrm flipV="1">
              <a:off x="7156341" y="2823457"/>
              <a:ext cx="904062" cy="457376"/>
            </a:xfrm>
            <a:prstGeom prst="line">
              <a:avLst/>
            </a:prstGeom>
            <a:ln>
              <a:solidFill>
                <a:srgbClr val="7030A0"/>
              </a:solidFill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="" xmlns:a16="http://schemas.microsoft.com/office/drawing/2014/main" id="{5A61F2E0-C2ED-2AB8-0531-6F2DA2019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2079" y="3424294"/>
              <a:ext cx="909481" cy="450308"/>
            </a:xfrm>
            <a:prstGeom prst="line">
              <a:avLst/>
            </a:prstGeom>
            <a:ln>
              <a:solidFill>
                <a:srgbClr val="7030A0"/>
              </a:solidFill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="" xmlns:a16="http://schemas.microsoft.com/office/drawing/2014/main" id="{D6806C13-C6DE-A66A-6FA5-3089D1C5E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8560" y="3805517"/>
              <a:ext cx="909481" cy="450308"/>
            </a:xfrm>
            <a:prstGeom prst="line">
              <a:avLst/>
            </a:prstGeom>
            <a:ln>
              <a:solidFill>
                <a:srgbClr val="7030A0"/>
              </a:solidFill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="" xmlns:a16="http://schemas.microsoft.com/office/drawing/2014/main" id="{2E657D81-DE1E-8DE9-8A4C-FF9AC4EF1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24005" y="4215794"/>
              <a:ext cx="909481" cy="450308"/>
            </a:xfrm>
            <a:prstGeom prst="line">
              <a:avLst/>
            </a:prstGeom>
            <a:ln>
              <a:solidFill>
                <a:srgbClr val="7030A0"/>
              </a:solidFill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87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ea typeface="Calibri" panose="020F0502020204030204" pitchFamily="34" charset="0"/>
                <a:cs typeface="Times New Roman" panose="02020603050405020304" pitchFamily="18" charset="0"/>
              </a:rPr>
              <a:t>1.KHÁI NIỆM HÌNH CHIẾU </a:t>
            </a:r>
            <a:r>
              <a:rPr lang="en-US" sz="3600" b="1" dirty="0" smtClean="0">
                <a:ln w="0"/>
                <a:ea typeface="Calibri" panose="020F0502020204030204" pitchFamily="34" charset="0"/>
                <a:cs typeface="Times New Roman" panose="02020603050405020304" pitchFamily="18" charset="0"/>
              </a:rPr>
              <a:t>VUÔNG </a:t>
            </a:r>
            <a:r>
              <a:rPr lang="en-US" sz="3600" b="1" dirty="0">
                <a:ln w="0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endParaRPr lang="vi-VN" sz="3600" b="1" dirty="0">
              <a:ln w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="" xmlns:a16="http://schemas.microsoft.com/office/drawing/2014/main" id="{77839443-127F-2EBE-5585-D2B2BAA33DF1}"/>
              </a:ext>
            </a:extLst>
          </p:cNvPr>
          <p:cNvSpPr/>
          <p:nvPr/>
        </p:nvSpPr>
        <p:spPr>
          <a:xfrm>
            <a:off x="868075" y="5280444"/>
            <a:ext cx="4279899" cy="1481703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FD7E40D4-034B-88F2-9961-5B7DE5047143}"/>
              </a:ext>
            </a:extLst>
          </p:cNvPr>
          <p:cNvGrpSpPr/>
          <p:nvPr/>
        </p:nvGrpSpPr>
        <p:grpSpPr>
          <a:xfrm>
            <a:off x="2303173" y="3196897"/>
            <a:ext cx="1752598" cy="1481702"/>
            <a:chOff x="4762500" y="2087799"/>
            <a:chExt cx="2476500" cy="2247900"/>
          </a:xfrm>
        </p:grpSpPr>
        <p:sp>
          <p:nvSpPr>
            <p:cNvPr id="14" name="Cube 13">
              <a:extLst>
                <a:ext uri="{FF2B5EF4-FFF2-40B4-BE49-F238E27FC236}">
                  <a16:creationId xmlns="" xmlns:a16="http://schemas.microsoft.com/office/drawing/2014/main" id="{D1132CB9-C609-E7FB-8008-A5C72E77696A}"/>
                </a:ext>
              </a:extLst>
            </p:cNvPr>
            <p:cNvSpPr/>
            <p:nvPr/>
          </p:nvSpPr>
          <p:spPr>
            <a:xfrm>
              <a:off x="4762500" y="2087799"/>
              <a:ext cx="2463800" cy="2247900"/>
            </a:xfrm>
            <a:prstGeom prst="cube">
              <a:avLst/>
            </a:prstGeom>
            <a:noFill/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E8E17F65-A5DA-B69F-43E7-92B0B647CE18}"/>
                </a:ext>
              </a:extLst>
            </p:cNvPr>
            <p:cNvCxnSpPr>
              <a:cxnSpLocks/>
            </p:cNvCxnSpPr>
            <p:nvPr/>
          </p:nvCxnSpPr>
          <p:spPr>
            <a:xfrm>
              <a:off x="5334000" y="2087799"/>
              <a:ext cx="0" cy="1671401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B5DA1A37-2539-6E20-A20B-249845E45A7E}"/>
                </a:ext>
              </a:extLst>
            </p:cNvPr>
            <p:cNvCxnSpPr>
              <a:cxnSpLocks/>
            </p:cNvCxnSpPr>
            <p:nvPr/>
          </p:nvCxnSpPr>
          <p:spPr>
            <a:xfrm>
              <a:off x="5334000" y="3759200"/>
              <a:ext cx="1905000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="" xmlns:a16="http://schemas.microsoft.com/office/drawing/2014/main" id="{CB2F2ADA-8361-4FCA-07CC-A221DF65B0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2500" y="3759200"/>
              <a:ext cx="571500" cy="540406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Connector 56">
            <a:extLst>
              <a:ext uri="{FF2B5EF4-FFF2-40B4-BE49-F238E27FC236}">
                <a16:creationId xmlns="" xmlns:a16="http://schemas.microsoft.com/office/drawing/2014/main" id="{A71CB437-CE73-1C74-A262-7E345CB819CB}"/>
              </a:ext>
            </a:extLst>
          </p:cNvPr>
          <p:cNvCxnSpPr/>
          <p:nvPr/>
        </p:nvCxnSpPr>
        <p:spPr>
          <a:xfrm>
            <a:off x="2303173" y="4678599"/>
            <a:ext cx="0" cy="1809351"/>
          </a:xfrm>
          <a:prstGeom prst="line">
            <a:avLst/>
          </a:prstGeom>
          <a:ln w="15875" cap="sq">
            <a:solidFill>
              <a:srgbClr val="7030A0"/>
            </a:solidFill>
            <a:prstDash val="dashDot"/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="" xmlns:a16="http://schemas.microsoft.com/office/drawing/2014/main" id="{AADD1FC3-249F-2B73-563C-095CB48A32AE}"/>
              </a:ext>
            </a:extLst>
          </p:cNvPr>
          <p:cNvCxnSpPr/>
          <p:nvPr/>
        </p:nvCxnSpPr>
        <p:spPr>
          <a:xfrm>
            <a:off x="3674773" y="4678599"/>
            <a:ext cx="0" cy="1809351"/>
          </a:xfrm>
          <a:prstGeom prst="line">
            <a:avLst/>
          </a:prstGeom>
          <a:ln w="15875" cap="sq">
            <a:solidFill>
              <a:srgbClr val="7030A0"/>
            </a:solidFill>
            <a:prstDash val="dashDot"/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="" xmlns:a16="http://schemas.microsoft.com/office/drawing/2014/main" id="{95DDF3BA-4359-BBA9-35A1-71E7F72A9491}"/>
              </a:ext>
            </a:extLst>
          </p:cNvPr>
          <p:cNvCxnSpPr/>
          <p:nvPr/>
        </p:nvCxnSpPr>
        <p:spPr>
          <a:xfrm>
            <a:off x="2720319" y="4298600"/>
            <a:ext cx="0" cy="1809351"/>
          </a:xfrm>
          <a:prstGeom prst="line">
            <a:avLst/>
          </a:prstGeom>
          <a:ln w="15875" cap="sq">
            <a:solidFill>
              <a:srgbClr val="7030A0"/>
            </a:solidFill>
            <a:prstDash val="dashDot"/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="" xmlns:a16="http://schemas.microsoft.com/office/drawing/2014/main" id="{ED31EFDF-B914-1698-87DD-971D886A2C5D}"/>
              </a:ext>
            </a:extLst>
          </p:cNvPr>
          <p:cNvCxnSpPr/>
          <p:nvPr/>
        </p:nvCxnSpPr>
        <p:spPr>
          <a:xfrm>
            <a:off x="4055771" y="4298600"/>
            <a:ext cx="0" cy="1809351"/>
          </a:xfrm>
          <a:prstGeom prst="line">
            <a:avLst/>
          </a:prstGeom>
          <a:ln w="15875" cap="sq">
            <a:solidFill>
              <a:srgbClr val="7030A0"/>
            </a:solidFill>
            <a:prstDash val="dashDot"/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Parallelogram 64">
            <a:extLst>
              <a:ext uri="{FF2B5EF4-FFF2-40B4-BE49-F238E27FC236}">
                <a16:creationId xmlns="" xmlns:a16="http://schemas.microsoft.com/office/drawing/2014/main" id="{0D1931D8-0B33-DCBA-92F5-2064636F632E}"/>
              </a:ext>
            </a:extLst>
          </p:cNvPr>
          <p:cNvSpPr/>
          <p:nvPr/>
        </p:nvSpPr>
        <p:spPr>
          <a:xfrm>
            <a:off x="2293548" y="6113735"/>
            <a:ext cx="1786987" cy="403011"/>
          </a:xfrm>
          <a:prstGeom prst="parallelogram">
            <a:avLst>
              <a:gd name="adj" fmla="val 108965"/>
            </a:avLst>
          </a:prstGeom>
          <a:noFill/>
          <a:ln w="34925">
            <a:solidFill>
              <a:srgbClr val="7030A0"/>
            </a:solidFill>
          </a:ln>
          <a:scene3d>
            <a:camera prst="orthographicFront">
              <a:rot lat="299989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="" xmlns:a16="http://schemas.microsoft.com/office/drawing/2014/main" id="{E8A46B06-066B-9FB6-FF0B-59C7AF2BC6F4}"/>
              </a:ext>
            </a:extLst>
          </p:cNvPr>
          <p:cNvGrpSpPr/>
          <p:nvPr/>
        </p:nvGrpSpPr>
        <p:grpSpPr>
          <a:xfrm>
            <a:off x="2303173" y="1182117"/>
            <a:ext cx="1752701" cy="1892180"/>
            <a:chOff x="4762500" y="1182117"/>
            <a:chExt cx="1752701" cy="189218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="" xmlns:a16="http://schemas.microsoft.com/office/drawing/2014/main" id="{F10948C9-5411-707A-D75F-1F2F67379E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0453" y="2691059"/>
              <a:ext cx="374748" cy="383238"/>
            </a:xfrm>
            <a:prstGeom prst="line">
              <a:avLst/>
            </a:prstGeom>
            <a:ln w="349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Group 120">
              <a:extLst>
                <a:ext uri="{FF2B5EF4-FFF2-40B4-BE49-F238E27FC236}">
                  <a16:creationId xmlns="" xmlns:a16="http://schemas.microsoft.com/office/drawing/2014/main" id="{35BCA35C-85D4-789B-AA4A-23E7C10C0777}"/>
                </a:ext>
              </a:extLst>
            </p:cNvPr>
            <p:cNvGrpSpPr/>
            <p:nvPr/>
          </p:nvGrpSpPr>
          <p:grpSpPr>
            <a:xfrm>
              <a:off x="4762500" y="1182117"/>
              <a:ext cx="1752598" cy="1892180"/>
              <a:chOff x="4762500" y="1182117"/>
              <a:chExt cx="1752598" cy="1892180"/>
            </a:xfrm>
          </p:grpSpPr>
          <p:sp>
            <p:nvSpPr>
              <p:cNvPr id="68" name="Trapezoid 67">
                <a:extLst>
                  <a:ext uri="{FF2B5EF4-FFF2-40B4-BE49-F238E27FC236}">
                    <a16:creationId xmlns="" xmlns:a16="http://schemas.microsoft.com/office/drawing/2014/main" id="{F850C161-33E9-07C8-DAF7-0D71902CE635}"/>
                  </a:ext>
                </a:extLst>
              </p:cNvPr>
              <p:cNvSpPr/>
              <p:nvPr/>
            </p:nvSpPr>
            <p:spPr>
              <a:xfrm rot="16200000">
                <a:off x="4700706" y="1640901"/>
                <a:ext cx="1501541" cy="1365251"/>
              </a:xfrm>
              <a:prstGeom prst="trapezoid">
                <a:avLst/>
              </a:prstGeom>
              <a:noFill/>
              <a:ln w="349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="" xmlns:a16="http://schemas.microsoft.com/office/drawing/2014/main" id="{A6E39771-2CB4-E64B-2DBB-7F103A9CC7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12042" y="1190584"/>
                <a:ext cx="374748" cy="383238"/>
              </a:xfrm>
              <a:prstGeom prst="line">
                <a:avLst/>
              </a:prstGeom>
              <a:ln w="349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="" xmlns:a16="http://schemas.microsoft.com/office/drawing/2014/main" id="{FE56940E-342F-AF93-52DD-F63305B265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62500" y="1521935"/>
                <a:ext cx="374748" cy="383238"/>
              </a:xfrm>
              <a:prstGeom prst="line">
                <a:avLst/>
              </a:prstGeom>
              <a:ln w="349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="" xmlns:a16="http://schemas.microsoft.com/office/drawing/2014/main" id="{55493554-7EEC-DCE3-26E3-AA26463C9162}"/>
                  </a:ext>
                </a:extLst>
              </p:cNvPr>
              <p:cNvCxnSpPr/>
              <p:nvPr/>
            </p:nvCxnSpPr>
            <p:spPr>
              <a:xfrm flipV="1">
                <a:off x="5137248" y="1182117"/>
                <a:ext cx="1349542" cy="339818"/>
              </a:xfrm>
              <a:prstGeom prst="line">
                <a:avLst/>
              </a:prstGeom>
              <a:ln w="349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="" xmlns:a16="http://schemas.microsoft.com/office/drawing/2014/main" id="{72569B5D-F2A7-283B-5B4E-8A4E5DCCA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7060" y="1182117"/>
                <a:ext cx="21790" cy="1508942"/>
              </a:xfrm>
              <a:prstGeom prst="line">
                <a:avLst/>
              </a:prstGeom>
              <a:ln w="349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="" xmlns:a16="http://schemas.microsoft.com/office/drawing/2014/main" id="{69FF102E-33E3-720D-1B28-2F444F5759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62500" y="2354786"/>
                <a:ext cx="374748" cy="383238"/>
              </a:xfrm>
              <a:prstGeom prst="line">
                <a:avLst/>
              </a:prstGeom>
              <a:ln w="15875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="" xmlns:a16="http://schemas.microsoft.com/office/drawing/2014/main" id="{DE479CD5-AA9A-37D4-3CFA-962F63E35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856" y="1521935"/>
                <a:ext cx="0" cy="832851"/>
              </a:xfrm>
              <a:prstGeom prst="line">
                <a:avLst/>
              </a:prstGeom>
              <a:ln w="15875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="" xmlns:a16="http://schemas.microsoft.com/office/drawing/2014/main" id="{01EF206A-F472-8004-D978-F96D2E96B6B0}"/>
                  </a:ext>
                </a:extLst>
              </p:cNvPr>
              <p:cNvCxnSpPr/>
              <p:nvPr/>
            </p:nvCxnSpPr>
            <p:spPr>
              <a:xfrm>
                <a:off x="5157856" y="2340460"/>
                <a:ext cx="1357242" cy="330774"/>
              </a:xfrm>
              <a:prstGeom prst="line">
                <a:avLst/>
              </a:prstGeom>
              <a:ln w="15875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0" name="Group 129">
            <a:extLst>
              <a:ext uri="{FF2B5EF4-FFF2-40B4-BE49-F238E27FC236}">
                <a16:creationId xmlns="" xmlns:a16="http://schemas.microsoft.com/office/drawing/2014/main" id="{8C432531-92B9-3680-BCC8-C4108F806BE8}"/>
              </a:ext>
            </a:extLst>
          </p:cNvPr>
          <p:cNvGrpSpPr/>
          <p:nvPr/>
        </p:nvGrpSpPr>
        <p:grpSpPr>
          <a:xfrm>
            <a:off x="2309524" y="2340460"/>
            <a:ext cx="1717939" cy="1207073"/>
            <a:chOff x="4768851" y="2340460"/>
            <a:chExt cx="1717939" cy="1207073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="" xmlns:a16="http://schemas.microsoft.com/office/drawing/2014/main" id="{C42C6E1D-DE51-CAC3-8086-09873E901839}"/>
                </a:ext>
              </a:extLst>
            </p:cNvPr>
            <p:cNvCxnSpPr/>
            <p:nvPr/>
          </p:nvCxnSpPr>
          <p:spPr>
            <a:xfrm>
              <a:off x="4768851" y="2691059"/>
              <a:ext cx="0" cy="856474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="" xmlns:a16="http://schemas.microsoft.com/office/drawing/2014/main" id="{C0B56A52-C8F8-384F-11BF-642282E052F0}"/>
                </a:ext>
              </a:extLst>
            </p:cNvPr>
            <p:cNvCxnSpPr/>
            <p:nvPr/>
          </p:nvCxnSpPr>
          <p:spPr>
            <a:xfrm>
              <a:off x="5157856" y="2340460"/>
              <a:ext cx="0" cy="856474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="" xmlns:a16="http://schemas.microsoft.com/office/drawing/2014/main" id="{6EF68412-5CB8-D941-4262-94048B41CD30}"/>
                </a:ext>
              </a:extLst>
            </p:cNvPr>
            <p:cNvCxnSpPr>
              <a:cxnSpLocks/>
            </p:cNvCxnSpPr>
            <p:nvPr/>
          </p:nvCxnSpPr>
          <p:spPr>
            <a:xfrm>
              <a:off x="6125637" y="3074297"/>
              <a:ext cx="0" cy="473236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="" xmlns:a16="http://schemas.microsoft.com/office/drawing/2014/main" id="{C2DAD737-8CB4-D9B3-1308-290DFC25D215}"/>
                </a:ext>
              </a:extLst>
            </p:cNvPr>
            <p:cNvCxnSpPr>
              <a:cxnSpLocks/>
            </p:cNvCxnSpPr>
            <p:nvPr/>
          </p:nvCxnSpPr>
          <p:spPr>
            <a:xfrm>
              <a:off x="6486790" y="2691059"/>
              <a:ext cx="0" cy="505838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="" xmlns:a16="http://schemas.microsoft.com/office/drawing/2014/main" id="{4E01A1BD-CEE3-CD5E-BAB6-E975141E2A7B}"/>
              </a:ext>
            </a:extLst>
          </p:cNvPr>
          <p:cNvGrpSpPr/>
          <p:nvPr/>
        </p:nvGrpSpPr>
        <p:grpSpPr>
          <a:xfrm>
            <a:off x="1036948" y="2475436"/>
            <a:ext cx="482600" cy="1500403"/>
            <a:chOff x="3496275" y="2475436"/>
            <a:chExt cx="482600" cy="1500403"/>
          </a:xfrm>
        </p:grpSpPr>
        <p:sp>
          <p:nvSpPr>
            <p:cNvPr id="64" name="TextBox 63">
              <a:extLst>
                <a:ext uri="{FF2B5EF4-FFF2-40B4-BE49-F238E27FC236}">
                  <a16:creationId xmlns="" xmlns:a16="http://schemas.microsoft.com/office/drawing/2014/main" id="{2725D0BD-A530-8730-A850-A1C1DDC6DDE2}"/>
                </a:ext>
              </a:extLst>
            </p:cNvPr>
            <p:cNvSpPr txBox="1"/>
            <p:nvPr/>
          </p:nvSpPr>
          <p:spPr>
            <a:xfrm>
              <a:off x="3496275" y="2475436"/>
              <a:ext cx="4826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S</a:t>
              </a:r>
              <a:endParaRPr lang="en-US" sz="2800" dirty="0"/>
            </a:p>
          </p:txBody>
        </p:sp>
        <p:sp>
          <p:nvSpPr>
            <p:cNvPr id="131" name="Arrow: Down 130">
              <a:extLst>
                <a:ext uri="{FF2B5EF4-FFF2-40B4-BE49-F238E27FC236}">
                  <a16:creationId xmlns="" xmlns:a16="http://schemas.microsoft.com/office/drawing/2014/main" id="{E2129BA3-C65B-66F3-1EC8-DBCD574F4F64}"/>
                </a:ext>
              </a:extLst>
            </p:cNvPr>
            <p:cNvSpPr/>
            <p:nvPr/>
          </p:nvSpPr>
          <p:spPr>
            <a:xfrm>
              <a:off x="3504742" y="3058353"/>
              <a:ext cx="287864" cy="917486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3" name="Arrow: Down 132">
            <a:extLst>
              <a:ext uri="{FF2B5EF4-FFF2-40B4-BE49-F238E27FC236}">
                <a16:creationId xmlns="" xmlns:a16="http://schemas.microsoft.com/office/drawing/2014/main" id="{08FF54BF-685F-4445-20EF-24D84251FF57}"/>
              </a:ext>
            </a:extLst>
          </p:cNvPr>
          <p:cNvSpPr/>
          <p:nvPr/>
        </p:nvSpPr>
        <p:spPr>
          <a:xfrm rot="16200000">
            <a:off x="5560470" y="3361650"/>
            <a:ext cx="380084" cy="690976"/>
          </a:xfrm>
          <a:prstGeom prst="down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61063F2D-14C1-BD24-84BC-F212532A4240}"/>
              </a:ext>
            </a:extLst>
          </p:cNvPr>
          <p:cNvSpPr txBox="1"/>
          <p:nvPr/>
        </p:nvSpPr>
        <p:spPr>
          <a:xfrm>
            <a:off x="6342237" y="3089785"/>
            <a:ext cx="5617944" cy="12926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diễn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tả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cách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xác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dạng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kích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thước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vật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thể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nhiều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góc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chiếu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khác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nhau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8" name="Parallelogram 37">
            <a:extLst>
              <a:ext uri="{FF2B5EF4-FFF2-40B4-BE49-F238E27FC236}">
                <a16:creationId xmlns="" xmlns:a16="http://schemas.microsoft.com/office/drawing/2014/main" id="{77839443-127F-2EBE-5585-D2B2BAA33DF1}"/>
              </a:ext>
            </a:extLst>
          </p:cNvPr>
          <p:cNvSpPr/>
          <p:nvPr/>
        </p:nvSpPr>
        <p:spPr>
          <a:xfrm rot="5400000">
            <a:off x="4335865" y="2262385"/>
            <a:ext cx="4800347" cy="1869023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4E01A1BD-CEE3-CD5E-BAB6-E975141E2A7B}"/>
              </a:ext>
            </a:extLst>
          </p:cNvPr>
          <p:cNvGrpSpPr/>
          <p:nvPr/>
        </p:nvGrpSpPr>
        <p:grpSpPr>
          <a:xfrm rot="16200000">
            <a:off x="953480" y="642156"/>
            <a:ext cx="523220" cy="1480092"/>
            <a:chOff x="3475966" y="2495747"/>
            <a:chExt cx="523220" cy="1480092"/>
          </a:xfrm>
        </p:grpSpPr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2725D0BD-A530-8730-A850-A1C1DDC6DDE2}"/>
                </a:ext>
              </a:extLst>
            </p:cNvPr>
            <p:cNvSpPr txBox="1"/>
            <p:nvPr/>
          </p:nvSpPr>
          <p:spPr>
            <a:xfrm rot="5400000">
              <a:off x="3496276" y="2475437"/>
              <a:ext cx="4826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S</a:t>
              </a:r>
              <a:endParaRPr lang="en-US" sz="2800" dirty="0"/>
            </a:p>
          </p:txBody>
        </p:sp>
        <p:sp>
          <p:nvSpPr>
            <p:cNvPr id="41" name="Arrow: Down 130">
              <a:extLst>
                <a:ext uri="{FF2B5EF4-FFF2-40B4-BE49-F238E27FC236}">
                  <a16:creationId xmlns="" xmlns:a16="http://schemas.microsoft.com/office/drawing/2014/main" id="{E2129BA3-C65B-66F3-1EC8-DBCD574F4F64}"/>
                </a:ext>
              </a:extLst>
            </p:cNvPr>
            <p:cNvSpPr/>
            <p:nvPr/>
          </p:nvSpPr>
          <p:spPr>
            <a:xfrm>
              <a:off x="3504742" y="3058353"/>
              <a:ext cx="287864" cy="917486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lowchart: Data 3"/>
          <p:cNvSpPr/>
          <p:nvPr/>
        </p:nvSpPr>
        <p:spPr>
          <a:xfrm rot="5400000" flipV="1">
            <a:off x="5660291" y="1891109"/>
            <a:ext cx="1947414" cy="435490"/>
          </a:xfrm>
          <a:prstGeom prst="flowChartInputOutpu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6396025" y="1478626"/>
            <a:ext cx="455718" cy="35931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6416253" y="2336973"/>
            <a:ext cx="435490" cy="38505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4021382" y="1155223"/>
            <a:ext cx="2830361" cy="8467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3681556" y="1533483"/>
            <a:ext cx="2721250" cy="25127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666162" y="3070881"/>
            <a:ext cx="2721250" cy="25127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4048082" y="2662518"/>
            <a:ext cx="2823365" cy="16985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2779720" y="1484408"/>
            <a:ext cx="4072023" cy="39538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2314148" y="1831314"/>
            <a:ext cx="4102105" cy="53723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684272" y="2323526"/>
            <a:ext cx="4167471" cy="27777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V="1">
            <a:off x="2315876" y="2717757"/>
            <a:ext cx="4100377" cy="24095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lowchart: Data 71"/>
          <p:cNvSpPr/>
          <p:nvPr/>
        </p:nvSpPr>
        <p:spPr>
          <a:xfrm rot="5400000" flipV="1">
            <a:off x="5926737" y="3702944"/>
            <a:ext cx="1459253" cy="444480"/>
          </a:xfrm>
          <a:prstGeom prst="flowChartInputOutpu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/>
          <p:cNvCxnSpPr/>
          <p:nvPr/>
        </p:nvCxnSpPr>
        <p:spPr>
          <a:xfrm flipV="1">
            <a:off x="4014788" y="3161369"/>
            <a:ext cx="2854826" cy="3217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549333" y="3515007"/>
            <a:ext cx="2854826" cy="3217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4009149" y="4315212"/>
            <a:ext cx="2854826" cy="3217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3560258" y="4643928"/>
            <a:ext cx="2854826" cy="3217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20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65" grpId="0" animBg="1"/>
      <p:bldP spid="65" grpId="1" animBg="1"/>
      <p:bldP spid="133" grpId="0" animBg="1"/>
      <p:bldP spid="133" grpId="1" animBg="1"/>
      <p:bldP spid="134" grpId="0" animBg="1"/>
      <p:bldP spid="134" grpId="1" animBg="1"/>
      <p:bldP spid="38" grpId="0" animBg="1"/>
      <p:bldP spid="4" grpId="0" animBg="1"/>
      <p:bldP spid="7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B770DB3-8335-19DE-03F0-69FA4ACB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846" y="2016421"/>
            <a:ext cx="3407171" cy="34083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VUÔNG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0" y="836704"/>
            <a:ext cx="4907280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1. KHÁI NIỆM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133" y="1270535"/>
            <a:ext cx="11762072" cy="715005"/>
          </a:xfrm>
          <a:prstGeom prst="roundRect">
            <a:avLst/>
          </a:prstGeom>
          <a:solidFill>
            <a:schemeClr val="accent5">
              <a:lumMod val="40000"/>
              <a:lumOff val="60000"/>
              <a:alpha val="82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b="1" dirty="0" err="1">
                <a:solidFill>
                  <a:srgbClr val="FF0000"/>
                </a:solidFill>
              </a:rPr>
              <a:t>Hình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chiếu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vuông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góc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là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biểu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diễn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phần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thấy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của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vật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thể</a:t>
            </a:r>
            <a:r>
              <a:rPr lang="en-US" sz="2600" dirty="0">
                <a:solidFill>
                  <a:schemeClr val="tx1"/>
                </a:solidFill>
              </a:rPr>
              <a:t> so </a:t>
            </a:r>
            <a:r>
              <a:rPr lang="en-US" sz="2600" dirty="0" err="1">
                <a:solidFill>
                  <a:schemeClr val="tx1"/>
                </a:solidFill>
              </a:rPr>
              <a:t>với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người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quan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sát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bằng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phương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pháp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chiếu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vuông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góc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0" y="5295570"/>
            <a:ext cx="12192000" cy="594049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</a:rPr>
              <a:t>Những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phần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thấy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vật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(</a:t>
            </a:r>
            <a:r>
              <a:rPr lang="en-US" sz="2400" dirty="0" err="1">
                <a:solidFill>
                  <a:schemeClr val="tx1"/>
                </a:solidFill>
              </a:rPr>
              <a:t>giao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tuyến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thấy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đường</a:t>
            </a:r>
            <a:r>
              <a:rPr lang="en-US" sz="2400" dirty="0">
                <a:solidFill>
                  <a:schemeClr val="tx1"/>
                </a:solidFill>
              </a:rPr>
              <a:t> bao </a:t>
            </a:r>
            <a:r>
              <a:rPr lang="en-US" sz="2400" dirty="0" err="1">
                <a:solidFill>
                  <a:schemeClr val="tx1"/>
                </a:solidFill>
              </a:rPr>
              <a:t>thấy</a:t>
            </a:r>
            <a:r>
              <a:rPr lang="en-US" sz="2400" dirty="0">
                <a:solidFill>
                  <a:schemeClr val="tx1"/>
                </a:solidFill>
              </a:rPr>
              <a:t>) </a:t>
            </a:r>
            <a:r>
              <a:rPr lang="en-US" sz="2400" dirty="0" err="1">
                <a:solidFill>
                  <a:schemeClr val="tx1"/>
                </a:solidFill>
              </a:rPr>
              <a:t>được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vẽ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bằng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nét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liền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đậm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81" name="Group 80"/>
          <p:cNvGrpSpPr/>
          <p:nvPr/>
        </p:nvGrpSpPr>
        <p:grpSpPr>
          <a:xfrm>
            <a:off x="2612400" y="3052449"/>
            <a:ext cx="4312280" cy="1678514"/>
            <a:chOff x="1145578" y="2925628"/>
            <a:chExt cx="5234515" cy="1877421"/>
          </a:xfrm>
        </p:grpSpPr>
        <p:pic>
          <p:nvPicPr>
            <p:cNvPr id="8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578" y="2925628"/>
              <a:ext cx="3407171" cy="1877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9" name="Right Arrow 88"/>
            <p:cNvSpPr/>
            <p:nvPr/>
          </p:nvSpPr>
          <p:spPr>
            <a:xfrm>
              <a:off x="5452082" y="3346801"/>
              <a:ext cx="928011" cy="387367"/>
            </a:xfrm>
            <a:prstGeom prst="rightArrow">
              <a:avLst/>
            </a:prstGeom>
            <a:gradFill>
              <a:gsLst>
                <a:gs pos="0">
                  <a:srgbClr val="CCCCFF"/>
                </a:gs>
                <a:gs pos="24000">
                  <a:srgbClr val="99CCFF"/>
                </a:gs>
                <a:gs pos="45000">
                  <a:srgbClr val="9966FF"/>
                </a:gs>
                <a:gs pos="61000">
                  <a:srgbClr val="CC99FF"/>
                </a:gs>
                <a:gs pos="82001">
                  <a:srgbClr val="99CCFF"/>
                </a:gs>
                <a:gs pos="100000">
                  <a:srgbClr val="CCCCFF"/>
                </a:gs>
              </a:gsLst>
              <a:lin ang="27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7594656" y="4170483"/>
            <a:ext cx="2073082" cy="815340"/>
            <a:chOff x="6797040" y="3007360"/>
            <a:chExt cx="2026920" cy="815340"/>
          </a:xfrm>
        </p:grpSpPr>
        <p:sp>
          <p:nvSpPr>
            <p:cNvPr id="93" name="Flowchart: Terminator 92"/>
            <p:cNvSpPr/>
            <p:nvPr/>
          </p:nvSpPr>
          <p:spPr>
            <a:xfrm>
              <a:off x="6797040" y="3007360"/>
              <a:ext cx="2026920" cy="690272"/>
            </a:xfrm>
            <a:prstGeom prst="flowChartTerminator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7011670" y="3225496"/>
              <a:ext cx="254000" cy="2746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7665720" y="3225496"/>
              <a:ext cx="254000" cy="2746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8364220" y="3225496"/>
              <a:ext cx="254000" cy="2746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Connector 102"/>
            <p:cNvCxnSpPr/>
            <p:nvPr/>
          </p:nvCxnSpPr>
          <p:spPr>
            <a:xfrm flipH="1">
              <a:off x="7454900" y="3007360"/>
              <a:ext cx="6350" cy="69027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H="1">
              <a:off x="8134350" y="3017216"/>
              <a:ext cx="6350" cy="69027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7556500" y="3707792"/>
              <a:ext cx="0" cy="10855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8032750" y="3714142"/>
              <a:ext cx="0" cy="10855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7556500" y="3822700"/>
              <a:ext cx="47625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7622500" y="2580442"/>
            <a:ext cx="2039620" cy="742168"/>
            <a:chOff x="6797040" y="4351757"/>
            <a:chExt cx="2039620" cy="742168"/>
          </a:xfrm>
        </p:grpSpPr>
        <p:cxnSp>
          <p:nvCxnSpPr>
            <p:cNvPr id="109" name="Straight Connector 108"/>
            <p:cNvCxnSpPr/>
            <p:nvPr/>
          </p:nvCxnSpPr>
          <p:spPr>
            <a:xfrm>
              <a:off x="6797040" y="5092700"/>
              <a:ext cx="202692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6797040" y="4823323"/>
              <a:ext cx="0" cy="26937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8836660" y="4823323"/>
              <a:ext cx="0" cy="27060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6797040" y="4823323"/>
              <a:ext cx="46863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8364855" y="4823323"/>
              <a:ext cx="46863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Freeform 113"/>
            <p:cNvSpPr/>
            <p:nvPr/>
          </p:nvSpPr>
          <p:spPr>
            <a:xfrm>
              <a:off x="7264400" y="4666001"/>
              <a:ext cx="182033" cy="160181"/>
            </a:xfrm>
            <a:custGeom>
              <a:avLst/>
              <a:gdLst>
                <a:gd name="connsiteX0" fmla="*/ 0 w 182033"/>
                <a:gd name="connsiteY0" fmla="*/ 159999 h 160181"/>
                <a:gd name="connsiteX1" fmla="*/ 71967 w 182033"/>
                <a:gd name="connsiteY1" fmla="*/ 155766 h 160181"/>
                <a:gd name="connsiteX2" fmla="*/ 116417 w 182033"/>
                <a:gd name="connsiteY2" fmla="*/ 130366 h 160181"/>
                <a:gd name="connsiteX3" fmla="*/ 139700 w 182033"/>
                <a:gd name="connsiteY3" fmla="*/ 111316 h 160181"/>
                <a:gd name="connsiteX4" fmla="*/ 171450 w 182033"/>
                <a:gd name="connsiteY4" fmla="*/ 75332 h 160181"/>
                <a:gd name="connsiteX5" fmla="*/ 177800 w 182033"/>
                <a:gd name="connsiteY5" fmla="*/ 28766 h 160181"/>
                <a:gd name="connsiteX6" fmla="*/ 182033 w 182033"/>
                <a:gd name="connsiteY6" fmla="*/ 1249 h 16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033" h="160181">
                  <a:moveTo>
                    <a:pt x="0" y="159999"/>
                  </a:moveTo>
                  <a:cubicBezTo>
                    <a:pt x="26282" y="160352"/>
                    <a:pt x="52564" y="160705"/>
                    <a:pt x="71967" y="155766"/>
                  </a:cubicBezTo>
                  <a:cubicBezTo>
                    <a:pt x="91370" y="150827"/>
                    <a:pt x="105128" y="137774"/>
                    <a:pt x="116417" y="130366"/>
                  </a:cubicBezTo>
                  <a:cubicBezTo>
                    <a:pt x="127706" y="122958"/>
                    <a:pt x="130528" y="120488"/>
                    <a:pt x="139700" y="111316"/>
                  </a:cubicBezTo>
                  <a:cubicBezTo>
                    <a:pt x="148872" y="102144"/>
                    <a:pt x="165100" y="89090"/>
                    <a:pt x="171450" y="75332"/>
                  </a:cubicBezTo>
                  <a:cubicBezTo>
                    <a:pt x="177800" y="61574"/>
                    <a:pt x="176036" y="41113"/>
                    <a:pt x="177800" y="28766"/>
                  </a:cubicBezTo>
                  <a:cubicBezTo>
                    <a:pt x="179564" y="16419"/>
                    <a:pt x="168275" y="-5454"/>
                    <a:pt x="182033" y="1249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8147050" y="4675717"/>
              <a:ext cx="220133" cy="158750"/>
            </a:xfrm>
            <a:custGeom>
              <a:avLst/>
              <a:gdLst>
                <a:gd name="connsiteX0" fmla="*/ 220133 w 220133"/>
                <a:gd name="connsiteY0" fmla="*/ 158750 h 158750"/>
                <a:gd name="connsiteX1" fmla="*/ 152400 w 220133"/>
                <a:gd name="connsiteY1" fmla="*/ 156633 h 158750"/>
                <a:gd name="connsiteX2" fmla="*/ 114300 w 220133"/>
                <a:gd name="connsiteY2" fmla="*/ 152400 h 158750"/>
                <a:gd name="connsiteX3" fmla="*/ 82550 w 220133"/>
                <a:gd name="connsiteY3" fmla="*/ 139700 h 158750"/>
                <a:gd name="connsiteX4" fmla="*/ 55033 w 220133"/>
                <a:gd name="connsiteY4" fmla="*/ 110066 h 158750"/>
                <a:gd name="connsiteX5" fmla="*/ 25400 w 220133"/>
                <a:gd name="connsiteY5" fmla="*/ 84666 h 158750"/>
                <a:gd name="connsiteX6" fmla="*/ 12700 w 220133"/>
                <a:gd name="connsiteY6" fmla="*/ 50800 h 158750"/>
                <a:gd name="connsiteX7" fmla="*/ 4233 w 220133"/>
                <a:gd name="connsiteY7" fmla="*/ 23283 h 158750"/>
                <a:gd name="connsiteX8" fmla="*/ 0 w 220133"/>
                <a:gd name="connsiteY8" fmla="*/ 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0133" h="158750">
                  <a:moveTo>
                    <a:pt x="220133" y="158750"/>
                  </a:moveTo>
                  <a:cubicBezTo>
                    <a:pt x="195086" y="158220"/>
                    <a:pt x="170039" y="157691"/>
                    <a:pt x="152400" y="156633"/>
                  </a:cubicBezTo>
                  <a:cubicBezTo>
                    <a:pt x="134761" y="155575"/>
                    <a:pt x="125942" y="155222"/>
                    <a:pt x="114300" y="152400"/>
                  </a:cubicBezTo>
                  <a:cubicBezTo>
                    <a:pt x="102658" y="149578"/>
                    <a:pt x="92428" y="146756"/>
                    <a:pt x="82550" y="139700"/>
                  </a:cubicBezTo>
                  <a:cubicBezTo>
                    <a:pt x="72672" y="132644"/>
                    <a:pt x="64558" y="119238"/>
                    <a:pt x="55033" y="110066"/>
                  </a:cubicBezTo>
                  <a:cubicBezTo>
                    <a:pt x="45508" y="100894"/>
                    <a:pt x="32455" y="94544"/>
                    <a:pt x="25400" y="84666"/>
                  </a:cubicBezTo>
                  <a:cubicBezTo>
                    <a:pt x="18345" y="74788"/>
                    <a:pt x="16228" y="61031"/>
                    <a:pt x="12700" y="50800"/>
                  </a:cubicBezTo>
                  <a:cubicBezTo>
                    <a:pt x="9172" y="40569"/>
                    <a:pt x="6350" y="31750"/>
                    <a:pt x="4233" y="23283"/>
                  </a:cubicBezTo>
                  <a:cubicBezTo>
                    <a:pt x="2116" y="14816"/>
                    <a:pt x="1058" y="7408"/>
                    <a:pt x="0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Block Arc 39"/>
            <p:cNvSpPr/>
            <p:nvPr/>
          </p:nvSpPr>
          <p:spPr>
            <a:xfrm>
              <a:off x="7442198" y="4351757"/>
              <a:ext cx="698502" cy="394334"/>
            </a:xfrm>
            <a:custGeom>
              <a:avLst/>
              <a:gdLst>
                <a:gd name="connsiteX0" fmla="*/ 0 w 814917"/>
                <a:gd name="connsiteY0" fmla="*/ 375708 h 751416"/>
                <a:gd name="connsiteX1" fmla="*/ 407459 w 814917"/>
                <a:gd name="connsiteY1" fmla="*/ 0 h 751416"/>
                <a:gd name="connsiteX2" fmla="*/ 814918 w 814917"/>
                <a:gd name="connsiteY2" fmla="*/ 375708 h 751416"/>
                <a:gd name="connsiteX3" fmla="*/ 627063 w 814917"/>
                <a:gd name="connsiteY3" fmla="*/ 375708 h 751416"/>
                <a:gd name="connsiteX4" fmla="*/ 407458 w 814917"/>
                <a:gd name="connsiteY4" fmla="*/ 187854 h 751416"/>
                <a:gd name="connsiteX5" fmla="*/ 187853 w 814917"/>
                <a:gd name="connsiteY5" fmla="*/ 375708 h 751416"/>
                <a:gd name="connsiteX6" fmla="*/ 0 w 814917"/>
                <a:gd name="connsiteY6" fmla="*/ 375708 h 751416"/>
                <a:gd name="connsiteX0" fmla="*/ 0 w 814918"/>
                <a:gd name="connsiteY0" fmla="*/ 375708 h 397404"/>
                <a:gd name="connsiteX1" fmla="*/ 407459 w 814918"/>
                <a:gd name="connsiteY1" fmla="*/ 0 h 397404"/>
                <a:gd name="connsiteX2" fmla="*/ 814918 w 814918"/>
                <a:gd name="connsiteY2" fmla="*/ 375708 h 397404"/>
                <a:gd name="connsiteX3" fmla="*/ 627063 w 814918"/>
                <a:gd name="connsiteY3" fmla="*/ 375708 h 397404"/>
                <a:gd name="connsiteX4" fmla="*/ 447674 w 814918"/>
                <a:gd name="connsiteY4" fmla="*/ 397404 h 397404"/>
                <a:gd name="connsiteX5" fmla="*/ 187853 w 814918"/>
                <a:gd name="connsiteY5" fmla="*/ 375708 h 397404"/>
                <a:gd name="connsiteX6" fmla="*/ 0 w 814918"/>
                <a:gd name="connsiteY6" fmla="*/ 375708 h 397404"/>
                <a:gd name="connsiteX0" fmla="*/ 0 w 814918"/>
                <a:gd name="connsiteY0" fmla="*/ 375708 h 397404"/>
                <a:gd name="connsiteX1" fmla="*/ 407459 w 814918"/>
                <a:gd name="connsiteY1" fmla="*/ 0 h 397404"/>
                <a:gd name="connsiteX2" fmla="*/ 814918 w 814918"/>
                <a:gd name="connsiteY2" fmla="*/ 375708 h 397404"/>
                <a:gd name="connsiteX3" fmla="*/ 627063 w 814918"/>
                <a:gd name="connsiteY3" fmla="*/ 375708 h 397404"/>
                <a:gd name="connsiteX4" fmla="*/ 447674 w 814918"/>
                <a:gd name="connsiteY4" fmla="*/ 397404 h 397404"/>
                <a:gd name="connsiteX5" fmla="*/ 187853 w 814918"/>
                <a:gd name="connsiteY5" fmla="*/ 375708 h 397404"/>
                <a:gd name="connsiteX6" fmla="*/ 0 w 814918"/>
                <a:gd name="connsiteY6" fmla="*/ 375708 h 397404"/>
                <a:gd name="connsiteX0" fmla="*/ 0 w 814918"/>
                <a:gd name="connsiteY0" fmla="*/ 375708 h 397405"/>
                <a:gd name="connsiteX1" fmla="*/ 407459 w 814918"/>
                <a:gd name="connsiteY1" fmla="*/ 0 h 397405"/>
                <a:gd name="connsiteX2" fmla="*/ 814918 w 814918"/>
                <a:gd name="connsiteY2" fmla="*/ 375708 h 397405"/>
                <a:gd name="connsiteX3" fmla="*/ 627063 w 814918"/>
                <a:gd name="connsiteY3" fmla="*/ 375708 h 397405"/>
                <a:gd name="connsiteX4" fmla="*/ 447674 w 814918"/>
                <a:gd name="connsiteY4" fmla="*/ 397404 h 397405"/>
                <a:gd name="connsiteX5" fmla="*/ 251883 w 814918"/>
                <a:gd name="connsiteY5" fmla="*/ 374650 h 397405"/>
                <a:gd name="connsiteX6" fmla="*/ 187853 w 814918"/>
                <a:gd name="connsiteY6" fmla="*/ 375708 h 397405"/>
                <a:gd name="connsiteX7" fmla="*/ 0 w 814918"/>
                <a:gd name="connsiteY7" fmla="*/ 375708 h 397405"/>
                <a:gd name="connsiteX0" fmla="*/ 0 w 814918"/>
                <a:gd name="connsiteY0" fmla="*/ 375708 h 444734"/>
                <a:gd name="connsiteX1" fmla="*/ 407459 w 814918"/>
                <a:gd name="connsiteY1" fmla="*/ 0 h 444734"/>
                <a:gd name="connsiteX2" fmla="*/ 814918 w 814918"/>
                <a:gd name="connsiteY2" fmla="*/ 375708 h 444734"/>
                <a:gd name="connsiteX3" fmla="*/ 627063 w 814918"/>
                <a:gd name="connsiteY3" fmla="*/ 375708 h 444734"/>
                <a:gd name="connsiteX4" fmla="*/ 447674 w 814918"/>
                <a:gd name="connsiteY4" fmla="*/ 397404 h 444734"/>
                <a:gd name="connsiteX5" fmla="*/ 251883 w 814918"/>
                <a:gd name="connsiteY5" fmla="*/ 444500 h 444734"/>
                <a:gd name="connsiteX6" fmla="*/ 187853 w 814918"/>
                <a:gd name="connsiteY6" fmla="*/ 375708 h 444734"/>
                <a:gd name="connsiteX7" fmla="*/ 0 w 814918"/>
                <a:gd name="connsiteY7" fmla="*/ 375708 h 444734"/>
                <a:gd name="connsiteX0" fmla="*/ 187853 w 814918"/>
                <a:gd name="connsiteY0" fmla="*/ 375708 h 535940"/>
                <a:gd name="connsiteX1" fmla="*/ 0 w 814918"/>
                <a:gd name="connsiteY1" fmla="*/ 375708 h 535940"/>
                <a:gd name="connsiteX2" fmla="*/ 407459 w 814918"/>
                <a:gd name="connsiteY2" fmla="*/ 0 h 535940"/>
                <a:gd name="connsiteX3" fmla="*/ 814918 w 814918"/>
                <a:gd name="connsiteY3" fmla="*/ 375708 h 535940"/>
                <a:gd name="connsiteX4" fmla="*/ 627063 w 814918"/>
                <a:gd name="connsiteY4" fmla="*/ 375708 h 535940"/>
                <a:gd name="connsiteX5" fmla="*/ 447674 w 814918"/>
                <a:gd name="connsiteY5" fmla="*/ 397404 h 535940"/>
                <a:gd name="connsiteX6" fmla="*/ 343323 w 814918"/>
                <a:gd name="connsiteY6" fmla="*/ 535940 h 535940"/>
                <a:gd name="connsiteX0" fmla="*/ 14287 w 814918"/>
                <a:gd name="connsiteY0" fmla="*/ 384175 h 535940"/>
                <a:gd name="connsiteX1" fmla="*/ 0 w 814918"/>
                <a:gd name="connsiteY1" fmla="*/ 375708 h 535940"/>
                <a:gd name="connsiteX2" fmla="*/ 407459 w 814918"/>
                <a:gd name="connsiteY2" fmla="*/ 0 h 535940"/>
                <a:gd name="connsiteX3" fmla="*/ 814918 w 814918"/>
                <a:gd name="connsiteY3" fmla="*/ 375708 h 535940"/>
                <a:gd name="connsiteX4" fmla="*/ 627063 w 814918"/>
                <a:gd name="connsiteY4" fmla="*/ 375708 h 535940"/>
                <a:gd name="connsiteX5" fmla="*/ 447674 w 814918"/>
                <a:gd name="connsiteY5" fmla="*/ 397404 h 535940"/>
                <a:gd name="connsiteX6" fmla="*/ 343323 w 814918"/>
                <a:gd name="connsiteY6" fmla="*/ 535940 h 535940"/>
                <a:gd name="connsiteX0" fmla="*/ 14287 w 814918"/>
                <a:gd name="connsiteY0" fmla="*/ 384175 h 397416"/>
                <a:gd name="connsiteX1" fmla="*/ 0 w 814918"/>
                <a:gd name="connsiteY1" fmla="*/ 375708 h 397416"/>
                <a:gd name="connsiteX2" fmla="*/ 407459 w 814918"/>
                <a:gd name="connsiteY2" fmla="*/ 0 h 397416"/>
                <a:gd name="connsiteX3" fmla="*/ 814918 w 814918"/>
                <a:gd name="connsiteY3" fmla="*/ 375708 h 397416"/>
                <a:gd name="connsiteX4" fmla="*/ 627063 w 814918"/>
                <a:gd name="connsiteY4" fmla="*/ 375708 h 397416"/>
                <a:gd name="connsiteX5" fmla="*/ 447674 w 814918"/>
                <a:gd name="connsiteY5" fmla="*/ 397404 h 397416"/>
                <a:gd name="connsiteX6" fmla="*/ 618489 w 814918"/>
                <a:gd name="connsiteY6" fmla="*/ 383540 h 397416"/>
                <a:gd name="connsiteX0" fmla="*/ 14287 w 814918"/>
                <a:gd name="connsiteY0" fmla="*/ 384175 h 397406"/>
                <a:gd name="connsiteX1" fmla="*/ 0 w 814918"/>
                <a:gd name="connsiteY1" fmla="*/ 375708 h 397406"/>
                <a:gd name="connsiteX2" fmla="*/ 407459 w 814918"/>
                <a:gd name="connsiteY2" fmla="*/ 0 h 397406"/>
                <a:gd name="connsiteX3" fmla="*/ 814918 w 814918"/>
                <a:gd name="connsiteY3" fmla="*/ 375708 h 397406"/>
                <a:gd name="connsiteX4" fmla="*/ 715963 w 814918"/>
                <a:gd name="connsiteY4" fmla="*/ 379942 h 397406"/>
                <a:gd name="connsiteX5" fmla="*/ 447674 w 814918"/>
                <a:gd name="connsiteY5" fmla="*/ 397404 h 397406"/>
                <a:gd name="connsiteX6" fmla="*/ 618489 w 814918"/>
                <a:gd name="connsiteY6" fmla="*/ 383540 h 397406"/>
                <a:gd name="connsiteX0" fmla="*/ 14287 w 814918"/>
                <a:gd name="connsiteY0" fmla="*/ 384175 h 397869"/>
                <a:gd name="connsiteX1" fmla="*/ 0 w 814918"/>
                <a:gd name="connsiteY1" fmla="*/ 375708 h 397869"/>
                <a:gd name="connsiteX2" fmla="*/ 407459 w 814918"/>
                <a:gd name="connsiteY2" fmla="*/ 0 h 397869"/>
                <a:gd name="connsiteX3" fmla="*/ 814918 w 814918"/>
                <a:gd name="connsiteY3" fmla="*/ 375708 h 397869"/>
                <a:gd name="connsiteX4" fmla="*/ 715963 w 814918"/>
                <a:gd name="connsiteY4" fmla="*/ 379942 h 397869"/>
                <a:gd name="connsiteX5" fmla="*/ 447674 w 814918"/>
                <a:gd name="connsiteY5" fmla="*/ 397404 h 397869"/>
                <a:gd name="connsiteX6" fmla="*/ 561339 w 814918"/>
                <a:gd name="connsiteY6" fmla="*/ 360256 h 397869"/>
                <a:gd name="connsiteX0" fmla="*/ 14287 w 814918"/>
                <a:gd name="connsiteY0" fmla="*/ 384175 h 413173"/>
                <a:gd name="connsiteX1" fmla="*/ 0 w 814918"/>
                <a:gd name="connsiteY1" fmla="*/ 375708 h 413173"/>
                <a:gd name="connsiteX2" fmla="*/ 407459 w 814918"/>
                <a:gd name="connsiteY2" fmla="*/ 0 h 413173"/>
                <a:gd name="connsiteX3" fmla="*/ 814918 w 814918"/>
                <a:gd name="connsiteY3" fmla="*/ 375708 h 413173"/>
                <a:gd name="connsiteX4" fmla="*/ 715963 w 814918"/>
                <a:gd name="connsiteY4" fmla="*/ 379942 h 413173"/>
                <a:gd name="connsiteX5" fmla="*/ 447674 w 814918"/>
                <a:gd name="connsiteY5" fmla="*/ 397404 h 413173"/>
                <a:gd name="connsiteX6" fmla="*/ 451273 w 814918"/>
                <a:gd name="connsiteY6" fmla="*/ 413173 h 413173"/>
                <a:gd name="connsiteX0" fmla="*/ 14287 w 814918"/>
                <a:gd name="connsiteY0" fmla="*/ 384175 h 397404"/>
                <a:gd name="connsiteX1" fmla="*/ 0 w 814918"/>
                <a:gd name="connsiteY1" fmla="*/ 375708 h 397404"/>
                <a:gd name="connsiteX2" fmla="*/ 407459 w 814918"/>
                <a:gd name="connsiteY2" fmla="*/ 0 h 397404"/>
                <a:gd name="connsiteX3" fmla="*/ 814918 w 814918"/>
                <a:gd name="connsiteY3" fmla="*/ 375708 h 397404"/>
                <a:gd name="connsiteX4" fmla="*/ 715963 w 814918"/>
                <a:gd name="connsiteY4" fmla="*/ 379942 h 397404"/>
                <a:gd name="connsiteX5" fmla="*/ 447674 w 814918"/>
                <a:gd name="connsiteY5" fmla="*/ 397404 h 397404"/>
                <a:gd name="connsiteX0" fmla="*/ 14287 w 814918"/>
                <a:gd name="connsiteY0" fmla="*/ 384175 h 384704"/>
                <a:gd name="connsiteX1" fmla="*/ 0 w 814918"/>
                <a:gd name="connsiteY1" fmla="*/ 375708 h 384704"/>
                <a:gd name="connsiteX2" fmla="*/ 407459 w 814918"/>
                <a:gd name="connsiteY2" fmla="*/ 0 h 384704"/>
                <a:gd name="connsiteX3" fmla="*/ 814918 w 814918"/>
                <a:gd name="connsiteY3" fmla="*/ 375708 h 384704"/>
                <a:gd name="connsiteX4" fmla="*/ 715963 w 814918"/>
                <a:gd name="connsiteY4" fmla="*/ 379942 h 384704"/>
                <a:gd name="connsiteX5" fmla="*/ 659341 w 814918"/>
                <a:gd name="connsiteY5" fmla="*/ 384704 h 384704"/>
                <a:gd name="connsiteX0" fmla="*/ 14287 w 814918"/>
                <a:gd name="connsiteY0" fmla="*/ 384175 h 384175"/>
                <a:gd name="connsiteX1" fmla="*/ 0 w 814918"/>
                <a:gd name="connsiteY1" fmla="*/ 375708 h 384175"/>
                <a:gd name="connsiteX2" fmla="*/ 407459 w 814918"/>
                <a:gd name="connsiteY2" fmla="*/ 0 h 384175"/>
                <a:gd name="connsiteX3" fmla="*/ 814918 w 814918"/>
                <a:gd name="connsiteY3" fmla="*/ 375708 h 384175"/>
                <a:gd name="connsiteX4" fmla="*/ 715963 w 814918"/>
                <a:gd name="connsiteY4" fmla="*/ 379942 h 384175"/>
                <a:gd name="connsiteX0" fmla="*/ 14287 w 814918"/>
                <a:gd name="connsiteY0" fmla="*/ 384175 h 384175"/>
                <a:gd name="connsiteX1" fmla="*/ 0 w 814918"/>
                <a:gd name="connsiteY1" fmla="*/ 375708 h 384175"/>
                <a:gd name="connsiteX2" fmla="*/ 407459 w 814918"/>
                <a:gd name="connsiteY2" fmla="*/ 0 h 384175"/>
                <a:gd name="connsiteX3" fmla="*/ 814918 w 814918"/>
                <a:gd name="connsiteY3" fmla="*/ 375708 h 384175"/>
                <a:gd name="connsiteX4" fmla="*/ 806980 w 814918"/>
                <a:gd name="connsiteY4" fmla="*/ 371475 h 38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18" h="384175">
                  <a:moveTo>
                    <a:pt x="14287" y="384175"/>
                  </a:moveTo>
                  <a:lnTo>
                    <a:pt x="0" y="375708"/>
                  </a:lnTo>
                  <a:cubicBezTo>
                    <a:pt x="0" y="168210"/>
                    <a:pt x="182426" y="0"/>
                    <a:pt x="407459" y="0"/>
                  </a:cubicBezTo>
                  <a:cubicBezTo>
                    <a:pt x="632492" y="0"/>
                    <a:pt x="814918" y="168210"/>
                    <a:pt x="814918" y="375708"/>
                  </a:cubicBezTo>
                  <a:lnTo>
                    <a:pt x="806980" y="371475"/>
                  </a:ln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7607298" y="4538858"/>
              <a:ext cx="368301" cy="3569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7543798" y="4469008"/>
              <a:ext cx="497418" cy="4966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ounded Rectangle 52">
            <a:extLst>
              <a:ext uri="{FF2B5EF4-FFF2-40B4-BE49-F238E27FC236}">
                <a16:creationId xmlns="" xmlns:a16="http://schemas.microsoft.com/office/drawing/2014/main" id="{9FA5FE53-A31C-C5B8-6B58-A3BDB54FD855}"/>
              </a:ext>
            </a:extLst>
          </p:cNvPr>
          <p:cNvSpPr/>
          <p:nvPr/>
        </p:nvSpPr>
        <p:spPr>
          <a:xfrm>
            <a:off x="0" y="5729247"/>
            <a:ext cx="12192000" cy="594049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</a:rPr>
              <a:t>Những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phần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vật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bị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khuất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theo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hướng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nhìn</a:t>
            </a:r>
            <a:r>
              <a:rPr lang="en-US" sz="2400" dirty="0">
                <a:solidFill>
                  <a:schemeClr val="tx1"/>
                </a:solidFill>
              </a:rPr>
              <a:t>)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hiện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bằng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các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nét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đứt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5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VUÔNG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0" y="836704"/>
            <a:ext cx="5496026" cy="343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2. PHÂN LOẠI HỆ THỐNG CHIẾU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846" y="1786299"/>
            <a:ext cx="2640531" cy="165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274" y="1786299"/>
            <a:ext cx="2572352" cy="164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849432" y="3503605"/>
            <a:ext cx="5139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Vật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thể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đặt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giữa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mắt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quan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sát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mặt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phẳng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chiếu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5792" y="3519646"/>
            <a:ext cx="6182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Mặt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phẳng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chiếu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nằm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giữa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mắt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quan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sát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vật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thể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432" y="4227147"/>
            <a:ext cx="5159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Châu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âu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Mỹ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ISO (VN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PP 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chiếu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này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15792" y="4225518"/>
            <a:ext cx="6176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Mỹ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tinh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Anh,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Nhật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Thái Lan...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PP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chiếu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này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935478" y="5144772"/>
            <a:ext cx="7516531" cy="1270529"/>
            <a:chOff x="1707853" y="5058144"/>
            <a:chExt cx="8660511" cy="1543050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7853" y="5129581"/>
              <a:ext cx="3419476" cy="1400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7039" y="5058144"/>
              <a:ext cx="2981325" cy="154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1511166" y="1206068"/>
            <a:ext cx="9314047" cy="5435364"/>
            <a:chOff x="1511166" y="1206068"/>
            <a:chExt cx="9314047" cy="5435364"/>
          </a:xfrm>
        </p:grpSpPr>
        <p:grpSp>
          <p:nvGrpSpPr>
            <p:cNvPr id="18" name="Group 17"/>
            <p:cNvGrpSpPr/>
            <p:nvPr/>
          </p:nvGrpSpPr>
          <p:grpSpPr>
            <a:xfrm>
              <a:off x="1511166" y="1206068"/>
              <a:ext cx="9314047" cy="5435364"/>
              <a:chOff x="1511166" y="1206068"/>
              <a:chExt cx="9314047" cy="5435364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1511166" y="1694046"/>
                <a:ext cx="9201752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16"/>
              <p:cNvGrpSpPr/>
              <p:nvPr/>
            </p:nvGrpSpPr>
            <p:grpSpPr>
              <a:xfrm>
                <a:off x="1623461" y="1206068"/>
                <a:ext cx="9201752" cy="5435364"/>
                <a:chOff x="1623461" y="1206068"/>
                <a:chExt cx="9201752" cy="5435364"/>
              </a:xfrm>
            </p:grpSpPr>
            <p:cxnSp>
              <p:nvCxnSpPr>
                <p:cNvPr id="14" name="Straight Connector 13"/>
                <p:cNvCxnSpPr>
                  <a:stCxn id="5" idx="0"/>
                </p:cNvCxnSpPr>
                <p:nvPr/>
              </p:nvCxnSpPr>
              <p:spPr>
                <a:xfrm flipH="1">
                  <a:off x="6008567" y="1294250"/>
                  <a:ext cx="805" cy="5347182"/>
                </a:xfrm>
                <a:prstGeom prst="line">
                  <a:avLst/>
                </a:prstGeom>
                <a:ln w="2222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636295" y="1206068"/>
                  <a:ext cx="385973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 err="1">
                      <a:solidFill>
                        <a:srgbClr val="FF0000"/>
                      </a:solidFill>
                    </a:rPr>
                    <a:t>Hệ</a:t>
                  </a:r>
                  <a:r>
                    <a:rPr lang="en-US" sz="2600" b="1" dirty="0">
                      <a:solidFill>
                        <a:srgbClr val="FF0000"/>
                      </a:solidFill>
                    </a:rPr>
                    <a:t> E </a:t>
                  </a:r>
                  <a:r>
                    <a:rPr lang="en-US" sz="2600" b="1" dirty="0"/>
                    <a:t>(</a:t>
                  </a:r>
                  <a:r>
                    <a:rPr lang="en-US" sz="2600" b="1" dirty="0" err="1"/>
                    <a:t>góc</a:t>
                  </a:r>
                  <a:r>
                    <a:rPr lang="en-US" sz="2600" b="1" dirty="0"/>
                    <a:t> </a:t>
                  </a:r>
                  <a:r>
                    <a:rPr lang="en-US" sz="2600" b="1" dirty="0" err="1"/>
                    <a:t>chiếu</a:t>
                  </a:r>
                  <a:r>
                    <a:rPr lang="en-US" sz="2600" b="1" dirty="0"/>
                    <a:t> </a:t>
                  </a:r>
                  <a:r>
                    <a:rPr lang="en-US" sz="2600" b="1" dirty="0" err="1"/>
                    <a:t>thứ</a:t>
                  </a:r>
                  <a:r>
                    <a:rPr lang="en-US" sz="2600" b="1" dirty="0"/>
                    <a:t> 1)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6360695" y="1236250"/>
                  <a:ext cx="385973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 err="1">
                      <a:solidFill>
                        <a:srgbClr val="FF0000"/>
                      </a:solidFill>
                    </a:rPr>
                    <a:t>Hệ</a:t>
                  </a:r>
                  <a:r>
                    <a:rPr lang="en-US" sz="2600" b="1" dirty="0">
                      <a:solidFill>
                        <a:srgbClr val="FF0000"/>
                      </a:solidFill>
                    </a:rPr>
                    <a:t> A </a:t>
                  </a:r>
                  <a:r>
                    <a:rPr lang="en-US" sz="2600" b="1" dirty="0"/>
                    <a:t>(</a:t>
                  </a:r>
                  <a:r>
                    <a:rPr lang="en-US" sz="2600" b="1" dirty="0" err="1"/>
                    <a:t>góc</a:t>
                  </a:r>
                  <a:r>
                    <a:rPr lang="en-US" sz="2600" b="1" dirty="0"/>
                    <a:t> </a:t>
                  </a:r>
                  <a:r>
                    <a:rPr lang="en-US" sz="2600" b="1" dirty="0" err="1"/>
                    <a:t>chiếu</a:t>
                  </a:r>
                  <a:r>
                    <a:rPr lang="en-US" sz="2600" b="1" dirty="0"/>
                    <a:t> </a:t>
                  </a:r>
                  <a:r>
                    <a:rPr lang="en-US" sz="2600" b="1" dirty="0" err="1"/>
                    <a:t>thứ</a:t>
                  </a:r>
                  <a:r>
                    <a:rPr lang="en-US" sz="2600" b="1" dirty="0"/>
                    <a:t> 3)</a:t>
                  </a:r>
                </a:p>
              </p:txBody>
            </p: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1623461" y="3426182"/>
                  <a:ext cx="9201752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4" name="Straight Connector 63"/>
            <p:cNvCxnSpPr/>
            <p:nvPr/>
          </p:nvCxnSpPr>
          <p:spPr>
            <a:xfrm>
              <a:off x="1604211" y="6641432"/>
              <a:ext cx="920175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470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61" grpId="0"/>
      <p:bldP spid="62" grpId="0"/>
      <p:bldP spid="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VUÔNG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0" y="836704"/>
            <a:ext cx="5496026" cy="343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2. PHÂN LOẠI HỆ THỐNG CHIẾU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43448C7-A42E-FEA5-83C8-2578ED4CD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8" y="1639025"/>
            <a:ext cx="5038725" cy="2628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DB014EA-A130-999B-0146-A4C65144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58" y="1081481"/>
            <a:ext cx="4714875" cy="42672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B86649FF-3111-F8E2-8478-3EE55C47568F}"/>
              </a:ext>
            </a:extLst>
          </p:cNvPr>
          <p:cNvGrpSpPr/>
          <p:nvPr/>
        </p:nvGrpSpPr>
        <p:grpSpPr>
          <a:xfrm>
            <a:off x="6279811" y="2010033"/>
            <a:ext cx="3035300" cy="3061850"/>
            <a:chOff x="4102100" y="5803900"/>
            <a:chExt cx="3035300" cy="3061850"/>
          </a:xfrm>
        </p:grpSpPr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F036338E-0B85-E472-B156-FE9B5717D54F}"/>
                </a:ext>
              </a:extLst>
            </p:cNvPr>
            <p:cNvSpPr/>
            <p:nvPr/>
          </p:nvSpPr>
          <p:spPr>
            <a:xfrm>
              <a:off x="6299200" y="5803900"/>
              <a:ext cx="838200" cy="1066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D28D1669-B469-8631-A66C-EB31195BB885}"/>
                </a:ext>
              </a:extLst>
            </p:cNvPr>
            <p:cNvSpPr/>
            <p:nvPr/>
          </p:nvSpPr>
          <p:spPr>
            <a:xfrm>
              <a:off x="4102100" y="7798950"/>
              <a:ext cx="838200" cy="1066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C32A1D92-9650-2DC8-6D56-06A33217C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127" y="1872616"/>
            <a:ext cx="838200" cy="12096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BC83B544-54AF-2F02-0615-F4FA64FD7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127" y="3799276"/>
            <a:ext cx="838200" cy="120967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E3274677-72A3-1561-5F55-B252E897E17D}"/>
              </a:ext>
            </a:extLst>
          </p:cNvPr>
          <p:cNvCxnSpPr>
            <a:cxnSpLocks/>
          </p:cNvCxnSpPr>
          <p:nvPr/>
        </p:nvCxnSpPr>
        <p:spPr>
          <a:xfrm flipH="1">
            <a:off x="9627315" y="2313529"/>
            <a:ext cx="1147812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BFAD9F0C-BAD2-4563-9A2D-2C39F8E2D08B}"/>
              </a:ext>
            </a:extLst>
          </p:cNvPr>
          <p:cNvCxnSpPr>
            <a:cxnSpLocks/>
          </p:cNvCxnSpPr>
          <p:nvPr/>
        </p:nvCxnSpPr>
        <p:spPr>
          <a:xfrm flipH="1">
            <a:off x="9627315" y="4265653"/>
            <a:ext cx="1147812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DE6657B1-AE00-3BE9-BF01-FA47FAE4CF27}"/>
              </a:ext>
            </a:extLst>
          </p:cNvPr>
          <p:cNvCxnSpPr/>
          <p:nvPr/>
        </p:nvCxnSpPr>
        <p:spPr>
          <a:xfrm>
            <a:off x="8818793" y="1216249"/>
            <a:ext cx="0" cy="65636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CCAFACDF-3809-316E-E939-B872C22FE2E0}"/>
              </a:ext>
            </a:extLst>
          </p:cNvPr>
          <p:cNvCxnSpPr>
            <a:cxnSpLocks/>
          </p:cNvCxnSpPr>
          <p:nvPr/>
        </p:nvCxnSpPr>
        <p:spPr>
          <a:xfrm flipV="1">
            <a:off x="6738132" y="4931467"/>
            <a:ext cx="0" cy="867863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1C82E4B7-7379-74B6-BF3A-28D5D5CDA822}"/>
              </a:ext>
            </a:extLst>
          </p:cNvPr>
          <p:cNvGrpSpPr/>
          <p:nvPr/>
        </p:nvGrpSpPr>
        <p:grpSpPr>
          <a:xfrm>
            <a:off x="7774047" y="2137083"/>
            <a:ext cx="428223" cy="794140"/>
            <a:chOff x="7774047" y="2137083"/>
            <a:chExt cx="428223" cy="79414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="" xmlns:a16="http://schemas.microsoft.com/office/drawing/2014/main" id="{68B087E4-272B-A9A9-FE46-D55B58B96B99}"/>
                </a:ext>
              </a:extLst>
            </p:cNvPr>
            <p:cNvCxnSpPr/>
            <p:nvPr/>
          </p:nvCxnSpPr>
          <p:spPr>
            <a:xfrm flipV="1">
              <a:off x="7839184" y="2137083"/>
              <a:ext cx="297950" cy="119367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="" xmlns:a16="http://schemas.microsoft.com/office/drawing/2014/main" id="{3DC4F62B-E915-461E-DA8F-7F6D1DA527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4047" y="2700284"/>
              <a:ext cx="428223" cy="230939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="" xmlns:a16="http://schemas.microsoft.com/office/drawing/2014/main" id="{6305B5B9-5573-5A9D-C93A-AB4757B272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9127" y="2247983"/>
              <a:ext cx="58407" cy="679263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="" xmlns:a16="http://schemas.microsoft.com/office/drawing/2014/main" id="{EFA028E2-8422-B50B-3747-D0F7328388F5}"/>
                </a:ext>
              </a:extLst>
            </p:cNvPr>
            <p:cNvCxnSpPr>
              <a:cxnSpLocks/>
            </p:cNvCxnSpPr>
            <p:nvPr/>
          </p:nvCxnSpPr>
          <p:spPr>
            <a:xfrm>
              <a:off x="8126436" y="2137083"/>
              <a:ext cx="70754" cy="567691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="" xmlns:a16="http://schemas.microsoft.com/office/drawing/2014/main" id="{74D9C306-44FC-A9A7-9D77-86CAAB70E265}"/>
              </a:ext>
            </a:extLst>
          </p:cNvPr>
          <p:cNvGrpSpPr/>
          <p:nvPr/>
        </p:nvGrpSpPr>
        <p:grpSpPr>
          <a:xfrm>
            <a:off x="8500538" y="3189680"/>
            <a:ext cx="626528" cy="205452"/>
            <a:chOff x="8500538" y="3189680"/>
            <a:chExt cx="626528" cy="205452"/>
          </a:xfrm>
        </p:grpSpPr>
        <p:sp>
          <p:nvSpPr>
            <p:cNvPr id="51" name="Oval 50">
              <a:extLst>
                <a:ext uri="{FF2B5EF4-FFF2-40B4-BE49-F238E27FC236}">
                  <a16:creationId xmlns="" xmlns:a16="http://schemas.microsoft.com/office/drawing/2014/main" id="{DB802D08-5742-EF81-1305-60B77CCA6E8A}"/>
                </a:ext>
              </a:extLst>
            </p:cNvPr>
            <p:cNvSpPr/>
            <p:nvPr/>
          </p:nvSpPr>
          <p:spPr>
            <a:xfrm>
              <a:off x="8636001" y="3232015"/>
              <a:ext cx="347131" cy="112319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="" xmlns:a16="http://schemas.microsoft.com/office/drawing/2014/main" id="{9082BBFD-FEAB-4C02-2AF9-51F6A6FD8119}"/>
                </a:ext>
              </a:extLst>
            </p:cNvPr>
            <p:cNvSpPr/>
            <p:nvPr/>
          </p:nvSpPr>
          <p:spPr>
            <a:xfrm>
              <a:off x="8500538" y="3189680"/>
              <a:ext cx="626528" cy="205452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D5F972AD-CAE6-9107-45E4-155153AAA64C}"/>
              </a:ext>
            </a:extLst>
          </p:cNvPr>
          <p:cNvGrpSpPr/>
          <p:nvPr/>
        </p:nvGrpSpPr>
        <p:grpSpPr>
          <a:xfrm>
            <a:off x="6424868" y="3292406"/>
            <a:ext cx="626528" cy="205452"/>
            <a:chOff x="8500538" y="3189680"/>
            <a:chExt cx="626528" cy="205452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D58CAB5F-926B-23C8-F416-BF1C990B376D}"/>
                </a:ext>
              </a:extLst>
            </p:cNvPr>
            <p:cNvSpPr/>
            <p:nvPr/>
          </p:nvSpPr>
          <p:spPr>
            <a:xfrm>
              <a:off x="8636001" y="3232015"/>
              <a:ext cx="347131" cy="112319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="" xmlns:a16="http://schemas.microsoft.com/office/drawing/2014/main" id="{6E71F8AF-1A8F-F8ED-3B83-9F2E2447CD81}"/>
                </a:ext>
              </a:extLst>
            </p:cNvPr>
            <p:cNvSpPr/>
            <p:nvPr/>
          </p:nvSpPr>
          <p:spPr>
            <a:xfrm>
              <a:off x="8500538" y="3189680"/>
              <a:ext cx="626528" cy="205452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02FF35E9-00BB-861D-E482-6E6CE5366E98}"/>
              </a:ext>
            </a:extLst>
          </p:cNvPr>
          <p:cNvGrpSpPr/>
          <p:nvPr/>
        </p:nvGrpSpPr>
        <p:grpSpPr>
          <a:xfrm>
            <a:off x="7445072" y="3867010"/>
            <a:ext cx="428223" cy="794140"/>
            <a:chOff x="7774047" y="2137083"/>
            <a:chExt cx="428223" cy="79414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="" xmlns:a16="http://schemas.microsoft.com/office/drawing/2014/main" id="{F66930EB-9D95-E643-E597-000891F20223}"/>
                </a:ext>
              </a:extLst>
            </p:cNvPr>
            <p:cNvCxnSpPr/>
            <p:nvPr/>
          </p:nvCxnSpPr>
          <p:spPr>
            <a:xfrm flipV="1">
              <a:off x="7839184" y="2137083"/>
              <a:ext cx="297950" cy="119367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="" xmlns:a16="http://schemas.microsoft.com/office/drawing/2014/main" id="{FD0FFFD9-40C6-0F2A-DEA3-77A4D08166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4047" y="2700284"/>
              <a:ext cx="428223" cy="230939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="" xmlns:a16="http://schemas.microsoft.com/office/drawing/2014/main" id="{6FD6B46E-28EB-B9C1-AB07-98AD85EE0A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9127" y="2247983"/>
              <a:ext cx="58407" cy="679263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="" xmlns:a16="http://schemas.microsoft.com/office/drawing/2014/main" id="{4B7E980A-A254-DBCC-C6C5-AC472D5D458B}"/>
                </a:ext>
              </a:extLst>
            </p:cNvPr>
            <p:cNvCxnSpPr>
              <a:cxnSpLocks/>
            </p:cNvCxnSpPr>
            <p:nvPr/>
          </p:nvCxnSpPr>
          <p:spPr>
            <a:xfrm>
              <a:off x="8126436" y="2137083"/>
              <a:ext cx="70754" cy="567691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8" name="Picture 67">
            <a:extLst>
              <a:ext uri="{FF2B5EF4-FFF2-40B4-BE49-F238E27FC236}">
                <a16:creationId xmlns="" xmlns:a16="http://schemas.microsoft.com/office/drawing/2014/main" id="{23A02A39-1925-B771-BA56-1298055DC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013" y="5444794"/>
            <a:ext cx="1427778" cy="1240015"/>
          </a:xfrm>
          <a:prstGeom prst="rect">
            <a:avLst/>
          </a:prstGeom>
        </p:spPr>
      </p:pic>
      <p:pic>
        <p:nvPicPr>
          <p:cNvPr id="69" name="Picture 4">
            <a:extLst>
              <a:ext uri="{FF2B5EF4-FFF2-40B4-BE49-F238E27FC236}">
                <a16:creationId xmlns="" xmlns:a16="http://schemas.microsoft.com/office/drawing/2014/main" id="{9EAD7A7B-0121-EAA7-5E11-A7DD43BF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825" y="5464973"/>
            <a:ext cx="1990052" cy="773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70">
            <a:extLst>
              <a:ext uri="{FF2B5EF4-FFF2-40B4-BE49-F238E27FC236}">
                <a16:creationId xmlns="" xmlns:a16="http://schemas.microsoft.com/office/drawing/2014/main" id="{454AFBC3-5819-E5D5-34FA-C14EB8693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1522" y="5417828"/>
            <a:ext cx="1323675" cy="1232649"/>
          </a:xfrm>
          <a:prstGeom prst="rect">
            <a:avLst/>
          </a:prstGeom>
        </p:spPr>
      </p:pic>
      <p:pic>
        <p:nvPicPr>
          <p:cNvPr id="72" name="Picture 5">
            <a:extLst>
              <a:ext uri="{FF2B5EF4-FFF2-40B4-BE49-F238E27FC236}">
                <a16:creationId xmlns="" xmlns:a16="http://schemas.microsoft.com/office/drawing/2014/main" id="{2FEA4DE1-381E-E5E6-7CB5-880FB2157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119" y="5444794"/>
            <a:ext cx="1757044" cy="862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Rectangle: Rounded Corners 72">
            <a:extLst>
              <a:ext uri="{FF2B5EF4-FFF2-40B4-BE49-F238E27FC236}">
                <a16:creationId xmlns="" xmlns:a16="http://schemas.microsoft.com/office/drawing/2014/main" id="{BF234A51-FF9D-9BBB-1B64-74D2300630AA}"/>
              </a:ext>
            </a:extLst>
          </p:cNvPr>
          <p:cNvSpPr/>
          <p:nvPr/>
        </p:nvSpPr>
        <p:spPr>
          <a:xfrm>
            <a:off x="1301359" y="5378650"/>
            <a:ext cx="3981054" cy="1336128"/>
          </a:xfrm>
          <a:prstGeom prst="round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="" xmlns:a16="http://schemas.microsoft.com/office/drawing/2014/main" id="{6CBA552D-FF98-4584-0974-F7DC3B40B121}"/>
              </a:ext>
            </a:extLst>
          </p:cNvPr>
          <p:cNvSpPr/>
          <p:nvPr/>
        </p:nvSpPr>
        <p:spPr>
          <a:xfrm>
            <a:off x="7051396" y="5366089"/>
            <a:ext cx="3981054" cy="1336128"/>
          </a:xfrm>
          <a:prstGeom prst="round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6D19D7F3-66E0-374F-77ED-29FB84AE2171}"/>
              </a:ext>
            </a:extLst>
          </p:cNvPr>
          <p:cNvSpPr txBox="1"/>
          <p:nvPr/>
        </p:nvSpPr>
        <p:spPr>
          <a:xfrm>
            <a:off x="8229065" y="6249566"/>
            <a:ext cx="38597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</a:rPr>
              <a:t>Hệ</a:t>
            </a:r>
            <a:r>
              <a:rPr lang="en-US" sz="2200" b="1" dirty="0">
                <a:solidFill>
                  <a:srgbClr val="FF0000"/>
                </a:solidFill>
              </a:rPr>
              <a:t> A </a:t>
            </a:r>
            <a:r>
              <a:rPr lang="en-US" sz="2200" b="1" dirty="0"/>
              <a:t>(</a:t>
            </a:r>
            <a:r>
              <a:rPr lang="en-US" sz="2200" b="1" dirty="0" err="1"/>
              <a:t>góc</a:t>
            </a:r>
            <a:r>
              <a:rPr lang="en-US" sz="2200" b="1" dirty="0"/>
              <a:t> </a:t>
            </a:r>
            <a:r>
              <a:rPr lang="en-US" sz="2200" b="1" dirty="0" err="1"/>
              <a:t>chiếu</a:t>
            </a:r>
            <a:r>
              <a:rPr lang="en-US" sz="2200" b="1" dirty="0"/>
              <a:t> </a:t>
            </a:r>
            <a:r>
              <a:rPr lang="en-US" sz="2200" b="1" dirty="0" err="1"/>
              <a:t>thứ</a:t>
            </a:r>
            <a:r>
              <a:rPr lang="en-US" sz="2200" b="1" dirty="0"/>
              <a:t> 3)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="" xmlns:a16="http://schemas.microsoft.com/office/drawing/2014/main" id="{F29B0332-A5B8-1C58-6C6F-EFE434F1984C}"/>
              </a:ext>
            </a:extLst>
          </p:cNvPr>
          <p:cNvSpPr txBox="1"/>
          <p:nvPr/>
        </p:nvSpPr>
        <p:spPr>
          <a:xfrm>
            <a:off x="2565137" y="6235921"/>
            <a:ext cx="38597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</a:rPr>
              <a:t>Hệ</a:t>
            </a:r>
            <a:r>
              <a:rPr lang="en-US" sz="2200" b="1" dirty="0">
                <a:solidFill>
                  <a:srgbClr val="FF0000"/>
                </a:solidFill>
              </a:rPr>
              <a:t> E </a:t>
            </a:r>
            <a:r>
              <a:rPr lang="en-US" sz="2200" b="1" dirty="0"/>
              <a:t>(</a:t>
            </a:r>
            <a:r>
              <a:rPr lang="en-US" sz="2200" b="1" dirty="0" err="1"/>
              <a:t>góc</a:t>
            </a:r>
            <a:r>
              <a:rPr lang="en-US" sz="2200" b="1" dirty="0"/>
              <a:t> </a:t>
            </a:r>
            <a:r>
              <a:rPr lang="en-US" sz="2200" b="1" dirty="0" err="1"/>
              <a:t>chiếu</a:t>
            </a:r>
            <a:r>
              <a:rPr lang="en-US" sz="2200" b="1" dirty="0"/>
              <a:t> </a:t>
            </a:r>
            <a:r>
              <a:rPr lang="en-US" sz="2200" b="1" dirty="0" err="1"/>
              <a:t>thứ</a:t>
            </a:r>
            <a:r>
              <a:rPr lang="en-US" sz="2200" b="1" dirty="0"/>
              <a:t> 1)</a:t>
            </a:r>
          </a:p>
        </p:txBody>
      </p:sp>
      <p:sp>
        <p:nvSpPr>
          <p:cNvPr id="77" name="Arrow: Curved Left 76">
            <a:extLst>
              <a:ext uri="{FF2B5EF4-FFF2-40B4-BE49-F238E27FC236}">
                <a16:creationId xmlns="" xmlns:a16="http://schemas.microsoft.com/office/drawing/2014/main" id="{BC35F62B-DFAE-7412-EB6F-E3029B940640}"/>
              </a:ext>
            </a:extLst>
          </p:cNvPr>
          <p:cNvSpPr/>
          <p:nvPr/>
        </p:nvSpPr>
        <p:spPr>
          <a:xfrm>
            <a:off x="8292539" y="3344334"/>
            <a:ext cx="455225" cy="1137518"/>
          </a:xfrm>
          <a:prstGeom prst="curvedLef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Arrow: Curved Left 77">
            <a:extLst>
              <a:ext uri="{FF2B5EF4-FFF2-40B4-BE49-F238E27FC236}">
                <a16:creationId xmlns="" xmlns:a16="http://schemas.microsoft.com/office/drawing/2014/main" id="{8541D0F0-14CB-7214-C99B-F777EA8A0C9E}"/>
              </a:ext>
            </a:extLst>
          </p:cNvPr>
          <p:cNvSpPr/>
          <p:nvPr/>
        </p:nvSpPr>
        <p:spPr>
          <a:xfrm rot="11618428">
            <a:off x="6029519" y="2230728"/>
            <a:ext cx="455225" cy="1137518"/>
          </a:xfrm>
          <a:prstGeom prst="curvedLef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5" grpId="0"/>
      <p:bldP spid="76" grpId="0"/>
      <p:bldP spid="77" grpId="0" animBg="1"/>
      <p:bldP spid="7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8345514" y="3554568"/>
            <a:ext cx="2853173" cy="242895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657198" y="3905481"/>
            <a:ext cx="3135160" cy="279153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792358" y="6009405"/>
            <a:ext cx="3406329" cy="68760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398202" y="460743"/>
            <a:ext cx="2840450" cy="218036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1217500" y="2655540"/>
            <a:ext cx="21152" cy="339753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8397024" y="489397"/>
            <a:ext cx="25757" cy="306517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637239" y="594442"/>
            <a:ext cx="39918" cy="332975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677157" y="478723"/>
            <a:ext cx="3745624" cy="12428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635121" y="3554569"/>
            <a:ext cx="3774781" cy="32019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350" y="2125014"/>
            <a:ext cx="2446172" cy="2678805"/>
          </a:xfrm>
          <a:prstGeom prst="rect">
            <a:avLst/>
          </a:prstGeom>
        </p:spPr>
      </p:pic>
      <p:sp>
        <p:nvSpPr>
          <p:cNvPr id="28" name="Freeform 27"/>
          <p:cNvSpPr/>
          <p:nvPr/>
        </p:nvSpPr>
        <p:spPr>
          <a:xfrm>
            <a:off x="4635121" y="594442"/>
            <a:ext cx="592429" cy="566672"/>
          </a:xfrm>
          <a:custGeom>
            <a:avLst/>
            <a:gdLst>
              <a:gd name="connsiteX0" fmla="*/ 579550 w 579550"/>
              <a:gd name="connsiteY0" fmla="*/ 0 h 540913"/>
              <a:gd name="connsiteX1" fmla="*/ 450761 w 579550"/>
              <a:gd name="connsiteY1" fmla="*/ 412124 h 540913"/>
              <a:gd name="connsiteX2" fmla="*/ 0 w 579550"/>
              <a:gd name="connsiteY2" fmla="*/ 540913 h 540913"/>
              <a:gd name="connsiteX3" fmla="*/ 0 w 579550"/>
              <a:gd name="connsiteY3" fmla="*/ 540913 h 540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550" h="540913">
                <a:moveTo>
                  <a:pt x="579550" y="0"/>
                </a:moveTo>
                <a:cubicBezTo>
                  <a:pt x="563451" y="160986"/>
                  <a:pt x="547353" y="321972"/>
                  <a:pt x="450761" y="412124"/>
                </a:cubicBezTo>
                <a:cubicBezTo>
                  <a:pt x="354169" y="502276"/>
                  <a:pt x="0" y="540913"/>
                  <a:pt x="0" y="540913"/>
                </a:cubicBezTo>
                <a:lnTo>
                  <a:pt x="0" y="540913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694879" y="705925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P1</a:t>
            </a:r>
            <a:endParaRPr lang="en-US" sz="2000" b="1" dirty="0"/>
          </a:p>
        </p:txBody>
      </p:sp>
      <p:sp>
        <p:nvSpPr>
          <p:cNvPr id="30" name="Freeform 29"/>
          <p:cNvSpPr/>
          <p:nvPr/>
        </p:nvSpPr>
        <p:spPr>
          <a:xfrm>
            <a:off x="5129551" y="3834419"/>
            <a:ext cx="497201" cy="541782"/>
          </a:xfrm>
          <a:custGeom>
            <a:avLst/>
            <a:gdLst>
              <a:gd name="connsiteX0" fmla="*/ 579550 w 579550"/>
              <a:gd name="connsiteY0" fmla="*/ 0 h 540913"/>
              <a:gd name="connsiteX1" fmla="*/ 450761 w 579550"/>
              <a:gd name="connsiteY1" fmla="*/ 412124 h 540913"/>
              <a:gd name="connsiteX2" fmla="*/ 0 w 579550"/>
              <a:gd name="connsiteY2" fmla="*/ 540913 h 540913"/>
              <a:gd name="connsiteX3" fmla="*/ 0 w 579550"/>
              <a:gd name="connsiteY3" fmla="*/ 540913 h 540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550" h="540913">
                <a:moveTo>
                  <a:pt x="579550" y="0"/>
                </a:moveTo>
                <a:cubicBezTo>
                  <a:pt x="563451" y="160986"/>
                  <a:pt x="547353" y="321972"/>
                  <a:pt x="450761" y="412124"/>
                </a:cubicBezTo>
                <a:cubicBezTo>
                  <a:pt x="354169" y="502276"/>
                  <a:pt x="0" y="540913"/>
                  <a:pt x="0" y="540913"/>
                </a:cubicBezTo>
                <a:lnTo>
                  <a:pt x="0" y="540913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002099" y="3874760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P2</a:t>
            </a:r>
            <a:endParaRPr lang="en-US" sz="2000" b="1" dirty="0"/>
          </a:p>
        </p:txBody>
      </p:sp>
      <p:sp>
        <p:nvSpPr>
          <p:cNvPr id="32" name="Freeform 31"/>
          <p:cNvSpPr/>
          <p:nvPr/>
        </p:nvSpPr>
        <p:spPr>
          <a:xfrm>
            <a:off x="10665954" y="2224608"/>
            <a:ext cx="591511" cy="1030307"/>
          </a:xfrm>
          <a:custGeom>
            <a:avLst/>
            <a:gdLst>
              <a:gd name="connsiteX0" fmla="*/ 42324 w 638438"/>
              <a:gd name="connsiteY0" fmla="*/ 0 h 1047588"/>
              <a:gd name="connsiteX1" fmla="*/ 55203 w 638438"/>
              <a:gd name="connsiteY1" fmla="*/ 566671 h 1047588"/>
              <a:gd name="connsiteX2" fmla="*/ 583236 w 638438"/>
              <a:gd name="connsiteY2" fmla="*/ 991673 h 1047588"/>
              <a:gd name="connsiteX3" fmla="*/ 596115 w 638438"/>
              <a:gd name="connsiteY3" fmla="*/ 1030310 h 104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438" h="1047588">
                <a:moveTo>
                  <a:pt x="42324" y="0"/>
                </a:moveTo>
                <a:cubicBezTo>
                  <a:pt x="3687" y="200696"/>
                  <a:pt x="-34949" y="401392"/>
                  <a:pt x="55203" y="566671"/>
                </a:cubicBezTo>
                <a:cubicBezTo>
                  <a:pt x="145355" y="731950"/>
                  <a:pt x="493084" y="914400"/>
                  <a:pt x="583236" y="991673"/>
                </a:cubicBezTo>
                <a:cubicBezTo>
                  <a:pt x="673388" y="1068946"/>
                  <a:pt x="634751" y="1049628"/>
                  <a:pt x="596115" y="10303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0766147" y="2555187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P3</a:t>
            </a:r>
            <a:endParaRPr lang="en-US" sz="2000" b="1" dirty="0"/>
          </a:p>
        </p:txBody>
      </p:sp>
      <p:sp>
        <p:nvSpPr>
          <p:cNvPr id="34" name="Flowchart: Connector 33"/>
          <p:cNvSpPr/>
          <p:nvPr/>
        </p:nvSpPr>
        <p:spPr>
          <a:xfrm>
            <a:off x="7325558" y="2788920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/>
          <p:cNvSpPr/>
          <p:nvPr/>
        </p:nvSpPr>
        <p:spPr>
          <a:xfrm>
            <a:off x="7050060" y="2607220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/>
          <p:cNvSpPr/>
          <p:nvPr/>
        </p:nvSpPr>
        <p:spPr>
          <a:xfrm>
            <a:off x="7341305" y="222889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/>
          <p:cNvSpPr/>
          <p:nvPr/>
        </p:nvSpPr>
        <p:spPr>
          <a:xfrm>
            <a:off x="7608005" y="239653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/>
          <p:cNvSpPr/>
          <p:nvPr/>
        </p:nvSpPr>
        <p:spPr>
          <a:xfrm>
            <a:off x="7945890" y="2094534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/>
          <p:cNvSpPr/>
          <p:nvPr/>
        </p:nvSpPr>
        <p:spPr>
          <a:xfrm>
            <a:off x="8189794" y="2268074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/>
          <p:cNvSpPr/>
          <p:nvPr/>
        </p:nvSpPr>
        <p:spPr>
          <a:xfrm>
            <a:off x="7325558" y="3621208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Connector 40"/>
          <p:cNvSpPr/>
          <p:nvPr/>
        </p:nvSpPr>
        <p:spPr>
          <a:xfrm>
            <a:off x="8099695" y="4144738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/>
          <p:cNvSpPr/>
          <p:nvPr/>
        </p:nvSpPr>
        <p:spPr>
          <a:xfrm>
            <a:off x="7026276" y="3991054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/>
          <p:cNvSpPr/>
          <p:nvPr/>
        </p:nvSpPr>
        <p:spPr>
          <a:xfrm>
            <a:off x="8097334" y="4704758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/>
          <p:cNvSpPr/>
          <p:nvPr/>
        </p:nvSpPr>
        <p:spPr>
          <a:xfrm>
            <a:off x="9280274" y="3893716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Connector 44"/>
          <p:cNvSpPr/>
          <p:nvPr/>
        </p:nvSpPr>
        <p:spPr>
          <a:xfrm>
            <a:off x="9287894" y="4429045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/>
          <p:cNvSpPr/>
          <p:nvPr/>
        </p:nvSpPr>
        <p:spPr>
          <a:xfrm>
            <a:off x="8496328" y="332757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>
            <a:endCxn id="109" idx="5"/>
          </p:cNvCxnSpPr>
          <p:nvPr/>
        </p:nvCxnSpPr>
        <p:spPr>
          <a:xfrm>
            <a:off x="6794500" y="1405535"/>
            <a:ext cx="15539" cy="137270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04" idx="7"/>
          </p:cNvCxnSpPr>
          <p:nvPr/>
        </p:nvCxnSpPr>
        <p:spPr>
          <a:xfrm flipH="1">
            <a:off x="5822977" y="1071434"/>
            <a:ext cx="682262" cy="266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5522186" y="1098042"/>
            <a:ext cx="326190" cy="3106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522187" y="1392707"/>
            <a:ext cx="12210" cy="139621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Flowchart: Connector 59"/>
          <p:cNvSpPr/>
          <p:nvPr/>
        </p:nvSpPr>
        <p:spPr>
          <a:xfrm>
            <a:off x="8492728" y="2546260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/>
          <p:cNvCxnSpPr/>
          <p:nvPr/>
        </p:nvCxnSpPr>
        <p:spPr>
          <a:xfrm>
            <a:off x="6484870" y="1088264"/>
            <a:ext cx="332668" cy="3607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36" idx="2"/>
          </p:cNvCxnSpPr>
          <p:nvPr/>
        </p:nvCxnSpPr>
        <p:spPr>
          <a:xfrm flipH="1" flipV="1">
            <a:off x="5822976" y="1098042"/>
            <a:ext cx="1518329" cy="1161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38" idx="7"/>
          </p:cNvCxnSpPr>
          <p:nvPr/>
        </p:nvCxnSpPr>
        <p:spPr>
          <a:xfrm flipH="1" flipV="1">
            <a:off x="6499128" y="1094976"/>
            <a:ext cx="1485786" cy="100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5" idx="6"/>
          </p:cNvCxnSpPr>
          <p:nvPr/>
        </p:nvCxnSpPr>
        <p:spPr>
          <a:xfrm flipH="1" flipV="1">
            <a:off x="5522185" y="1408709"/>
            <a:ext cx="1573595" cy="12289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60" idx="1"/>
          </p:cNvCxnSpPr>
          <p:nvPr/>
        </p:nvCxnSpPr>
        <p:spPr>
          <a:xfrm flipH="1" flipV="1">
            <a:off x="6787443" y="1415146"/>
            <a:ext cx="1711981" cy="1140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42" idx="1"/>
            <a:endCxn id="108" idx="4"/>
          </p:cNvCxnSpPr>
          <p:nvPr/>
        </p:nvCxnSpPr>
        <p:spPr>
          <a:xfrm flipH="1" flipV="1">
            <a:off x="5535305" y="2788437"/>
            <a:ext cx="1497667" cy="1211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40" idx="2"/>
          </p:cNvCxnSpPr>
          <p:nvPr/>
        </p:nvCxnSpPr>
        <p:spPr>
          <a:xfrm flipH="1" flipV="1">
            <a:off x="5539568" y="2298554"/>
            <a:ext cx="1785990" cy="1353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08" idx="4"/>
          </p:cNvCxnSpPr>
          <p:nvPr/>
        </p:nvCxnSpPr>
        <p:spPr>
          <a:xfrm flipV="1">
            <a:off x="5535305" y="2764700"/>
            <a:ext cx="1283665" cy="237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endCxn id="110" idx="7"/>
          </p:cNvCxnSpPr>
          <p:nvPr/>
        </p:nvCxnSpPr>
        <p:spPr>
          <a:xfrm flipV="1">
            <a:off x="5534397" y="2277934"/>
            <a:ext cx="1262942" cy="206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6794500" y="2765163"/>
            <a:ext cx="255560" cy="216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lowchart: Connector 102"/>
          <p:cNvSpPr/>
          <p:nvPr/>
        </p:nvSpPr>
        <p:spPr>
          <a:xfrm>
            <a:off x="6758315" y="139270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/>
          <p:cNvSpPr/>
          <p:nvPr/>
        </p:nvSpPr>
        <p:spPr>
          <a:xfrm>
            <a:off x="6466215" y="106250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lowchart: Connector 104"/>
          <p:cNvSpPr/>
          <p:nvPr/>
        </p:nvSpPr>
        <p:spPr>
          <a:xfrm>
            <a:off x="5818515" y="106250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/>
          <p:cNvSpPr/>
          <p:nvPr/>
        </p:nvSpPr>
        <p:spPr>
          <a:xfrm>
            <a:off x="5488315" y="138000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lowchart: Connector 106"/>
          <p:cNvSpPr/>
          <p:nvPr/>
        </p:nvSpPr>
        <p:spPr>
          <a:xfrm>
            <a:off x="5501015" y="225630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/>
          <p:cNvSpPr/>
          <p:nvPr/>
        </p:nvSpPr>
        <p:spPr>
          <a:xfrm>
            <a:off x="5512445" y="272747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lowchart: Connector 108"/>
          <p:cNvSpPr/>
          <p:nvPr/>
        </p:nvSpPr>
        <p:spPr>
          <a:xfrm>
            <a:off x="6771015" y="272620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/>
          <p:cNvSpPr/>
          <p:nvPr/>
        </p:nvSpPr>
        <p:spPr>
          <a:xfrm>
            <a:off x="6758315" y="2269007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lowchart: Connector 112"/>
          <p:cNvSpPr/>
          <p:nvPr/>
        </p:nvSpPr>
        <p:spPr>
          <a:xfrm>
            <a:off x="5861823" y="1326667"/>
            <a:ext cx="615180" cy="61518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Connector 114"/>
          <p:cNvCxnSpPr/>
          <p:nvPr/>
        </p:nvCxnSpPr>
        <p:spPr>
          <a:xfrm>
            <a:off x="7052312" y="4035701"/>
            <a:ext cx="6430" cy="105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20" idx="7"/>
          </p:cNvCxnSpPr>
          <p:nvPr/>
        </p:nvCxnSpPr>
        <p:spPr>
          <a:xfrm flipV="1">
            <a:off x="7104326" y="4956496"/>
            <a:ext cx="1241188" cy="1346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43" idx="5"/>
          </p:cNvCxnSpPr>
          <p:nvPr/>
        </p:nvCxnSpPr>
        <p:spPr>
          <a:xfrm flipH="1">
            <a:off x="8120194" y="4756791"/>
            <a:ext cx="16164" cy="1258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Flowchart: Connector 119"/>
          <p:cNvSpPr/>
          <p:nvPr/>
        </p:nvSpPr>
        <p:spPr>
          <a:xfrm>
            <a:off x="7065302" y="5082225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lowchart: Connector 120"/>
          <p:cNvSpPr/>
          <p:nvPr/>
        </p:nvSpPr>
        <p:spPr>
          <a:xfrm>
            <a:off x="8106794" y="5953045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lowchart: Connector 121"/>
          <p:cNvSpPr/>
          <p:nvPr/>
        </p:nvSpPr>
        <p:spPr>
          <a:xfrm>
            <a:off x="9285771" y="5797768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/>
          <p:cNvCxnSpPr/>
          <p:nvPr/>
        </p:nvCxnSpPr>
        <p:spPr>
          <a:xfrm flipH="1">
            <a:off x="8345514" y="4666658"/>
            <a:ext cx="2434" cy="289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45" idx="4"/>
            <a:endCxn id="122" idx="7"/>
          </p:cNvCxnSpPr>
          <p:nvPr/>
        </p:nvCxnSpPr>
        <p:spPr>
          <a:xfrm>
            <a:off x="9310754" y="4490005"/>
            <a:ext cx="14041" cy="1316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flipV="1">
            <a:off x="8106794" y="5816818"/>
            <a:ext cx="1224697" cy="1857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>
            <a:endCxn id="121" idx="2"/>
          </p:cNvCxnSpPr>
          <p:nvPr/>
        </p:nvCxnSpPr>
        <p:spPr>
          <a:xfrm>
            <a:off x="7066047" y="5109117"/>
            <a:ext cx="1040747" cy="8744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>
            <a:off x="8333348" y="4937293"/>
            <a:ext cx="989689" cy="8728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7387025" y="5218046"/>
            <a:ext cx="1246377" cy="1492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>
            <a:off x="7504493" y="5037760"/>
            <a:ext cx="287865" cy="27251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7975748" y="4994038"/>
            <a:ext cx="316481" cy="283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7395194" y="5050242"/>
            <a:ext cx="298500" cy="267657"/>
          </a:xfrm>
          <a:prstGeom prst="line">
            <a:avLst/>
          </a:prstGeom>
          <a:ln w="635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>
            <a:off x="8089717" y="4989745"/>
            <a:ext cx="290265" cy="260273"/>
          </a:xfrm>
          <a:prstGeom prst="line">
            <a:avLst/>
          </a:prstGeom>
          <a:ln w="6350"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38" idx="6"/>
          </p:cNvCxnSpPr>
          <p:nvPr/>
        </p:nvCxnSpPr>
        <p:spPr>
          <a:xfrm flipV="1">
            <a:off x="7991610" y="1851660"/>
            <a:ext cx="1283584" cy="273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9259954" y="1860801"/>
            <a:ext cx="12552" cy="1466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endCxn id="156" idx="6"/>
          </p:cNvCxnSpPr>
          <p:nvPr/>
        </p:nvCxnSpPr>
        <p:spPr>
          <a:xfrm flipV="1">
            <a:off x="8248066" y="2016614"/>
            <a:ext cx="1305708" cy="27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Flowchart: Connector 154"/>
          <p:cNvSpPr/>
          <p:nvPr/>
        </p:nvSpPr>
        <p:spPr>
          <a:xfrm>
            <a:off x="9233734" y="1833734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/>
          <p:cNvSpPr/>
          <p:nvPr/>
        </p:nvSpPr>
        <p:spPr>
          <a:xfrm>
            <a:off x="9508054" y="1986134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8" name="Straight Connector 157"/>
          <p:cNvCxnSpPr>
            <a:stCxn id="34" idx="6"/>
            <a:endCxn id="159" idx="5"/>
          </p:cNvCxnSpPr>
          <p:nvPr/>
        </p:nvCxnSpPr>
        <p:spPr>
          <a:xfrm flipV="1">
            <a:off x="7371278" y="2346956"/>
            <a:ext cx="2190710" cy="472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Flowchart: Connector 158"/>
          <p:cNvSpPr/>
          <p:nvPr/>
        </p:nvSpPr>
        <p:spPr>
          <a:xfrm>
            <a:off x="9522964" y="2294923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160"/>
          <p:cNvCxnSpPr>
            <a:stCxn id="46" idx="1"/>
            <a:endCxn id="166" idx="6"/>
          </p:cNvCxnSpPr>
          <p:nvPr/>
        </p:nvCxnSpPr>
        <p:spPr>
          <a:xfrm flipV="1">
            <a:off x="8503024" y="3069892"/>
            <a:ext cx="1042800" cy="266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endCxn id="167" idx="5"/>
          </p:cNvCxnSpPr>
          <p:nvPr/>
        </p:nvCxnSpPr>
        <p:spPr>
          <a:xfrm flipV="1">
            <a:off x="8675067" y="3322564"/>
            <a:ext cx="620551" cy="152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Flowchart: Connector 165"/>
          <p:cNvSpPr/>
          <p:nvPr/>
        </p:nvSpPr>
        <p:spPr>
          <a:xfrm>
            <a:off x="9500104" y="3039412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Flowchart: Connector 166"/>
          <p:cNvSpPr/>
          <p:nvPr/>
        </p:nvSpPr>
        <p:spPr>
          <a:xfrm>
            <a:off x="9256594" y="3270531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9" name="Straight Connector 168"/>
          <p:cNvCxnSpPr>
            <a:stCxn id="44" idx="6"/>
            <a:endCxn id="170" idx="0"/>
          </p:cNvCxnSpPr>
          <p:nvPr/>
        </p:nvCxnSpPr>
        <p:spPr>
          <a:xfrm flipV="1">
            <a:off x="9325994" y="3688690"/>
            <a:ext cx="1171964" cy="2355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lowchart: Connector 169"/>
          <p:cNvSpPr/>
          <p:nvPr/>
        </p:nvSpPr>
        <p:spPr>
          <a:xfrm>
            <a:off x="10475098" y="3688690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72" name="Straight Connector 171"/>
          <p:cNvCxnSpPr>
            <a:stCxn id="45" idx="1"/>
          </p:cNvCxnSpPr>
          <p:nvPr/>
        </p:nvCxnSpPr>
        <p:spPr>
          <a:xfrm flipV="1">
            <a:off x="9294590" y="4176589"/>
            <a:ext cx="1224159" cy="261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Flowchart: Connector 173"/>
          <p:cNvSpPr/>
          <p:nvPr/>
        </p:nvSpPr>
        <p:spPr>
          <a:xfrm>
            <a:off x="10486640" y="4134824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5" name="Flowchart: Connector 174"/>
          <p:cNvSpPr/>
          <p:nvPr/>
        </p:nvSpPr>
        <p:spPr>
          <a:xfrm>
            <a:off x="9256264" y="2165383"/>
            <a:ext cx="45720" cy="6096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/>
          <p:cNvCxnSpPr>
            <a:stCxn id="155" idx="6"/>
            <a:endCxn id="156" idx="6"/>
          </p:cNvCxnSpPr>
          <p:nvPr/>
        </p:nvCxnSpPr>
        <p:spPr>
          <a:xfrm>
            <a:off x="9279454" y="1864214"/>
            <a:ext cx="274320" cy="152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56" idx="6"/>
            <a:endCxn id="166" idx="6"/>
          </p:cNvCxnSpPr>
          <p:nvPr/>
        </p:nvCxnSpPr>
        <p:spPr>
          <a:xfrm flipH="1">
            <a:off x="9545824" y="2016614"/>
            <a:ext cx="7950" cy="10532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66" idx="6"/>
            <a:endCxn id="170" idx="5"/>
          </p:cNvCxnSpPr>
          <p:nvPr/>
        </p:nvCxnSpPr>
        <p:spPr>
          <a:xfrm>
            <a:off x="9545824" y="3069892"/>
            <a:ext cx="968298" cy="6708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endCxn id="174" idx="5"/>
          </p:cNvCxnSpPr>
          <p:nvPr/>
        </p:nvCxnSpPr>
        <p:spPr>
          <a:xfrm>
            <a:off x="9282669" y="3301011"/>
            <a:ext cx="1242995" cy="8858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174" idx="0"/>
          </p:cNvCxnSpPr>
          <p:nvPr/>
        </p:nvCxnSpPr>
        <p:spPr>
          <a:xfrm flipH="1" flipV="1">
            <a:off x="10497703" y="3687131"/>
            <a:ext cx="11797" cy="4476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>
            <a:endCxn id="159" idx="6"/>
          </p:cNvCxnSpPr>
          <p:nvPr/>
        </p:nvCxnSpPr>
        <p:spPr>
          <a:xfrm>
            <a:off x="9256264" y="2188243"/>
            <a:ext cx="312420" cy="1371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>
            <a:off x="9256264" y="2090813"/>
            <a:ext cx="289560" cy="13553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>
            <a:off x="9273279" y="2711559"/>
            <a:ext cx="280495" cy="12833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04701" y="1211897"/>
            <a:ext cx="39370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 smtClean="0"/>
              <a:t>Cách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xây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dựng</a:t>
            </a:r>
            <a:endParaRPr lang="en-US" sz="2800" b="1" dirty="0" smtClean="0"/>
          </a:p>
          <a:p>
            <a:pPr algn="just"/>
            <a:r>
              <a:rPr lang="en-US" sz="2400" b="1" i="1" dirty="0" smtClean="0">
                <a:solidFill>
                  <a:srgbClr val="00B0F0"/>
                </a:solidFill>
              </a:rPr>
              <a:t>-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Dựng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các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mặt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phẳng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hình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chiếu</a:t>
            </a:r>
            <a:r>
              <a:rPr lang="en-US" sz="2400" b="1" i="1" dirty="0" smtClean="0">
                <a:solidFill>
                  <a:srgbClr val="00B0F0"/>
                </a:solidFill>
              </a:rPr>
              <a:t> (MPHC)</a:t>
            </a:r>
          </a:p>
          <a:p>
            <a:pPr algn="just"/>
            <a:r>
              <a:rPr lang="en-US" sz="2400" b="1" i="1" dirty="0" smtClean="0">
                <a:solidFill>
                  <a:srgbClr val="00B0F0"/>
                </a:solidFill>
              </a:rPr>
              <a:t>-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Đặt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vật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thể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cần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biểu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diễn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giữa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người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quan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sát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và</a:t>
            </a:r>
            <a:r>
              <a:rPr lang="en-US" sz="2400" b="1" i="1" dirty="0" smtClean="0">
                <a:solidFill>
                  <a:srgbClr val="00B0F0"/>
                </a:solidFill>
              </a:rPr>
              <a:t> MPHC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tương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ứng</a:t>
            </a:r>
            <a:endParaRPr lang="en-US" sz="2400" b="1" i="1" dirty="0" smtClean="0">
              <a:solidFill>
                <a:srgbClr val="00B0F0"/>
              </a:solidFill>
            </a:endParaRPr>
          </a:p>
          <a:p>
            <a:pPr algn="just"/>
            <a:r>
              <a:rPr lang="en-US" sz="2400" b="1" i="1" dirty="0" smtClean="0">
                <a:solidFill>
                  <a:srgbClr val="00B0F0"/>
                </a:solidFill>
              </a:rPr>
              <a:t>-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Chiếu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vuông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góc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các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đường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bao</a:t>
            </a:r>
            <a:r>
              <a:rPr lang="en-US" sz="2400" b="1" i="1" dirty="0" smtClean="0">
                <a:solidFill>
                  <a:srgbClr val="00B0F0"/>
                </a:solidFill>
              </a:rPr>
              <a:t>,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các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cạnh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thuộc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bề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mặt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vật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thể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lên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các</a:t>
            </a:r>
            <a:r>
              <a:rPr lang="en-US" sz="2400" b="1" i="1" dirty="0" smtClean="0">
                <a:solidFill>
                  <a:srgbClr val="00B0F0"/>
                </a:solidFill>
              </a:rPr>
              <a:t> MPHC</a:t>
            </a:r>
          </a:p>
          <a:p>
            <a:pPr algn="just"/>
            <a:r>
              <a:rPr lang="en-US" sz="2400" b="1" i="1" dirty="0" smtClean="0">
                <a:solidFill>
                  <a:srgbClr val="00B0F0"/>
                </a:solidFill>
              </a:rPr>
              <a:t>-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Các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hình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chiếu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thu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được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trên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các</a:t>
            </a:r>
            <a:r>
              <a:rPr lang="en-US" sz="2400" b="1" i="1" dirty="0" smtClean="0">
                <a:solidFill>
                  <a:srgbClr val="00B0F0"/>
                </a:solidFill>
              </a:rPr>
              <a:t> MPHC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gọi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là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các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hình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chiếu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cơ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bản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của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vật</a:t>
            </a:r>
            <a:r>
              <a:rPr lang="en-US" sz="2400" b="1" i="1" dirty="0" smtClean="0">
                <a:solidFill>
                  <a:srgbClr val="00B0F0"/>
                </a:solidFill>
              </a:rPr>
              <a:t> </a:t>
            </a:r>
            <a:r>
              <a:rPr lang="en-US" sz="2400" b="1" i="1" dirty="0" err="1" smtClean="0">
                <a:solidFill>
                  <a:srgbClr val="00B0F0"/>
                </a:solidFill>
              </a:rPr>
              <a:t>thể</a:t>
            </a:r>
            <a:endParaRPr lang="en-US" sz="2400" b="1" i="1" dirty="0">
              <a:solidFill>
                <a:srgbClr val="00B0F0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-888563" y="45966"/>
            <a:ext cx="6323527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-974577" y="639743"/>
            <a:ext cx="6323527" cy="738664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2400" b="1" dirty="0" smtClean="0"/>
              <a:t>XÉT TRÊN 3 MẶT PHẲNG HC</a:t>
            </a: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5944" y="5349378"/>
            <a:ext cx="1343131" cy="1634142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 rot="-8400000">
            <a:off x="9298892" y="5098613"/>
            <a:ext cx="802346" cy="371283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Arrow 110"/>
          <p:cNvSpPr/>
          <p:nvPr/>
        </p:nvSpPr>
        <p:spPr>
          <a:xfrm rot="5340000">
            <a:off x="7257473" y="947639"/>
            <a:ext cx="802346" cy="371283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ight Arrow 111"/>
          <p:cNvSpPr/>
          <p:nvPr/>
        </p:nvSpPr>
        <p:spPr>
          <a:xfrm rot="21300000">
            <a:off x="5719899" y="3930576"/>
            <a:ext cx="802346" cy="371283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5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5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60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3" grpId="0" animBg="1"/>
      <p:bldP spid="120" grpId="0" animBg="1"/>
      <p:bldP spid="121" grpId="0" animBg="1"/>
      <p:bldP spid="122" grpId="0" animBg="1"/>
      <p:bldP spid="155" grpId="0" animBg="1"/>
      <p:bldP spid="156" grpId="0" animBg="1"/>
      <p:bldP spid="159" grpId="0" animBg="1"/>
      <p:bldP spid="166" grpId="0" animBg="1"/>
      <p:bldP spid="167" grpId="0" animBg="1"/>
      <p:bldP spid="170" grpId="0" animBg="1"/>
      <p:bldP spid="174" grpId="0" animBg="1"/>
      <p:bldP spid="175" grpId="0" animBg="1"/>
      <p:bldP spid="12" grpId="0" animBg="1"/>
      <p:bldP spid="111" grpId="0" animBg="1"/>
      <p:bldP spid="1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353" y="3126702"/>
            <a:ext cx="48387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VUÔNG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279133" y="1289437"/>
            <a:ext cx="11149262" cy="56789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82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</a:rPr>
              <a:t>  </a:t>
            </a:r>
            <a:r>
              <a:rPr lang="en-US" sz="2800" b="1" dirty="0" err="1">
                <a:solidFill>
                  <a:schemeClr val="tx1"/>
                </a:solidFill>
              </a:rPr>
              <a:t>Phương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pháp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góc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chiếu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thứ</a:t>
            </a:r>
            <a:r>
              <a:rPr lang="en-US" sz="2800" b="1" dirty="0">
                <a:solidFill>
                  <a:schemeClr val="tx1"/>
                </a:solidFill>
              </a:rPr>
              <a:t> 1 (</a:t>
            </a:r>
            <a:r>
              <a:rPr lang="en-US" sz="2800" b="1" dirty="0" err="1">
                <a:solidFill>
                  <a:schemeClr val="tx1"/>
                </a:solidFill>
              </a:rPr>
              <a:t>Hệ</a:t>
            </a:r>
            <a:r>
              <a:rPr lang="en-US" sz="2800" b="1" dirty="0">
                <a:solidFill>
                  <a:schemeClr val="tx1"/>
                </a:solidFill>
              </a:rPr>
              <a:t> 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57327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/>
              <a:t>- TCVN 5-78 </a:t>
            </a:r>
            <a:r>
              <a:rPr lang="en-US" sz="2600" dirty="0" err="1"/>
              <a:t>quy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lấy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6 </a:t>
            </a:r>
            <a:r>
              <a:rPr lang="en-US" sz="2600" b="1" dirty="0" err="1">
                <a:solidFill>
                  <a:srgbClr val="FF0000"/>
                </a:solidFill>
              </a:rPr>
              <a:t>mặt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hình</a:t>
            </a:r>
            <a:r>
              <a:rPr lang="en-US" sz="2600" dirty="0"/>
              <a:t> </a:t>
            </a:r>
            <a:r>
              <a:rPr lang="en-US" sz="2600" dirty="0" err="1"/>
              <a:t>hộp</a:t>
            </a:r>
            <a:r>
              <a:rPr lang="en-US" sz="2600" dirty="0"/>
              <a:t> </a:t>
            </a:r>
            <a:r>
              <a:rPr lang="en-US" sz="2600" dirty="0" err="1"/>
              <a:t>làm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6 </a:t>
            </a:r>
            <a:r>
              <a:rPr lang="en-US" sz="2600" b="1" dirty="0" err="1">
                <a:solidFill>
                  <a:srgbClr val="FF0000"/>
                </a:solidFill>
              </a:rPr>
              <a:t>mặt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phẳng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hình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chiếu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cơ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bản</a:t>
            </a:r>
            <a:r>
              <a:rPr lang="en-US" sz="2600" dirty="0"/>
              <a:t>. </a:t>
            </a:r>
            <a:r>
              <a:rPr lang="en-US" sz="2600" dirty="0" err="1"/>
              <a:t>Vật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đặt</a:t>
            </a:r>
            <a:r>
              <a:rPr lang="en-US" sz="2600" dirty="0"/>
              <a:t> ở </a:t>
            </a:r>
            <a:r>
              <a:rPr lang="en-US" sz="2600" dirty="0" err="1"/>
              <a:t>vị</a:t>
            </a:r>
            <a:r>
              <a:rPr lang="en-US" sz="2600" dirty="0"/>
              <a:t> </a:t>
            </a:r>
            <a:r>
              <a:rPr lang="en-US" sz="2600" dirty="0" err="1"/>
              <a:t>trí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giữa</a:t>
            </a:r>
            <a:r>
              <a:rPr lang="en-US" sz="2600" dirty="0"/>
              <a:t> </a:t>
            </a:r>
            <a:r>
              <a:rPr lang="en-US" sz="2600" dirty="0" err="1"/>
              <a:t>người</a:t>
            </a:r>
            <a:r>
              <a:rPr lang="en-US" sz="2600" dirty="0"/>
              <a:t> </a:t>
            </a:r>
            <a:r>
              <a:rPr lang="en-US" sz="2600" dirty="0" err="1"/>
              <a:t>quan</a:t>
            </a:r>
            <a:r>
              <a:rPr lang="en-US" sz="2600" dirty="0"/>
              <a:t> </a:t>
            </a:r>
            <a:r>
              <a:rPr lang="en-US" sz="2600" dirty="0" err="1"/>
              <a:t>sát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mặt</a:t>
            </a:r>
            <a:r>
              <a:rPr lang="en-US" sz="2600" dirty="0"/>
              <a:t> </a:t>
            </a:r>
            <a:r>
              <a:rPr lang="en-US" sz="2600" dirty="0" err="1"/>
              <a:t>phẳng</a:t>
            </a:r>
            <a:r>
              <a:rPr lang="en-US" sz="2600" dirty="0"/>
              <a:t> </a:t>
            </a:r>
            <a:r>
              <a:rPr lang="en-US" sz="2600" dirty="0" err="1"/>
              <a:t>hình</a:t>
            </a:r>
            <a:r>
              <a:rPr lang="en-US" sz="2600" dirty="0"/>
              <a:t> </a:t>
            </a:r>
            <a:r>
              <a:rPr lang="en-US" sz="2600" dirty="0" err="1"/>
              <a:t>chiếu</a:t>
            </a:r>
            <a:r>
              <a:rPr lang="en-US" sz="2600" dirty="0"/>
              <a:t> </a:t>
            </a:r>
            <a:r>
              <a:rPr lang="en-US" sz="2600" dirty="0" err="1"/>
              <a:t>tương</a:t>
            </a:r>
            <a:r>
              <a:rPr lang="en-US" sz="2600" dirty="0"/>
              <a:t> </a:t>
            </a:r>
            <a:r>
              <a:rPr lang="en-US" sz="2600" dirty="0" err="1"/>
              <a:t>ứng</a:t>
            </a:r>
            <a:r>
              <a:rPr lang="en-US" sz="2600" dirty="0"/>
              <a:t>.</a:t>
            </a:r>
          </a:p>
        </p:txBody>
      </p:sp>
      <p:pic>
        <p:nvPicPr>
          <p:cNvPr id="20" name="Picture 19"/>
          <p:cNvPicPr/>
          <p:nvPr/>
        </p:nvPicPr>
        <p:blipFill rotWithShape="1">
          <a:blip r:embed="rId3"/>
          <a:srcRect t="1999" b="1625"/>
          <a:stretch/>
        </p:blipFill>
        <p:spPr bwMode="auto">
          <a:xfrm>
            <a:off x="811729" y="2749879"/>
            <a:ext cx="4813133" cy="36680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8210349" y="4061862"/>
            <a:ext cx="2107933" cy="201759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12">
            <a:extLst>
              <a:ext uri="{FF2B5EF4-FFF2-40B4-BE49-F238E27FC236}">
                <a16:creationId xmlns="" xmlns:a16="http://schemas.microsoft.com/office/drawing/2014/main" id="{E30F5F44-D549-7B69-8343-7CC54547EFE5}"/>
              </a:ext>
            </a:extLst>
          </p:cNvPr>
          <p:cNvSpPr/>
          <p:nvPr/>
        </p:nvSpPr>
        <p:spPr>
          <a:xfrm>
            <a:off x="0" y="836704"/>
            <a:ext cx="5496026" cy="343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 smtClean="0">
                <a:solidFill>
                  <a:srgbClr val="FF0000"/>
                </a:solidFill>
              </a:rPr>
              <a:t>3. HÌNH CHIẾU CƠ BẢN</a:t>
            </a:r>
            <a:endParaRPr lang="en-US" sz="3000" b="1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4EC904A-716B-FD29-BF40-6F0D0B1121CC}"/>
              </a:ext>
            </a:extLst>
          </p:cNvPr>
          <p:cNvSpPr/>
          <p:nvPr/>
        </p:nvSpPr>
        <p:spPr>
          <a:xfrm>
            <a:off x="2017642" y="2981739"/>
            <a:ext cx="934279" cy="640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FECAF93-4FAA-60F2-F7A8-E1AD1BCDF37E}"/>
              </a:ext>
            </a:extLst>
          </p:cNvPr>
          <p:cNvGrpSpPr/>
          <p:nvPr/>
        </p:nvGrpSpPr>
        <p:grpSpPr>
          <a:xfrm>
            <a:off x="2427948" y="3979563"/>
            <a:ext cx="975375" cy="865839"/>
            <a:chOff x="2403582" y="3969289"/>
            <a:chExt cx="1156660" cy="865839"/>
          </a:xfrm>
        </p:grpSpPr>
        <p:sp>
          <p:nvSpPr>
            <p:cNvPr id="8" name="Rectangle 7">
              <a:extLst>
                <a:ext uri="{FF2B5EF4-FFF2-40B4-BE49-F238E27FC236}">
                  <a16:creationId xmlns="" xmlns:a16="http://schemas.microsoft.com/office/drawing/2014/main" id="{906507BF-0060-5972-660A-CADA5534B308}"/>
                </a:ext>
              </a:extLst>
            </p:cNvPr>
            <p:cNvSpPr/>
            <p:nvPr/>
          </p:nvSpPr>
          <p:spPr>
            <a:xfrm>
              <a:off x="2403582" y="3969289"/>
              <a:ext cx="777588" cy="64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A4CB882D-3AC1-1B67-43AA-594B6101117F}"/>
                </a:ext>
              </a:extLst>
            </p:cNvPr>
            <p:cNvSpPr/>
            <p:nvPr/>
          </p:nvSpPr>
          <p:spPr>
            <a:xfrm>
              <a:off x="2782654" y="4194314"/>
              <a:ext cx="777588" cy="64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78FD9B9-D8E0-14D4-7982-0EF77CBA57DA}"/>
              </a:ext>
            </a:extLst>
          </p:cNvPr>
          <p:cNvSpPr/>
          <p:nvPr/>
        </p:nvSpPr>
        <p:spPr>
          <a:xfrm>
            <a:off x="1983047" y="5622854"/>
            <a:ext cx="934279" cy="492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58B516C-3B40-78EE-EC4F-824FE85F6704}"/>
              </a:ext>
            </a:extLst>
          </p:cNvPr>
          <p:cNvSpPr/>
          <p:nvPr/>
        </p:nvSpPr>
        <p:spPr>
          <a:xfrm>
            <a:off x="3604439" y="4062433"/>
            <a:ext cx="934279" cy="102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012B373-B0A9-A0D5-8097-191442413078}"/>
              </a:ext>
            </a:extLst>
          </p:cNvPr>
          <p:cNvSpPr/>
          <p:nvPr/>
        </p:nvSpPr>
        <p:spPr>
          <a:xfrm>
            <a:off x="1211799" y="4299970"/>
            <a:ext cx="655716" cy="102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4D32551-30EB-90EF-AB66-A4A057E3570A}"/>
              </a:ext>
            </a:extLst>
          </p:cNvPr>
          <p:cNvSpPr/>
          <p:nvPr/>
        </p:nvSpPr>
        <p:spPr>
          <a:xfrm>
            <a:off x="4741846" y="4660133"/>
            <a:ext cx="655716" cy="102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0C73A888-FFA2-0F71-1B28-7CB1D3566511}"/>
              </a:ext>
            </a:extLst>
          </p:cNvPr>
          <p:cNvCxnSpPr/>
          <p:nvPr/>
        </p:nvCxnSpPr>
        <p:spPr>
          <a:xfrm flipV="1">
            <a:off x="2910842" y="5142575"/>
            <a:ext cx="469979" cy="493093"/>
          </a:xfrm>
          <a:prstGeom prst="straightConnector1">
            <a:avLst/>
          </a:prstGeom>
          <a:ln w="22225">
            <a:headEnd w="med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FCBD0284-9529-7BB8-9DF9-5961F947133F}"/>
              </a:ext>
            </a:extLst>
          </p:cNvPr>
          <p:cNvCxnSpPr>
            <a:cxnSpLocks/>
          </p:cNvCxnSpPr>
          <p:nvPr/>
        </p:nvCxnSpPr>
        <p:spPr>
          <a:xfrm>
            <a:off x="2919584" y="5613698"/>
            <a:ext cx="0" cy="498871"/>
          </a:xfrm>
          <a:prstGeom prst="straightConnector1">
            <a:avLst/>
          </a:prstGeom>
          <a:ln w="22225">
            <a:headEnd w="med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E20C0D9E-78A6-DA11-AF72-97D2445DF5E8}"/>
              </a:ext>
            </a:extLst>
          </p:cNvPr>
          <p:cNvCxnSpPr>
            <a:cxnSpLocks/>
          </p:cNvCxnSpPr>
          <p:nvPr/>
        </p:nvCxnSpPr>
        <p:spPr>
          <a:xfrm>
            <a:off x="2910842" y="5627235"/>
            <a:ext cx="570426" cy="0"/>
          </a:xfrm>
          <a:prstGeom prst="straightConnector1">
            <a:avLst/>
          </a:prstGeom>
          <a:ln w="22225">
            <a:headEnd w="med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975DE936-1E03-C2F2-597A-DAB57C84F3D2}"/>
              </a:ext>
            </a:extLst>
          </p:cNvPr>
          <p:cNvCxnSpPr>
            <a:cxnSpLocks/>
          </p:cNvCxnSpPr>
          <p:nvPr/>
        </p:nvCxnSpPr>
        <p:spPr>
          <a:xfrm flipH="1">
            <a:off x="2323150" y="5633863"/>
            <a:ext cx="626780" cy="0"/>
          </a:xfrm>
          <a:prstGeom prst="straightConnector1">
            <a:avLst/>
          </a:prstGeom>
          <a:ln w="22225">
            <a:headEnd w="med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4B6B2E35-6B54-D450-23D0-A80DF0A6E791}"/>
              </a:ext>
            </a:extLst>
          </p:cNvPr>
          <p:cNvCxnSpPr>
            <a:cxnSpLocks/>
          </p:cNvCxnSpPr>
          <p:nvPr/>
        </p:nvCxnSpPr>
        <p:spPr>
          <a:xfrm flipV="1">
            <a:off x="2917874" y="5140204"/>
            <a:ext cx="0" cy="492332"/>
          </a:xfrm>
          <a:prstGeom prst="straightConnector1">
            <a:avLst/>
          </a:prstGeom>
          <a:ln w="22225">
            <a:headEnd w="med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1F5BC301-2548-D9C5-DEE7-EF7D8CE7B1C0}"/>
              </a:ext>
            </a:extLst>
          </p:cNvPr>
          <p:cNvCxnSpPr>
            <a:cxnSpLocks/>
          </p:cNvCxnSpPr>
          <p:nvPr/>
        </p:nvCxnSpPr>
        <p:spPr>
          <a:xfrm flipH="1">
            <a:off x="2528632" y="5591444"/>
            <a:ext cx="426702" cy="429852"/>
          </a:xfrm>
          <a:prstGeom prst="straightConnector1">
            <a:avLst/>
          </a:prstGeom>
          <a:ln w="22225">
            <a:headEnd w="med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24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/>
      <p:bldP spid="22" grpId="0" animBg="1"/>
      <p:bldP spid="7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THẲNG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9808" y="1636280"/>
            <a:ext cx="6101862" cy="4047105"/>
            <a:chOff x="2426677" y="1636280"/>
            <a:chExt cx="6101862" cy="404710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1013" y="1636280"/>
              <a:ext cx="5366363" cy="3365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426677" y="5221720"/>
              <a:ext cx="61018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QUAN SÁT VẬT THỂ Ở CÁC VỊ TRÍ KHÁC NHAU</a:t>
              </a:r>
            </a:p>
          </p:txBody>
        </p:sp>
      </p:grpSp>
      <p:sp>
        <p:nvSpPr>
          <p:cNvPr id="7" name="Rounded Rectangle 12">
            <a:extLst>
              <a:ext uri="{FF2B5EF4-FFF2-40B4-BE49-F238E27FC236}">
                <a16:creationId xmlns="" xmlns:a16="http://schemas.microsoft.com/office/drawing/2014/main" id="{C8384DC7-2E26-E10B-7DDF-66E12CC02147}"/>
              </a:ext>
            </a:extLst>
          </p:cNvPr>
          <p:cNvSpPr/>
          <p:nvPr/>
        </p:nvSpPr>
        <p:spPr>
          <a:xfrm>
            <a:off x="0" y="836704"/>
            <a:ext cx="5496026" cy="343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pic>
        <p:nvPicPr>
          <p:cNvPr id="1026" name="Picture 2" descr="Công nghệ 11 Bài 2: Hình chiếu vuông góc">
            <a:extLst>
              <a:ext uri="{FF2B5EF4-FFF2-40B4-BE49-F238E27FC236}">
                <a16:creationId xmlns="" xmlns:a16="http://schemas.microsoft.com/office/drawing/2014/main" id="{7AFEAF22-F3C6-B3CA-8FCE-01F970D8E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223" y="1350511"/>
            <a:ext cx="5852554" cy="42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40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82" y="1049470"/>
            <a:ext cx="11922359" cy="447556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785665" y="3108013"/>
            <a:ext cx="213819" cy="390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6322" y="4457491"/>
            <a:ext cx="213819" cy="390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xmlns="" id="{75020081-A87A-F3D8-6AA1-E0CBF6B4C823}"/>
              </a:ext>
            </a:extLst>
          </p:cNvPr>
          <p:cNvGrpSpPr/>
          <p:nvPr/>
        </p:nvGrpSpPr>
        <p:grpSpPr>
          <a:xfrm>
            <a:off x="7536086" y="1761929"/>
            <a:ext cx="4221193" cy="1758343"/>
            <a:chOff x="7574723" y="2212690"/>
            <a:chExt cx="4221193" cy="1758343"/>
          </a:xfrm>
        </p:grpSpPr>
        <p:sp>
          <p:nvSpPr>
            <p:cNvPr id="60" name="TextBox 59"/>
            <p:cNvSpPr txBox="1"/>
            <p:nvPr/>
          </p:nvSpPr>
          <p:spPr>
            <a:xfrm>
              <a:off x="10177067" y="3548065"/>
              <a:ext cx="213819" cy="390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574723" y="3533420"/>
              <a:ext cx="213819" cy="390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789922" y="2212690"/>
              <a:ext cx="213819" cy="390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582097" y="3580598"/>
              <a:ext cx="213819" cy="390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923CBBAA-6723-A10A-F497-38702D22519B}"/>
              </a:ext>
            </a:extLst>
          </p:cNvPr>
          <p:cNvGrpSpPr/>
          <p:nvPr/>
        </p:nvGrpSpPr>
        <p:grpSpPr>
          <a:xfrm>
            <a:off x="6027313" y="2338150"/>
            <a:ext cx="2919906" cy="833021"/>
            <a:chOff x="5871411" y="2788911"/>
            <a:chExt cx="3114445" cy="833021"/>
          </a:xfrm>
        </p:grpSpPr>
        <p:sp>
          <p:nvSpPr>
            <p:cNvPr id="67" name="Freeform: Shape 42">
              <a:extLst>
                <a:ext uri="{FF2B5EF4-FFF2-40B4-BE49-F238E27FC236}">
                  <a16:creationId xmlns:a16="http://schemas.microsoft.com/office/drawing/2014/main" xmlns="" id="{9B31C437-8D94-5687-FD95-D11D383A4B14}"/>
                </a:ext>
              </a:extLst>
            </p:cNvPr>
            <p:cNvSpPr/>
            <p:nvPr/>
          </p:nvSpPr>
          <p:spPr>
            <a:xfrm>
              <a:off x="5871411" y="2788911"/>
              <a:ext cx="3070458" cy="791687"/>
            </a:xfrm>
            <a:custGeom>
              <a:avLst/>
              <a:gdLst>
                <a:gd name="connsiteX0" fmla="*/ 0 w 3070458"/>
                <a:gd name="connsiteY0" fmla="*/ 445177 h 791687"/>
                <a:gd name="connsiteX1" fmla="*/ 1010652 w 3070458"/>
                <a:gd name="connsiteY1" fmla="*/ 40916 h 791687"/>
                <a:gd name="connsiteX2" fmla="*/ 2156058 w 3070458"/>
                <a:gd name="connsiteY2" fmla="*/ 98668 h 791687"/>
                <a:gd name="connsiteX3" fmla="*/ 3070458 w 3070458"/>
                <a:gd name="connsiteY3" fmla="*/ 791687 h 79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0458" h="791687">
                  <a:moveTo>
                    <a:pt x="0" y="445177"/>
                  </a:moveTo>
                  <a:cubicBezTo>
                    <a:pt x="325654" y="271922"/>
                    <a:pt x="651309" y="98667"/>
                    <a:pt x="1010652" y="40916"/>
                  </a:cubicBezTo>
                  <a:cubicBezTo>
                    <a:pt x="1369995" y="-16835"/>
                    <a:pt x="1812757" y="-26460"/>
                    <a:pt x="2156058" y="98668"/>
                  </a:cubicBezTo>
                  <a:cubicBezTo>
                    <a:pt x="2499359" y="223796"/>
                    <a:pt x="2919662" y="658538"/>
                    <a:pt x="3070458" y="791687"/>
                  </a:cubicBezTo>
                </a:path>
              </a:pathLst>
            </a:cu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xmlns="" id="{09CE0A09-DE4C-EC9E-F125-CEE8E0074DA2}"/>
                </a:ext>
              </a:extLst>
            </p:cNvPr>
            <p:cNvCxnSpPr>
              <a:cxnSpLocks/>
            </p:cNvCxnSpPr>
            <p:nvPr/>
          </p:nvCxnSpPr>
          <p:spPr>
            <a:xfrm>
              <a:off x="8809567" y="3459596"/>
              <a:ext cx="176289" cy="162336"/>
            </a:xfrm>
            <a:prstGeom prst="straightConnector1">
              <a:avLst/>
            </a:prstGeom>
            <a:ln w="15875">
              <a:solidFill>
                <a:schemeClr val="accent2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F11C793E-A715-92D9-83FD-CC5723BAB670}"/>
              </a:ext>
            </a:extLst>
          </p:cNvPr>
          <p:cNvSpPr txBox="1"/>
          <p:nvPr/>
        </p:nvSpPr>
        <p:spPr>
          <a:xfrm>
            <a:off x="5865516" y="2717578"/>
            <a:ext cx="213819" cy="390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86C3F751-36C2-4E54-F56C-05E5BB0DE94E}"/>
              </a:ext>
            </a:extLst>
          </p:cNvPr>
          <p:cNvSpPr txBox="1"/>
          <p:nvPr/>
        </p:nvSpPr>
        <p:spPr>
          <a:xfrm>
            <a:off x="5307431" y="3807842"/>
            <a:ext cx="213819" cy="390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1" name="Freeform: Shape 56">
            <a:extLst>
              <a:ext uri="{FF2B5EF4-FFF2-40B4-BE49-F238E27FC236}">
                <a16:creationId xmlns:a16="http://schemas.microsoft.com/office/drawing/2014/main" xmlns="" id="{026993A2-9ABF-4455-1785-55D620A28C51}"/>
              </a:ext>
            </a:extLst>
          </p:cNvPr>
          <p:cNvSpPr/>
          <p:nvPr/>
        </p:nvSpPr>
        <p:spPr>
          <a:xfrm>
            <a:off x="5393590" y="4076461"/>
            <a:ext cx="3488267" cy="762060"/>
          </a:xfrm>
          <a:custGeom>
            <a:avLst/>
            <a:gdLst>
              <a:gd name="connsiteX0" fmla="*/ 0 w 3488267"/>
              <a:gd name="connsiteY0" fmla="*/ 0 h 762060"/>
              <a:gd name="connsiteX1" fmla="*/ 414867 w 3488267"/>
              <a:gd name="connsiteY1" fmla="*/ 541866 h 762060"/>
              <a:gd name="connsiteX2" fmla="*/ 1617133 w 3488267"/>
              <a:gd name="connsiteY2" fmla="*/ 762000 h 762060"/>
              <a:gd name="connsiteX3" fmla="*/ 3488267 w 3488267"/>
              <a:gd name="connsiteY3" fmla="*/ 524933 h 762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267" h="762060">
                <a:moveTo>
                  <a:pt x="0" y="0"/>
                </a:moveTo>
                <a:cubicBezTo>
                  <a:pt x="72672" y="207433"/>
                  <a:pt x="145345" y="414866"/>
                  <a:pt x="414867" y="541866"/>
                </a:cubicBezTo>
                <a:cubicBezTo>
                  <a:pt x="684389" y="668866"/>
                  <a:pt x="1104900" y="764822"/>
                  <a:pt x="1617133" y="762000"/>
                </a:cubicBezTo>
                <a:cubicBezTo>
                  <a:pt x="2129366" y="759178"/>
                  <a:pt x="3158067" y="536222"/>
                  <a:pt x="3488267" y="524933"/>
                </a:cubicBezTo>
              </a:path>
            </a:pathLst>
          </a:cu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8377643" y="2717578"/>
            <a:ext cx="2569399" cy="289761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/>
          <p:cNvSpPr/>
          <p:nvPr/>
        </p:nvSpPr>
        <p:spPr>
          <a:xfrm>
            <a:off x="4666084" y="5883808"/>
            <a:ext cx="7830654" cy="58384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solidFill>
                  <a:srgbClr val="002060"/>
                </a:solidFill>
              </a:rPr>
              <a:t>Sử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 err="1">
                <a:solidFill>
                  <a:srgbClr val="002060"/>
                </a:solidFill>
              </a:rPr>
              <a:t>dụng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HCĐ(1), HCB(2), HCC(3) </a:t>
            </a:r>
            <a:r>
              <a:rPr lang="en-US" sz="2200" dirty="0" err="1">
                <a:solidFill>
                  <a:srgbClr val="002060"/>
                </a:solidFill>
              </a:rPr>
              <a:t>trong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 err="1">
                <a:solidFill>
                  <a:srgbClr val="002060"/>
                </a:solidFill>
              </a:rPr>
              <a:t>các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 err="1">
                <a:solidFill>
                  <a:srgbClr val="002060"/>
                </a:solidFill>
              </a:rPr>
              <a:t>bản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 err="1">
                <a:solidFill>
                  <a:srgbClr val="002060"/>
                </a:solidFill>
              </a:rPr>
              <a:t>vẽ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 err="1">
                <a:solidFill>
                  <a:srgbClr val="002060"/>
                </a:solidFill>
              </a:rPr>
              <a:t>kỹ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 err="1">
                <a:solidFill>
                  <a:srgbClr val="002060"/>
                </a:solidFill>
              </a:rPr>
              <a:t>thuật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43211" y="923329"/>
            <a:ext cx="5909038" cy="39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516916" y="783752"/>
            <a:ext cx="62403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sz="2800" b="1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sz="2800" b="1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b="1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vi-VN" sz="2800" b="1" dirty="0" smtClean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(Hệ E)</a:t>
            </a:r>
            <a:endParaRPr lang="en-US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75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8" grpId="0"/>
      <p:bldP spid="69" grpId="0"/>
      <p:bldP spid="70" grpId="0"/>
      <p:bldP spid="71" grpId="0" animBg="1"/>
      <p:bldP spid="74" grpId="0" animBg="1"/>
      <p:bldP spid="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12950"/>
            <a:ext cx="12192000" cy="105650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B88D8683-1171-0E7F-66C2-2072D5608C55}"/>
              </a:ext>
            </a:extLst>
          </p:cNvPr>
          <p:cNvSpPr/>
          <p:nvPr/>
        </p:nvSpPr>
        <p:spPr>
          <a:xfrm>
            <a:off x="863544" y="4906463"/>
            <a:ext cx="5351646" cy="1963553"/>
          </a:xfrm>
          <a:custGeom>
            <a:avLst/>
            <a:gdLst>
              <a:gd name="connsiteX0" fmla="*/ 375385 w 5351646"/>
              <a:gd name="connsiteY0" fmla="*/ 721894 h 1963553"/>
              <a:gd name="connsiteX1" fmla="*/ 375385 w 5351646"/>
              <a:gd name="connsiteY1" fmla="*/ 721894 h 1963553"/>
              <a:gd name="connsiteX2" fmla="*/ 673768 w 5351646"/>
              <a:gd name="connsiteY2" fmla="*/ 481263 h 1963553"/>
              <a:gd name="connsiteX3" fmla="*/ 741145 w 5351646"/>
              <a:gd name="connsiteY3" fmla="*/ 433137 h 1963553"/>
              <a:gd name="connsiteX4" fmla="*/ 1097280 w 5351646"/>
              <a:gd name="connsiteY4" fmla="*/ 288758 h 1963553"/>
              <a:gd name="connsiteX5" fmla="*/ 1694046 w 5351646"/>
              <a:gd name="connsiteY5" fmla="*/ 154004 h 1963553"/>
              <a:gd name="connsiteX6" fmla="*/ 2069431 w 5351646"/>
              <a:gd name="connsiteY6" fmla="*/ 308008 h 1963553"/>
              <a:gd name="connsiteX7" fmla="*/ 2223435 w 5351646"/>
              <a:gd name="connsiteY7" fmla="*/ 308008 h 1963553"/>
              <a:gd name="connsiteX8" fmla="*/ 2521819 w 5351646"/>
              <a:gd name="connsiteY8" fmla="*/ 336884 h 1963553"/>
              <a:gd name="connsiteX9" fmla="*/ 2695073 w 5351646"/>
              <a:gd name="connsiteY9" fmla="*/ 394635 h 1963553"/>
              <a:gd name="connsiteX10" fmla="*/ 2810577 w 5351646"/>
              <a:gd name="connsiteY10" fmla="*/ 240631 h 1963553"/>
              <a:gd name="connsiteX11" fmla="*/ 3185962 w 5351646"/>
              <a:gd name="connsiteY11" fmla="*/ 0 h 1963553"/>
              <a:gd name="connsiteX12" fmla="*/ 3734602 w 5351646"/>
              <a:gd name="connsiteY12" fmla="*/ 163629 h 1963553"/>
              <a:gd name="connsiteX13" fmla="*/ 4658627 w 5351646"/>
              <a:gd name="connsiteY13" fmla="*/ 510139 h 1963553"/>
              <a:gd name="connsiteX14" fmla="*/ 5188017 w 5351646"/>
              <a:gd name="connsiteY14" fmla="*/ 664143 h 1963553"/>
              <a:gd name="connsiteX15" fmla="*/ 5351646 w 5351646"/>
              <a:gd name="connsiteY15" fmla="*/ 789271 h 1963553"/>
              <a:gd name="connsiteX16" fmla="*/ 4668252 w 5351646"/>
              <a:gd name="connsiteY16" fmla="*/ 1453414 h 1963553"/>
              <a:gd name="connsiteX17" fmla="*/ 3705726 w 5351646"/>
              <a:gd name="connsiteY17" fmla="*/ 1848050 h 1963553"/>
              <a:gd name="connsiteX18" fmla="*/ 2906829 w 5351646"/>
              <a:gd name="connsiteY18" fmla="*/ 1963553 h 1963553"/>
              <a:gd name="connsiteX19" fmla="*/ 1828800 w 5351646"/>
              <a:gd name="connsiteY19" fmla="*/ 1963553 h 1963553"/>
              <a:gd name="connsiteX20" fmla="*/ 9625 w 5351646"/>
              <a:gd name="connsiteY20" fmla="*/ 1925052 h 1963553"/>
              <a:gd name="connsiteX21" fmla="*/ 0 w 5351646"/>
              <a:gd name="connsiteY21" fmla="*/ 1164657 h 1963553"/>
              <a:gd name="connsiteX22" fmla="*/ 77002 w 5351646"/>
              <a:gd name="connsiteY22" fmla="*/ 1106905 h 1963553"/>
              <a:gd name="connsiteX23" fmla="*/ 375385 w 5351646"/>
              <a:gd name="connsiteY23" fmla="*/ 721894 h 196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51646" h="1963553">
                <a:moveTo>
                  <a:pt x="375385" y="721894"/>
                </a:moveTo>
                <a:lnTo>
                  <a:pt x="375385" y="721894"/>
                </a:lnTo>
                <a:lnTo>
                  <a:pt x="673768" y="481263"/>
                </a:lnTo>
                <a:lnTo>
                  <a:pt x="741145" y="433137"/>
                </a:lnTo>
                <a:lnTo>
                  <a:pt x="1097280" y="288758"/>
                </a:lnTo>
                <a:lnTo>
                  <a:pt x="1694046" y="154004"/>
                </a:lnTo>
                <a:lnTo>
                  <a:pt x="2069431" y="308008"/>
                </a:lnTo>
                <a:lnTo>
                  <a:pt x="2223435" y="308008"/>
                </a:lnTo>
                <a:lnTo>
                  <a:pt x="2521819" y="336884"/>
                </a:lnTo>
                <a:lnTo>
                  <a:pt x="2695073" y="394635"/>
                </a:lnTo>
                <a:lnTo>
                  <a:pt x="2810577" y="240631"/>
                </a:lnTo>
                <a:lnTo>
                  <a:pt x="3185962" y="0"/>
                </a:lnTo>
                <a:lnTo>
                  <a:pt x="3734602" y="163629"/>
                </a:lnTo>
                <a:lnTo>
                  <a:pt x="4658627" y="510139"/>
                </a:lnTo>
                <a:lnTo>
                  <a:pt x="5188017" y="664143"/>
                </a:lnTo>
                <a:lnTo>
                  <a:pt x="5351646" y="789271"/>
                </a:lnTo>
                <a:lnTo>
                  <a:pt x="4668252" y="1453414"/>
                </a:lnTo>
                <a:lnTo>
                  <a:pt x="3705726" y="1848050"/>
                </a:lnTo>
                <a:lnTo>
                  <a:pt x="2906829" y="1963553"/>
                </a:lnTo>
                <a:lnTo>
                  <a:pt x="1828800" y="1963553"/>
                </a:lnTo>
                <a:lnTo>
                  <a:pt x="9625" y="1925052"/>
                </a:lnTo>
                <a:lnTo>
                  <a:pt x="0" y="1164657"/>
                </a:lnTo>
                <a:lnTo>
                  <a:pt x="77002" y="1106905"/>
                </a:lnTo>
                <a:lnTo>
                  <a:pt x="375385" y="72189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58" y="1977297"/>
            <a:ext cx="4083310" cy="31356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33341" y="1339403"/>
            <a:ext cx="3676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Vị</a:t>
            </a:r>
            <a:r>
              <a:rPr lang="en-US" sz="2400" b="1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trí</a:t>
            </a:r>
            <a:r>
              <a:rPr lang="en-US" sz="2400" b="1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liên</a:t>
            </a:r>
            <a:r>
              <a:rPr lang="en-US" sz="2400" b="1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hệ</a:t>
            </a:r>
            <a:r>
              <a:rPr lang="en-US" sz="2400" b="1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chiếu</a:t>
            </a:r>
            <a:r>
              <a:rPr lang="en-US" sz="2400" b="1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trực</a:t>
            </a:r>
            <a:r>
              <a:rPr lang="en-US" sz="2400" b="1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tiếp</a:t>
            </a:r>
            <a:endParaRPr lang="en-US" sz="2400" b="1" dirty="0">
              <a:ln w="0"/>
              <a:solidFill>
                <a:schemeClr val="tx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834" y="3545105"/>
            <a:ext cx="4391638" cy="2362530"/>
          </a:xfrm>
          <a:prstGeom prst="rect">
            <a:avLst/>
          </a:prstGeom>
        </p:spPr>
      </p:pic>
      <p:cxnSp>
        <p:nvCxnSpPr>
          <p:cNvPr id="37" name="Straight Arrow Connector 36"/>
          <p:cNvCxnSpPr/>
          <p:nvPr/>
        </p:nvCxnSpPr>
        <p:spPr>
          <a:xfrm>
            <a:off x="8139448" y="4726370"/>
            <a:ext cx="0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995565" y="4392885"/>
            <a:ext cx="42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0200068" y="3095085"/>
            <a:ext cx="42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45" name="Straight Connector 44"/>
          <p:cNvCxnSpPr>
            <a:stCxn id="43" idx="2"/>
            <a:endCxn id="43" idx="2"/>
          </p:cNvCxnSpPr>
          <p:nvPr/>
        </p:nvCxnSpPr>
        <p:spPr>
          <a:xfrm>
            <a:off x="10413677" y="346441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0264462" y="3425780"/>
            <a:ext cx="2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035640" y="1296186"/>
            <a:ext cx="7076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smtClean="0">
                <a:solidFill>
                  <a:schemeClr val="tx2"/>
                </a:solidFill>
              </a:rPr>
              <a:t>     </a:t>
            </a:r>
            <a:r>
              <a:rPr lang="en-US" sz="2400" b="1" dirty="0" err="1" smtClean="0">
                <a:solidFill>
                  <a:schemeClr val="tx2"/>
                </a:solidFill>
              </a:rPr>
              <a:t>Nếu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các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hình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chiếu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thay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đổi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vị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trí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phải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có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ký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hiệu</a:t>
            </a:r>
            <a:endParaRPr lang="en-US" sz="2400" b="1" dirty="0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74488" y="1747865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dirty="0">
                <a:solidFill>
                  <a:schemeClr val="tx2"/>
                </a:solidFill>
              </a:rPr>
              <a:t>- </a:t>
            </a:r>
            <a:r>
              <a:rPr lang="en-US" sz="2000" dirty="0" err="1">
                <a:solidFill>
                  <a:schemeClr val="tx2"/>
                </a:solidFill>
              </a:rPr>
              <a:t>Mũi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tên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chỉ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hướng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chiếu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kèm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theo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chữ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cái</a:t>
            </a:r>
            <a:r>
              <a:rPr lang="en-US" sz="2000" dirty="0">
                <a:solidFill>
                  <a:schemeClr val="tx2"/>
                </a:solidFill>
              </a:rPr>
              <a:t> in </a:t>
            </a:r>
            <a:r>
              <a:rPr lang="en-US" sz="2000" dirty="0" err="1" smtClean="0">
                <a:solidFill>
                  <a:schemeClr val="tx2"/>
                </a:solidFill>
              </a:rPr>
              <a:t>hoa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61172" y="2102279"/>
            <a:ext cx="66093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 -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kí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, ở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nét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liền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5862" y="3978492"/>
            <a:ext cx="213819" cy="390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5861" y="5026641"/>
            <a:ext cx="21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23832" y="3994275"/>
            <a:ext cx="21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6615" y="3967212"/>
            <a:ext cx="21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25861" y="2745677"/>
            <a:ext cx="21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24357" y="3989043"/>
            <a:ext cx="21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25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34" grpId="0"/>
      <p:bldP spid="40" grpId="0"/>
      <p:bldP spid="43" grpId="0"/>
      <p:bldP spid="50" grpId="0"/>
      <p:bldP spid="7" grpId="0"/>
      <p:bldP spid="8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12950"/>
            <a:ext cx="12192000" cy="105650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B88D8683-1171-0E7F-66C2-2072D5608C55}"/>
              </a:ext>
            </a:extLst>
          </p:cNvPr>
          <p:cNvSpPr/>
          <p:nvPr/>
        </p:nvSpPr>
        <p:spPr>
          <a:xfrm>
            <a:off x="863544" y="4906463"/>
            <a:ext cx="5351646" cy="1963553"/>
          </a:xfrm>
          <a:custGeom>
            <a:avLst/>
            <a:gdLst>
              <a:gd name="connsiteX0" fmla="*/ 375385 w 5351646"/>
              <a:gd name="connsiteY0" fmla="*/ 721894 h 1963553"/>
              <a:gd name="connsiteX1" fmla="*/ 375385 w 5351646"/>
              <a:gd name="connsiteY1" fmla="*/ 721894 h 1963553"/>
              <a:gd name="connsiteX2" fmla="*/ 673768 w 5351646"/>
              <a:gd name="connsiteY2" fmla="*/ 481263 h 1963553"/>
              <a:gd name="connsiteX3" fmla="*/ 741145 w 5351646"/>
              <a:gd name="connsiteY3" fmla="*/ 433137 h 1963553"/>
              <a:gd name="connsiteX4" fmla="*/ 1097280 w 5351646"/>
              <a:gd name="connsiteY4" fmla="*/ 288758 h 1963553"/>
              <a:gd name="connsiteX5" fmla="*/ 1694046 w 5351646"/>
              <a:gd name="connsiteY5" fmla="*/ 154004 h 1963553"/>
              <a:gd name="connsiteX6" fmla="*/ 2069431 w 5351646"/>
              <a:gd name="connsiteY6" fmla="*/ 308008 h 1963553"/>
              <a:gd name="connsiteX7" fmla="*/ 2223435 w 5351646"/>
              <a:gd name="connsiteY7" fmla="*/ 308008 h 1963553"/>
              <a:gd name="connsiteX8" fmla="*/ 2521819 w 5351646"/>
              <a:gd name="connsiteY8" fmla="*/ 336884 h 1963553"/>
              <a:gd name="connsiteX9" fmla="*/ 2695073 w 5351646"/>
              <a:gd name="connsiteY9" fmla="*/ 394635 h 1963553"/>
              <a:gd name="connsiteX10" fmla="*/ 2810577 w 5351646"/>
              <a:gd name="connsiteY10" fmla="*/ 240631 h 1963553"/>
              <a:gd name="connsiteX11" fmla="*/ 3185962 w 5351646"/>
              <a:gd name="connsiteY11" fmla="*/ 0 h 1963553"/>
              <a:gd name="connsiteX12" fmla="*/ 3734602 w 5351646"/>
              <a:gd name="connsiteY12" fmla="*/ 163629 h 1963553"/>
              <a:gd name="connsiteX13" fmla="*/ 4658627 w 5351646"/>
              <a:gd name="connsiteY13" fmla="*/ 510139 h 1963553"/>
              <a:gd name="connsiteX14" fmla="*/ 5188017 w 5351646"/>
              <a:gd name="connsiteY14" fmla="*/ 664143 h 1963553"/>
              <a:gd name="connsiteX15" fmla="*/ 5351646 w 5351646"/>
              <a:gd name="connsiteY15" fmla="*/ 789271 h 1963553"/>
              <a:gd name="connsiteX16" fmla="*/ 4668252 w 5351646"/>
              <a:gd name="connsiteY16" fmla="*/ 1453414 h 1963553"/>
              <a:gd name="connsiteX17" fmla="*/ 3705726 w 5351646"/>
              <a:gd name="connsiteY17" fmla="*/ 1848050 h 1963553"/>
              <a:gd name="connsiteX18" fmla="*/ 2906829 w 5351646"/>
              <a:gd name="connsiteY18" fmla="*/ 1963553 h 1963553"/>
              <a:gd name="connsiteX19" fmla="*/ 1828800 w 5351646"/>
              <a:gd name="connsiteY19" fmla="*/ 1963553 h 1963553"/>
              <a:gd name="connsiteX20" fmla="*/ 9625 w 5351646"/>
              <a:gd name="connsiteY20" fmla="*/ 1925052 h 1963553"/>
              <a:gd name="connsiteX21" fmla="*/ 0 w 5351646"/>
              <a:gd name="connsiteY21" fmla="*/ 1164657 h 1963553"/>
              <a:gd name="connsiteX22" fmla="*/ 77002 w 5351646"/>
              <a:gd name="connsiteY22" fmla="*/ 1106905 h 1963553"/>
              <a:gd name="connsiteX23" fmla="*/ 375385 w 5351646"/>
              <a:gd name="connsiteY23" fmla="*/ 721894 h 196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51646" h="1963553">
                <a:moveTo>
                  <a:pt x="375385" y="721894"/>
                </a:moveTo>
                <a:lnTo>
                  <a:pt x="375385" y="721894"/>
                </a:lnTo>
                <a:lnTo>
                  <a:pt x="673768" y="481263"/>
                </a:lnTo>
                <a:lnTo>
                  <a:pt x="741145" y="433137"/>
                </a:lnTo>
                <a:lnTo>
                  <a:pt x="1097280" y="288758"/>
                </a:lnTo>
                <a:lnTo>
                  <a:pt x="1694046" y="154004"/>
                </a:lnTo>
                <a:lnTo>
                  <a:pt x="2069431" y="308008"/>
                </a:lnTo>
                <a:lnTo>
                  <a:pt x="2223435" y="308008"/>
                </a:lnTo>
                <a:lnTo>
                  <a:pt x="2521819" y="336884"/>
                </a:lnTo>
                <a:lnTo>
                  <a:pt x="2695073" y="394635"/>
                </a:lnTo>
                <a:lnTo>
                  <a:pt x="2810577" y="240631"/>
                </a:lnTo>
                <a:lnTo>
                  <a:pt x="3185962" y="0"/>
                </a:lnTo>
                <a:lnTo>
                  <a:pt x="3734602" y="163629"/>
                </a:lnTo>
                <a:lnTo>
                  <a:pt x="4658627" y="510139"/>
                </a:lnTo>
                <a:lnTo>
                  <a:pt x="5188017" y="664143"/>
                </a:lnTo>
                <a:lnTo>
                  <a:pt x="5351646" y="789271"/>
                </a:lnTo>
                <a:lnTo>
                  <a:pt x="4668252" y="1453414"/>
                </a:lnTo>
                <a:lnTo>
                  <a:pt x="3705726" y="1848050"/>
                </a:lnTo>
                <a:lnTo>
                  <a:pt x="2906829" y="1963553"/>
                </a:lnTo>
                <a:lnTo>
                  <a:pt x="1828800" y="1963553"/>
                </a:lnTo>
                <a:lnTo>
                  <a:pt x="9625" y="1925052"/>
                </a:lnTo>
                <a:lnTo>
                  <a:pt x="0" y="1164657"/>
                </a:lnTo>
                <a:lnTo>
                  <a:pt x="77002" y="1106905"/>
                </a:lnTo>
                <a:lnTo>
                  <a:pt x="375385" y="72189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89" y="2916603"/>
            <a:ext cx="3789607" cy="39797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14647" y="1055245"/>
            <a:ext cx="1091269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i="1" dirty="0" err="1">
                <a:solidFill>
                  <a:srgbClr val="FF0000"/>
                </a:solidFill>
                <a:ea typeface="Times New Roman" panose="02020603050405020304" pitchFamily="18" charset="0"/>
              </a:rPr>
              <a:t>Lưu</a:t>
            </a:r>
            <a:r>
              <a:rPr lang="en-US" sz="2800" b="1" i="1" dirty="0">
                <a:solidFill>
                  <a:srgbClr val="FF0000"/>
                </a:solidFill>
                <a:ea typeface="Times New Roman" panose="02020603050405020304" pitchFamily="18" charset="0"/>
              </a:rPr>
              <a:t> ý </a:t>
            </a:r>
            <a:r>
              <a:rPr lang="en-US" sz="2800" b="1" i="1" dirty="0" err="1">
                <a:solidFill>
                  <a:srgbClr val="FF0000"/>
                </a:solidFill>
                <a:ea typeface="Times New Roman" panose="02020603050405020304" pitchFamily="18" charset="0"/>
              </a:rPr>
              <a:t>khi</a:t>
            </a:r>
            <a:r>
              <a:rPr lang="en-US" sz="2800" b="1" i="1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  <a:ea typeface="Times New Roman" panose="02020603050405020304" pitchFamily="18" charset="0"/>
              </a:rPr>
              <a:t>chiếu</a:t>
            </a:r>
            <a:r>
              <a:rPr lang="en-US" sz="2800" b="1" i="1" dirty="0">
                <a:solidFill>
                  <a:srgbClr val="FF0000"/>
                </a:solidFill>
                <a:ea typeface="Times New Roman" panose="02020603050405020304" pitchFamily="18" charset="0"/>
              </a:rPr>
              <a:t>: </a:t>
            </a:r>
            <a:r>
              <a:rPr lang="vi-VN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Đ</a:t>
            </a:r>
            <a:r>
              <a:rPr lang="en-US" sz="2800" dirty="0" err="1" smtClean="0">
                <a:solidFill>
                  <a:srgbClr val="000000"/>
                </a:solidFill>
                <a:ea typeface="Times New Roman" panose="02020603050405020304" pitchFamily="18" charset="0"/>
              </a:rPr>
              <a:t>ặt</a:t>
            </a:r>
            <a:r>
              <a:rPr lang="en-US" sz="2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vật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giữa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mặt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phẳng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chiếu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sát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sao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đa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số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mặt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vật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song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song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hay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vuông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góc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mặt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phẳng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chiếu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Lúc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đó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chiếu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ea typeface="Times New Roman" panose="02020603050405020304" pitchFamily="18" charset="0"/>
              </a:rPr>
              <a:t>vật</a:t>
            </a:r>
            <a:r>
              <a:rPr lang="en-US" sz="2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ea typeface="Times New Roman" panose="02020603050405020304" pitchFamily="18" charset="0"/>
              </a:rPr>
              <a:t>thể</a:t>
            </a:r>
            <a:r>
              <a:rPr lang="en-US" sz="2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mới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rõ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chính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xác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dạng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thật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bề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mặt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vật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en-US" sz="2800" b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135" y="3003043"/>
            <a:ext cx="3938721" cy="321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5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B88D8683-1171-0E7F-66C2-2072D5608C55}"/>
              </a:ext>
            </a:extLst>
          </p:cNvPr>
          <p:cNvSpPr/>
          <p:nvPr/>
        </p:nvSpPr>
        <p:spPr>
          <a:xfrm>
            <a:off x="863544" y="4906463"/>
            <a:ext cx="5351646" cy="1963553"/>
          </a:xfrm>
          <a:custGeom>
            <a:avLst/>
            <a:gdLst>
              <a:gd name="connsiteX0" fmla="*/ 375385 w 5351646"/>
              <a:gd name="connsiteY0" fmla="*/ 721894 h 1963553"/>
              <a:gd name="connsiteX1" fmla="*/ 375385 w 5351646"/>
              <a:gd name="connsiteY1" fmla="*/ 721894 h 1963553"/>
              <a:gd name="connsiteX2" fmla="*/ 673768 w 5351646"/>
              <a:gd name="connsiteY2" fmla="*/ 481263 h 1963553"/>
              <a:gd name="connsiteX3" fmla="*/ 741145 w 5351646"/>
              <a:gd name="connsiteY3" fmla="*/ 433137 h 1963553"/>
              <a:gd name="connsiteX4" fmla="*/ 1097280 w 5351646"/>
              <a:gd name="connsiteY4" fmla="*/ 288758 h 1963553"/>
              <a:gd name="connsiteX5" fmla="*/ 1694046 w 5351646"/>
              <a:gd name="connsiteY5" fmla="*/ 154004 h 1963553"/>
              <a:gd name="connsiteX6" fmla="*/ 2069431 w 5351646"/>
              <a:gd name="connsiteY6" fmla="*/ 308008 h 1963553"/>
              <a:gd name="connsiteX7" fmla="*/ 2223435 w 5351646"/>
              <a:gd name="connsiteY7" fmla="*/ 308008 h 1963553"/>
              <a:gd name="connsiteX8" fmla="*/ 2521819 w 5351646"/>
              <a:gd name="connsiteY8" fmla="*/ 336884 h 1963553"/>
              <a:gd name="connsiteX9" fmla="*/ 2695073 w 5351646"/>
              <a:gd name="connsiteY9" fmla="*/ 394635 h 1963553"/>
              <a:gd name="connsiteX10" fmla="*/ 2810577 w 5351646"/>
              <a:gd name="connsiteY10" fmla="*/ 240631 h 1963553"/>
              <a:gd name="connsiteX11" fmla="*/ 3185962 w 5351646"/>
              <a:gd name="connsiteY11" fmla="*/ 0 h 1963553"/>
              <a:gd name="connsiteX12" fmla="*/ 3734602 w 5351646"/>
              <a:gd name="connsiteY12" fmla="*/ 163629 h 1963553"/>
              <a:gd name="connsiteX13" fmla="*/ 4658627 w 5351646"/>
              <a:gd name="connsiteY13" fmla="*/ 510139 h 1963553"/>
              <a:gd name="connsiteX14" fmla="*/ 5188017 w 5351646"/>
              <a:gd name="connsiteY14" fmla="*/ 664143 h 1963553"/>
              <a:gd name="connsiteX15" fmla="*/ 5351646 w 5351646"/>
              <a:gd name="connsiteY15" fmla="*/ 789271 h 1963553"/>
              <a:gd name="connsiteX16" fmla="*/ 4668252 w 5351646"/>
              <a:gd name="connsiteY16" fmla="*/ 1453414 h 1963553"/>
              <a:gd name="connsiteX17" fmla="*/ 3705726 w 5351646"/>
              <a:gd name="connsiteY17" fmla="*/ 1848050 h 1963553"/>
              <a:gd name="connsiteX18" fmla="*/ 2906829 w 5351646"/>
              <a:gd name="connsiteY18" fmla="*/ 1963553 h 1963553"/>
              <a:gd name="connsiteX19" fmla="*/ 1828800 w 5351646"/>
              <a:gd name="connsiteY19" fmla="*/ 1963553 h 1963553"/>
              <a:gd name="connsiteX20" fmla="*/ 9625 w 5351646"/>
              <a:gd name="connsiteY20" fmla="*/ 1925052 h 1963553"/>
              <a:gd name="connsiteX21" fmla="*/ 0 w 5351646"/>
              <a:gd name="connsiteY21" fmla="*/ 1164657 h 1963553"/>
              <a:gd name="connsiteX22" fmla="*/ 77002 w 5351646"/>
              <a:gd name="connsiteY22" fmla="*/ 1106905 h 1963553"/>
              <a:gd name="connsiteX23" fmla="*/ 375385 w 5351646"/>
              <a:gd name="connsiteY23" fmla="*/ 721894 h 196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51646" h="1963553">
                <a:moveTo>
                  <a:pt x="375385" y="721894"/>
                </a:moveTo>
                <a:lnTo>
                  <a:pt x="375385" y="721894"/>
                </a:lnTo>
                <a:lnTo>
                  <a:pt x="673768" y="481263"/>
                </a:lnTo>
                <a:lnTo>
                  <a:pt x="741145" y="433137"/>
                </a:lnTo>
                <a:lnTo>
                  <a:pt x="1097280" y="288758"/>
                </a:lnTo>
                <a:lnTo>
                  <a:pt x="1694046" y="154004"/>
                </a:lnTo>
                <a:lnTo>
                  <a:pt x="2069431" y="308008"/>
                </a:lnTo>
                <a:lnTo>
                  <a:pt x="2223435" y="308008"/>
                </a:lnTo>
                <a:lnTo>
                  <a:pt x="2521819" y="336884"/>
                </a:lnTo>
                <a:lnTo>
                  <a:pt x="2695073" y="394635"/>
                </a:lnTo>
                <a:lnTo>
                  <a:pt x="2810577" y="240631"/>
                </a:lnTo>
                <a:lnTo>
                  <a:pt x="3185962" y="0"/>
                </a:lnTo>
                <a:lnTo>
                  <a:pt x="3734602" y="163629"/>
                </a:lnTo>
                <a:lnTo>
                  <a:pt x="4658627" y="510139"/>
                </a:lnTo>
                <a:lnTo>
                  <a:pt x="5188017" y="664143"/>
                </a:lnTo>
                <a:lnTo>
                  <a:pt x="5351646" y="789271"/>
                </a:lnTo>
                <a:lnTo>
                  <a:pt x="4668252" y="1453414"/>
                </a:lnTo>
                <a:lnTo>
                  <a:pt x="3705726" y="1848050"/>
                </a:lnTo>
                <a:lnTo>
                  <a:pt x="2906829" y="1963553"/>
                </a:lnTo>
                <a:lnTo>
                  <a:pt x="1828800" y="1963553"/>
                </a:lnTo>
                <a:lnTo>
                  <a:pt x="9625" y="1925052"/>
                </a:lnTo>
                <a:lnTo>
                  <a:pt x="0" y="1164657"/>
                </a:lnTo>
                <a:lnTo>
                  <a:pt x="77002" y="1106905"/>
                </a:lnTo>
                <a:lnTo>
                  <a:pt x="375385" y="72189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930DEA4-FCE0-FF93-08C8-4FD6BEE0BC46}"/>
              </a:ext>
            </a:extLst>
          </p:cNvPr>
          <p:cNvSpPr txBox="1"/>
          <p:nvPr/>
        </p:nvSpPr>
        <p:spPr>
          <a:xfrm>
            <a:off x="93613" y="810264"/>
            <a:ext cx="10201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Ví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dụ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1: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Tìm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3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hình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chiếu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của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một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số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khối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hình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học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cơ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bản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83" y="1301342"/>
            <a:ext cx="1547798" cy="2191056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 rot="2100000" flipH="1">
            <a:off x="2045831" y="3066018"/>
            <a:ext cx="674643" cy="25605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67" y="1493801"/>
            <a:ext cx="1600423" cy="2168363"/>
          </a:xfrm>
          <a:prstGeom prst="rect">
            <a:avLst/>
          </a:prstGeom>
        </p:spPr>
      </p:pic>
      <p:sp>
        <p:nvSpPr>
          <p:cNvPr id="40" name="Right Arrow 39"/>
          <p:cNvSpPr/>
          <p:nvPr/>
        </p:nvSpPr>
        <p:spPr>
          <a:xfrm rot="2100000" flipH="1">
            <a:off x="8350096" y="4008181"/>
            <a:ext cx="674643" cy="25605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75" y="1636280"/>
            <a:ext cx="1670806" cy="2342251"/>
          </a:xfrm>
          <a:prstGeom prst="rect">
            <a:avLst/>
          </a:prstGeom>
        </p:spPr>
      </p:pic>
      <p:sp>
        <p:nvSpPr>
          <p:cNvPr id="43" name="Right Arrow 42"/>
          <p:cNvSpPr/>
          <p:nvPr/>
        </p:nvSpPr>
        <p:spPr>
          <a:xfrm rot="2100000" flipH="1">
            <a:off x="5125456" y="3388184"/>
            <a:ext cx="674643" cy="25605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735" y="3837856"/>
            <a:ext cx="2432818" cy="25629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79" y="3725240"/>
            <a:ext cx="2187725" cy="26755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9956" y="2248375"/>
            <a:ext cx="2738849" cy="308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0" grpId="0" animBg="1"/>
      <p:bldP spid="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B88D8683-1171-0E7F-66C2-2072D5608C55}"/>
              </a:ext>
            </a:extLst>
          </p:cNvPr>
          <p:cNvSpPr/>
          <p:nvPr/>
        </p:nvSpPr>
        <p:spPr>
          <a:xfrm>
            <a:off x="863544" y="4906463"/>
            <a:ext cx="5351646" cy="1963553"/>
          </a:xfrm>
          <a:custGeom>
            <a:avLst/>
            <a:gdLst>
              <a:gd name="connsiteX0" fmla="*/ 375385 w 5351646"/>
              <a:gd name="connsiteY0" fmla="*/ 721894 h 1963553"/>
              <a:gd name="connsiteX1" fmla="*/ 375385 w 5351646"/>
              <a:gd name="connsiteY1" fmla="*/ 721894 h 1963553"/>
              <a:gd name="connsiteX2" fmla="*/ 673768 w 5351646"/>
              <a:gd name="connsiteY2" fmla="*/ 481263 h 1963553"/>
              <a:gd name="connsiteX3" fmla="*/ 741145 w 5351646"/>
              <a:gd name="connsiteY3" fmla="*/ 433137 h 1963553"/>
              <a:gd name="connsiteX4" fmla="*/ 1097280 w 5351646"/>
              <a:gd name="connsiteY4" fmla="*/ 288758 h 1963553"/>
              <a:gd name="connsiteX5" fmla="*/ 1694046 w 5351646"/>
              <a:gd name="connsiteY5" fmla="*/ 154004 h 1963553"/>
              <a:gd name="connsiteX6" fmla="*/ 2069431 w 5351646"/>
              <a:gd name="connsiteY6" fmla="*/ 308008 h 1963553"/>
              <a:gd name="connsiteX7" fmla="*/ 2223435 w 5351646"/>
              <a:gd name="connsiteY7" fmla="*/ 308008 h 1963553"/>
              <a:gd name="connsiteX8" fmla="*/ 2521819 w 5351646"/>
              <a:gd name="connsiteY8" fmla="*/ 336884 h 1963553"/>
              <a:gd name="connsiteX9" fmla="*/ 2695073 w 5351646"/>
              <a:gd name="connsiteY9" fmla="*/ 394635 h 1963553"/>
              <a:gd name="connsiteX10" fmla="*/ 2810577 w 5351646"/>
              <a:gd name="connsiteY10" fmla="*/ 240631 h 1963553"/>
              <a:gd name="connsiteX11" fmla="*/ 3185962 w 5351646"/>
              <a:gd name="connsiteY11" fmla="*/ 0 h 1963553"/>
              <a:gd name="connsiteX12" fmla="*/ 3734602 w 5351646"/>
              <a:gd name="connsiteY12" fmla="*/ 163629 h 1963553"/>
              <a:gd name="connsiteX13" fmla="*/ 4658627 w 5351646"/>
              <a:gd name="connsiteY13" fmla="*/ 510139 h 1963553"/>
              <a:gd name="connsiteX14" fmla="*/ 5188017 w 5351646"/>
              <a:gd name="connsiteY14" fmla="*/ 664143 h 1963553"/>
              <a:gd name="connsiteX15" fmla="*/ 5351646 w 5351646"/>
              <a:gd name="connsiteY15" fmla="*/ 789271 h 1963553"/>
              <a:gd name="connsiteX16" fmla="*/ 4668252 w 5351646"/>
              <a:gd name="connsiteY16" fmla="*/ 1453414 h 1963553"/>
              <a:gd name="connsiteX17" fmla="*/ 3705726 w 5351646"/>
              <a:gd name="connsiteY17" fmla="*/ 1848050 h 1963553"/>
              <a:gd name="connsiteX18" fmla="*/ 2906829 w 5351646"/>
              <a:gd name="connsiteY18" fmla="*/ 1963553 h 1963553"/>
              <a:gd name="connsiteX19" fmla="*/ 1828800 w 5351646"/>
              <a:gd name="connsiteY19" fmla="*/ 1963553 h 1963553"/>
              <a:gd name="connsiteX20" fmla="*/ 9625 w 5351646"/>
              <a:gd name="connsiteY20" fmla="*/ 1925052 h 1963553"/>
              <a:gd name="connsiteX21" fmla="*/ 0 w 5351646"/>
              <a:gd name="connsiteY21" fmla="*/ 1164657 h 1963553"/>
              <a:gd name="connsiteX22" fmla="*/ 77002 w 5351646"/>
              <a:gd name="connsiteY22" fmla="*/ 1106905 h 1963553"/>
              <a:gd name="connsiteX23" fmla="*/ 375385 w 5351646"/>
              <a:gd name="connsiteY23" fmla="*/ 721894 h 196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51646" h="1963553">
                <a:moveTo>
                  <a:pt x="375385" y="721894"/>
                </a:moveTo>
                <a:lnTo>
                  <a:pt x="375385" y="721894"/>
                </a:lnTo>
                <a:lnTo>
                  <a:pt x="673768" y="481263"/>
                </a:lnTo>
                <a:lnTo>
                  <a:pt x="741145" y="433137"/>
                </a:lnTo>
                <a:lnTo>
                  <a:pt x="1097280" y="288758"/>
                </a:lnTo>
                <a:lnTo>
                  <a:pt x="1694046" y="154004"/>
                </a:lnTo>
                <a:lnTo>
                  <a:pt x="2069431" y="308008"/>
                </a:lnTo>
                <a:lnTo>
                  <a:pt x="2223435" y="308008"/>
                </a:lnTo>
                <a:lnTo>
                  <a:pt x="2521819" y="336884"/>
                </a:lnTo>
                <a:lnTo>
                  <a:pt x="2695073" y="394635"/>
                </a:lnTo>
                <a:lnTo>
                  <a:pt x="2810577" y="240631"/>
                </a:lnTo>
                <a:lnTo>
                  <a:pt x="3185962" y="0"/>
                </a:lnTo>
                <a:lnTo>
                  <a:pt x="3734602" y="163629"/>
                </a:lnTo>
                <a:lnTo>
                  <a:pt x="4658627" y="510139"/>
                </a:lnTo>
                <a:lnTo>
                  <a:pt x="5188017" y="664143"/>
                </a:lnTo>
                <a:lnTo>
                  <a:pt x="5351646" y="789271"/>
                </a:lnTo>
                <a:lnTo>
                  <a:pt x="4668252" y="1453414"/>
                </a:lnTo>
                <a:lnTo>
                  <a:pt x="3705726" y="1848050"/>
                </a:lnTo>
                <a:lnTo>
                  <a:pt x="2906829" y="1963553"/>
                </a:lnTo>
                <a:lnTo>
                  <a:pt x="1828800" y="1963553"/>
                </a:lnTo>
                <a:lnTo>
                  <a:pt x="9625" y="1925052"/>
                </a:lnTo>
                <a:lnTo>
                  <a:pt x="0" y="1164657"/>
                </a:lnTo>
                <a:lnTo>
                  <a:pt x="77002" y="1106905"/>
                </a:lnTo>
                <a:lnTo>
                  <a:pt x="375385" y="72189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930DEA4-FCE0-FF93-08C8-4FD6BEE0BC46}"/>
              </a:ext>
            </a:extLst>
          </p:cNvPr>
          <p:cNvSpPr txBox="1"/>
          <p:nvPr/>
        </p:nvSpPr>
        <p:spPr>
          <a:xfrm>
            <a:off x="93613" y="810264"/>
            <a:ext cx="10201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Ví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dụ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1: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Tìm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3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hình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chiếu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của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một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số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khối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hình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học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cơ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bản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3" y="1636280"/>
            <a:ext cx="2067213" cy="1913276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 rot="2100000" flipH="1">
            <a:off x="2290529" y="3259202"/>
            <a:ext cx="674643" cy="25605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150" y="1897483"/>
            <a:ext cx="2187133" cy="1401270"/>
          </a:xfrm>
          <a:prstGeom prst="rect">
            <a:avLst/>
          </a:prstGeom>
        </p:spPr>
      </p:pic>
      <p:sp>
        <p:nvSpPr>
          <p:cNvPr id="22" name="Right Arrow 21"/>
          <p:cNvSpPr/>
          <p:nvPr/>
        </p:nvSpPr>
        <p:spPr>
          <a:xfrm rot="2100000" flipH="1">
            <a:off x="5949098" y="2897316"/>
            <a:ext cx="674643" cy="25605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578" y="1693240"/>
            <a:ext cx="2048161" cy="1380312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 rot="2100000" flipH="1">
            <a:off x="10307168" y="2897315"/>
            <a:ext cx="674643" cy="25605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28057"/>
            <a:ext cx="3071927" cy="28896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339" y="3789831"/>
            <a:ext cx="3427034" cy="27187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6578" y="3644929"/>
            <a:ext cx="3069105" cy="252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7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56BD389-C8A4-AF43-7BF2-A68E685B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58" y="1236500"/>
            <a:ext cx="6340574" cy="56032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295C4DF5-B2FC-3A73-2679-6FAF10443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19" y="2414891"/>
            <a:ext cx="2996120" cy="2755361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4B82DB90-1DB0-184C-C95F-10CF2816BDAC}"/>
              </a:ext>
            </a:extLst>
          </p:cNvPr>
          <p:cNvSpPr/>
          <p:nvPr/>
        </p:nvSpPr>
        <p:spPr>
          <a:xfrm>
            <a:off x="377700" y="1301750"/>
            <a:ext cx="3187700" cy="4102100"/>
          </a:xfrm>
          <a:custGeom>
            <a:avLst/>
            <a:gdLst>
              <a:gd name="connsiteX0" fmla="*/ 2743200 w 3187700"/>
              <a:gd name="connsiteY0" fmla="*/ 114300 h 4102100"/>
              <a:gd name="connsiteX1" fmla="*/ 3187700 w 3187700"/>
              <a:gd name="connsiteY1" fmla="*/ 685800 h 4102100"/>
              <a:gd name="connsiteX2" fmla="*/ 3187700 w 3187700"/>
              <a:gd name="connsiteY2" fmla="*/ 1231900 h 4102100"/>
              <a:gd name="connsiteX3" fmla="*/ 3073400 w 3187700"/>
              <a:gd name="connsiteY3" fmla="*/ 1854200 h 4102100"/>
              <a:gd name="connsiteX4" fmla="*/ 2882900 w 3187700"/>
              <a:gd name="connsiteY4" fmla="*/ 2298700 h 4102100"/>
              <a:gd name="connsiteX5" fmla="*/ 2590800 w 3187700"/>
              <a:gd name="connsiteY5" fmla="*/ 2755900 h 4102100"/>
              <a:gd name="connsiteX6" fmla="*/ 2006600 w 3187700"/>
              <a:gd name="connsiteY6" fmla="*/ 3352800 h 4102100"/>
              <a:gd name="connsiteX7" fmla="*/ 1409700 w 3187700"/>
              <a:gd name="connsiteY7" fmla="*/ 3835400 h 4102100"/>
              <a:gd name="connsiteX8" fmla="*/ 1168400 w 3187700"/>
              <a:gd name="connsiteY8" fmla="*/ 4064000 h 4102100"/>
              <a:gd name="connsiteX9" fmla="*/ 1054100 w 3187700"/>
              <a:gd name="connsiteY9" fmla="*/ 4076700 h 4102100"/>
              <a:gd name="connsiteX10" fmla="*/ 749300 w 3187700"/>
              <a:gd name="connsiteY10" fmla="*/ 4102100 h 4102100"/>
              <a:gd name="connsiteX11" fmla="*/ 330200 w 3187700"/>
              <a:gd name="connsiteY11" fmla="*/ 3187700 h 4102100"/>
              <a:gd name="connsiteX12" fmla="*/ 0 w 3187700"/>
              <a:gd name="connsiteY12" fmla="*/ 1828800 h 4102100"/>
              <a:gd name="connsiteX13" fmla="*/ 0 w 3187700"/>
              <a:gd name="connsiteY13" fmla="*/ 1587500 h 4102100"/>
              <a:gd name="connsiteX14" fmla="*/ 0 w 3187700"/>
              <a:gd name="connsiteY14" fmla="*/ 698500 h 4102100"/>
              <a:gd name="connsiteX15" fmla="*/ 203200 w 3187700"/>
              <a:gd name="connsiteY15" fmla="*/ 228600 h 4102100"/>
              <a:gd name="connsiteX16" fmla="*/ 596900 w 3187700"/>
              <a:gd name="connsiteY16" fmla="*/ 50800 h 4102100"/>
              <a:gd name="connsiteX17" fmla="*/ 1346200 w 3187700"/>
              <a:gd name="connsiteY17" fmla="*/ 0 h 4102100"/>
              <a:gd name="connsiteX18" fmla="*/ 1524000 w 3187700"/>
              <a:gd name="connsiteY18" fmla="*/ 25400 h 4102100"/>
              <a:gd name="connsiteX19" fmla="*/ 2374900 w 3187700"/>
              <a:gd name="connsiteY19" fmla="*/ 76200 h 4102100"/>
              <a:gd name="connsiteX20" fmla="*/ 2781300 w 3187700"/>
              <a:gd name="connsiteY20" fmla="*/ 152400 h 4102100"/>
              <a:gd name="connsiteX21" fmla="*/ 2743200 w 3187700"/>
              <a:gd name="connsiteY21" fmla="*/ 114300 h 410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187700" h="4102100">
                <a:moveTo>
                  <a:pt x="2743200" y="114300"/>
                </a:moveTo>
                <a:lnTo>
                  <a:pt x="3187700" y="685800"/>
                </a:lnTo>
                <a:lnTo>
                  <a:pt x="3187700" y="1231900"/>
                </a:lnTo>
                <a:lnTo>
                  <a:pt x="3073400" y="1854200"/>
                </a:lnTo>
                <a:lnTo>
                  <a:pt x="2882900" y="2298700"/>
                </a:lnTo>
                <a:lnTo>
                  <a:pt x="2590800" y="2755900"/>
                </a:lnTo>
                <a:lnTo>
                  <a:pt x="2006600" y="3352800"/>
                </a:lnTo>
                <a:lnTo>
                  <a:pt x="1409700" y="3835400"/>
                </a:lnTo>
                <a:lnTo>
                  <a:pt x="1168400" y="4064000"/>
                </a:lnTo>
                <a:lnTo>
                  <a:pt x="1054100" y="4076700"/>
                </a:lnTo>
                <a:lnTo>
                  <a:pt x="749300" y="4102100"/>
                </a:lnTo>
                <a:lnTo>
                  <a:pt x="330200" y="3187700"/>
                </a:lnTo>
                <a:lnTo>
                  <a:pt x="0" y="1828800"/>
                </a:lnTo>
                <a:lnTo>
                  <a:pt x="0" y="1587500"/>
                </a:lnTo>
                <a:lnTo>
                  <a:pt x="0" y="698500"/>
                </a:lnTo>
                <a:lnTo>
                  <a:pt x="203200" y="228600"/>
                </a:lnTo>
                <a:lnTo>
                  <a:pt x="596900" y="50800"/>
                </a:lnTo>
                <a:lnTo>
                  <a:pt x="1346200" y="0"/>
                </a:lnTo>
                <a:cubicBezTo>
                  <a:pt x="1481954" y="15084"/>
                  <a:pt x="1422910" y="5182"/>
                  <a:pt x="1524000" y="25400"/>
                </a:cubicBezTo>
                <a:lnTo>
                  <a:pt x="2374900" y="76200"/>
                </a:lnTo>
                <a:lnTo>
                  <a:pt x="2781300" y="152400"/>
                </a:lnTo>
                <a:lnTo>
                  <a:pt x="2743200" y="114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71EDFC77-869C-69EE-D1BC-4037020DDEAB}"/>
              </a:ext>
            </a:extLst>
          </p:cNvPr>
          <p:cNvGrpSpPr/>
          <p:nvPr/>
        </p:nvGrpSpPr>
        <p:grpSpPr>
          <a:xfrm>
            <a:off x="2046883" y="2868113"/>
            <a:ext cx="2530903" cy="2295074"/>
            <a:chOff x="2046883" y="2868113"/>
            <a:chExt cx="2530903" cy="229507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5C789121-69F1-CD19-AD60-520932801F13}"/>
                </a:ext>
              </a:extLst>
            </p:cNvPr>
            <p:cNvCxnSpPr>
              <a:cxnSpLocks/>
            </p:cNvCxnSpPr>
            <p:nvPr/>
          </p:nvCxnSpPr>
          <p:spPr>
            <a:xfrm>
              <a:off x="2295015" y="3199192"/>
              <a:ext cx="1210185" cy="689883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="" xmlns:a16="http://schemas.microsoft.com/office/drawing/2014/main" id="{F9363FF2-5E86-E3AF-43EF-BCE0832AA36A}"/>
                </a:ext>
              </a:extLst>
            </p:cNvPr>
            <p:cNvGrpSpPr/>
            <p:nvPr/>
          </p:nvGrpSpPr>
          <p:grpSpPr>
            <a:xfrm>
              <a:off x="2046883" y="2868113"/>
              <a:ext cx="2530903" cy="2295074"/>
              <a:chOff x="2046883" y="2868113"/>
              <a:chExt cx="2530903" cy="2295074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="" xmlns:a16="http://schemas.microsoft.com/office/drawing/2014/main" id="{DECBA894-BC7F-0663-FF24-EE562C5C1B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6883" y="4301004"/>
                <a:ext cx="1445617" cy="862183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="" xmlns:a16="http://schemas.microsoft.com/office/drawing/2014/main" id="{87C66450-24DE-E8FD-F179-991EC1352112}"/>
                  </a:ext>
                </a:extLst>
              </p:cNvPr>
              <p:cNvCxnSpPr/>
              <p:nvPr/>
            </p:nvCxnSpPr>
            <p:spPr>
              <a:xfrm>
                <a:off x="2046883" y="3657600"/>
                <a:ext cx="1217017" cy="685800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="" xmlns:a16="http://schemas.microsoft.com/office/drawing/2014/main" id="{6A7448FE-BFD5-0198-C1E5-BDA19C44E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0758" y="2868113"/>
                <a:ext cx="1182292" cy="654083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="" xmlns:a16="http://schemas.microsoft.com/office/drawing/2014/main" id="{50BE65C1-D75F-6B17-7422-D3DE9A0CE59C}"/>
                  </a:ext>
                </a:extLst>
              </p:cNvPr>
              <p:cNvCxnSpPr/>
              <p:nvPr/>
            </p:nvCxnSpPr>
            <p:spPr>
              <a:xfrm>
                <a:off x="3059311" y="3696122"/>
                <a:ext cx="1518475" cy="859703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="" xmlns:a16="http://schemas.microsoft.com/office/drawing/2014/main" id="{1D1F8403-A8F7-6815-D90B-8B67155682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5155" y="3100188"/>
                <a:ext cx="1182292" cy="654083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Freeform: Shape 32">
            <a:extLst>
              <a:ext uri="{FF2B5EF4-FFF2-40B4-BE49-F238E27FC236}">
                <a16:creationId xmlns="" xmlns:a16="http://schemas.microsoft.com/office/drawing/2014/main" id="{F9FBAEE9-0FE9-0AB7-466C-4F1A4280CCFB}"/>
              </a:ext>
            </a:extLst>
          </p:cNvPr>
          <p:cNvSpPr/>
          <p:nvPr/>
        </p:nvSpPr>
        <p:spPr>
          <a:xfrm>
            <a:off x="3583462" y="1593189"/>
            <a:ext cx="3454400" cy="3987800"/>
          </a:xfrm>
          <a:custGeom>
            <a:avLst/>
            <a:gdLst>
              <a:gd name="connsiteX0" fmla="*/ 38100 w 3454400"/>
              <a:gd name="connsiteY0" fmla="*/ 254000 h 3987800"/>
              <a:gd name="connsiteX1" fmla="*/ 38100 w 3454400"/>
              <a:gd name="connsiteY1" fmla="*/ 254000 h 3987800"/>
              <a:gd name="connsiteX2" fmla="*/ 0 w 3454400"/>
              <a:gd name="connsiteY2" fmla="*/ 546100 h 3987800"/>
              <a:gd name="connsiteX3" fmla="*/ 25400 w 3454400"/>
              <a:gd name="connsiteY3" fmla="*/ 406400 h 3987800"/>
              <a:gd name="connsiteX4" fmla="*/ 76200 w 3454400"/>
              <a:gd name="connsiteY4" fmla="*/ 1003300 h 3987800"/>
              <a:gd name="connsiteX5" fmla="*/ 596900 w 3454400"/>
              <a:gd name="connsiteY5" fmla="*/ 1739900 h 3987800"/>
              <a:gd name="connsiteX6" fmla="*/ 838200 w 3454400"/>
              <a:gd name="connsiteY6" fmla="*/ 2209800 h 3987800"/>
              <a:gd name="connsiteX7" fmla="*/ 876300 w 3454400"/>
              <a:gd name="connsiteY7" fmla="*/ 2514600 h 3987800"/>
              <a:gd name="connsiteX8" fmla="*/ 1422400 w 3454400"/>
              <a:gd name="connsiteY8" fmla="*/ 2755900 h 3987800"/>
              <a:gd name="connsiteX9" fmla="*/ 2082800 w 3454400"/>
              <a:gd name="connsiteY9" fmla="*/ 3556000 h 3987800"/>
              <a:gd name="connsiteX10" fmla="*/ 2578100 w 3454400"/>
              <a:gd name="connsiteY10" fmla="*/ 3987800 h 3987800"/>
              <a:gd name="connsiteX11" fmla="*/ 2946400 w 3454400"/>
              <a:gd name="connsiteY11" fmla="*/ 3365500 h 3987800"/>
              <a:gd name="connsiteX12" fmla="*/ 2933700 w 3454400"/>
              <a:gd name="connsiteY12" fmla="*/ 3200400 h 3987800"/>
              <a:gd name="connsiteX13" fmla="*/ 2908300 w 3454400"/>
              <a:gd name="connsiteY13" fmla="*/ 3124200 h 3987800"/>
              <a:gd name="connsiteX14" fmla="*/ 3352800 w 3454400"/>
              <a:gd name="connsiteY14" fmla="*/ 1282700 h 3987800"/>
              <a:gd name="connsiteX15" fmla="*/ 3403600 w 3454400"/>
              <a:gd name="connsiteY15" fmla="*/ 1117600 h 3987800"/>
              <a:gd name="connsiteX16" fmla="*/ 3454400 w 3454400"/>
              <a:gd name="connsiteY16" fmla="*/ 381000 h 3987800"/>
              <a:gd name="connsiteX17" fmla="*/ 2527300 w 3454400"/>
              <a:gd name="connsiteY17" fmla="*/ 0 h 3987800"/>
              <a:gd name="connsiteX18" fmla="*/ 1409700 w 3454400"/>
              <a:gd name="connsiteY18" fmla="*/ 12700 h 3987800"/>
              <a:gd name="connsiteX19" fmla="*/ 685800 w 3454400"/>
              <a:gd name="connsiteY19" fmla="*/ 12700 h 3987800"/>
              <a:gd name="connsiteX20" fmla="*/ 25400 w 3454400"/>
              <a:gd name="connsiteY20" fmla="*/ 304800 h 398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54400" h="3987800">
                <a:moveTo>
                  <a:pt x="38100" y="254000"/>
                </a:moveTo>
                <a:lnTo>
                  <a:pt x="38100" y="254000"/>
                </a:lnTo>
                <a:lnTo>
                  <a:pt x="0" y="546100"/>
                </a:lnTo>
                <a:lnTo>
                  <a:pt x="25400" y="406400"/>
                </a:lnTo>
                <a:lnTo>
                  <a:pt x="76200" y="1003300"/>
                </a:lnTo>
                <a:lnTo>
                  <a:pt x="596900" y="1739900"/>
                </a:lnTo>
                <a:lnTo>
                  <a:pt x="838200" y="2209800"/>
                </a:lnTo>
                <a:lnTo>
                  <a:pt x="876300" y="2514600"/>
                </a:lnTo>
                <a:lnTo>
                  <a:pt x="1422400" y="2755900"/>
                </a:lnTo>
                <a:lnTo>
                  <a:pt x="2082800" y="3556000"/>
                </a:lnTo>
                <a:lnTo>
                  <a:pt x="2578100" y="3987800"/>
                </a:lnTo>
                <a:lnTo>
                  <a:pt x="2946400" y="3365500"/>
                </a:lnTo>
                <a:cubicBezTo>
                  <a:pt x="2942167" y="3310467"/>
                  <a:pt x="2942308" y="3254920"/>
                  <a:pt x="2933700" y="3200400"/>
                </a:cubicBezTo>
                <a:cubicBezTo>
                  <a:pt x="2929524" y="3173954"/>
                  <a:pt x="2908300" y="3124200"/>
                  <a:pt x="2908300" y="3124200"/>
                </a:cubicBezTo>
                <a:lnTo>
                  <a:pt x="3352800" y="1282700"/>
                </a:lnTo>
                <a:lnTo>
                  <a:pt x="3403600" y="1117600"/>
                </a:lnTo>
                <a:lnTo>
                  <a:pt x="3454400" y="381000"/>
                </a:lnTo>
                <a:lnTo>
                  <a:pt x="2527300" y="0"/>
                </a:lnTo>
                <a:lnTo>
                  <a:pt x="1409700" y="12700"/>
                </a:lnTo>
                <a:lnTo>
                  <a:pt x="685800" y="12700"/>
                </a:lnTo>
                <a:lnTo>
                  <a:pt x="25400" y="304800"/>
                </a:ln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6978866D-3A65-A188-514F-B38A012E85D5}"/>
              </a:ext>
            </a:extLst>
          </p:cNvPr>
          <p:cNvGrpSpPr/>
          <p:nvPr/>
        </p:nvGrpSpPr>
        <p:grpSpPr>
          <a:xfrm>
            <a:off x="2945674" y="2952476"/>
            <a:ext cx="2135650" cy="2214212"/>
            <a:chOff x="2945674" y="2952476"/>
            <a:chExt cx="2135650" cy="221421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="" xmlns:a16="http://schemas.microsoft.com/office/drawing/2014/main" id="{07788AB5-C5AE-8B31-E40E-C3EC65F9E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5674" y="3960675"/>
              <a:ext cx="1569176" cy="891358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="" xmlns:a16="http://schemas.microsoft.com/office/drawing/2014/main" id="{FF3C6DAB-E7B4-DD3B-7E26-E1096D4522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2148" y="4275330"/>
              <a:ext cx="1569176" cy="891358"/>
            </a:xfrm>
            <a:prstGeom prst="line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="" xmlns:a16="http://schemas.microsoft.com/office/drawing/2014/main" id="{7BA9BC07-37C4-5727-C769-0CE3E35B54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817" y="2952476"/>
              <a:ext cx="1324336" cy="770579"/>
            </a:xfrm>
            <a:prstGeom prst="line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="" xmlns:a16="http://schemas.microsoft.com/office/drawing/2014/main" id="{EB668BDB-FC10-A2EA-C566-18ECFD2D5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9665" y="3102852"/>
              <a:ext cx="1324336" cy="770579"/>
            </a:xfrm>
            <a:prstGeom prst="line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="" xmlns:a16="http://schemas.microsoft.com/office/drawing/2014/main" id="{A6FEE70A-D67A-D939-DE6B-DCFCC2596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4855" y="3461260"/>
              <a:ext cx="1533678" cy="889640"/>
            </a:xfrm>
            <a:prstGeom prst="line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="" xmlns:a16="http://schemas.microsoft.com/office/drawing/2014/main" id="{A2B01FE3-4C0F-06A7-3BC1-0FDFF964F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9544" y="3295650"/>
              <a:ext cx="1509906" cy="883222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B88D8683-1171-0E7F-66C2-2072D5608C55}"/>
              </a:ext>
            </a:extLst>
          </p:cNvPr>
          <p:cNvSpPr/>
          <p:nvPr/>
        </p:nvSpPr>
        <p:spPr>
          <a:xfrm>
            <a:off x="863544" y="4906463"/>
            <a:ext cx="5351646" cy="1963553"/>
          </a:xfrm>
          <a:custGeom>
            <a:avLst/>
            <a:gdLst>
              <a:gd name="connsiteX0" fmla="*/ 375385 w 5351646"/>
              <a:gd name="connsiteY0" fmla="*/ 721894 h 1963553"/>
              <a:gd name="connsiteX1" fmla="*/ 375385 w 5351646"/>
              <a:gd name="connsiteY1" fmla="*/ 721894 h 1963553"/>
              <a:gd name="connsiteX2" fmla="*/ 673768 w 5351646"/>
              <a:gd name="connsiteY2" fmla="*/ 481263 h 1963553"/>
              <a:gd name="connsiteX3" fmla="*/ 741145 w 5351646"/>
              <a:gd name="connsiteY3" fmla="*/ 433137 h 1963553"/>
              <a:gd name="connsiteX4" fmla="*/ 1097280 w 5351646"/>
              <a:gd name="connsiteY4" fmla="*/ 288758 h 1963553"/>
              <a:gd name="connsiteX5" fmla="*/ 1694046 w 5351646"/>
              <a:gd name="connsiteY5" fmla="*/ 154004 h 1963553"/>
              <a:gd name="connsiteX6" fmla="*/ 2069431 w 5351646"/>
              <a:gd name="connsiteY6" fmla="*/ 308008 h 1963553"/>
              <a:gd name="connsiteX7" fmla="*/ 2223435 w 5351646"/>
              <a:gd name="connsiteY7" fmla="*/ 308008 h 1963553"/>
              <a:gd name="connsiteX8" fmla="*/ 2521819 w 5351646"/>
              <a:gd name="connsiteY8" fmla="*/ 336884 h 1963553"/>
              <a:gd name="connsiteX9" fmla="*/ 2695073 w 5351646"/>
              <a:gd name="connsiteY9" fmla="*/ 394635 h 1963553"/>
              <a:gd name="connsiteX10" fmla="*/ 2810577 w 5351646"/>
              <a:gd name="connsiteY10" fmla="*/ 240631 h 1963553"/>
              <a:gd name="connsiteX11" fmla="*/ 3185962 w 5351646"/>
              <a:gd name="connsiteY11" fmla="*/ 0 h 1963553"/>
              <a:gd name="connsiteX12" fmla="*/ 3734602 w 5351646"/>
              <a:gd name="connsiteY12" fmla="*/ 163629 h 1963553"/>
              <a:gd name="connsiteX13" fmla="*/ 4658627 w 5351646"/>
              <a:gd name="connsiteY13" fmla="*/ 510139 h 1963553"/>
              <a:gd name="connsiteX14" fmla="*/ 5188017 w 5351646"/>
              <a:gd name="connsiteY14" fmla="*/ 664143 h 1963553"/>
              <a:gd name="connsiteX15" fmla="*/ 5351646 w 5351646"/>
              <a:gd name="connsiteY15" fmla="*/ 789271 h 1963553"/>
              <a:gd name="connsiteX16" fmla="*/ 4668252 w 5351646"/>
              <a:gd name="connsiteY16" fmla="*/ 1453414 h 1963553"/>
              <a:gd name="connsiteX17" fmla="*/ 3705726 w 5351646"/>
              <a:gd name="connsiteY17" fmla="*/ 1848050 h 1963553"/>
              <a:gd name="connsiteX18" fmla="*/ 2906829 w 5351646"/>
              <a:gd name="connsiteY18" fmla="*/ 1963553 h 1963553"/>
              <a:gd name="connsiteX19" fmla="*/ 1828800 w 5351646"/>
              <a:gd name="connsiteY19" fmla="*/ 1963553 h 1963553"/>
              <a:gd name="connsiteX20" fmla="*/ 9625 w 5351646"/>
              <a:gd name="connsiteY20" fmla="*/ 1925052 h 1963553"/>
              <a:gd name="connsiteX21" fmla="*/ 0 w 5351646"/>
              <a:gd name="connsiteY21" fmla="*/ 1164657 h 1963553"/>
              <a:gd name="connsiteX22" fmla="*/ 77002 w 5351646"/>
              <a:gd name="connsiteY22" fmla="*/ 1106905 h 1963553"/>
              <a:gd name="connsiteX23" fmla="*/ 375385 w 5351646"/>
              <a:gd name="connsiteY23" fmla="*/ 721894 h 196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51646" h="1963553">
                <a:moveTo>
                  <a:pt x="375385" y="721894"/>
                </a:moveTo>
                <a:lnTo>
                  <a:pt x="375385" y="721894"/>
                </a:lnTo>
                <a:lnTo>
                  <a:pt x="673768" y="481263"/>
                </a:lnTo>
                <a:lnTo>
                  <a:pt x="741145" y="433137"/>
                </a:lnTo>
                <a:lnTo>
                  <a:pt x="1097280" y="288758"/>
                </a:lnTo>
                <a:lnTo>
                  <a:pt x="1694046" y="154004"/>
                </a:lnTo>
                <a:lnTo>
                  <a:pt x="2069431" y="308008"/>
                </a:lnTo>
                <a:lnTo>
                  <a:pt x="2223435" y="308008"/>
                </a:lnTo>
                <a:lnTo>
                  <a:pt x="2521819" y="336884"/>
                </a:lnTo>
                <a:lnTo>
                  <a:pt x="2695073" y="394635"/>
                </a:lnTo>
                <a:lnTo>
                  <a:pt x="2810577" y="240631"/>
                </a:lnTo>
                <a:lnTo>
                  <a:pt x="3185962" y="0"/>
                </a:lnTo>
                <a:lnTo>
                  <a:pt x="3734602" y="163629"/>
                </a:lnTo>
                <a:lnTo>
                  <a:pt x="4658627" y="510139"/>
                </a:lnTo>
                <a:lnTo>
                  <a:pt x="5188017" y="664143"/>
                </a:lnTo>
                <a:lnTo>
                  <a:pt x="5351646" y="789271"/>
                </a:lnTo>
                <a:lnTo>
                  <a:pt x="4668252" y="1453414"/>
                </a:lnTo>
                <a:lnTo>
                  <a:pt x="3705726" y="1848050"/>
                </a:lnTo>
                <a:lnTo>
                  <a:pt x="2906829" y="1963553"/>
                </a:lnTo>
                <a:lnTo>
                  <a:pt x="1828800" y="1963553"/>
                </a:lnTo>
                <a:lnTo>
                  <a:pt x="9625" y="1925052"/>
                </a:lnTo>
                <a:lnTo>
                  <a:pt x="0" y="1164657"/>
                </a:lnTo>
                <a:lnTo>
                  <a:pt x="77002" y="1106905"/>
                </a:lnTo>
                <a:lnTo>
                  <a:pt x="375385" y="72189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="" xmlns:a16="http://schemas.microsoft.com/office/drawing/2014/main" id="{94E390A7-857F-0E83-34FE-E299AFDBEBB8}"/>
              </a:ext>
            </a:extLst>
          </p:cNvPr>
          <p:cNvGrpSpPr/>
          <p:nvPr/>
        </p:nvGrpSpPr>
        <p:grpSpPr>
          <a:xfrm>
            <a:off x="2979544" y="3960675"/>
            <a:ext cx="1583701" cy="1897591"/>
            <a:chOff x="2979544" y="3960675"/>
            <a:chExt cx="1583701" cy="1897591"/>
          </a:xfrm>
        </p:grpSpPr>
        <p:cxnSp>
          <p:nvCxnSpPr>
            <p:cNvPr id="49" name="Straight Connector 48">
              <a:extLst>
                <a:ext uri="{FF2B5EF4-FFF2-40B4-BE49-F238E27FC236}">
                  <a16:creationId xmlns="" xmlns:a16="http://schemas.microsoft.com/office/drawing/2014/main" id="{C11F6BAD-32D6-8071-1F6B-CCED7C82E536}"/>
                </a:ext>
              </a:extLst>
            </p:cNvPr>
            <p:cNvCxnSpPr>
              <a:cxnSpLocks/>
            </p:cNvCxnSpPr>
            <p:nvPr/>
          </p:nvCxnSpPr>
          <p:spPr>
            <a:xfrm>
              <a:off x="2979544" y="4687503"/>
              <a:ext cx="0" cy="896132"/>
            </a:xfrm>
            <a:prstGeom prst="line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="" xmlns:a16="http://schemas.microsoft.com/office/drawing/2014/main" id="{7790674C-2A63-248B-F110-A62CFD12E65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592" y="4962134"/>
              <a:ext cx="0" cy="896132"/>
            </a:xfrm>
            <a:prstGeom prst="line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="" xmlns:a16="http://schemas.microsoft.com/office/drawing/2014/main" id="{A1A4FA6F-FCA0-3E14-2F47-4CD083AE9B79}"/>
                </a:ext>
              </a:extLst>
            </p:cNvPr>
            <p:cNvCxnSpPr>
              <a:cxnSpLocks/>
            </p:cNvCxnSpPr>
            <p:nvPr/>
          </p:nvCxnSpPr>
          <p:spPr>
            <a:xfrm>
              <a:off x="4563245" y="4403967"/>
              <a:ext cx="0" cy="896132"/>
            </a:xfrm>
            <a:prstGeom prst="line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="" xmlns:a16="http://schemas.microsoft.com/office/drawing/2014/main" id="{64974B61-C022-8FE9-7B7E-3DE9D5E46F97}"/>
                </a:ext>
              </a:extLst>
            </p:cNvPr>
            <p:cNvCxnSpPr>
              <a:cxnSpLocks/>
            </p:cNvCxnSpPr>
            <p:nvPr/>
          </p:nvCxnSpPr>
          <p:spPr>
            <a:xfrm>
              <a:off x="4017145" y="3960675"/>
              <a:ext cx="0" cy="1001459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930DEA4-FCE0-FF93-08C8-4FD6BEE0BC46}"/>
              </a:ext>
            </a:extLst>
          </p:cNvPr>
          <p:cNvSpPr txBox="1"/>
          <p:nvPr/>
        </p:nvSpPr>
        <p:spPr>
          <a:xfrm>
            <a:off x="93613" y="810264"/>
            <a:ext cx="6340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Ví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dụ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2: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Tìm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3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hình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chiếu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của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vật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thể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sau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353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3" grpId="0" animBg="1"/>
      <p:bldP spid="4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930DEA4-FCE0-FF93-08C8-4FD6BEE0BC46}"/>
              </a:ext>
            </a:extLst>
          </p:cNvPr>
          <p:cNvSpPr txBox="1"/>
          <p:nvPr/>
        </p:nvSpPr>
        <p:spPr>
          <a:xfrm>
            <a:off x="93613" y="810264"/>
            <a:ext cx="6340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Ví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dụ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3: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Tìm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3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hình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chiếu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của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các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vật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thể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sau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907591A-F972-3E16-B65D-4407014B9B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44" y="1334490"/>
            <a:ext cx="2375166" cy="25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3711D9B-6909-9962-8D59-426206D50F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268" y="1349311"/>
            <a:ext cx="2465123" cy="2494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3BAA612-05A5-C843-56FD-2131F17F90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481" y="1357386"/>
            <a:ext cx="2372580" cy="247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9ED8F16-5DB2-F6F5-C51D-A299FF78C7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151" y="1373366"/>
            <a:ext cx="2356348" cy="247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9F756B0B-2BE0-BE98-2ABA-BC1EDAB18E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44" y="4192088"/>
            <a:ext cx="2528397" cy="266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50863824-7B49-16BC-5EAC-BC0C4FAFB55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531" y="4236692"/>
            <a:ext cx="2528397" cy="2580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4499635B-34CC-3C4F-9AED-8ED950484B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836" y="4276939"/>
            <a:ext cx="2423814" cy="247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4D3241B-E76B-F51A-361F-B0A7B58487E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647" y="4286098"/>
            <a:ext cx="2423814" cy="2489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7C6A57F-A7B0-A876-805C-59147649011E}"/>
              </a:ext>
            </a:extLst>
          </p:cNvPr>
          <p:cNvSpPr txBox="1"/>
          <p:nvPr/>
        </p:nvSpPr>
        <p:spPr>
          <a:xfrm>
            <a:off x="2458822" y="3059668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0261A09-040A-6A41-0403-0AD42E03EE00}"/>
              </a:ext>
            </a:extLst>
          </p:cNvPr>
          <p:cNvSpPr txBox="1"/>
          <p:nvPr/>
        </p:nvSpPr>
        <p:spPr>
          <a:xfrm>
            <a:off x="5778803" y="3059668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09BAE63E-DEDD-CB07-AA11-0DBA71047280}"/>
              </a:ext>
            </a:extLst>
          </p:cNvPr>
          <p:cNvSpPr txBox="1"/>
          <p:nvPr/>
        </p:nvSpPr>
        <p:spPr>
          <a:xfrm>
            <a:off x="8805473" y="3059668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6E3F1D56-7125-58EE-552C-53B0C684A542}"/>
              </a:ext>
            </a:extLst>
          </p:cNvPr>
          <p:cNvSpPr txBox="1"/>
          <p:nvPr/>
        </p:nvSpPr>
        <p:spPr>
          <a:xfrm>
            <a:off x="11825730" y="3059668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82464ADB-4F4B-CA42-1475-4DC4E62B0A45}"/>
              </a:ext>
            </a:extLst>
          </p:cNvPr>
          <p:cNvSpPr txBox="1"/>
          <p:nvPr/>
        </p:nvSpPr>
        <p:spPr>
          <a:xfrm>
            <a:off x="2592603" y="5853106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ECB882D-B2A4-0833-8CE5-5120716625E5}"/>
              </a:ext>
            </a:extLst>
          </p:cNvPr>
          <p:cNvSpPr txBox="1"/>
          <p:nvPr/>
        </p:nvSpPr>
        <p:spPr>
          <a:xfrm>
            <a:off x="5899158" y="5960384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465DA41A-3DC2-7E19-F98F-1E758CC768F8}"/>
              </a:ext>
            </a:extLst>
          </p:cNvPr>
          <p:cNvSpPr txBox="1"/>
          <p:nvPr/>
        </p:nvSpPr>
        <p:spPr>
          <a:xfrm>
            <a:off x="8957612" y="5853106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3CFE11FF-8794-C1E6-9512-F3CE80BE1610}"/>
              </a:ext>
            </a:extLst>
          </p:cNvPr>
          <p:cNvSpPr txBox="1"/>
          <p:nvPr/>
        </p:nvSpPr>
        <p:spPr>
          <a:xfrm>
            <a:off x="11908952" y="5960384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h)</a:t>
            </a:r>
          </a:p>
        </p:txBody>
      </p:sp>
    </p:spTree>
    <p:extLst>
      <p:ext uri="{BB962C8B-B14F-4D97-AF65-F5344CB8AC3E}">
        <p14:creationId xmlns:p14="http://schemas.microsoft.com/office/powerpoint/2010/main" val="125254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340477" y="1342798"/>
            <a:ext cx="11311509" cy="264883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2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600" b="1" u="sng" dirty="0" err="1">
                <a:solidFill>
                  <a:srgbClr val="0070C0"/>
                </a:solidFill>
              </a:rPr>
              <a:t>Kết</a:t>
            </a:r>
            <a:r>
              <a:rPr lang="en-US" sz="2600" b="1" u="sng" dirty="0">
                <a:solidFill>
                  <a:srgbClr val="0070C0"/>
                </a:solidFill>
              </a:rPr>
              <a:t> </a:t>
            </a:r>
            <a:r>
              <a:rPr lang="en-US" sz="2600" b="1" u="sng" dirty="0" err="1">
                <a:solidFill>
                  <a:srgbClr val="0070C0"/>
                </a:solidFill>
              </a:rPr>
              <a:t>luận</a:t>
            </a:r>
            <a:r>
              <a:rPr lang="en-US" sz="2600" b="1" u="sng" dirty="0">
                <a:solidFill>
                  <a:srgbClr val="0070C0"/>
                </a:solidFill>
              </a:rPr>
              <a:t>: 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002060"/>
                </a:solidFill>
              </a:rPr>
              <a:t>TCVN </a:t>
            </a:r>
            <a:r>
              <a:rPr lang="en-US" sz="2400" dirty="0" err="1">
                <a:solidFill>
                  <a:srgbClr val="002060"/>
                </a:solidFill>
              </a:rPr>
              <a:t>sử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dụng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phương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pháp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chiếu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góc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thứ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nhất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(</a:t>
            </a:r>
            <a:r>
              <a:rPr lang="en-US" sz="2400" dirty="0" err="1">
                <a:solidFill>
                  <a:srgbClr val="002060"/>
                </a:solidFill>
              </a:rPr>
              <a:t>Hệ</a:t>
            </a:r>
            <a:r>
              <a:rPr lang="en-US" sz="2400" dirty="0">
                <a:solidFill>
                  <a:srgbClr val="002060"/>
                </a:solidFill>
              </a:rPr>
              <a:t> E): </a:t>
            </a:r>
            <a:r>
              <a:rPr lang="en-US" sz="2400" dirty="0" err="1">
                <a:solidFill>
                  <a:srgbClr val="002060"/>
                </a:solidFill>
              </a:rPr>
              <a:t>vật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nằm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giữa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người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quan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sát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và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mặt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phẳng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hình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chiếu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Trong VKT </a:t>
            </a:r>
            <a:r>
              <a:rPr lang="en-US" sz="2400" dirty="0" err="1">
                <a:solidFill>
                  <a:schemeClr val="tx1"/>
                </a:solidFill>
              </a:rPr>
              <a:t>cơ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khí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có</a:t>
            </a:r>
            <a:r>
              <a:rPr lang="en-US" sz="2400" dirty="0">
                <a:solidFill>
                  <a:schemeClr val="tx1"/>
                </a:solidFill>
              </a:rPr>
              <a:t> 3 HC </a:t>
            </a:r>
            <a:r>
              <a:rPr lang="en-US" sz="2400" dirty="0" err="1">
                <a:solidFill>
                  <a:schemeClr val="tx1"/>
                </a:solidFill>
              </a:rPr>
              <a:t>cơ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bản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b="1" dirty="0">
                <a:solidFill>
                  <a:srgbClr val="FF0000"/>
                </a:solidFill>
              </a:rPr>
              <a:t>HCĐ, </a:t>
            </a:r>
            <a:r>
              <a:rPr lang="en-US" sz="2400" b="1" dirty="0" smtClean="0">
                <a:solidFill>
                  <a:srgbClr val="FF0000"/>
                </a:solidFill>
              </a:rPr>
              <a:t>HCB</a:t>
            </a:r>
            <a:r>
              <a:rPr lang="en-US" sz="2400" b="1" dirty="0">
                <a:solidFill>
                  <a:srgbClr val="FF0000"/>
                </a:solidFill>
              </a:rPr>
              <a:t>, HCC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(</a:t>
            </a:r>
            <a:r>
              <a:rPr lang="en-US" sz="2400" dirty="0" err="1">
                <a:solidFill>
                  <a:srgbClr val="002060"/>
                </a:solidFill>
              </a:rPr>
              <a:t>cạnh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trái</a:t>
            </a:r>
            <a:r>
              <a:rPr lang="en-US" sz="2400" dirty="0">
                <a:solidFill>
                  <a:srgbClr val="002060"/>
                </a:solidFill>
              </a:rPr>
              <a:t>) </a:t>
            </a:r>
            <a:r>
              <a:rPr lang="en-US" sz="2400" dirty="0" err="1">
                <a:solidFill>
                  <a:srgbClr val="002060"/>
                </a:solidFill>
              </a:rPr>
              <a:t>để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biểu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diễn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vật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trên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bản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vẽ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400" b="1" dirty="0" err="1">
                <a:solidFill>
                  <a:srgbClr val="FF0000"/>
                </a:solidFill>
              </a:rPr>
              <a:t>Hình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chiếu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đứng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hình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chiếu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chính</a:t>
            </a:r>
            <a:r>
              <a:rPr lang="en-US" sz="2400" b="1" dirty="0">
                <a:solidFill>
                  <a:srgbClr val="FF0000"/>
                </a:solidFill>
              </a:rPr>
              <a:t>; </a:t>
            </a:r>
            <a:r>
              <a:rPr lang="en-US" sz="2400" dirty="0" err="1">
                <a:solidFill>
                  <a:schemeClr val="tx1"/>
                </a:solidFill>
              </a:rPr>
              <a:t>nó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hiện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đầy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đủ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rõ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ràng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nhất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những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đặc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trưng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về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hình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dạng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kích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thước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vật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" name="Rounded Rectangle 12">
            <a:extLst>
              <a:ext uri="{FF2B5EF4-FFF2-40B4-BE49-F238E27FC236}">
                <a16:creationId xmlns="" xmlns:a16="http://schemas.microsoft.com/office/drawing/2014/main" id="{FB835F4B-754E-E546-8B65-517A970FDCBB}"/>
              </a:ext>
            </a:extLst>
          </p:cNvPr>
          <p:cNvSpPr/>
          <p:nvPr/>
        </p:nvSpPr>
        <p:spPr>
          <a:xfrm>
            <a:off x="0" y="836704"/>
            <a:ext cx="5496026" cy="343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3. HÌNH CHIẾU CƠ BẢN</a:t>
            </a:r>
          </a:p>
        </p:txBody>
      </p:sp>
    </p:spTree>
    <p:extLst>
      <p:ext uri="{BB962C8B-B14F-4D97-AF65-F5344CB8AC3E}">
        <p14:creationId xmlns:p14="http://schemas.microsoft.com/office/powerpoint/2010/main" val="138595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3. HÌNH CHIẾU CƠ BẢN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059" y="2492570"/>
            <a:ext cx="387667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734" y="2765620"/>
            <a:ext cx="24765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26771" y="1268260"/>
            <a:ext cx="109384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chiếu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đứng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chiếu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chính</a:t>
            </a:r>
            <a:r>
              <a:rPr lang="en-US" sz="2800" b="1" dirty="0">
                <a:solidFill>
                  <a:srgbClr val="FF0000"/>
                </a:solidFill>
              </a:rPr>
              <a:t>; </a:t>
            </a:r>
            <a:r>
              <a:rPr lang="en-US" sz="2800" dirty="0" err="1"/>
              <a:t>nó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đầy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đủ</a:t>
            </a:r>
            <a:r>
              <a:rPr lang="en-US" sz="2800" dirty="0"/>
              <a:t>, </a:t>
            </a:r>
            <a:r>
              <a:rPr lang="en-US" sz="2800" b="1" dirty="0" err="1">
                <a:solidFill>
                  <a:srgbClr val="FF0000"/>
                </a:solidFill>
              </a:rPr>
              <a:t>rõ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ràng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nhất</a:t>
            </a:r>
            <a:r>
              <a:rPr lang="en-US" sz="2800" dirty="0"/>
              <a:t> </a:t>
            </a:r>
            <a:r>
              <a:rPr lang="en-US" sz="2800" dirty="0" err="1"/>
              <a:t>những</a:t>
            </a:r>
            <a:r>
              <a:rPr lang="en-US" sz="2800" dirty="0"/>
              <a:t> </a:t>
            </a: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trưng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dạng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kích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thước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vật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7531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4. HÌNH CHIẾU PHỤ VÀ HÌNH CHIẾU RIÊNG PHẦN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55135" y="891879"/>
            <a:ext cx="12341650" cy="1308084"/>
            <a:chOff x="153760" y="891879"/>
            <a:chExt cx="12232204" cy="1308084"/>
          </a:xfrm>
        </p:grpSpPr>
        <p:sp>
          <p:nvSpPr>
            <p:cNvPr id="6" name="Rounded Rectangle 5"/>
            <p:cNvSpPr/>
            <p:nvPr/>
          </p:nvSpPr>
          <p:spPr>
            <a:xfrm>
              <a:off x="193964" y="891879"/>
              <a:ext cx="12192000" cy="490889"/>
            </a:xfrm>
            <a:prstGeom prst="roundRect">
              <a:avLst/>
            </a:prstGeom>
            <a:noFill/>
            <a:ln cap="rnd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just"/>
              <a:r>
                <a:rPr lang="en-US" sz="2600" b="1" i="1" dirty="0">
                  <a:solidFill>
                    <a:schemeClr val="tx1"/>
                  </a:solidFill>
                </a:rPr>
                <a:t>a. </a:t>
              </a:r>
              <a:r>
                <a:rPr lang="en-US" sz="2600" b="1" i="1" dirty="0" err="1">
                  <a:solidFill>
                    <a:schemeClr val="tx1"/>
                  </a:solidFill>
                </a:rPr>
                <a:t>Hình</a:t>
              </a:r>
              <a:r>
                <a:rPr lang="en-US" sz="2600" b="1" i="1" dirty="0">
                  <a:solidFill>
                    <a:schemeClr val="tx1"/>
                  </a:solidFill>
                </a:rPr>
                <a:t> </a:t>
              </a:r>
              <a:r>
                <a:rPr lang="en-US" sz="2600" b="1" i="1" dirty="0" err="1">
                  <a:solidFill>
                    <a:schemeClr val="tx1"/>
                  </a:solidFill>
                </a:rPr>
                <a:t>chiếu</a:t>
              </a:r>
              <a:r>
                <a:rPr lang="en-US" sz="2600" b="1" i="1" dirty="0">
                  <a:solidFill>
                    <a:schemeClr val="tx1"/>
                  </a:solidFill>
                </a:rPr>
                <a:t> </a:t>
              </a:r>
              <a:r>
                <a:rPr lang="en-US" sz="2600" b="1" i="1" dirty="0" err="1">
                  <a:solidFill>
                    <a:schemeClr val="tx1"/>
                  </a:solidFill>
                </a:rPr>
                <a:t>phụ</a:t>
              </a:r>
              <a:endParaRPr lang="en-US" sz="2600" b="1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53760" y="1501006"/>
              <a:ext cx="11776363" cy="6989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cap="rnd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just"/>
              <a:r>
                <a:rPr lang="en-US" sz="2400" b="1" dirty="0" err="1">
                  <a:solidFill>
                    <a:srgbClr val="FF0000"/>
                  </a:solidFill>
                </a:rPr>
                <a:t>Hình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chiếu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phụ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là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hình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chiếu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của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một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bộ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phận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của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vật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thể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lên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mặt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phẳng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không</a:t>
              </a:r>
              <a:r>
                <a:rPr lang="en-US" sz="2400" b="1" dirty="0">
                  <a:solidFill>
                    <a:srgbClr val="FF0000"/>
                  </a:solidFill>
                </a:rPr>
                <a:t> song </a:t>
              </a:r>
              <a:r>
                <a:rPr lang="en-US" sz="2400" b="1" dirty="0" err="1">
                  <a:solidFill>
                    <a:srgbClr val="FF0000"/>
                  </a:solidFill>
                </a:rPr>
                <a:t>song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với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mặt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phẳng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hình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chiếu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cơ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bản</a:t>
              </a:r>
              <a:r>
                <a:rPr lang="en-US" sz="2400" dirty="0">
                  <a:solidFill>
                    <a:schemeClr val="tx1"/>
                  </a:solidFill>
                </a:rPr>
                <a:t>, </a:t>
              </a:r>
              <a:r>
                <a:rPr lang="en-US" sz="2400" dirty="0" err="1">
                  <a:solidFill>
                    <a:schemeClr val="tx1"/>
                  </a:solidFill>
                </a:rPr>
                <a:t>được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giới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hạn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bởi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nét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lượn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sóng</a:t>
              </a:r>
              <a:r>
                <a:rPr lang="en-US" sz="2400" b="1" dirty="0">
                  <a:solidFill>
                    <a:schemeClr val="tx1"/>
                  </a:solidFill>
                </a:rPr>
                <a:t>.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CAAA713B-619F-F0B7-1147-4C6FE3595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7" y="2882625"/>
            <a:ext cx="2272559" cy="32390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F6EF3760-5DEB-03F2-7E56-4E6DDC3B7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292" y="2479151"/>
            <a:ext cx="3457575" cy="40957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AB6D9F53-2A34-E8B3-9787-53A30DDC42FC}"/>
              </a:ext>
            </a:extLst>
          </p:cNvPr>
          <p:cNvCxnSpPr>
            <a:cxnSpLocks/>
          </p:cNvCxnSpPr>
          <p:nvPr/>
        </p:nvCxnSpPr>
        <p:spPr>
          <a:xfrm>
            <a:off x="2290713" y="2522394"/>
            <a:ext cx="0" cy="4335606"/>
          </a:xfrm>
          <a:prstGeom prst="line">
            <a:avLst/>
          </a:prstGeom>
          <a:ln w="5397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="" xmlns:a16="http://schemas.microsoft.com/office/drawing/2014/main" id="{A5049D3F-1FB0-D89F-7CAA-D2ED02147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176" y="2647954"/>
            <a:ext cx="3152775" cy="3510761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945B2A89-7FED-76DA-708F-04AB78D8796E}"/>
              </a:ext>
            </a:extLst>
          </p:cNvPr>
          <p:cNvCxnSpPr>
            <a:cxnSpLocks/>
          </p:cNvCxnSpPr>
          <p:nvPr/>
        </p:nvCxnSpPr>
        <p:spPr>
          <a:xfrm>
            <a:off x="5535634" y="2522394"/>
            <a:ext cx="0" cy="4335606"/>
          </a:xfrm>
          <a:prstGeom prst="line">
            <a:avLst/>
          </a:prstGeom>
          <a:ln w="5397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85E6AFF6-1B87-A41A-6F12-58026C22BAB9}"/>
              </a:ext>
            </a:extLst>
          </p:cNvPr>
          <p:cNvCxnSpPr>
            <a:cxnSpLocks/>
          </p:cNvCxnSpPr>
          <p:nvPr/>
        </p:nvCxnSpPr>
        <p:spPr>
          <a:xfrm>
            <a:off x="8679525" y="2522394"/>
            <a:ext cx="0" cy="4335606"/>
          </a:xfrm>
          <a:prstGeom prst="line">
            <a:avLst/>
          </a:prstGeom>
          <a:ln w="5397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="" xmlns:a16="http://schemas.microsoft.com/office/drawing/2014/main" id="{B67CDDD2-00A6-F1D4-6676-2D9280836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3184" y="2601076"/>
            <a:ext cx="2895600" cy="39147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="" xmlns:a16="http://schemas.microsoft.com/office/drawing/2014/main" id="{9C468938-7365-C2FE-B092-989D5F9842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637" y="2996138"/>
            <a:ext cx="2581308" cy="301946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1C3345C-D500-3C5F-76F7-9AF9A3030389}"/>
              </a:ext>
            </a:extLst>
          </p:cNvPr>
          <p:cNvSpPr txBox="1"/>
          <p:nvPr/>
        </p:nvSpPr>
        <p:spPr>
          <a:xfrm>
            <a:off x="246188" y="6393005"/>
            <a:ext cx="1582612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VẬT MẪU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05D3920A-BE58-9403-74B8-72E966BF194E}"/>
              </a:ext>
            </a:extLst>
          </p:cNvPr>
          <p:cNvSpPr txBox="1"/>
          <p:nvPr/>
        </p:nvSpPr>
        <p:spPr>
          <a:xfrm>
            <a:off x="2653193" y="6382168"/>
            <a:ext cx="2341266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CHIẾU THẲNG GÓC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4C58184C-3C25-92D9-DB3A-64927EB2496A}"/>
              </a:ext>
            </a:extLst>
          </p:cNvPr>
          <p:cNvSpPr txBox="1"/>
          <p:nvPr/>
        </p:nvSpPr>
        <p:spPr>
          <a:xfrm>
            <a:off x="6466968" y="6400246"/>
            <a:ext cx="1597532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CHIẾU PHỤ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7575AE75-BBEC-D55C-74A6-04671F9B7818}"/>
              </a:ext>
            </a:extLst>
          </p:cNvPr>
          <p:cNvSpPr txBox="1"/>
          <p:nvPr/>
        </p:nvSpPr>
        <p:spPr>
          <a:xfrm>
            <a:off x="9091681" y="6374846"/>
            <a:ext cx="237481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CHIẾU PHỤ XOAY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13FC34C-25A6-0983-5ED2-55256AE8C203}"/>
              </a:ext>
            </a:extLst>
          </p:cNvPr>
          <p:cNvCxnSpPr/>
          <p:nvPr/>
        </p:nvCxnSpPr>
        <p:spPr>
          <a:xfrm>
            <a:off x="7416800" y="2857225"/>
            <a:ext cx="317500" cy="330475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589329A7-A483-B974-5AD9-81A4B3E405AB}"/>
              </a:ext>
            </a:extLst>
          </p:cNvPr>
          <p:cNvCxnSpPr/>
          <p:nvPr/>
        </p:nvCxnSpPr>
        <p:spPr>
          <a:xfrm>
            <a:off x="6819900" y="3390625"/>
            <a:ext cx="317500" cy="330475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1123699C-EDEF-6FA5-5DF1-BF2BB1E5DE04}"/>
              </a:ext>
            </a:extLst>
          </p:cNvPr>
          <p:cNvCxnSpPr>
            <a:cxnSpLocks/>
          </p:cNvCxnSpPr>
          <p:nvPr/>
        </p:nvCxnSpPr>
        <p:spPr>
          <a:xfrm>
            <a:off x="7099300" y="3111225"/>
            <a:ext cx="571500" cy="546375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/>
          <p:cNvSpPr/>
          <p:nvPr/>
        </p:nvSpPr>
        <p:spPr>
          <a:xfrm>
            <a:off x="6992472" y="2996137"/>
            <a:ext cx="1440696" cy="1441391"/>
          </a:xfrm>
          <a:prstGeom prst="flowChartConnector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40658" y="2965732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1505" y="3288268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7494" y="3839609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819" y="3536434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806824" y="2996137"/>
            <a:ext cx="363070" cy="394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16666" y="4557059"/>
            <a:ext cx="1616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HÌNH CHIẾU PHỤ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3825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8" grpId="0" animBg="1"/>
      <p:bldP spid="8" grpId="1" animBg="1"/>
      <p:bldP spid="9" grpId="0"/>
      <p:bldP spid="25" grpId="0"/>
      <p:bldP spid="27" grpId="0"/>
      <p:bldP spid="29" grpId="0"/>
      <p:bldP spid="15" grpId="0"/>
      <p:bldP spid="1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0" y="559742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4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HÌNH CHIẾU PHỤ VÀ HÌNH CHIẾU RIÊNG PHẦN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0" y="1201890"/>
            <a:ext cx="12301086" cy="1615201"/>
            <a:chOff x="0" y="1201890"/>
            <a:chExt cx="12192000" cy="1615201"/>
          </a:xfrm>
        </p:grpSpPr>
        <p:sp>
          <p:nvSpPr>
            <p:cNvPr id="6" name="Rounded Rectangle 5"/>
            <p:cNvSpPr/>
            <p:nvPr/>
          </p:nvSpPr>
          <p:spPr>
            <a:xfrm>
              <a:off x="0" y="1201890"/>
              <a:ext cx="12192000" cy="490889"/>
            </a:xfrm>
            <a:prstGeom prst="roundRect">
              <a:avLst/>
            </a:prstGeom>
            <a:noFill/>
            <a:ln cap="rnd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just"/>
              <a:r>
                <a:rPr lang="en-US" sz="2600" b="1" i="1" dirty="0">
                  <a:solidFill>
                    <a:schemeClr val="tx1"/>
                  </a:solidFill>
                </a:rPr>
                <a:t>b. </a:t>
              </a:r>
              <a:r>
                <a:rPr lang="en-US" sz="2600" b="1" i="1" dirty="0" err="1">
                  <a:solidFill>
                    <a:schemeClr val="tx1"/>
                  </a:solidFill>
                </a:rPr>
                <a:t>Hình</a:t>
              </a:r>
              <a:r>
                <a:rPr lang="en-US" sz="2600" b="1" i="1" dirty="0">
                  <a:solidFill>
                    <a:schemeClr val="tx1"/>
                  </a:solidFill>
                </a:rPr>
                <a:t> </a:t>
              </a:r>
              <a:r>
                <a:rPr lang="en-US" sz="2600" b="1" i="1" dirty="0" err="1">
                  <a:solidFill>
                    <a:schemeClr val="tx1"/>
                  </a:solidFill>
                </a:rPr>
                <a:t>chiếu</a:t>
              </a:r>
              <a:r>
                <a:rPr lang="en-US" sz="2600" b="1" i="1" dirty="0">
                  <a:solidFill>
                    <a:schemeClr val="tx1"/>
                  </a:solidFill>
                </a:rPr>
                <a:t> </a:t>
              </a:r>
              <a:r>
                <a:rPr lang="en-US" sz="2600" b="1" i="1" dirty="0" err="1">
                  <a:solidFill>
                    <a:schemeClr val="tx1"/>
                  </a:solidFill>
                </a:rPr>
                <a:t>riêng</a:t>
              </a:r>
              <a:r>
                <a:rPr lang="en-US" sz="2600" b="1" i="1" dirty="0">
                  <a:solidFill>
                    <a:schemeClr val="tx1"/>
                  </a:solidFill>
                </a:rPr>
                <a:t> </a:t>
              </a:r>
              <a:r>
                <a:rPr lang="en-US" sz="2600" b="1" i="1" dirty="0" err="1">
                  <a:solidFill>
                    <a:schemeClr val="tx1"/>
                  </a:solidFill>
                </a:rPr>
                <a:t>phần</a:t>
              </a:r>
              <a:endParaRPr lang="en-US" sz="2600" b="1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93964" y="1692779"/>
              <a:ext cx="11776363" cy="112431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cap="rnd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r>
                <a:rPr lang="en-US" sz="2400" b="1" dirty="0" err="1">
                  <a:solidFill>
                    <a:srgbClr val="FF0000"/>
                  </a:solidFill>
                </a:rPr>
                <a:t>Hình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chiếu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riêng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phần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là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hình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chiếu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của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một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phần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của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vật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thể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lên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một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mặt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phẳng</a:t>
              </a:r>
              <a:r>
                <a:rPr lang="en-US" sz="2400" b="1" dirty="0">
                  <a:solidFill>
                    <a:srgbClr val="FF0000"/>
                  </a:solidFill>
                </a:rPr>
                <a:t> song </a:t>
              </a:r>
              <a:r>
                <a:rPr lang="en-US" sz="2400" b="1" dirty="0" err="1">
                  <a:solidFill>
                    <a:srgbClr val="FF0000"/>
                  </a:solidFill>
                </a:rPr>
                <a:t>song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với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mặt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phẳng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hình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chiếu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cơ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bản</a:t>
              </a:r>
              <a:r>
                <a:rPr lang="en-US" sz="2400" dirty="0">
                  <a:solidFill>
                    <a:schemeClr val="tx1"/>
                  </a:solidFill>
                </a:rPr>
                <a:t>, </a:t>
              </a:r>
              <a:r>
                <a:rPr lang="en-US" sz="2400" dirty="0" err="1">
                  <a:solidFill>
                    <a:schemeClr val="tx1"/>
                  </a:solidFill>
                </a:rPr>
                <a:t>được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giới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hạn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bởi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nét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lượn</a:t>
              </a:r>
              <a:r>
                <a:rPr lang="en-US" sz="2400" b="1" dirty="0">
                  <a:solidFill>
                    <a:srgbClr val="FF0000"/>
                  </a:solidFill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</a:rPr>
                <a:t>sóng</a:t>
              </a:r>
              <a:r>
                <a:rPr lang="en-US" sz="2400" dirty="0">
                  <a:solidFill>
                    <a:schemeClr val="tx1"/>
                  </a:solidFill>
                </a:rPr>
                <a:t>.</a:t>
              </a:r>
            </a:p>
          </p:txBody>
        </p:sp>
      </p:grpSp>
      <p:pic>
        <p:nvPicPr>
          <p:cNvPr id="11" name="Picture 10" descr="C:\Users\User\Desktop\2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926060"/>
            <a:ext cx="7057735" cy="37827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665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-8390" y="1193502"/>
            <a:ext cx="12444549" cy="397346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a.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ba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của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vật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thể</a:t>
            </a:r>
            <a:endParaRPr lang="en-US" sz="2600" b="1" i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3145" y="1607491"/>
            <a:ext cx="11785015" cy="71148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Bài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toán</a:t>
            </a:r>
            <a:r>
              <a:rPr lang="en-US" sz="2800" dirty="0">
                <a:solidFill>
                  <a:schemeClr val="tx1"/>
                </a:solidFill>
              </a:rPr>
              <a:t>: Cho </a:t>
            </a:r>
            <a:r>
              <a:rPr lang="en-US" sz="2800" dirty="0" err="1">
                <a:solidFill>
                  <a:schemeClr val="tx1"/>
                </a:solidFill>
              </a:rPr>
              <a:t>mô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3D (</a:t>
            </a:r>
            <a:r>
              <a:rPr lang="en-US" sz="2800" dirty="0" err="1">
                <a:solidFill>
                  <a:schemeClr val="tx1"/>
                </a:solidFill>
              </a:rPr>
              <a:t>dạng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trục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đo</a:t>
            </a:r>
            <a:r>
              <a:rPr lang="en-US" sz="2800" dirty="0">
                <a:solidFill>
                  <a:schemeClr val="tx1"/>
                </a:solidFill>
              </a:rPr>
              <a:t>) </a:t>
            </a:r>
            <a:r>
              <a:rPr lang="en-US" sz="2800" dirty="0" err="1">
                <a:solidFill>
                  <a:schemeClr val="tx1"/>
                </a:solidFill>
              </a:rPr>
              <a:t>có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đầy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đủ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kích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thước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  <a:r>
              <a:rPr lang="en-US" sz="2800" dirty="0" err="1">
                <a:solidFill>
                  <a:schemeClr val="tx1"/>
                </a:solidFill>
              </a:rPr>
              <a:t>Hãy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xây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dựng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bản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3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0" name="Picture 9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20" r="30027"/>
          <a:stretch/>
        </p:blipFill>
        <p:spPr bwMode="auto">
          <a:xfrm>
            <a:off x="654548" y="2564528"/>
            <a:ext cx="4296470" cy="395100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AD369DD-78C6-0AA2-67AD-7B2E966C5F0A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6" r="18459"/>
          <a:stretch/>
        </p:blipFill>
        <p:spPr bwMode="auto">
          <a:xfrm>
            <a:off x="6112042" y="2439159"/>
            <a:ext cx="4526107" cy="419972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7058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HÌNH CHIẾU VUÔNG 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6863" y="1590848"/>
            <a:ext cx="11785015" cy="183815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chemeClr val="tx1"/>
                </a:solidFill>
              </a:rPr>
              <a:t>Quá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dựng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biểu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diễn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gồm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bước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chính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sau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marL="457200" indent="-457200" algn="just">
              <a:buFontTx/>
              <a:buChar char="-"/>
            </a:pPr>
            <a:r>
              <a:rPr lang="en-US" sz="2400" dirty="0" err="1">
                <a:solidFill>
                  <a:srgbClr val="002060"/>
                </a:solidFill>
              </a:rPr>
              <a:t>Phân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tích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vật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thể</a:t>
            </a:r>
            <a:r>
              <a:rPr lang="en-US" sz="2400" dirty="0">
                <a:solidFill>
                  <a:srgbClr val="002060"/>
                </a:solidFill>
              </a:rPr>
              <a:t> (</a:t>
            </a:r>
            <a:r>
              <a:rPr lang="en-US" sz="2400" dirty="0" err="1">
                <a:solidFill>
                  <a:srgbClr val="002060"/>
                </a:solidFill>
              </a:rPr>
              <a:t>Hình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dáng</a:t>
            </a:r>
            <a:r>
              <a:rPr lang="en-US" sz="2400" dirty="0">
                <a:solidFill>
                  <a:srgbClr val="002060"/>
                </a:solidFill>
              </a:rPr>
              <a:t>, </a:t>
            </a:r>
            <a:r>
              <a:rPr lang="en-US" sz="2400" dirty="0" err="1">
                <a:solidFill>
                  <a:srgbClr val="002060"/>
                </a:solidFill>
              </a:rPr>
              <a:t>cấu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tạo</a:t>
            </a:r>
            <a:r>
              <a:rPr lang="en-US" sz="2400" dirty="0">
                <a:solidFill>
                  <a:srgbClr val="002060"/>
                </a:solidFill>
              </a:rPr>
              <a:t>, </a:t>
            </a:r>
            <a:r>
              <a:rPr lang="en-US" sz="2400" dirty="0" err="1">
                <a:solidFill>
                  <a:srgbClr val="002060"/>
                </a:solidFill>
              </a:rPr>
              <a:t>kích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thước</a:t>
            </a:r>
            <a:r>
              <a:rPr lang="en-US" sz="2400" dirty="0">
                <a:solidFill>
                  <a:srgbClr val="002060"/>
                </a:solidFill>
              </a:rPr>
              <a:t>);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phân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tích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vật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thành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khối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hình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học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cơ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bản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marL="457200" indent="-457200" algn="just">
              <a:buFontTx/>
              <a:buChar char="-"/>
            </a:pPr>
            <a:r>
              <a:rPr lang="en-US" sz="2400" dirty="0" err="1">
                <a:solidFill>
                  <a:srgbClr val="002060"/>
                </a:solidFill>
              </a:rPr>
              <a:t>Chọn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hướng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chiếu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chính</a:t>
            </a:r>
            <a:r>
              <a:rPr lang="en-US" sz="2400" dirty="0">
                <a:solidFill>
                  <a:srgbClr val="002060"/>
                </a:solidFill>
              </a:rPr>
              <a:t> (</a:t>
            </a:r>
            <a:r>
              <a:rPr lang="en-US" sz="2400" dirty="0" err="1">
                <a:solidFill>
                  <a:srgbClr val="002060"/>
                </a:solidFill>
              </a:rPr>
              <a:t>vẽ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HCĐ</a:t>
            </a:r>
            <a:r>
              <a:rPr lang="en-US" sz="2400" b="1" dirty="0">
                <a:solidFill>
                  <a:srgbClr val="FF0000"/>
                </a:solidFill>
              </a:rPr>
              <a:t> – </a:t>
            </a:r>
            <a:r>
              <a:rPr lang="en-US" sz="2400" b="1" dirty="0" err="1">
                <a:solidFill>
                  <a:srgbClr val="FF0000"/>
                </a:solidFill>
              </a:rPr>
              <a:t>hình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chiếu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chính</a:t>
            </a:r>
            <a:r>
              <a:rPr lang="en-US" sz="2400" dirty="0">
                <a:solidFill>
                  <a:srgbClr val="002060"/>
                </a:solidFill>
              </a:rPr>
              <a:t>) </a:t>
            </a:r>
            <a:r>
              <a:rPr lang="en-US" sz="2400" dirty="0" err="1">
                <a:solidFill>
                  <a:srgbClr val="002060"/>
                </a:solidFill>
              </a:rPr>
              <a:t>và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hình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chiếu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khác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  <a:p>
            <a:pPr marL="457200" indent="-457200" algn="just">
              <a:buFontTx/>
              <a:buChar char="-"/>
            </a:pPr>
            <a:r>
              <a:rPr lang="en-US" sz="2400" dirty="0">
                <a:solidFill>
                  <a:srgbClr val="002060"/>
                </a:solidFill>
              </a:rPr>
              <a:t>Hoàn </a:t>
            </a:r>
            <a:r>
              <a:rPr lang="en-US" sz="2400" dirty="0" err="1">
                <a:solidFill>
                  <a:srgbClr val="002060"/>
                </a:solidFill>
              </a:rPr>
              <a:t>thiện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bản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vẽ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1235BFA-FFDC-D306-81C8-11BC1A1CD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120" y="3595033"/>
            <a:ext cx="2734769" cy="26264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4332B6CA-99AA-257C-4C10-851F8D1B5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828" y="4885009"/>
            <a:ext cx="2342773" cy="16396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62681BA5-1566-EBA2-0EE4-5281EF900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094" y="4826227"/>
            <a:ext cx="984491" cy="11377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B4B9E5D4-03AD-624C-9390-3114C774DC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3252" y="3429000"/>
            <a:ext cx="1905992" cy="1397227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="" xmlns:a16="http://schemas.microsoft.com/office/drawing/2014/main" id="{04BB6E97-C3B2-0BE4-A6A1-1F13CFDC570D}"/>
              </a:ext>
            </a:extLst>
          </p:cNvPr>
          <p:cNvSpPr/>
          <p:nvPr/>
        </p:nvSpPr>
        <p:spPr>
          <a:xfrm>
            <a:off x="5333540" y="5216984"/>
            <a:ext cx="888733" cy="22103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5">
            <a:extLst>
              <a:ext uri="{FF2B5EF4-FFF2-40B4-BE49-F238E27FC236}">
                <a16:creationId xmlns="" xmlns:a16="http://schemas.microsoft.com/office/drawing/2014/main" id="{CA4158AA-D22B-1284-0AC6-F7E9AE05835D}"/>
              </a:ext>
            </a:extLst>
          </p:cNvPr>
          <p:cNvSpPr/>
          <p:nvPr/>
        </p:nvSpPr>
        <p:spPr>
          <a:xfrm>
            <a:off x="-8390" y="1193502"/>
            <a:ext cx="12444549" cy="397346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a.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ba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của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vật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thể</a:t>
            </a:r>
            <a:endParaRPr lang="en-US" sz="2600" b="1" i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600A394-6B40-0B2F-A4F1-E25D448A47BF}"/>
              </a:ext>
            </a:extLst>
          </p:cNvPr>
          <p:cNvSpPr txBox="1"/>
          <p:nvPr/>
        </p:nvSpPr>
        <p:spPr>
          <a:xfrm>
            <a:off x="3666673" y="6447712"/>
            <a:ext cx="5591329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THÀNH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HỌC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2139427E-A108-858C-72F2-AA964AAACC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098" y="3529717"/>
            <a:ext cx="1798029" cy="163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6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CHIẾU VUÔNG 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58620" y="1636281"/>
            <a:ext cx="5937380" cy="378068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600" b="1" dirty="0" err="1">
                <a:solidFill>
                  <a:schemeClr val="tx1"/>
                </a:solidFill>
              </a:rPr>
              <a:t>Lưu</a:t>
            </a:r>
            <a:r>
              <a:rPr lang="en-US" sz="2600" b="1" dirty="0">
                <a:solidFill>
                  <a:schemeClr val="tx1"/>
                </a:solidFill>
              </a:rPr>
              <a:t> ý: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</a:rPr>
              <a:t>- Trong </a:t>
            </a:r>
            <a:r>
              <a:rPr lang="en-US" sz="2600" dirty="0" err="1">
                <a:solidFill>
                  <a:schemeClr val="tx1"/>
                </a:solidFill>
              </a:rPr>
              <a:t>bản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không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biểu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diễn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các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trục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chiếu</a:t>
            </a:r>
            <a:r>
              <a:rPr lang="en-US" sz="2600" dirty="0">
                <a:solidFill>
                  <a:schemeClr val="tx1"/>
                </a:solidFill>
              </a:rPr>
              <a:t> (</a:t>
            </a:r>
            <a:r>
              <a:rPr lang="en-US" sz="2600" dirty="0" err="1">
                <a:solidFill>
                  <a:schemeClr val="tx1"/>
                </a:solidFill>
              </a:rPr>
              <a:t>Oxyz</a:t>
            </a:r>
            <a:r>
              <a:rPr lang="en-US" sz="2600" dirty="0">
                <a:solidFill>
                  <a:schemeClr val="tx1"/>
                </a:solidFill>
              </a:rPr>
              <a:t>).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</a:rPr>
              <a:t>- Khi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chiếu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thứ</a:t>
            </a:r>
            <a:r>
              <a:rPr lang="en-US" sz="2600" dirty="0">
                <a:solidFill>
                  <a:schemeClr val="tx1"/>
                </a:solidFill>
              </a:rPr>
              <a:t> 3, </a:t>
            </a:r>
            <a:r>
              <a:rPr lang="en-US" sz="2600" dirty="0" err="1">
                <a:solidFill>
                  <a:schemeClr val="tx1"/>
                </a:solidFill>
              </a:rPr>
              <a:t>thường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sử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dụng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đường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phụ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trợ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nghiêng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góc</a:t>
            </a:r>
            <a:r>
              <a:rPr lang="en-US" sz="2600" dirty="0">
                <a:solidFill>
                  <a:schemeClr val="tx1"/>
                </a:solidFill>
              </a:rPr>
              <a:t> 45</a:t>
            </a:r>
            <a:r>
              <a:rPr lang="en-US" sz="2600" baseline="30000" dirty="0">
                <a:solidFill>
                  <a:schemeClr val="tx1"/>
                </a:solidFill>
              </a:rPr>
              <a:t>0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để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</a:rPr>
              <a:t>-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xong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xóa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hết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các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đường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nét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phụ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chemeClr val="tx1"/>
                </a:solidFill>
              </a:rPr>
              <a:t>(</a:t>
            </a:r>
            <a:r>
              <a:rPr lang="en-US" sz="2600" dirty="0" err="1">
                <a:solidFill>
                  <a:schemeClr val="tx1"/>
                </a:solidFill>
              </a:rPr>
              <a:t>các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đường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trục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đường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gióng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đường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phụ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trợ</a:t>
            </a:r>
            <a:r>
              <a:rPr lang="en-US" sz="2600" dirty="0">
                <a:solidFill>
                  <a:schemeClr val="tx1"/>
                </a:solidFill>
              </a:rPr>
              <a:t>….).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="" xmlns:a16="http://schemas.microsoft.com/office/drawing/2014/main" id="{8D849829-A77C-90F6-EFC1-1F44D7914729}"/>
              </a:ext>
            </a:extLst>
          </p:cNvPr>
          <p:cNvSpPr/>
          <p:nvPr/>
        </p:nvSpPr>
        <p:spPr>
          <a:xfrm>
            <a:off x="-8390" y="1193502"/>
            <a:ext cx="12444549" cy="397346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a.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ba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của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vật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thể</a:t>
            </a:r>
            <a:endParaRPr lang="en-US" sz="2600" b="1" i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1C2B27D-A4A5-8AA1-71F2-A42B5FE382B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728" y="1636281"/>
            <a:ext cx="5753722" cy="3780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703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9C16259-B35B-304B-D5E8-92A7E5753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09" y="5373572"/>
            <a:ext cx="2249977" cy="144796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pic>
        <p:nvPicPr>
          <p:cNvPr id="12" name="Picture 11"/>
          <p:cNvPicPr/>
          <p:nvPr/>
        </p:nvPicPr>
        <p:blipFill rotWithShape="1">
          <a:blip r:embed="rId4"/>
          <a:srcRect l="1113" t="745" r="570" b="888"/>
          <a:stretch/>
        </p:blipFill>
        <p:spPr bwMode="auto">
          <a:xfrm>
            <a:off x="5892801" y="876009"/>
            <a:ext cx="5649804" cy="58942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8754647" y="3756085"/>
            <a:ext cx="2710692" cy="294027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2A6FA775-EFC8-215B-0239-167B02E88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14" y="1742779"/>
            <a:ext cx="2413188" cy="23185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63CDC98-D9EC-9A63-EFBA-CF1EDCBCFB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2476" y="4061317"/>
            <a:ext cx="1704254" cy="1397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80B3D1D-FBF2-D916-1DAC-F6DFA03051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8936" y="5528664"/>
            <a:ext cx="984491" cy="1137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88F6273-B8F1-8E94-98B7-7C4BBED668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5863" y="4178506"/>
            <a:ext cx="2013004" cy="1230809"/>
          </a:xfrm>
          <a:prstGeom prst="rect">
            <a:avLst/>
          </a:prstGeom>
        </p:spPr>
      </p:pic>
      <p:sp>
        <p:nvSpPr>
          <p:cNvPr id="5" name="Rounded Rectangle 5">
            <a:extLst>
              <a:ext uri="{FF2B5EF4-FFF2-40B4-BE49-F238E27FC236}">
                <a16:creationId xmlns="" xmlns:a16="http://schemas.microsoft.com/office/drawing/2014/main" id="{40786303-DC57-668E-7D87-3C222F4E6FA0}"/>
              </a:ext>
            </a:extLst>
          </p:cNvPr>
          <p:cNvSpPr/>
          <p:nvPr/>
        </p:nvSpPr>
        <p:spPr>
          <a:xfrm>
            <a:off x="-8390" y="1193502"/>
            <a:ext cx="12444549" cy="397346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a.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ba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của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vật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thể</a:t>
            </a:r>
            <a:endParaRPr lang="en-US" sz="26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55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8751" y="1715990"/>
            <a:ext cx="1824059" cy="490889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600" b="1" dirty="0" err="1">
                <a:solidFill>
                  <a:schemeClr val="tx1"/>
                </a:solidFill>
              </a:rPr>
              <a:t>Ví</a:t>
            </a:r>
            <a:r>
              <a:rPr lang="en-US" sz="2600" b="1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chemeClr val="tx1"/>
                </a:solidFill>
              </a:rPr>
              <a:t>dụ</a:t>
            </a:r>
            <a:r>
              <a:rPr lang="en-US" sz="2600" b="1" dirty="0">
                <a:solidFill>
                  <a:schemeClr val="tx1"/>
                </a:solidFill>
              </a:rPr>
              <a:t> 1: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803" y="2706542"/>
            <a:ext cx="2638368" cy="265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29"/>
          <p:cNvGrpSpPr/>
          <p:nvPr/>
        </p:nvGrpSpPr>
        <p:grpSpPr>
          <a:xfrm>
            <a:off x="6511636" y="1791367"/>
            <a:ext cx="5427969" cy="4955069"/>
            <a:chOff x="6502400" y="1801158"/>
            <a:chExt cx="5427969" cy="4955069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6544" y="3263492"/>
              <a:ext cx="3933825" cy="340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6502400" y="1801158"/>
              <a:ext cx="2010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u="sng" dirty="0">
                  <a:solidFill>
                    <a:srgbClr val="FF0000"/>
                  </a:solidFill>
                </a:rPr>
                <a:t>HÌNH CHIẾU ĐỨNG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22872" y="1833490"/>
              <a:ext cx="1946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u="sng" dirty="0">
                  <a:solidFill>
                    <a:srgbClr val="FF0000"/>
                  </a:solidFill>
                </a:rPr>
                <a:t>HÌNH CHIẾU CẠNH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714836" y="6386895"/>
              <a:ext cx="1953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u="sng" dirty="0">
                  <a:solidFill>
                    <a:srgbClr val="FF0000"/>
                  </a:solidFill>
                </a:rPr>
                <a:t>HÌNH CHIẾU BẰNG</a:t>
              </a:r>
            </a:p>
          </p:txBody>
        </p:sp>
      </p:grpSp>
      <p:cxnSp>
        <p:nvCxnSpPr>
          <p:cNvPr id="43" name="Straight Connector 42"/>
          <p:cNvCxnSpPr/>
          <p:nvPr/>
        </p:nvCxnSpPr>
        <p:spPr>
          <a:xfrm>
            <a:off x="2527608" y="2247492"/>
            <a:ext cx="0" cy="121614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1498754" y="2255959"/>
            <a:ext cx="2200177" cy="2413821"/>
            <a:chOff x="1498754" y="2255959"/>
            <a:chExt cx="2200177" cy="2413821"/>
          </a:xfrm>
        </p:grpSpPr>
        <p:cxnSp>
          <p:nvCxnSpPr>
            <p:cNvPr id="34" name="Straight Arrow Connector 33"/>
            <p:cNvCxnSpPr/>
            <p:nvPr/>
          </p:nvCxnSpPr>
          <p:spPr>
            <a:xfrm flipH="1" flipV="1">
              <a:off x="2527608" y="2255959"/>
              <a:ext cx="1171323" cy="5973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2510674" y="3454405"/>
              <a:ext cx="167872" cy="101596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H="1" flipV="1">
              <a:off x="1507222" y="2853270"/>
              <a:ext cx="1171323" cy="5973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 flipV="1">
              <a:off x="1498754" y="4072469"/>
              <a:ext cx="1171323" cy="5973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1498756" y="2248256"/>
            <a:ext cx="1020385" cy="1815746"/>
            <a:chOff x="1498756" y="2248256"/>
            <a:chExt cx="1020385" cy="1815746"/>
          </a:xfrm>
        </p:grpSpPr>
        <p:cxnSp>
          <p:nvCxnSpPr>
            <p:cNvPr id="48" name="Straight Connector 47"/>
            <p:cNvCxnSpPr/>
            <p:nvPr/>
          </p:nvCxnSpPr>
          <p:spPr>
            <a:xfrm flipH="1">
              <a:off x="1498756" y="2248256"/>
              <a:ext cx="1020385" cy="59884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498756" y="3456664"/>
              <a:ext cx="1020385" cy="59884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1507221" y="2847858"/>
              <a:ext cx="0" cy="121614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4981171" y="4331855"/>
            <a:ext cx="486756" cy="707257"/>
            <a:chOff x="4981171" y="4331855"/>
            <a:chExt cx="486756" cy="707257"/>
          </a:xfrm>
        </p:grpSpPr>
        <p:sp>
          <p:nvSpPr>
            <p:cNvPr id="36" name="Right Arrow 35"/>
            <p:cNvSpPr/>
            <p:nvPr/>
          </p:nvSpPr>
          <p:spPr>
            <a:xfrm>
              <a:off x="4981171" y="4331855"/>
              <a:ext cx="486756" cy="295563"/>
            </a:xfrm>
            <a:prstGeom prst="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  <a:scene3d>
              <a:camera prst="orthographicFront">
                <a:rot lat="0" lon="0" rev="93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13635" y="4669780"/>
              <a:ext cx="454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F.V</a:t>
              </a:r>
            </a:p>
          </p:txBody>
        </p:sp>
      </p:grpSp>
      <p:grpSp>
        <p:nvGrpSpPr>
          <p:cNvPr id="1034" name="Group 1033"/>
          <p:cNvGrpSpPr/>
          <p:nvPr/>
        </p:nvGrpSpPr>
        <p:grpSpPr>
          <a:xfrm>
            <a:off x="1507221" y="2436038"/>
            <a:ext cx="719667" cy="1196162"/>
            <a:chOff x="6239932" y="3048000"/>
            <a:chExt cx="719667" cy="1196162"/>
          </a:xfrm>
        </p:grpSpPr>
        <p:cxnSp>
          <p:nvCxnSpPr>
            <p:cNvPr id="1024" name="Straight Connector 1023"/>
            <p:cNvCxnSpPr/>
            <p:nvPr/>
          </p:nvCxnSpPr>
          <p:spPr>
            <a:xfrm>
              <a:off x="6629399" y="3665828"/>
              <a:ext cx="0" cy="33677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9" name="Group 1028"/>
            <p:cNvGrpSpPr/>
            <p:nvPr/>
          </p:nvGrpSpPr>
          <p:grpSpPr>
            <a:xfrm>
              <a:off x="6239932" y="3048000"/>
              <a:ext cx="719667" cy="1196162"/>
              <a:chOff x="3513666" y="3392069"/>
              <a:chExt cx="719667" cy="1196162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4233333" y="3392069"/>
                <a:ext cx="0" cy="42639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 flipH="1">
                <a:off x="3911601" y="3818467"/>
                <a:ext cx="313266" cy="19989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" name="Straight Connector 1027"/>
              <p:cNvCxnSpPr/>
              <p:nvPr/>
            </p:nvCxnSpPr>
            <p:spPr>
              <a:xfrm flipH="1">
                <a:off x="3513666" y="4354190"/>
                <a:ext cx="397935" cy="23404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8" name="Straight Connector 77"/>
          <p:cNvCxnSpPr/>
          <p:nvPr/>
        </p:nvCxnSpPr>
        <p:spPr>
          <a:xfrm>
            <a:off x="8859095" y="2766342"/>
            <a:ext cx="0" cy="121614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8" name="Group 1037"/>
          <p:cNvGrpSpPr/>
          <p:nvPr/>
        </p:nvGrpSpPr>
        <p:grpSpPr>
          <a:xfrm>
            <a:off x="7649371" y="2177421"/>
            <a:ext cx="599929" cy="2412286"/>
            <a:chOff x="7649371" y="2177421"/>
            <a:chExt cx="599929" cy="2412286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8249300" y="3373563"/>
              <a:ext cx="0" cy="1216144"/>
            </a:xfrm>
            <a:prstGeom prst="line">
              <a:avLst/>
            </a:prstGeom>
            <a:ln w="31750">
              <a:solidFill>
                <a:schemeClr val="tx1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8249300" y="2177421"/>
              <a:ext cx="0" cy="1216144"/>
            </a:xfrm>
            <a:prstGeom prst="line">
              <a:avLst/>
            </a:prstGeom>
            <a:ln w="31750">
              <a:solidFill>
                <a:schemeClr val="tx1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7649371" y="2782571"/>
              <a:ext cx="0" cy="121614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0" name="Group 1049"/>
          <p:cNvGrpSpPr/>
          <p:nvPr/>
        </p:nvGrpSpPr>
        <p:grpSpPr>
          <a:xfrm>
            <a:off x="7645400" y="2793170"/>
            <a:ext cx="876723" cy="849165"/>
            <a:chOff x="7645400" y="2793170"/>
            <a:chExt cx="876723" cy="849165"/>
          </a:xfrm>
        </p:grpSpPr>
        <p:cxnSp>
          <p:nvCxnSpPr>
            <p:cNvPr id="86" name="Straight Connector 85"/>
            <p:cNvCxnSpPr/>
            <p:nvPr/>
          </p:nvCxnSpPr>
          <p:spPr>
            <a:xfrm>
              <a:off x="8517624" y="2793170"/>
              <a:ext cx="4499" cy="45206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/>
            <p:cNvCxnSpPr/>
            <p:nvPr/>
          </p:nvCxnSpPr>
          <p:spPr>
            <a:xfrm flipH="1">
              <a:off x="8077201" y="3230721"/>
              <a:ext cx="44042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8085823" y="3213251"/>
              <a:ext cx="0" cy="4206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H="1">
              <a:off x="7645400" y="3642335"/>
              <a:ext cx="44042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3433072" y="2026206"/>
            <a:ext cx="493616" cy="707257"/>
            <a:chOff x="4981171" y="4331855"/>
            <a:chExt cx="493616" cy="707257"/>
          </a:xfrm>
        </p:grpSpPr>
        <p:sp>
          <p:nvSpPr>
            <p:cNvPr id="108" name="Right Arrow 107"/>
            <p:cNvSpPr/>
            <p:nvPr/>
          </p:nvSpPr>
          <p:spPr>
            <a:xfrm>
              <a:off x="4981171" y="4331855"/>
              <a:ext cx="486756" cy="295563"/>
            </a:xfrm>
            <a:prstGeom prst="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013635" y="4669780"/>
              <a:ext cx="461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T.V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669310" y="5285103"/>
            <a:ext cx="1883450" cy="1000791"/>
            <a:chOff x="2669310" y="5285103"/>
            <a:chExt cx="1883450" cy="1000791"/>
          </a:xfrm>
        </p:grpSpPr>
        <p:cxnSp>
          <p:nvCxnSpPr>
            <p:cNvPr id="64" name="Straight Connector 63"/>
            <p:cNvCxnSpPr/>
            <p:nvPr/>
          </p:nvCxnSpPr>
          <p:spPr>
            <a:xfrm>
              <a:off x="2669310" y="5882202"/>
              <a:ext cx="825886" cy="40369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3495196" y="5692058"/>
              <a:ext cx="1057564" cy="59383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3726874" y="5288366"/>
              <a:ext cx="825886" cy="40369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2678545" y="5285103"/>
              <a:ext cx="1057564" cy="59383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2670077" y="4479636"/>
            <a:ext cx="1882683" cy="1806258"/>
            <a:chOff x="2670077" y="4479636"/>
            <a:chExt cx="1882683" cy="1806258"/>
          </a:xfrm>
        </p:grpSpPr>
        <p:cxnSp>
          <p:nvCxnSpPr>
            <p:cNvPr id="1052" name="Straight Arrow Connector 1051"/>
            <p:cNvCxnSpPr/>
            <p:nvPr/>
          </p:nvCxnSpPr>
          <p:spPr>
            <a:xfrm flipH="1">
              <a:off x="2670077" y="4669780"/>
              <a:ext cx="8468" cy="1211076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>
              <a:off x="3495963" y="5073472"/>
              <a:ext cx="0" cy="121242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>
              <a:off x="3726873" y="4953913"/>
              <a:ext cx="1" cy="321405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/>
            <p:nvPr/>
          </p:nvCxnSpPr>
          <p:spPr>
            <a:xfrm>
              <a:off x="4552760" y="4479636"/>
              <a:ext cx="0" cy="121242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/>
          <p:cNvSpPr/>
          <p:nvPr/>
        </p:nvSpPr>
        <p:spPr>
          <a:xfrm>
            <a:off x="7654636" y="4898497"/>
            <a:ext cx="1213695" cy="828051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/>
          <p:cNvGrpSpPr/>
          <p:nvPr/>
        </p:nvGrpSpPr>
        <p:grpSpPr>
          <a:xfrm>
            <a:off x="7654636" y="3996322"/>
            <a:ext cx="1204459" cy="871302"/>
            <a:chOff x="7654636" y="3996322"/>
            <a:chExt cx="1204459" cy="673458"/>
          </a:xfrm>
        </p:grpSpPr>
        <p:cxnSp>
          <p:nvCxnSpPr>
            <p:cNvPr id="133" name="Straight Arrow Connector 132"/>
            <p:cNvCxnSpPr/>
            <p:nvPr/>
          </p:nvCxnSpPr>
          <p:spPr>
            <a:xfrm>
              <a:off x="8261483" y="3998715"/>
              <a:ext cx="0" cy="671065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>
              <a:off x="8859095" y="3996322"/>
              <a:ext cx="0" cy="671065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/>
            <p:nvPr/>
          </p:nvCxnSpPr>
          <p:spPr>
            <a:xfrm>
              <a:off x="7654636" y="3998715"/>
              <a:ext cx="0" cy="671065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/>
          <p:cNvGrpSpPr/>
          <p:nvPr/>
        </p:nvGrpSpPr>
        <p:grpSpPr>
          <a:xfrm>
            <a:off x="3082253" y="5674733"/>
            <a:ext cx="1131671" cy="409316"/>
            <a:chOff x="3082253" y="5674733"/>
            <a:chExt cx="1131671" cy="409316"/>
          </a:xfrm>
        </p:grpSpPr>
        <p:cxnSp>
          <p:nvCxnSpPr>
            <p:cNvPr id="146" name="Straight Connector 145"/>
            <p:cNvCxnSpPr/>
            <p:nvPr/>
          </p:nvCxnSpPr>
          <p:spPr>
            <a:xfrm flipV="1">
              <a:off x="3082253" y="5679683"/>
              <a:ext cx="744842" cy="40436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3800981" y="5674733"/>
              <a:ext cx="412943" cy="20612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3473409" y="5858875"/>
              <a:ext cx="412943" cy="20612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>
            <a:off x="7645400" y="5362153"/>
            <a:ext cx="881222" cy="364395"/>
            <a:chOff x="7645400" y="5362153"/>
            <a:chExt cx="881222" cy="364395"/>
          </a:xfrm>
        </p:grpSpPr>
        <p:cxnSp>
          <p:nvCxnSpPr>
            <p:cNvPr id="155" name="Straight Connector 154"/>
            <p:cNvCxnSpPr/>
            <p:nvPr/>
          </p:nvCxnSpPr>
          <p:spPr>
            <a:xfrm>
              <a:off x="8526622" y="5362153"/>
              <a:ext cx="0" cy="34894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8085823" y="5377599"/>
              <a:ext cx="0" cy="34894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>
              <a:off x="7645400" y="5377599"/>
              <a:ext cx="88122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>
            <a:off x="8812915" y="2793170"/>
            <a:ext cx="1827376" cy="2933378"/>
            <a:chOff x="8812915" y="2793170"/>
            <a:chExt cx="1827376" cy="2933378"/>
          </a:xfrm>
        </p:grpSpPr>
        <p:grpSp>
          <p:nvGrpSpPr>
            <p:cNvPr id="118" name="Group 117"/>
            <p:cNvGrpSpPr/>
            <p:nvPr/>
          </p:nvGrpSpPr>
          <p:grpSpPr>
            <a:xfrm>
              <a:off x="8812915" y="4898497"/>
              <a:ext cx="1827376" cy="828051"/>
              <a:chOff x="8812915" y="4898497"/>
              <a:chExt cx="1827376" cy="828051"/>
            </a:xfrm>
          </p:grpSpPr>
          <p:cxnSp>
            <p:nvCxnSpPr>
              <p:cNvPr id="163" name="Straight Arrow Connector 162"/>
              <p:cNvCxnSpPr/>
              <p:nvPr/>
            </p:nvCxnSpPr>
            <p:spPr>
              <a:xfrm>
                <a:off x="8812915" y="4898497"/>
                <a:ext cx="963777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/>
              <p:cNvCxnSpPr/>
              <p:nvPr/>
            </p:nvCxnSpPr>
            <p:spPr>
              <a:xfrm>
                <a:off x="8857499" y="5342287"/>
                <a:ext cx="1367155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/>
              <p:cNvCxnSpPr/>
              <p:nvPr/>
            </p:nvCxnSpPr>
            <p:spPr>
              <a:xfrm>
                <a:off x="8865139" y="5725598"/>
                <a:ext cx="1775152" cy="95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/>
            <p:cNvGrpSpPr/>
            <p:nvPr/>
          </p:nvGrpSpPr>
          <p:grpSpPr>
            <a:xfrm>
              <a:off x="8857411" y="2793170"/>
              <a:ext cx="919281" cy="1167505"/>
              <a:chOff x="8857411" y="2793170"/>
              <a:chExt cx="919281" cy="1167505"/>
            </a:xfrm>
          </p:grpSpPr>
          <p:cxnSp>
            <p:nvCxnSpPr>
              <p:cNvPr id="174" name="Straight Arrow Connector 173"/>
              <p:cNvCxnSpPr/>
              <p:nvPr/>
            </p:nvCxnSpPr>
            <p:spPr>
              <a:xfrm flipV="1">
                <a:off x="8857411" y="3399639"/>
                <a:ext cx="896988" cy="148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175"/>
              <p:cNvCxnSpPr/>
              <p:nvPr/>
            </p:nvCxnSpPr>
            <p:spPr>
              <a:xfrm>
                <a:off x="8859095" y="3960675"/>
                <a:ext cx="917597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/>
              <p:cNvCxnSpPr/>
              <p:nvPr/>
            </p:nvCxnSpPr>
            <p:spPr>
              <a:xfrm>
                <a:off x="8857411" y="2793170"/>
                <a:ext cx="895304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0" name="Group 179"/>
          <p:cNvGrpSpPr/>
          <p:nvPr/>
        </p:nvGrpSpPr>
        <p:grpSpPr>
          <a:xfrm>
            <a:off x="1673357" y="4719843"/>
            <a:ext cx="508107" cy="707257"/>
            <a:chOff x="4981171" y="4331855"/>
            <a:chExt cx="508107" cy="707257"/>
          </a:xfrm>
        </p:grpSpPr>
        <p:sp>
          <p:nvSpPr>
            <p:cNvPr id="181" name="Right Arrow 180"/>
            <p:cNvSpPr/>
            <p:nvPr/>
          </p:nvSpPr>
          <p:spPr>
            <a:xfrm>
              <a:off x="4981171" y="4331855"/>
              <a:ext cx="486756" cy="295563"/>
            </a:xfrm>
            <a:prstGeom prst="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  <a:scene3d>
              <a:camera prst="orthographicFront">
                <a:rot lat="0" lon="0" rev="21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013635" y="4669780"/>
              <a:ext cx="475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S.V</a:t>
              </a: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3708167" y="2102922"/>
            <a:ext cx="2277411" cy="2364638"/>
            <a:chOff x="3708167" y="2102922"/>
            <a:chExt cx="2277411" cy="2364638"/>
          </a:xfrm>
        </p:grpSpPr>
        <p:cxnSp>
          <p:nvCxnSpPr>
            <p:cNvPr id="122" name="Straight Arrow Connector 121"/>
            <p:cNvCxnSpPr/>
            <p:nvPr/>
          </p:nvCxnSpPr>
          <p:spPr>
            <a:xfrm flipV="1">
              <a:off x="3708167" y="2102922"/>
              <a:ext cx="1414346" cy="75323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/>
            <p:cNvCxnSpPr/>
            <p:nvPr/>
          </p:nvCxnSpPr>
          <p:spPr>
            <a:xfrm flipV="1">
              <a:off x="4552760" y="3303867"/>
              <a:ext cx="589316" cy="30559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Arrow Connector 188"/>
            <p:cNvCxnSpPr/>
            <p:nvPr/>
          </p:nvCxnSpPr>
          <p:spPr>
            <a:xfrm flipV="1">
              <a:off x="4552760" y="2504659"/>
              <a:ext cx="1414346" cy="75323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/>
            <p:cNvCxnSpPr/>
            <p:nvPr/>
          </p:nvCxnSpPr>
          <p:spPr>
            <a:xfrm flipV="1">
              <a:off x="4571232" y="3714322"/>
              <a:ext cx="1414346" cy="75323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>
            <a:off x="5122513" y="2087723"/>
            <a:ext cx="844593" cy="1647920"/>
            <a:chOff x="5122513" y="2087723"/>
            <a:chExt cx="844593" cy="164792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5122513" y="2102922"/>
              <a:ext cx="825887" cy="41657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5141219" y="3293886"/>
              <a:ext cx="825887" cy="41657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>
              <a:off x="5966872" y="2519499"/>
              <a:ext cx="0" cy="121614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5131749" y="2087723"/>
              <a:ext cx="0" cy="121614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Rectangle 201"/>
          <p:cNvSpPr/>
          <p:nvPr/>
        </p:nvSpPr>
        <p:spPr>
          <a:xfrm>
            <a:off x="9580862" y="2960388"/>
            <a:ext cx="1187485" cy="828051"/>
          </a:xfrm>
          <a:prstGeom prst="rect">
            <a:avLst/>
          </a:prstGeom>
          <a:noFill/>
          <a:ln w="3175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5507982" y="2299479"/>
            <a:ext cx="459124" cy="994407"/>
            <a:chOff x="5507982" y="2299479"/>
            <a:chExt cx="459124" cy="994407"/>
          </a:xfrm>
        </p:grpSpPr>
        <p:cxnSp>
          <p:nvCxnSpPr>
            <p:cNvPr id="170" name="Straight Connector 169"/>
            <p:cNvCxnSpPr/>
            <p:nvPr/>
          </p:nvCxnSpPr>
          <p:spPr>
            <a:xfrm>
              <a:off x="5507982" y="2299479"/>
              <a:ext cx="0" cy="76285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>
              <a:off x="5507982" y="3062333"/>
              <a:ext cx="458890" cy="23155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5508216" y="2691243"/>
              <a:ext cx="458890" cy="23155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>
            <a:off x="10224654" y="2793170"/>
            <a:ext cx="384048" cy="849165"/>
            <a:chOff x="10224654" y="2793170"/>
            <a:chExt cx="384048" cy="849165"/>
          </a:xfrm>
        </p:grpSpPr>
        <p:cxnSp>
          <p:nvCxnSpPr>
            <p:cNvPr id="162" name="Straight Connector 161"/>
            <p:cNvCxnSpPr/>
            <p:nvPr/>
          </p:nvCxnSpPr>
          <p:spPr>
            <a:xfrm>
              <a:off x="10224654" y="2793170"/>
              <a:ext cx="0" cy="84916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>
            <a:xfrm>
              <a:off x="10224654" y="3642335"/>
              <a:ext cx="38404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10224654" y="3222487"/>
              <a:ext cx="38404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>
            <a:off x="8077201" y="3230721"/>
            <a:ext cx="2526881" cy="2514299"/>
            <a:chOff x="8077201" y="3230721"/>
            <a:chExt cx="2526881" cy="2514299"/>
          </a:xfrm>
        </p:grpSpPr>
        <p:cxnSp>
          <p:nvCxnSpPr>
            <p:cNvPr id="148" name="Straight Connector 147"/>
            <p:cNvCxnSpPr/>
            <p:nvPr/>
          </p:nvCxnSpPr>
          <p:spPr>
            <a:xfrm>
              <a:off x="8268252" y="5371684"/>
              <a:ext cx="2011831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8" name="Group 207"/>
            <p:cNvGrpSpPr/>
            <p:nvPr/>
          </p:nvGrpSpPr>
          <p:grpSpPr>
            <a:xfrm>
              <a:off x="8077201" y="3230721"/>
              <a:ext cx="2526881" cy="2514299"/>
              <a:chOff x="8077201" y="3230721"/>
              <a:chExt cx="2526881" cy="2514299"/>
            </a:xfrm>
          </p:grpSpPr>
          <p:cxnSp>
            <p:nvCxnSpPr>
              <p:cNvPr id="165" name="Straight Connector 164"/>
              <p:cNvCxnSpPr/>
              <p:nvPr/>
            </p:nvCxnSpPr>
            <p:spPr>
              <a:xfrm>
                <a:off x="8077201" y="3642335"/>
                <a:ext cx="2147453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/>
              <p:cNvCxnSpPr/>
              <p:nvPr/>
            </p:nvCxnSpPr>
            <p:spPr>
              <a:xfrm>
                <a:off x="8517624" y="3230721"/>
                <a:ext cx="170703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>
              <a:xfrm flipV="1">
                <a:off x="9754399" y="3960675"/>
                <a:ext cx="0" cy="93782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/>
              <p:cNvCxnSpPr/>
              <p:nvPr/>
            </p:nvCxnSpPr>
            <p:spPr>
              <a:xfrm flipV="1">
                <a:off x="10224654" y="3609461"/>
                <a:ext cx="0" cy="181763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/>
              <p:cNvCxnSpPr/>
              <p:nvPr/>
            </p:nvCxnSpPr>
            <p:spPr>
              <a:xfrm flipV="1">
                <a:off x="10604082" y="3927381"/>
                <a:ext cx="0" cy="181763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0" name="Rounded Rectangle 10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="" xmlns:a16="http://schemas.microsoft.com/office/drawing/2014/main" id="{D326E9F5-BB63-1D44-1A5B-533D3810367A}"/>
              </a:ext>
            </a:extLst>
          </p:cNvPr>
          <p:cNvSpPr/>
          <p:nvPr/>
        </p:nvSpPr>
        <p:spPr>
          <a:xfrm>
            <a:off x="-8390" y="1193502"/>
            <a:ext cx="12444549" cy="397346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a.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ba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của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vật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thể</a:t>
            </a:r>
            <a:endParaRPr lang="en-US" sz="26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24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3" grpId="0" animBg="1"/>
      <p:bldP spid="20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-33457" y="1544122"/>
            <a:ext cx="11762072" cy="548641"/>
          </a:xfrm>
          <a:prstGeom prst="roundRect">
            <a:avLst/>
          </a:prstGeom>
          <a:solidFill>
            <a:schemeClr val="bg1">
              <a:alpha val="82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chemeClr val="tx1"/>
                </a:solidFill>
              </a:rPr>
              <a:t>Ví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dụ</a:t>
            </a:r>
            <a:r>
              <a:rPr lang="en-US" sz="2400" b="1" dirty="0">
                <a:solidFill>
                  <a:schemeClr val="tx1"/>
                </a:solidFill>
              </a:rPr>
              <a:t> 2: </a:t>
            </a:r>
            <a:r>
              <a:rPr lang="en-US" sz="2400" b="1" dirty="0" err="1">
                <a:solidFill>
                  <a:schemeClr val="tx1"/>
                </a:solidFill>
              </a:rPr>
              <a:t>biểu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diễn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vật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thể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bằng</a:t>
            </a:r>
            <a:r>
              <a:rPr lang="en-US" sz="2400" b="1" dirty="0">
                <a:solidFill>
                  <a:schemeClr val="tx1"/>
                </a:solidFill>
              </a:rPr>
              <a:t> 3 </a:t>
            </a:r>
            <a:r>
              <a:rPr lang="en-US" sz="2400" b="1" dirty="0" err="1">
                <a:solidFill>
                  <a:schemeClr val="tx1"/>
                </a:solidFill>
              </a:rPr>
              <a:t>hình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chiếu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cơ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bản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  <a:r>
              <a:rPr lang="en-US" sz="2400" b="1" u="sng" dirty="0">
                <a:solidFill>
                  <a:schemeClr val="tx1"/>
                </a:solidFill>
              </a:rPr>
              <a:t>  </a:t>
            </a:r>
          </a:p>
        </p:txBody>
      </p:sp>
      <p:pic>
        <p:nvPicPr>
          <p:cNvPr id="8" name="Picture 7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20" r="30027"/>
          <a:stretch/>
        </p:blipFill>
        <p:spPr bwMode="auto">
          <a:xfrm>
            <a:off x="1311965" y="2287213"/>
            <a:ext cx="4286452" cy="39662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6" r="18459"/>
          <a:stretch/>
        </p:blipFill>
        <p:spPr bwMode="auto">
          <a:xfrm>
            <a:off x="6353928" y="2101903"/>
            <a:ext cx="4526107" cy="419972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="" xmlns:a16="http://schemas.microsoft.com/office/drawing/2014/main" id="{BE8A8D6F-5FC7-003C-64BC-C74821DE4F4E}"/>
              </a:ext>
            </a:extLst>
          </p:cNvPr>
          <p:cNvSpPr/>
          <p:nvPr/>
        </p:nvSpPr>
        <p:spPr>
          <a:xfrm>
            <a:off x="-8390" y="1193502"/>
            <a:ext cx="12444549" cy="397346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a.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ba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của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vật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thể</a:t>
            </a:r>
            <a:endParaRPr lang="en-US" sz="26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79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348" y="1294250"/>
            <a:ext cx="10838047" cy="49236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-33457" y="1544122"/>
            <a:ext cx="11762072" cy="548641"/>
          </a:xfrm>
          <a:prstGeom prst="roundRect">
            <a:avLst/>
          </a:prstGeom>
          <a:solidFill>
            <a:schemeClr val="bg1">
              <a:alpha val="82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chemeClr val="tx1"/>
                </a:solidFill>
              </a:rPr>
              <a:t>Ví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dụ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</a:rPr>
              <a:t>3: </a:t>
            </a:r>
            <a:r>
              <a:rPr lang="en-US" sz="2400" b="1" dirty="0" err="1">
                <a:solidFill>
                  <a:schemeClr val="tx1"/>
                </a:solidFill>
              </a:rPr>
              <a:t>biểu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diễn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vật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thể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bằng</a:t>
            </a:r>
            <a:r>
              <a:rPr lang="en-US" sz="2400" b="1" dirty="0">
                <a:solidFill>
                  <a:schemeClr val="tx1"/>
                </a:solidFill>
              </a:rPr>
              <a:t> 3 </a:t>
            </a:r>
            <a:r>
              <a:rPr lang="en-US" sz="2400" b="1" dirty="0" err="1">
                <a:solidFill>
                  <a:schemeClr val="tx1"/>
                </a:solidFill>
              </a:rPr>
              <a:t>hình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chiếu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cơ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bản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  <a:r>
              <a:rPr lang="en-US" sz="2400" b="1" u="sng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="" xmlns:a16="http://schemas.microsoft.com/office/drawing/2014/main" id="{BE8A8D6F-5FC7-003C-64BC-C74821DE4F4E}"/>
              </a:ext>
            </a:extLst>
          </p:cNvPr>
          <p:cNvSpPr/>
          <p:nvPr/>
        </p:nvSpPr>
        <p:spPr>
          <a:xfrm>
            <a:off x="-8390" y="1193502"/>
            <a:ext cx="12444549" cy="397346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a.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ba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của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vật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thể</a:t>
            </a:r>
            <a:endParaRPr lang="en-US" sz="26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="" xmlns:a16="http://schemas.microsoft.com/office/drawing/2014/main" id="{4298DD01-EB9C-A44A-EE53-01F1F0DE40D6}"/>
                  </a:ext>
                </a:extLst>
              </p14:cNvPr>
              <p14:cNvContentPartPr/>
              <p14:nvPr/>
            </p14:nvContentPartPr>
            <p14:xfrm>
              <a:off x="6082034" y="2741497"/>
              <a:ext cx="231120" cy="414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298DD01-EB9C-A44A-EE53-01F1F0DE40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8034" y="2633497"/>
                <a:ext cx="33876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="" xmlns:a16="http://schemas.microsoft.com/office/drawing/2014/main" id="{7FBFF926-DA9A-EA15-9D00-F8152BA4CD6B}"/>
                  </a:ext>
                </a:extLst>
              </p14:cNvPr>
              <p14:cNvContentPartPr/>
              <p14:nvPr/>
            </p14:nvContentPartPr>
            <p14:xfrm>
              <a:off x="6084194" y="2751937"/>
              <a:ext cx="360" cy="194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FBFF926-DA9A-EA15-9D00-F8152BA4CD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0194" y="2643937"/>
                <a:ext cx="10800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="" xmlns:a16="http://schemas.microsoft.com/office/drawing/2014/main" id="{994E1DFC-1B19-E020-0297-90B24CB2A53E}"/>
                  </a:ext>
                </a:extLst>
              </p14:cNvPr>
              <p14:cNvContentPartPr/>
              <p14:nvPr/>
            </p14:nvContentPartPr>
            <p14:xfrm>
              <a:off x="6074474" y="2883697"/>
              <a:ext cx="27360" cy="312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94E1DFC-1B19-E020-0297-90B24CB2A5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0834" y="2776057"/>
                <a:ext cx="13500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="" xmlns:a16="http://schemas.microsoft.com/office/drawing/2014/main" id="{F40272FA-A3B8-B08E-22FE-545D4AF81DD3}"/>
                  </a:ext>
                </a:extLst>
              </p14:cNvPr>
              <p14:cNvContentPartPr/>
              <p14:nvPr/>
            </p14:nvContentPartPr>
            <p14:xfrm>
              <a:off x="5925794" y="2681377"/>
              <a:ext cx="9360" cy="159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40272FA-A3B8-B08E-22FE-545D4AF81D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72154" y="2573737"/>
                <a:ext cx="1170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="" xmlns:a16="http://schemas.microsoft.com/office/drawing/2014/main" id="{60519904-F67D-CC42-7B26-E1471F85BC60}"/>
                  </a:ext>
                </a:extLst>
              </p14:cNvPr>
              <p14:cNvContentPartPr/>
              <p14:nvPr/>
            </p14:nvContentPartPr>
            <p14:xfrm>
              <a:off x="5925794" y="2663737"/>
              <a:ext cx="30240" cy="455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0519904-F67D-CC42-7B26-E1471F85BC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2154" y="2556097"/>
                <a:ext cx="13788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="" xmlns:a16="http://schemas.microsoft.com/office/drawing/2014/main" id="{2F3BD69D-447D-50B0-4111-0B74E2753FFC}"/>
                  </a:ext>
                </a:extLst>
              </p14:cNvPr>
              <p14:cNvContentPartPr/>
              <p14:nvPr/>
            </p14:nvContentPartPr>
            <p14:xfrm>
              <a:off x="6045314" y="2769577"/>
              <a:ext cx="3960" cy="248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F3BD69D-447D-50B0-4111-0B74E2753FF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91674" y="2661577"/>
                <a:ext cx="11160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517191D2-A183-5EF0-C054-C4FD3C81569F}"/>
                  </a:ext>
                </a:extLst>
              </p14:cNvPr>
              <p14:cNvContentPartPr/>
              <p14:nvPr/>
            </p14:nvContentPartPr>
            <p14:xfrm>
              <a:off x="6084194" y="2514697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17191D2-A183-5EF0-C054-C4FD3C81569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30194" y="2406697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="" xmlns:a16="http://schemas.microsoft.com/office/drawing/2014/main" id="{6BAA943B-1F6E-49A6-63B0-56A717F0DBAB}"/>
                  </a:ext>
                </a:extLst>
              </p14:cNvPr>
              <p14:cNvContentPartPr/>
              <p14:nvPr/>
            </p14:nvContentPartPr>
            <p14:xfrm>
              <a:off x="5811674" y="2980537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BAA943B-1F6E-49A6-63B0-56A717F0DB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57674" y="2872537"/>
                <a:ext cx="108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4D244EFF-AD29-9141-0A9C-056CFF358C57}"/>
              </a:ext>
            </a:extLst>
          </p:cNvPr>
          <p:cNvGrpSpPr/>
          <p:nvPr/>
        </p:nvGrpSpPr>
        <p:grpSpPr>
          <a:xfrm>
            <a:off x="1185636" y="2269128"/>
            <a:ext cx="3772426" cy="4129308"/>
            <a:chOff x="1185636" y="2269128"/>
            <a:chExt cx="3772426" cy="4129308"/>
          </a:xfrm>
        </p:grpSpPr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A05C9D3A-B509-5A48-B4A8-31AFCE930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85636" y="2269128"/>
              <a:ext cx="3772426" cy="377242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9934D368-A795-C625-675B-E4E1936EB611}"/>
                </a:ext>
              </a:extLst>
            </p:cNvPr>
            <p:cNvSpPr txBox="1"/>
            <p:nvPr/>
          </p:nvSpPr>
          <p:spPr>
            <a:xfrm>
              <a:off x="2996366" y="5936771"/>
              <a:ext cx="1137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a.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80D841F1-CC44-469C-AA54-9FB51F7EA8D5}"/>
              </a:ext>
            </a:extLst>
          </p:cNvPr>
          <p:cNvGrpSpPr/>
          <p:nvPr/>
        </p:nvGrpSpPr>
        <p:grpSpPr>
          <a:xfrm>
            <a:off x="6177844" y="2086068"/>
            <a:ext cx="8318944" cy="4232485"/>
            <a:chOff x="6177844" y="2086068"/>
            <a:chExt cx="8318944" cy="4232485"/>
          </a:xfrm>
        </p:grpSpPr>
        <p:grpSp>
          <p:nvGrpSpPr>
            <p:cNvPr id="22" name="Group 21">
              <a:extLst>
                <a:ext uri="{FF2B5EF4-FFF2-40B4-BE49-F238E27FC236}">
                  <a16:creationId xmlns="" xmlns:a16="http://schemas.microsoft.com/office/drawing/2014/main" id="{4E9FB658-B5AA-16F1-E5B6-9346258063F7}"/>
                </a:ext>
              </a:extLst>
            </p:cNvPr>
            <p:cNvGrpSpPr/>
            <p:nvPr/>
          </p:nvGrpSpPr>
          <p:grpSpPr>
            <a:xfrm>
              <a:off x="6177844" y="2086068"/>
              <a:ext cx="3836289" cy="3955486"/>
              <a:chOff x="6177844" y="2086068"/>
              <a:chExt cx="3836289" cy="395548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="" xmlns:a16="http://schemas.microsoft.com/office/drawing/2014/main" id="{2F9A60AD-2E2E-3627-61B3-0E3D9D2DE0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/>
              <a:srcRect l="3889"/>
              <a:stretch/>
            </p:blipFill>
            <p:spPr>
              <a:xfrm>
                <a:off x="6177844" y="2202443"/>
                <a:ext cx="3836289" cy="3839111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="" xmlns:a16="http://schemas.microsoft.com/office/drawing/2014/main" id="{51ADE80E-AB9D-63AF-0965-3F6731EE6C5C}"/>
                  </a:ext>
                </a:extLst>
              </p:cNvPr>
              <p:cNvSpPr/>
              <p:nvPr/>
            </p:nvSpPr>
            <p:spPr>
              <a:xfrm>
                <a:off x="6191658" y="2086068"/>
                <a:ext cx="361498" cy="19077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68E931FE-1BE7-6261-57A5-4FB8D39EFF17}"/>
                </a:ext>
              </a:extLst>
            </p:cNvPr>
            <p:cNvSpPr txBox="1"/>
            <p:nvPr/>
          </p:nvSpPr>
          <p:spPr>
            <a:xfrm>
              <a:off x="8095988" y="5856888"/>
              <a:ext cx="64008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/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20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" y="107258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3145" y="1612411"/>
            <a:ext cx="11785015" cy="83166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 err="1">
                <a:solidFill>
                  <a:schemeClr val="tx1"/>
                </a:solidFill>
              </a:rPr>
              <a:t>Bài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toán</a:t>
            </a:r>
            <a:r>
              <a:rPr lang="en-US" sz="2800" dirty="0">
                <a:solidFill>
                  <a:schemeClr val="tx1"/>
                </a:solidFill>
              </a:rPr>
              <a:t>: Cho 2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một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(HCĐ, HCB), </a:t>
            </a:r>
            <a:r>
              <a:rPr lang="en-US" sz="2800" dirty="0" err="1">
                <a:solidFill>
                  <a:schemeClr val="tx1"/>
                </a:solidFill>
              </a:rPr>
              <a:t>dựng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thứ</a:t>
            </a:r>
            <a:r>
              <a:rPr lang="en-US" sz="2800" dirty="0">
                <a:solidFill>
                  <a:schemeClr val="tx1"/>
                </a:solidFill>
              </a:rPr>
              <a:t> 3 (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cạnh</a:t>
            </a:r>
            <a:r>
              <a:rPr lang="en-US" sz="2800" dirty="0">
                <a:solidFill>
                  <a:schemeClr val="tx1"/>
                </a:solidFill>
              </a:rPr>
              <a:t>).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059" y="2492570"/>
            <a:ext cx="387667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734" y="2765620"/>
            <a:ext cx="24765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594764" y="2586182"/>
            <a:ext cx="2595418" cy="18177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5. 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58" y="679564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800" b="1" i="1" dirty="0">
                <a:solidFill>
                  <a:schemeClr val="tx1"/>
                </a:solidFill>
              </a:rPr>
              <a:t>*</a:t>
            </a:r>
            <a:r>
              <a:rPr lang="en-US" sz="2800" b="1" i="1" dirty="0" smtClean="0">
                <a:solidFill>
                  <a:schemeClr val="tx1"/>
                </a:solidFill>
              </a:rPr>
              <a:t> </a:t>
            </a:r>
            <a:r>
              <a:rPr lang="en-US" sz="2800" b="1" i="1" dirty="0" err="1" smtClean="0">
                <a:solidFill>
                  <a:schemeClr val="tx1"/>
                </a:solidFill>
              </a:rPr>
              <a:t>Đọc</a:t>
            </a:r>
            <a:r>
              <a:rPr lang="en-US" sz="2800" b="1" i="1" dirty="0" smtClean="0">
                <a:solidFill>
                  <a:schemeClr val="tx1"/>
                </a:solidFill>
              </a:rPr>
              <a:t> </a:t>
            </a:r>
            <a:r>
              <a:rPr lang="en-US" sz="2800" b="1" i="1" dirty="0" err="1" smtClean="0">
                <a:solidFill>
                  <a:schemeClr val="tx1"/>
                </a:solidFill>
              </a:rPr>
              <a:t>bản</a:t>
            </a:r>
            <a:r>
              <a:rPr lang="en-US" sz="2800" b="1" i="1" dirty="0" smtClean="0">
                <a:solidFill>
                  <a:schemeClr val="tx1"/>
                </a:solidFill>
              </a:rPr>
              <a:t> </a:t>
            </a:r>
            <a:r>
              <a:rPr lang="en-US" sz="2800" b="1" i="1" dirty="0" err="1" smtClean="0">
                <a:solidFill>
                  <a:schemeClr val="tx1"/>
                </a:solidFill>
              </a:rPr>
              <a:t>vẽ</a:t>
            </a:r>
            <a:r>
              <a:rPr lang="en-US" sz="2800" b="1" i="1" dirty="0" smtClean="0">
                <a:solidFill>
                  <a:schemeClr val="tx1"/>
                </a:solidFill>
              </a:rPr>
              <a:t> </a:t>
            </a:r>
            <a:r>
              <a:rPr lang="en-US" sz="2800" b="1" i="1" dirty="0" err="1" smtClean="0">
                <a:solidFill>
                  <a:schemeClr val="tx1"/>
                </a:solidFill>
              </a:rPr>
              <a:t>và</a:t>
            </a:r>
            <a:r>
              <a:rPr lang="en-US" sz="2800" b="1" i="1" dirty="0" smtClean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d</a:t>
            </a:r>
            <a:r>
              <a:rPr lang="en-US" sz="2800" b="1" i="1" dirty="0" err="1" smtClean="0">
                <a:solidFill>
                  <a:schemeClr val="tx1"/>
                </a:solidFill>
              </a:rPr>
              <a:t>ựng</a:t>
            </a:r>
            <a:r>
              <a:rPr lang="en-US" sz="2800" b="1" i="1" dirty="0" smtClean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hình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chiếu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thứ</a:t>
            </a:r>
            <a:r>
              <a:rPr lang="en-US" sz="2800" b="1" i="1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57" y="1262130"/>
            <a:ext cx="11922403" cy="559587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/>
            <a:r>
              <a:rPr lang="en-US" sz="3000" b="1" dirty="0" smtClean="0">
                <a:solidFill>
                  <a:srgbClr val="FF0000"/>
                </a:solidFill>
              </a:rPr>
              <a:t>* </a:t>
            </a:r>
            <a:r>
              <a:rPr lang="en-US" sz="3000" b="1" dirty="0" err="1" smtClean="0">
                <a:solidFill>
                  <a:srgbClr val="FF0000"/>
                </a:solidFill>
              </a:rPr>
              <a:t>Đọc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bản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vẽ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chiếu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là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một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quá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tư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duy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không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gian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từ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các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phẳng</a:t>
            </a:r>
            <a:r>
              <a:rPr lang="en-US" sz="3000" dirty="0" smtClean="0">
                <a:solidFill>
                  <a:schemeClr val="tx1"/>
                </a:solidFill>
              </a:rPr>
              <a:t> 2 </a:t>
            </a:r>
            <a:r>
              <a:rPr lang="en-US" sz="3000" dirty="0" err="1" smtClean="0">
                <a:solidFill>
                  <a:schemeClr val="tx1"/>
                </a:solidFill>
              </a:rPr>
              <a:t>chiều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chuyển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hóa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thành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không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gian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ba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chiều</a:t>
            </a:r>
            <a:r>
              <a:rPr lang="en-US" sz="3000" dirty="0" smtClean="0">
                <a:solidFill>
                  <a:schemeClr val="tx1"/>
                </a:solidFill>
              </a:rPr>
              <a:t>. </a:t>
            </a:r>
            <a:r>
              <a:rPr lang="en-US" sz="3000" dirty="0" err="1" smtClean="0">
                <a:solidFill>
                  <a:schemeClr val="tx1"/>
                </a:solidFill>
              </a:rPr>
              <a:t>Cách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đọc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bản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vẽ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có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những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đặc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điểm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như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sau</a:t>
            </a:r>
            <a:r>
              <a:rPr lang="en-US" sz="3000" dirty="0" smtClean="0">
                <a:solidFill>
                  <a:schemeClr val="tx1"/>
                </a:solidFill>
              </a:rPr>
              <a:t>:</a:t>
            </a:r>
          </a:p>
          <a:p>
            <a:pPr marL="457200" indent="-457200" algn="just">
              <a:buFontTx/>
              <a:buChar char="-"/>
            </a:pPr>
            <a:r>
              <a:rPr lang="en-US" sz="3000" dirty="0" err="1" smtClean="0">
                <a:solidFill>
                  <a:schemeClr val="tx1"/>
                </a:solidFill>
              </a:rPr>
              <a:t>Khi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đọc</a:t>
            </a:r>
            <a:r>
              <a:rPr lang="en-US" sz="3000" dirty="0" smtClean="0">
                <a:solidFill>
                  <a:schemeClr val="tx1"/>
                </a:solidFill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</a:rPr>
              <a:t>người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đọc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phải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xác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định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đúng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hướng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nhìn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cho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từng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biểu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diễn</a:t>
            </a:r>
            <a:r>
              <a:rPr lang="en-US" sz="3000" dirty="0" smtClean="0">
                <a:solidFill>
                  <a:schemeClr val="tx1"/>
                </a:solidFill>
              </a:rPr>
              <a:t>. Theo </a:t>
            </a:r>
            <a:r>
              <a:rPr lang="en-US" sz="3000" dirty="0" err="1" smtClean="0">
                <a:solidFill>
                  <a:schemeClr val="tx1"/>
                </a:solidFill>
              </a:rPr>
              <a:t>các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hướng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nhìn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từ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trước</a:t>
            </a:r>
            <a:r>
              <a:rPr lang="en-US" sz="3000" dirty="0" smtClean="0">
                <a:solidFill>
                  <a:schemeClr val="tx1"/>
                </a:solidFill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</a:rPr>
              <a:t>từ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trên</a:t>
            </a:r>
            <a:r>
              <a:rPr lang="en-US" sz="3000" dirty="0" smtClean="0">
                <a:solidFill>
                  <a:schemeClr val="tx1"/>
                </a:solidFill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</a:rPr>
              <a:t>từ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trái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để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dung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dạng</a:t>
            </a: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mặt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trước</a:t>
            </a:r>
            <a:r>
              <a:rPr lang="en-US" sz="3000" dirty="0" smtClean="0">
                <a:solidFill>
                  <a:schemeClr val="tx1"/>
                </a:solidFill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</a:rPr>
              <a:t>mặt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trên</a:t>
            </a:r>
            <a:r>
              <a:rPr lang="en-US" sz="3000" dirty="0" smtClean="0">
                <a:solidFill>
                  <a:schemeClr val="tx1"/>
                </a:solidFill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</a:rPr>
              <a:t>mặt</a:t>
            </a: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trái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của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vật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thể</a:t>
            </a:r>
            <a:r>
              <a:rPr lang="en-US" sz="3000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Tx/>
              <a:buChar char="-"/>
            </a:pPr>
            <a:r>
              <a:rPr lang="en-US" sz="3000" dirty="0" err="1" smtClean="0">
                <a:solidFill>
                  <a:schemeClr val="tx1"/>
                </a:solidFill>
              </a:rPr>
              <a:t>Phải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nắm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chắc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đặc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điểm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chiếu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của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các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khối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học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cơ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bản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rồi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căn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cứ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theo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các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chiếu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mà</a:t>
            </a:r>
            <a:r>
              <a:rPr lang="en-US" sz="3000" dirty="0" smtClean="0">
                <a:solidFill>
                  <a:schemeClr val="tx1"/>
                </a:solidFill>
              </a:rPr>
              <a:t> chia </a:t>
            </a:r>
            <a:r>
              <a:rPr lang="en-US" sz="3000" dirty="0" err="1" smtClean="0">
                <a:solidFill>
                  <a:schemeClr val="tx1"/>
                </a:solidFill>
              </a:rPr>
              <a:t>vật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thể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thành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các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bộ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phận</a:t>
            </a:r>
            <a:r>
              <a:rPr lang="en-US" sz="3000" dirty="0" smtClean="0">
                <a:solidFill>
                  <a:schemeClr val="tx1"/>
                </a:solidFill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</a:rPr>
              <a:t>phân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tích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dạng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của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từng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bộ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phận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đến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dung </a:t>
            </a:r>
            <a:r>
              <a:rPr lang="en-US" sz="3000" dirty="0" err="1" smtClean="0">
                <a:solidFill>
                  <a:schemeClr val="tx1"/>
                </a:solidFill>
              </a:rPr>
              <a:t>toàn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bộ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vật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thể</a:t>
            </a:r>
            <a:r>
              <a:rPr lang="en-US" sz="3000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Tx/>
              <a:buChar char="-"/>
            </a:pPr>
            <a:r>
              <a:rPr lang="en-US" sz="3000" dirty="0" err="1" smtClean="0">
                <a:solidFill>
                  <a:schemeClr val="tx1"/>
                </a:solidFill>
              </a:rPr>
              <a:t>Phải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phân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tích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được</a:t>
            </a:r>
            <a:r>
              <a:rPr lang="en-US" sz="3000" dirty="0" smtClean="0">
                <a:solidFill>
                  <a:schemeClr val="tx1"/>
                </a:solidFill>
              </a:rPr>
              <a:t> ý </a:t>
            </a:r>
            <a:r>
              <a:rPr lang="en-US" sz="3000" dirty="0" err="1" smtClean="0">
                <a:solidFill>
                  <a:schemeClr val="tx1"/>
                </a:solidFill>
              </a:rPr>
              <a:t>nghĩa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của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từng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đường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nét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thể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hiện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trên</a:t>
            </a: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các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hình</a:t>
            </a:r>
            <a:r>
              <a:rPr lang="en-US" sz="3000" dirty="0" smtClean="0">
                <a:solidFill>
                  <a:schemeClr val="tx1"/>
                </a:solidFill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</a:rPr>
              <a:t>chiếu</a:t>
            </a:r>
            <a:r>
              <a:rPr lang="en-US" sz="3000" dirty="0" smtClean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50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" y="107258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3145" y="1694607"/>
            <a:ext cx="11866668" cy="244797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chemeClr val="tx1"/>
                </a:solidFill>
              </a:rPr>
              <a:t>Quá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dựng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chiếu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thứ</a:t>
            </a:r>
            <a:r>
              <a:rPr lang="en-US" sz="2600" dirty="0">
                <a:solidFill>
                  <a:schemeClr val="tx1"/>
                </a:solidFill>
              </a:rPr>
              <a:t> 3 </a:t>
            </a:r>
            <a:r>
              <a:rPr lang="en-US" sz="2600" dirty="0" err="1">
                <a:solidFill>
                  <a:schemeClr val="tx1"/>
                </a:solidFill>
              </a:rPr>
              <a:t>gồm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các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bước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chính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sau</a:t>
            </a:r>
            <a:r>
              <a:rPr lang="en-US" sz="2600" dirty="0">
                <a:solidFill>
                  <a:schemeClr val="tx1"/>
                </a:solidFill>
              </a:rPr>
              <a:t>:</a:t>
            </a:r>
          </a:p>
          <a:p>
            <a:pPr marL="457200" indent="-457200" algn="just">
              <a:buFontTx/>
              <a:buChar char="-"/>
            </a:pPr>
            <a:r>
              <a:rPr lang="en-US" sz="2600" b="1" dirty="0" err="1">
                <a:solidFill>
                  <a:srgbClr val="FF0000"/>
                </a:solidFill>
              </a:rPr>
              <a:t>Phân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tích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chemeClr val="tx1"/>
                </a:solidFill>
              </a:rPr>
              <a:t>2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chiếu</a:t>
            </a:r>
            <a:r>
              <a:rPr lang="en-US" sz="2600" dirty="0">
                <a:solidFill>
                  <a:schemeClr val="tx1"/>
                </a:solidFill>
              </a:rPr>
              <a:t> (HCĐ, HCB), </a:t>
            </a:r>
            <a:r>
              <a:rPr lang="en-US" sz="2600" dirty="0" err="1">
                <a:solidFill>
                  <a:schemeClr val="tx1"/>
                </a:solidFill>
              </a:rPr>
              <a:t>nắm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được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cấu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tạo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và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các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kích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thước</a:t>
            </a:r>
            <a:r>
              <a:rPr lang="en-US" sz="2600" dirty="0">
                <a:solidFill>
                  <a:schemeClr val="tx1"/>
                </a:solidFill>
              </a:rPr>
              <a:t>;</a:t>
            </a:r>
          </a:p>
          <a:p>
            <a:pPr marL="457200" indent="-457200" algn="just">
              <a:buFontTx/>
              <a:buChar char="-"/>
            </a:pPr>
            <a:r>
              <a:rPr lang="en-US" sz="2600" dirty="0" err="1">
                <a:solidFill>
                  <a:schemeClr val="tx1"/>
                </a:solidFill>
              </a:rPr>
              <a:t>Dựng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đường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phụ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trợ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hoặc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các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điểm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chuẩn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b="1" dirty="0" err="1">
                <a:solidFill>
                  <a:srgbClr val="FF0000"/>
                </a:solidFill>
              </a:rPr>
              <a:t>đường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chuẩn</a:t>
            </a:r>
            <a:r>
              <a:rPr lang="en-US" sz="2600" dirty="0">
                <a:solidFill>
                  <a:schemeClr val="tx1"/>
                </a:solidFill>
              </a:rPr>
              <a:t>; </a:t>
            </a:r>
            <a:r>
              <a:rPr lang="en-US" sz="2600" dirty="0" err="1">
                <a:solidFill>
                  <a:schemeClr val="tx1"/>
                </a:solidFill>
              </a:rPr>
              <a:t>hoặc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có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thể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căn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cứ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trực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tiếp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vào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dạng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và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kích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thước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để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dựng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</a:rPr>
              <a:t>hình</a:t>
            </a:r>
            <a:r>
              <a:rPr lang="en-US" sz="2600" dirty="0" smtClean="0">
                <a:solidFill>
                  <a:schemeClr val="tx1"/>
                </a:solidFill>
              </a:rPr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(</a:t>
            </a:r>
            <a:r>
              <a:rPr lang="en-US" sz="2600" dirty="0" err="1" smtClean="0">
                <a:solidFill>
                  <a:srgbClr val="FF0000"/>
                </a:solidFill>
              </a:rPr>
              <a:t>Hoặc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dựng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trực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tiếp</a:t>
            </a:r>
            <a:r>
              <a:rPr lang="en-US" sz="2600" dirty="0" smtClean="0">
                <a:solidFill>
                  <a:srgbClr val="FF0000"/>
                </a:solidFill>
              </a:rPr>
              <a:t>).</a:t>
            </a:r>
            <a:endParaRPr lang="en-US" sz="2600" dirty="0">
              <a:solidFill>
                <a:srgbClr val="FF0000"/>
              </a:solidFill>
            </a:endParaRPr>
          </a:p>
          <a:p>
            <a:pPr marL="457200" indent="-457200" algn="just">
              <a:buFontTx/>
              <a:buChar char="-"/>
            </a:pPr>
            <a:r>
              <a:rPr lang="en-US" sz="2600" dirty="0" err="1">
                <a:solidFill>
                  <a:schemeClr val="tx1"/>
                </a:solidFill>
              </a:rPr>
              <a:t>Dựng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chiếu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thứ</a:t>
            </a:r>
            <a:r>
              <a:rPr lang="en-US" sz="2600" dirty="0">
                <a:solidFill>
                  <a:schemeClr val="tx1"/>
                </a:solidFill>
              </a:rPr>
              <a:t> 3 (</a:t>
            </a:r>
            <a:r>
              <a:rPr lang="en-US" sz="2600" dirty="0" err="1">
                <a:solidFill>
                  <a:schemeClr val="tx1"/>
                </a:solidFill>
              </a:rPr>
              <a:t>hoàn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thiện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các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loại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đường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nét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kích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thước</a:t>
            </a:r>
            <a:r>
              <a:rPr lang="en-US" sz="2600" dirty="0">
                <a:solidFill>
                  <a:schemeClr val="tx1"/>
                </a:solidFill>
              </a:rPr>
              <a:t>...), </a:t>
            </a:r>
            <a:r>
              <a:rPr lang="en-US" sz="2600" dirty="0" err="1">
                <a:solidFill>
                  <a:schemeClr val="tx1"/>
                </a:solidFill>
              </a:rPr>
              <a:t>hoàn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thiện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bản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030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" y="107258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4" name="Rounded Rectangle 12">
            <a:extLst>
              <a:ext uri="{FF2B5EF4-FFF2-40B4-BE49-F238E27FC236}">
                <a16:creationId xmlns="" xmlns:a16="http://schemas.microsoft.com/office/drawing/2014/main" id="{A7F62431-8A3D-94A7-01B5-579A0689EB65}"/>
              </a:ext>
            </a:extLst>
          </p:cNvPr>
          <p:cNvSpPr/>
          <p:nvPr/>
        </p:nvSpPr>
        <p:spPr>
          <a:xfrm>
            <a:off x="-2" y="1636281"/>
            <a:ext cx="12191999" cy="19681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>
                <a:solidFill>
                  <a:schemeClr val="tx1"/>
                </a:solidFill>
              </a:rPr>
              <a:t>Chú ý: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Tx/>
              <a:buChar char="-"/>
            </a:pPr>
            <a:r>
              <a:rPr lang="en-US" sz="2400">
                <a:solidFill>
                  <a:schemeClr val="tx1"/>
                </a:solidFill>
              </a:rPr>
              <a:t>Giao tuyến của hai khối tròn xoay </a:t>
            </a:r>
            <a:r>
              <a:rPr lang="en-US" sz="2400" b="1">
                <a:solidFill>
                  <a:srgbClr val="FF0000"/>
                </a:solidFill>
              </a:rPr>
              <a:t>là đường cong không gian khép kín</a:t>
            </a:r>
            <a:r>
              <a:rPr lang="en-US" sz="2400">
                <a:solidFill>
                  <a:schemeClr val="tx1"/>
                </a:solidFill>
              </a:rPr>
              <a:t>. Để vẽ giao tuyến ta tìm </a:t>
            </a:r>
            <a:r>
              <a:rPr lang="en-US" sz="2400" b="1">
                <a:solidFill>
                  <a:srgbClr val="FF0000"/>
                </a:solidFill>
              </a:rPr>
              <a:t>một số điểm của giao tuyến </a:t>
            </a:r>
            <a:r>
              <a:rPr lang="en-US" sz="2400">
                <a:solidFill>
                  <a:schemeClr val="tx1"/>
                </a:solidFill>
              </a:rPr>
              <a:t>rồi nối lại.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Tx/>
              <a:buChar char="-"/>
            </a:pPr>
            <a:r>
              <a:rPr lang="en-US" sz="2400">
                <a:solidFill>
                  <a:schemeClr val="tx1"/>
                </a:solidFill>
              </a:rPr>
              <a:t>Trường hợp hai khối trụ có đường kính bằng nhau đồng thời trục của chúng cắt nhau thì giao tuyến là elip.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050" name="Picture 2" descr="Ví Dụ Giao Tuyến Của Hình Trụ Với Hình Cầu Và Giao Tuyến Của">
            <a:extLst>
              <a:ext uri="{FF2B5EF4-FFF2-40B4-BE49-F238E27FC236}">
                <a16:creationId xmlns="" xmlns:a16="http://schemas.microsoft.com/office/drawing/2014/main" id="{99FF0DD0-37A4-C762-13B6-6FF070B9C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58" r="42756" b="24918"/>
          <a:stretch/>
        </p:blipFill>
        <p:spPr bwMode="auto">
          <a:xfrm>
            <a:off x="4194374" y="3691695"/>
            <a:ext cx="4926781" cy="3060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360B2A5-BFD9-3BDE-948A-C2C0A695C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30" y="3816311"/>
            <a:ext cx="3172209" cy="2810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11DEDC6-0EB6-4092-AF40-5C3188870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48689"/>
            <a:ext cx="4248399" cy="267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4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604896" y="129922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5. 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25758" y="52275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 smtClean="0">
                <a:solidFill>
                  <a:schemeClr val="tx1"/>
                </a:solidFill>
              </a:rPr>
              <a:t>Đọc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bản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vẽ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và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d</a:t>
            </a:r>
            <a:r>
              <a:rPr lang="en-US" sz="2600" b="1" i="1" dirty="0" err="1" smtClean="0">
                <a:solidFill>
                  <a:schemeClr val="tx1"/>
                </a:solidFill>
              </a:rPr>
              <a:t>ựng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-153560" y="1044351"/>
            <a:ext cx="11785015" cy="83166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Bài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toán</a:t>
            </a:r>
            <a:r>
              <a:rPr lang="en-US" sz="2800" dirty="0">
                <a:solidFill>
                  <a:schemeClr val="tx1"/>
                </a:solidFill>
              </a:rPr>
              <a:t>: Cho 2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một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(HCĐ, HCB</a:t>
            </a:r>
            <a:r>
              <a:rPr lang="en-US" sz="2800" dirty="0" smtClean="0">
                <a:solidFill>
                  <a:schemeClr val="tx1"/>
                </a:solidFill>
              </a:rPr>
              <a:t>), </a:t>
            </a:r>
            <a:r>
              <a:rPr lang="en-US" sz="2800" dirty="0" err="1" smtClean="0">
                <a:solidFill>
                  <a:schemeClr val="tx1"/>
                </a:solidFill>
              </a:rPr>
              <a:t>đọc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bản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vẽ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và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dựng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thứ</a:t>
            </a:r>
            <a:r>
              <a:rPr lang="en-US" sz="2800" dirty="0">
                <a:solidFill>
                  <a:schemeClr val="tx1"/>
                </a:solidFill>
              </a:rPr>
              <a:t> 3 (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cạnh</a:t>
            </a:r>
            <a:r>
              <a:rPr lang="en-US" sz="2800" dirty="0">
                <a:solidFill>
                  <a:schemeClr val="tx1"/>
                </a:solidFill>
              </a:rPr>
              <a:t>).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72" y="1876019"/>
            <a:ext cx="4210697" cy="507690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-25758" y="575112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5812813" y="4978121"/>
            <a:ext cx="915655" cy="403341"/>
          </a:xfrm>
          <a:prstGeom prst="right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77318" y="4856627"/>
            <a:ext cx="4025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ĐỌC BẢN VẼ</a:t>
            </a:r>
          </a:p>
          <a:p>
            <a:pPr algn="ctr"/>
            <a:r>
              <a:rPr lang="en-US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HÌNH DUNG HÌNH DÁNG VẬT THỂ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6409893" y="2873073"/>
            <a:ext cx="467425" cy="403341"/>
          </a:xfrm>
          <a:prstGeom prst="right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7243062" y="2873073"/>
            <a:ext cx="3113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DỰNG HÌNH CHIẾU THỨ 3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1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8" grpId="0" animBg="1"/>
      <p:bldP spid="8" grpId="0"/>
      <p:bldP spid="34" grpId="0" animBg="1"/>
      <p:bldP spid="3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5. DỰNG HÌNH CHIẾU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-77002" y="900328"/>
            <a:ext cx="11785015" cy="83166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 smtClean="0">
                <a:solidFill>
                  <a:schemeClr val="tx1"/>
                </a:solidFill>
              </a:rPr>
              <a:t>Ví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dụ</a:t>
            </a:r>
            <a:r>
              <a:rPr lang="en-US" sz="2800" dirty="0" smtClean="0">
                <a:solidFill>
                  <a:schemeClr val="tx1"/>
                </a:solidFill>
              </a:rPr>
              <a:t>: </a:t>
            </a:r>
            <a:r>
              <a:rPr lang="en-US" sz="2800" dirty="0" err="1" smtClean="0">
                <a:solidFill>
                  <a:schemeClr val="tx1"/>
                </a:solidFill>
              </a:rPr>
              <a:t>Đọc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các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hình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chiếu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của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vật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thể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sau</a:t>
            </a:r>
            <a:r>
              <a:rPr lang="en-US" sz="2800" dirty="0" smtClean="0">
                <a:solidFill>
                  <a:schemeClr val="tx1"/>
                </a:solidFill>
              </a:rPr>
              <a:t>. </a:t>
            </a:r>
            <a:r>
              <a:rPr lang="en-US" sz="2800" dirty="0" err="1" smtClean="0">
                <a:solidFill>
                  <a:schemeClr val="tx1"/>
                </a:solidFill>
              </a:rPr>
              <a:t>Vật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thể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được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vẽ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bằng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hai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hình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chiếu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89" y="1731996"/>
            <a:ext cx="4623516" cy="52351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154" y="2360066"/>
            <a:ext cx="3790566" cy="3268002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349285" y="4082603"/>
            <a:ext cx="1145833" cy="618186"/>
          </a:xfrm>
          <a:prstGeom prst="right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931831" y="153206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5. 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493708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0" y="1058551"/>
            <a:ext cx="11785015" cy="83166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dirty="0" err="1" smtClean="0">
                <a:solidFill>
                  <a:schemeClr val="tx1"/>
                </a:solidFill>
              </a:rPr>
              <a:t>Ví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dụ</a:t>
            </a:r>
            <a:r>
              <a:rPr lang="en-US" sz="2400" dirty="0" smtClean="0">
                <a:solidFill>
                  <a:schemeClr val="tx1"/>
                </a:solidFill>
              </a:rPr>
              <a:t>: </a:t>
            </a:r>
            <a:r>
              <a:rPr lang="en-US" sz="2400" dirty="0" err="1" smtClean="0">
                <a:solidFill>
                  <a:schemeClr val="tx1"/>
                </a:solidFill>
              </a:rPr>
              <a:t>Xây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dựng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hình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chiếu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thứ</a:t>
            </a:r>
            <a:r>
              <a:rPr lang="en-US" sz="2400" dirty="0" smtClean="0">
                <a:solidFill>
                  <a:schemeClr val="tx1"/>
                </a:solidFill>
              </a:rPr>
              <a:t> 3 </a:t>
            </a:r>
            <a:r>
              <a:rPr lang="en-US" sz="2400" dirty="0" err="1" smtClean="0">
                <a:solidFill>
                  <a:schemeClr val="tx1"/>
                </a:solidFill>
              </a:rPr>
              <a:t>của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vật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thể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sau</a:t>
            </a:r>
            <a:r>
              <a:rPr lang="en-US" sz="2400" dirty="0" smtClean="0">
                <a:solidFill>
                  <a:schemeClr val="tx1"/>
                </a:solidFill>
              </a:rPr>
              <a:t>. </a:t>
            </a:r>
            <a:r>
              <a:rPr lang="en-US" sz="2400" dirty="0" err="1" smtClean="0">
                <a:solidFill>
                  <a:schemeClr val="tx1"/>
                </a:solidFill>
              </a:rPr>
              <a:t>Vật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thể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được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vẽ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bằng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hai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hình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chiếu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hình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chiếu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đứng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và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hình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chiếu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bằng</a:t>
            </a:r>
            <a:r>
              <a:rPr lang="en-US" sz="2400" dirty="0" smtClean="0">
                <a:solidFill>
                  <a:schemeClr val="tx1"/>
                </a:solidFill>
              </a:rPr>
              <a:t> (</a:t>
            </a:r>
            <a:r>
              <a:rPr lang="en-US" sz="2400" dirty="0" err="1" smtClean="0">
                <a:solidFill>
                  <a:srgbClr val="FF0000"/>
                </a:solidFill>
              </a:rPr>
              <a:t>Sử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dụng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đường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phụ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trợ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góc</a:t>
            </a:r>
            <a:r>
              <a:rPr lang="en-US" sz="2400" dirty="0" smtClean="0">
                <a:solidFill>
                  <a:srgbClr val="FF0000"/>
                </a:solidFill>
              </a:rPr>
              <a:t> 45</a:t>
            </a:r>
            <a:r>
              <a:rPr lang="en-US" sz="2400" baseline="30000" dirty="0" smtClean="0">
                <a:solidFill>
                  <a:srgbClr val="FF0000"/>
                </a:solidFill>
              </a:rPr>
              <a:t>0</a:t>
            </a:r>
            <a:r>
              <a:rPr lang="en-US" sz="2400" dirty="0" smtClean="0">
                <a:solidFill>
                  <a:schemeClr val="tx1"/>
                </a:solidFill>
              </a:rPr>
              <a:t>).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89" y="1890220"/>
            <a:ext cx="4268653" cy="5076904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154" y="2360066"/>
            <a:ext cx="3790566" cy="3268002"/>
          </a:xfrm>
          <a:prstGeom prst="rect">
            <a:avLst/>
          </a:prstGeom>
        </p:spPr>
      </p:pic>
      <p:sp>
        <p:nvSpPr>
          <p:cNvPr id="59" name="Right Arrow 58"/>
          <p:cNvSpPr/>
          <p:nvPr/>
        </p:nvSpPr>
        <p:spPr>
          <a:xfrm>
            <a:off x="6349285" y="4082603"/>
            <a:ext cx="1145833" cy="618186"/>
          </a:xfrm>
          <a:prstGeom prst="right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23162" y="554753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8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5. 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99039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 smtClean="0">
                <a:solidFill>
                  <a:schemeClr val="tx1"/>
                </a:solidFill>
              </a:rPr>
              <a:t>Đọc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bản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vẽ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và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d</a:t>
            </a:r>
            <a:r>
              <a:rPr lang="en-US" sz="2600" b="1" i="1" dirty="0" err="1" smtClean="0">
                <a:solidFill>
                  <a:schemeClr val="tx1"/>
                </a:solidFill>
              </a:rPr>
              <a:t>ựng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90" y="1636280"/>
            <a:ext cx="4268653" cy="5076904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4198445" y="3425780"/>
            <a:ext cx="0" cy="101743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4713566" y="2910659"/>
            <a:ext cx="2214" cy="10324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198444" y="3425780"/>
            <a:ext cx="3309939" cy="328740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387144" y="1983346"/>
            <a:ext cx="549927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923504" y="2305318"/>
            <a:ext cx="479701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198444" y="3039414"/>
            <a:ext cx="468797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230902" y="3425780"/>
            <a:ext cx="365552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owchart: Connector 53"/>
          <p:cNvSpPr/>
          <p:nvPr/>
        </p:nvSpPr>
        <p:spPr>
          <a:xfrm>
            <a:off x="5230902" y="3400022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3387144" y="4456090"/>
            <a:ext cx="54864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3387144" y="5924282"/>
            <a:ext cx="549927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5243781" y="1797694"/>
            <a:ext cx="0" cy="265839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6722772" y="1797694"/>
            <a:ext cx="0" cy="412658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2678806" y="4559121"/>
            <a:ext cx="618185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2678806" y="5834130"/>
            <a:ext cx="618185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54" idx="2"/>
          </p:cNvCxnSpPr>
          <p:nvPr/>
        </p:nvCxnSpPr>
        <p:spPr>
          <a:xfrm>
            <a:off x="5230902" y="3422882"/>
            <a:ext cx="1491870" cy="2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6722772" y="3039414"/>
            <a:ext cx="0" cy="4063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>
            <a:off x="5243781" y="3039414"/>
            <a:ext cx="14789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5241635" y="3033306"/>
            <a:ext cx="0" cy="4063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2959993" y="4621366"/>
            <a:ext cx="596291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2831206" y="5767590"/>
            <a:ext cx="618185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2959993" y="4842456"/>
            <a:ext cx="591355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3052293" y="5537915"/>
            <a:ext cx="580837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5328137" y="1797694"/>
            <a:ext cx="0" cy="276142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6632620" y="1797694"/>
            <a:ext cx="0" cy="403643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V="1">
            <a:off x="5403263" y="1797694"/>
            <a:ext cx="0" cy="283655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V="1">
            <a:off x="6553204" y="1797694"/>
            <a:ext cx="0" cy="398277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3052293" y="2472744"/>
            <a:ext cx="4668228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5620871" y="1797694"/>
            <a:ext cx="0" cy="304476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6333565" y="1797694"/>
            <a:ext cx="0" cy="374022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5328137" y="2305318"/>
            <a:ext cx="0" cy="72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6632620" y="2305318"/>
            <a:ext cx="0" cy="72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5328137" y="2305318"/>
            <a:ext cx="1304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V="1">
            <a:off x="5403263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5403263" y="1983346"/>
            <a:ext cx="11499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6553204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flipV="1">
            <a:off x="6333565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9" name="Straight Connector 2048"/>
          <p:cNvCxnSpPr/>
          <p:nvPr/>
        </p:nvCxnSpPr>
        <p:spPr>
          <a:xfrm flipV="1">
            <a:off x="5620871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2" name="Straight Connector 2051"/>
          <p:cNvCxnSpPr/>
          <p:nvPr/>
        </p:nvCxnSpPr>
        <p:spPr>
          <a:xfrm>
            <a:off x="5620871" y="2305318"/>
            <a:ext cx="0" cy="167426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6334681" y="2303170"/>
            <a:ext cx="0" cy="167426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7" name="Straight Connector 2056"/>
          <p:cNvCxnSpPr/>
          <p:nvPr/>
        </p:nvCxnSpPr>
        <p:spPr>
          <a:xfrm>
            <a:off x="2678806" y="4958366"/>
            <a:ext cx="609170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/>
          <p:cNvCxnSpPr/>
          <p:nvPr/>
        </p:nvCxnSpPr>
        <p:spPr>
          <a:xfrm>
            <a:off x="5620871" y="2472744"/>
            <a:ext cx="71906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2678806" y="5420288"/>
            <a:ext cx="609170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3776086" y="5072666"/>
            <a:ext cx="5097458" cy="225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Connector 2068"/>
          <p:cNvCxnSpPr/>
          <p:nvPr/>
        </p:nvCxnSpPr>
        <p:spPr>
          <a:xfrm>
            <a:off x="3787140" y="5334000"/>
            <a:ext cx="5073525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Straight Connector 2071"/>
          <p:cNvCxnSpPr/>
          <p:nvPr/>
        </p:nvCxnSpPr>
        <p:spPr>
          <a:xfrm flipV="1">
            <a:off x="5760720" y="1797694"/>
            <a:ext cx="0" cy="316067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V="1">
            <a:off x="6183254" y="1797694"/>
            <a:ext cx="0" cy="362259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Straight Connector 2076"/>
          <p:cNvCxnSpPr/>
          <p:nvPr/>
        </p:nvCxnSpPr>
        <p:spPr>
          <a:xfrm flipV="1">
            <a:off x="6102225" y="1797694"/>
            <a:ext cx="0" cy="353630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1" name="Straight Connector 2080"/>
          <p:cNvCxnSpPr/>
          <p:nvPr/>
        </p:nvCxnSpPr>
        <p:spPr>
          <a:xfrm flipV="1">
            <a:off x="5857526" y="1797694"/>
            <a:ext cx="0" cy="327497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Straight Connector 2082"/>
          <p:cNvCxnSpPr/>
          <p:nvPr/>
        </p:nvCxnSpPr>
        <p:spPr>
          <a:xfrm flipV="1">
            <a:off x="6183254" y="2470596"/>
            <a:ext cx="0" cy="96903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V="1">
            <a:off x="5766086" y="2478216"/>
            <a:ext cx="0" cy="944666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5" name="Straight Connector 2084"/>
          <p:cNvCxnSpPr/>
          <p:nvPr/>
        </p:nvCxnSpPr>
        <p:spPr>
          <a:xfrm flipV="1">
            <a:off x="5857526" y="3036163"/>
            <a:ext cx="0" cy="381956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flipV="1">
            <a:off x="6101366" y="3036163"/>
            <a:ext cx="0" cy="381956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7" name="Straight Connector 2086"/>
          <p:cNvCxnSpPr/>
          <p:nvPr/>
        </p:nvCxnSpPr>
        <p:spPr>
          <a:xfrm flipV="1">
            <a:off x="5974080" y="1897381"/>
            <a:ext cx="0" cy="162305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0" name="Picture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521" y="1797695"/>
            <a:ext cx="4203241" cy="4306892"/>
          </a:xfrm>
          <a:prstGeom prst="rect">
            <a:avLst/>
          </a:prstGeom>
        </p:spPr>
      </p:pic>
      <p:sp>
        <p:nvSpPr>
          <p:cNvPr id="61" name="Flowchart: Connector 60"/>
          <p:cNvSpPr/>
          <p:nvPr/>
        </p:nvSpPr>
        <p:spPr>
          <a:xfrm>
            <a:off x="5218489" y="3009041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Connector 62"/>
          <p:cNvSpPr/>
          <p:nvPr/>
        </p:nvSpPr>
        <p:spPr>
          <a:xfrm>
            <a:off x="6691756" y="3023325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/>
          <p:cNvSpPr/>
          <p:nvPr/>
        </p:nvSpPr>
        <p:spPr>
          <a:xfrm>
            <a:off x="6702595" y="3393485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/>
          <p:cNvSpPr/>
          <p:nvPr/>
        </p:nvSpPr>
        <p:spPr>
          <a:xfrm>
            <a:off x="5220813" y="3391759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lowchart: Connector 66"/>
          <p:cNvSpPr/>
          <p:nvPr/>
        </p:nvSpPr>
        <p:spPr>
          <a:xfrm>
            <a:off x="5308927" y="3013165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lowchart: Connector 68"/>
          <p:cNvSpPr/>
          <p:nvPr/>
        </p:nvSpPr>
        <p:spPr>
          <a:xfrm>
            <a:off x="6606994" y="3022997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/>
          <p:cNvSpPr/>
          <p:nvPr/>
        </p:nvSpPr>
        <p:spPr>
          <a:xfrm>
            <a:off x="5308927" y="2276754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/>
          <p:cNvSpPr/>
          <p:nvPr/>
        </p:nvSpPr>
        <p:spPr>
          <a:xfrm>
            <a:off x="6614700" y="2279852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/>
          <p:cNvSpPr/>
          <p:nvPr/>
        </p:nvSpPr>
        <p:spPr>
          <a:xfrm>
            <a:off x="5393281" y="2282428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lowchart: Connector 74"/>
          <p:cNvSpPr/>
          <p:nvPr/>
        </p:nvSpPr>
        <p:spPr>
          <a:xfrm>
            <a:off x="6524334" y="2277767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/>
          <p:cNvSpPr/>
          <p:nvPr/>
        </p:nvSpPr>
        <p:spPr>
          <a:xfrm>
            <a:off x="5388701" y="1959818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Connector 76"/>
          <p:cNvSpPr/>
          <p:nvPr/>
        </p:nvSpPr>
        <p:spPr>
          <a:xfrm>
            <a:off x="6519754" y="1955157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/>
          <p:cNvSpPr/>
          <p:nvPr/>
        </p:nvSpPr>
        <p:spPr>
          <a:xfrm flipH="1" flipV="1">
            <a:off x="6302065" y="2441297"/>
            <a:ext cx="52312" cy="50012"/>
          </a:xfrm>
          <a:prstGeom prst="flowChartConnector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Connector 78"/>
          <p:cNvSpPr/>
          <p:nvPr/>
        </p:nvSpPr>
        <p:spPr>
          <a:xfrm>
            <a:off x="5589745" y="2449667"/>
            <a:ext cx="57439" cy="45719"/>
          </a:xfrm>
          <a:prstGeom prst="flowChartConnector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/>
          <p:cNvSpPr/>
          <p:nvPr/>
        </p:nvSpPr>
        <p:spPr>
          <a:xfrm flipH="1" flipV="1">
            <a:off x="6302065" y="2288898"/>
            <a:ext cx="52312" cy="50012"/>
          </a:xfrm>
          <a:prstGeom prst="flowChartConnector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/>
          <p:cNvSpPr/>
          <p:nvPr/>
        </p:nvSpPr>
        <p:spPr>
          <a:xfrm>
            <a:off x="5589745" y="2284568"/>
            <a:ext cx="57439" cy="45719"/>
          </a:xfrm>
          <a:prstGeom prst="flowChartConnector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/>
          <p:cNvSpPr/>
          <p:nvPr/>
        </p:nvSpPr>
        <p:spPr>
          <a:xfrm flipH="1" flipV="1">
            <a:off x="6309280" y="1953296"/>
            <a:ext cx="52312" cy="50012"/>
          </a:xfrm>
          <a:prstGeom prst="flowChartConnector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/>
          <p:cNvSpPr/>
          <p:nvPr/>
        </p:nvSpPr>
        <p:spPr>
          <a:xfrm>
            <a:off x="5596960" y="1961666"/>
            <a:ext cx="57439" cy="45719"/>
          </a:xfrm>
          <a:prstGeom prst="flowChartConnector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lowchart: Connector 86"/>
          <p:cNvSpPr/>
          <p:nvPr/>
        </p:nvSpPr>
        <p:spPr>
          <a:xfrm>
            <a:off x="6158686" y="3400021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/>
          <p:cNvSpPr/>
          <p:nvPr/>
        </p:nvSpPr>
        <p:spPr>
          <a:xfrm>
            <a:off x="5736330" y="3393615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Connector 88"/>
          <p:cNvSpPr/>
          <p:nvPr/>
        </p:nvSpPr>
        <p:spPr>
          <a:xfrm>
            <a:off x="6158559" y="2445131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/>
          <p:cNvSpPr/>
          <p:nvPr/>
        </p:nvSpPr>
        <p:spPr>
          <a:xfrm>
            <a:off x="5729853" y="2445075"/>
            <a:ext cx="45719" cy="45719"/>
          </a:xfrm>
          <a:prstGeom prst="flowChartConnector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lowchart: Connector 90"/>
          <p:cNvSpPr/>
          <p:nvPr/>
        </p:nvSpPr>
        <p:spPr>
          <a:xfrm>
            <a:off x="6069716" y="3400021"/>
            <a:ext cx="45719" cy="45719"/>
          </a:xfrm>
          <a:prstGeom prst="flowChartConnec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/>
          <p:cNvSpPr/>
          <p:nvPr/>
        </p:nvSpPr>
        <p:spPr>
          <a:xfrm>
            <a:off x="5836828" y="3392940"/>
            <a:ext cx="45719" cy="45719"/>
          </a:xfrm>
          <a:prstGeom prst="flowChartConnec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Connector 92"/>
          <p:cNvSpPr/>
          <p:nvPr/>
        </p:nvSpPr>
        <p:spPr>
          <a:xfrm>
            <a:off x="6076426" y="3020187"/>
            <a:ext cx="45719" cy="45719"/>
          </a:xfrm>
          <a:prstGeom prst="flowChartConnec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/>
          <p:cNvSpPr/>
          <p:nvPr/>
        </p:nvSpPr>
        <p:spPr>
          <a:xfrm>
            <a:off x="5837188" y="3019456"/>
            <a:ext cx="45719" cy="45719"/>
          </a:xfrm>
          <a:prstGeom prst="flowChartConnec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/>
          <p:cNvSpPr/>
          <p:nvPr/>
        </p:nvSpPr>
        <p:spPr>
          <a:xfrm>
            <a:off x="4266265" y="3437478"/>
            <a:ext cx="176879" cy="449792"/>
          </a:xfrm>
          <a:prstGeom prst="arc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418462" y="3408395"/>
            <a:ext cx="510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45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1" name="Flowchart: Connector 100"/>
          <p:cNvSpPr/>
          <p:nvPr/>
        </p:nvSpPr>
        <p:spPr>
          <a:xfrm>
            <a:off x="4668363" y="3458434"/>
            <a:ext cx="45719" cy="45719"/>
          </a:xfrm>
          <a:prstGeom prst="flowChartConnector">
            <a:avLst/>
          </a:prstGeom>
          <a:ln w="31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4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5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0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1" dur="5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6" dur="5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1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6"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4" grpId="0" animBg="1"/>
      <p:bldP spid="61" grpId="0" animBg="1"/>
      <p:bldP spid="63" grpId="0" animBg="1"/>
      <p:bldP spid="64" grpId="0" animBg="1"/>
      <p:bldP spid="66" grpId="0" animBg="1"/>
      <p:bldP spid="67" grpId="0" animBg="1"/>
      <p:bldP spid="69" grpId="0" animBg="1"/>
      <p:bldP spid="70" grpId="0" animBg="1"/>
      <p:bldP spid="72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2" grpId="0" animBg="1"/>
      <p:bldP spid="84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18" grpId="0" animBg="1"/>
      <p:bldP spid="19" grpId="0"/>
      <p:bldP spid="10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5. 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812839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 smtClean="0">
                <a:solidFill>
                  <a:schemeClr val="tx1"/>
                </a:solidFill>
              </a:rPr>
              <a:t>Đọc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bản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vẽ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và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d</a:t>
            </a:r>
            <a:r>
              <a:rPr lang="en-US" sz="2600" b="1" i="1" dirty="0" err="1" smtClean="0">
                <a:solidFill>
                  <a:schemeClr val="tx1"/>
                </a:solidFill>
              </a:rPr>
              <a:t>ựng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990" y="1636280"/>
            <a:ext cx="4268653" cy="5076904"/>
          </a:xfrm>
          <a:prstGeom prst="rect">
            <a:avLst/>
          </a:prstGeom>
        </p:spPr>
      </p:pic>
      <p:cxnSp>
        <p:nvCxnSpPr>
          <p:cNvPr id="81" name="Straight Connector 80"/>
          <p:cNvCxnSpPr/>
          <p:nvPr/>
        </p:nvCxnSpPr>
        <p:spPr>
          <a:xfrm>
            <a:off x="7713752" y="3440753"/>
            <a:ext cx="1491870" cy="2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9199272" y="3039414"/>
            <a:ext cx="0" cy="4063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>
            <a:off x="7720281" y="3039414"/>
            <a:ext cx="14789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7804637" y="2305318"/>
            <a:ext cx="0" cy="72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9109120" y="2305318"/>
            <a:ext cx="0" cy="72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804637" y="2305318"/>
            <a:ext cx="1304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V="1">
            <a:off x="7879763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7879763" y="1983346"/>
            <a:ext cx="11499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9029704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flipV="1">
            <a:off x="8810065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9" name="Straight Connector 2048"/>
          <p:cNvCxnSpPr/>
          <p:nvPr/>
        </p:nvCxnSpPr>
        <p:spPr>
          <a:xfrm flipV="1">
            <a:off x="8097371" y="1983346"/>
            <a:ext cx="0" cy="32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2" name="Straight Connector 2051"/>
          <p:cNvCxnSpPr/>
          <p:nvPr/>
        </p:nvCxnSpPr>
        <p:spPr>
          <a:xfrm>
            <a:off x="8097371" y="2305318"/>
            <a:ext cx="0" cy="167426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8811181" y="2303170"/>
            <a:ext cx="0" cy="167426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1" name="Straight Connector 2060"/>
          <p:cNvCxnSpPr/>
          <p:nvPr/>
        </p:nvCxnSpPr>
        <p:spPr>
          <a:xfrm>
            <a:off x="8097371" y="2472744"/>
            <a:ext cx="719069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3" name="Straight Connector 2082"/>
          <p:cNvCxnSpPr/>
          <p:nvPr/>
        </p:nvCxnSpPr>
        <p:spPr>
          <a:xfrm flipV="1">
            <a:off x="8659754" y="2470596"/>
            <a:ext cx="0" cy="970157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V="1">
            <a:off x="8242586" y="2478216"/>
            <a:ext cx="0" cy="969037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5" name="Straight Connector 2084"/>
          <p:cNvCxnSpPr/>
          <p:nvPr/>
        </p:nvCxnSpPr>
        <p:spPr>
          <a:xfrm flipH="1" flipV="1">
            <a:off x="8334026" y="3040926"/>
            <a:ext cx="349" cy="399827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flipV="1">
            <a:off x="8577866" y="3033306"/>
            <a:ext cx="0" cy="407448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7" name="Straight Connector 2086"/>
          <p:cNvCxnSpPr/>
          <p:nvPr/>
        </p:nvCxnSpPr>
        <p:spPr>
          <a:xfrm flipV="1">
            <a:off x="8450580" y="1897381"/>
            <a:ext cx="0" cy="1623059"/>
          </a:xfrm>
          <a:prstGeom prst="line">
            <a:avLst/>
          </a:prstGeom>
          <a:ln>
            <a:solidFill>
              <a:schemeClr val="accent3"/>
            </a:solidFill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7724753" y="3040926"/>
            <a:ext cx="0" cy="4063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720281" y="3447253"/>
            <a:ext cx="14789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9199272" y="3040926"/>
            <a:ext cx="0" cy="4063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720281" y="3040926"/>
            <a:ext cx="14853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713752" y="3033306"/>
            <a:ext cx="0" cy="4074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9109120" y="2303170"/>
            <a:ext cx="0" cy="7301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7804637" y="2303170"/>
            <a:ext cx="0" cy="7301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804637" y="2303170"/>
            <a:ext cx="13044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879763" y="1983346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879763" y="1983346"/>
            <a:ext cx="11499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029704" y="1983346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097371" y="1983346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810065" y="1983346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2" name="Group 91"/>
          <p:cNvGrpSpPr/>
          <p:nvPr/>
        </p:nvGrpSpPr>
        <p:grpSpPr>
          <a:xfrm>
            <a:off x="7275743" y="1675626"/>
            <a:ext cx="2408008" cy="2152650"/>
            <a:chOff x="5661594" y="2006600"/>
            <a:chExt cx="2714055" cy="2152650"/>
          </a:xfrm>
        </p:grpSpPr>
        <p:sp>
          <p:nvSpPr>
            <p:cNvPr id="93" name="Rectangle 92"/>
            <p:cNvSpPr/>
            <p:nvPr/>
          </p:nvSpPr>
          <p:spPr>
            <a:xfrm>
              <a:off x="5661594" y="2006600"/>
              <a:ext cx="2714055" cy="21526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108640" y="3789918"/>
              <a:ext cx="1946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HÌNH CHIẾU CẠNH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16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5. 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812839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 smtClean="0">
                <a:solidFill>
                  <a:schemeClr val="tx1"/>
                </a:solidFill>
              </a:rPr>
              <a:t>Đọc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bản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vẽ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 smtClean="0">
                <a:solidFill>
                  <a:schemeClr val="tx1"/>
                </a:solidFill>
              </a:rPr>
              <a:t>và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d</a:t>
            </a:r>
            <a:r>
              <a:rPr lang="en-US" sz="2600" b="1" i="1" dirty="0" err="1" smtClean="0">
                <a:solidFill>
                  <a:schemeClr val="tx1"/>
                </a:solidFill>
              </a:rPr>
              <a:t>ựng</a:t>
            </a:r>
            <a:r>
              <a:rPr lang="en-US" sz="2600" b="1" i="1" dirty="0" smtClean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smtClean="0">
                <a:solidFill>
                  <a:schemeClr val="tx1"/>
                </a:solidFill>
              </a:rPr>
              <a:t>3 </a:t>
            </a:r>
            <a:r>
              <a:rPr lang="en-US" sz="2600" b="1" i="1" dirty="0" smtClean="0">
                <a:solidFill>
                  <a:srgbClr val="FF0000"/>
                </a:solidFill>
              </a:rPr>
              <a:t>(</a:t>
            </a:r>
            <a:r>
              <a:rPr lang="en-US" sz="2600" b="1" i="1" dirty="0" err="1" smtClean="0">
                <a:solidFill>
                  <a:srgbClr val="FF0000"/>
                </a:solidFill>
              </a:rPr>
              <a:t>Dựng</a:t>
            </a:r>
            <a:r>
              <a:rPr lang="en-US" sz="2600" b="1" i="1" dirty="0" smtClean="0">
                <a:solidFill>
                  <a:srgbClr val="FF0000"/>
                </a:solidFill>
              </a:rPr>
              <a:t> </a:t>
            </a:r>
            <a:r>
              <a:rPr lang="en-US" sz="2600" b="1" i="1" dirty="0" err="1" smtClean="0">
                <a:solidFill>
                  <a:srgbClr val="FF0000"/>
                </a:solidFill>
              </a:rPr>
              <a:t>trực</a:t>
            </a:r>
            <a:r>
              <a:rPr lang="en-US" sz="2600" b="1" i="1" dirty="0" smtClean="0">
                <a:solidFill>
                  <a:srgbClr val="FF0000"/>
                </a:solidFill>
              </a:rPr>
              <a:t> </a:t>
            </a:r>
            <a:r>
              <a:rPr lang="en-US" sz="2600" b="1" i="1" dirty="0" err="1" smtClean="0">
                <a:solidFill>
                  <a:srgbClr val="FF0000"/>
                </a:solidFill>
              </a:rPr>
              <a:t>tiếp</a:t>
            </a:r>
            <a:r>
              <a:rPr lang="en-US" sz="2600" b="1" i="1" dirty="0" smtClean="0">
                <a:solidFill>
                  <a:srgbClr val="FF0000"/>
                </a:solidFill>
              </a:rPr>
              <a:t>)</a:t>
            </a:r>
            <a:endParaRPr lang="en-US" sz="2600" b="1" i="1" dirty="0">
              <a:solidFill>
                <a:srgbClr val="FF0000"/>
              </a:solidFill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990" y="1636280"/>
            <a:ext cx="4268653" cy="5076904"/>
          </a:xfrm>
          <a:prstGeom prst="rect">
            <a:avLst/>
          </a:prstGeom>
        </p:spPr>
      </p:pic>
      <p:cxnSp>
        <p:nvCxnSpPr>
          <p:cNvPr id="2052" name="Straight Connector 2051"/>
          <p:cNvCxnSpPr/>
          <p:nvPr/>
        </p:nvCxnSpPr>
        <p:spPr>
          <a:xfrm>
            <a:off x="8135471" y="2305318"/>
            <a:ext cx="0" cy="167426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8849281" y="2303170"/>
            <a:ext cx="0" cy="167426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1" name="Straight Connector 2060"/>
          <p:cNvCxnSpPr/>
          <p:nvPr/>
        </p:nvCxnSpPr>
        <p:spPr>
          <a:xfrm>
            <a:off x="8135471" y="2472744"/>
            <a:ext cx="719069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3" name="Straight Connector 2082"/>
          <p:cNvCxnSpPr/>
          <p:nvPr/>
        </p:nvCxnSpPr>
        <p:spPr>
          <a:xfrm flipV="1">
            <a:off x="8697854" y="2470596"/>
            <a:ext cx="0" cy="970157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V="1">
            <a:off x="8280686" y="2478216"/>
            <a:ext cx="0" cy="969037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5" name="Straight Connector 2084"/>
          <p:cNvCxnSpPr/>
          <p:nvPr/>
        </p:nvCxnSpPr>
        <p:spPr>
          <a:xfrm flipH="1" flipV="1">
            <a:off x="8372126" y="3040926"/>
            <a:ext cx="349" cy="399827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flipV="1">
            <a:off x="8615966" y="3033306"/>
            <a:ext cx="0" cy="407448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7" name="Straight Connector 2086"/>
          <p:cNvCxnSpPr/>
          <p:nvPr/>
        </p:nvCxnSpPr>
        <p:spPr>
          <a:xfrm flipV="1">
            <a:off x="8488680" y="1897381"/>
            <a:ext cx="0" cy="1623059"/>
          </a:xfrm>
          <a:prstGeom prst="line">
            <a:avLst/>
          </a:prstGeom>
          <a:ln>
            <a:solidFill>
              <a:schemeClr val="accent3"/>
            </a:solidFill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749184" y="3457886"/>
            <a:ext cx="14789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9228175" y="3051559"/>
            <a:ext cx="0" cy="4063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749184" y="3051559"/>
            <a:ext cx="14853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742655" y="3043939"/>
            <a:ext cx="0" cy="4074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9138023" y="2313803"/>
            <a:ext cx="0" cy="7301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7833540" y="2313803"/>
            <a:ext cx="0" cy="7301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833540" y="2313803"/>
            <a:ext cx="13044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908666" y="1993979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908666" y="1993979"/>
            <a:ext cx="11499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058607" y="1993979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126274" y="1993979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838968" y="1993979"/>
            <a:ext cx="0" cy="3198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24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" y="107258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714" y="1594386"/>
            <a:ext cx="4488378" cy="48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4692080" y="4873093"/>
            <a:ext cx="3657600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>
              <a:rot lat="0" lon="0" rev="81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237018" y="3100921"/>
            <a:ext cx="500354" cy="1471079"/>
            <a:chOff x="5237018" y="3100921"/>
            <a:chExt cx="500354" cy="1471079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5237018" y="3584770"/>
              <a:ext cx="0" cy="9872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737372" y="3100921"/>
              <a:ext cx="0" cy="987230"/>
            </a:xfrm>
            <a:prstGeom prst="line">
              <a:avLst/>
            </a:prstGeom>
            <a:ln>
              <a:solidFill>
                <a:srgbClr val="FF0000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765968" y="2189019"/>
            <a:ext cx="4137881" cy="911902"/>
            <a:chOff x="4765968" y="2189019"/>
            <a:chExt cx="4137881" cy="911902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4765968" y="2189019"/>
              <a:ext cx="3666831" cy="0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237018" y="3100921"/>
              <a:ext cx="3666831" cy="0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075381" y="2883867"/>
              <a:ext cx="3666831" cy="0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/>
          <p:cNvSpPr/>
          <p:nvPr/>
        </p:nvSpPr>
        <p:spPr>
          <a:xfrm>
            <a:off x="6204261" y="3566758"/>
            <a:ext cx="45720" cy="4572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4" name="Group 2053"/>
          <p:cNvGrpSpPr/>
          <p:nvPr/>
        </p:nvGrpSpPr>
        <p:grpSpPr>
          <a:xfrm>
            <a:off x="6217672" y="599859"/>
            <a:ext cx="1593271" cy="5561806"/>
            <a:chOff x="6217672" y="599859"/>
            <a:chExt cx="1593271" cy="5561806"/>
          </a:xfrm>
        </p:grpSpPr>
        <p:cxnSp>
          <p:nvCxnSpPr>
            <p:cNvPr id="27" name="Straight Connector 26"/>
            <p:cNvCxnSpPr/>
            <p:nvPr/>
          </p:nvCxnSpPr>
          <p:spPr>
            <a:xfrm flipV="1">
              <a:off x="6217672" y="599859"/>
              <a:ext cx="0" cy="3972646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7810943" y="2189019"/>
              <a:ext cx="0" cy="3972646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3" name="Group 2052"/>
          <p:cNvGrpSpPr/>
          <p:nvPr/>
        </p:nvGrpSpPr>
        <p:grpSpPr>
          <a:xfrm>
            <a:off x="5237017" y="3589388"/>
            <a:ext cx="3666832" cy="2582624"/>
            <a:chOff x="5237017" y="3589388"/>
            <a:chExt cx="3666832" cy="2582624"/>
          </a:xfrm>
        </p:grpSpPr>
        <p:grpSp>
          <p:nvGrpSpPr>
            <p:cNvPr id="23" name="Group 22"/>
            <p:cNvGrpSpPr/>
            <p:nvPr/>
          </p:nvGrpSpPr>
          <p:grpSpPr>
            <a:xfrm>
              <a:off x="5237017" y="4572000"/>
              <a:ext cx="3666832" cy="1600012"/>
              <a:chOff x="5237017" y="4572000"/>
              <a:chExt cx="3666832" cy="1600012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5237017" y="4572000"/>
                <a:ext cx="3666831" cy="0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237018" y="6172012"/>
                <a:ext cx="3666831" cy="0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/>
            <p:cNvCxnSpPr/>
            <p:nvPr/>
          </p:nvCxnSpPr>
          <p:spPr>
            <a:xfrm>
              <a:off x="6219536" y="3589388"/>
              <a:ext cx="2684312" cy="230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0" name="Group 2059"/>
          <p:cNvGrpSpPr/>
          <p:nvPr/>
        </p:nvGrpSpPr>
        <p:grpSpPr>
          <a:xfrm>
            <a:off x="6212728" y="2172085"/>
            <a:ext cx="1598215" cy="1423511"/>
            <a:chOff x="6212728" y="2172085"/>
            <a:chExt cx="1598215" cy="1423511"/>
          </a:xfrm>
        </p:grpSpPr>
        <p:cxnSp>
          <p:nvCxnSpPr>
            <p:cNvPr id="2056" name="Straight Connector 2055"/>
            <p:cNvCxnSpPr/>
            <p:nvPr/>
          </p:nvCxnSpPr>
          <p:spPr>
            <a:xfrm>
              <a:off x="6227121" y="3587077"/>
              <a:ext cx="15838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227121" y="2189019"/>
              <a:ext cx="15838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2057"/>
            <p:cNvCxnSpPr/>
            <p:nvPr/>
          </p:nvCxnSpPr>
          <p:spPr>
            <a:xfrm>
              <a:off x="7810943" y="2172085"/>
              <a:ext cx="0" cy="14234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212728" y="2172137"/>
              <a:ext cx="0" cy="14234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>
            <a:off x="6224580" y="3100921"/>
            <a:ext cx="15838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2" name="Group 2061"/>
          <p:cNvGrpSpPr/>
          <p:nvPr/>
        </p:nvGrpSpPr>
        <p:grpSpPr>
          <a:xfrm>
            <a:off x="2891743" y="4898493"/>
            <a:ext cx="4602213" cy="948267"/>
            <a:chOff x="2891743" y="4898493"/>
            <a:chExt cx="4602213" cy="948267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2891743" y="4898493"/>
              <a:ext cx="3666831" cy="0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976406" y="5846760"/>
              <a:ext cx="4517550" cy="0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3" name="Group 2062"/>
          <p:cNvGrpSpPr/>
          <p:nvPr/>
        </p:nvGrpSpPr>
        <p:grpSpPr>
          <a:xfrm>
            <a:off x="6550107" y="915698"/>
            <a:ext cx="943849" cy="4908739"/>
            <a:chOff x="6550107" y="915698"/>
            <a:chExt cx="943849" cy="4908739"/>
          </a:xfrm>
        </p:grpSpPr>
        <p:cxnSp>
          <p:nvCxnSpPr>
            <p:cNvPr id="52" name="Straight Connector 51"/>
            <p:cNvCxnSpPr/>
            <p:nvPr/>
          </p:nvCxnSpPr>
          <p:spPr>
            <a:xfrm flipV="1">
              <a:off x="6550107" y="915698"/>
              <a:ext cx="0" cy="3972646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7493956" y="1851791"/>
              <a:ext cx="0" cy="3972646"/>
            </a:xfrm>
            <a:prstGeom prst="line">
              <a:avLst/>
            </a:prstGeom>
            <a:ln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8" name="Group 2067"/>
          <p:cNvGrpSpPr/>
          <p:nvPr/>
        </p:nvGrpSpPr>
        <p:grpSpPr>
          <a:xfrm>
            <a:off x="6550107" y="2189019"/>
            <a:ext cx="943849" cy="707110"/>
            <a:chOff x="6550107" y="2189019"/>
            <a:chExt cx="943849" cy="707110"/>
          </a:xfrm>
        </p:grpSpPr>
        <p:cxnSp>
          <p:nvCxnSpPr>
            <p:cNvPr id="2065" name="Straight Connector 2064"/>
            <p:cNvCxnSpPr/>
            <p:nvPr/>
          </p:nvCxnSpPr>
          <p:spPr>
            <a:xfrm>
              <a:off x="6550107" y="2189019"/>
              <a:ext cx="0" cy="694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7493956" y="2201334"/>
              <a:ext cx="0" cy="694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/>
            <p:cNvCxnSpPr/>
            <p:nvPr/>
          </p:nvCxnSpPr>
          <p:spPr>
            <a:xfrm>
              <a:off x="6558574" y="2885087"/>
              <a:ext cx="93538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0" name="Group 2069"/>
          <p:cNvGrpSpPr/>
          <p:nvPr/>
        </p:nvGrpSpPr>
        <p:grpSpPr>
          <a:xfrm>
            <a:off x="3478730" y="2973923"/>
            <a:ext cx="5792403" cy="160866"/>
            <a:chOff x="3478730" y="2973923"/>
            <a:chExt cx="5792403" cy="160866"/>
          </a:xfrm>
        </p:grpSpPr>
        <p:cxnSp>
          <p:nvCxnSpPr>
            <p:cNvPr id="61" name="Straight Connector 60"/>
            <p:cNvCxnSpPr/>
            <p:nvPr/>
          </p:nvCxnSpPr>
          <p:spPr>
            <a:xfrm>
              <a:off x="3478730" y="3134789"/>
              <a:ext cx="5425119" cy="0"/>
            </a:xfrm>
            <a:prstGeom prst="line">
              <a:avLst/>
            </a:prstGeom>
            <a:ln w="10795">
              <a:solidFill>
                <a:srgbClr val="7030A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846014" y="2973923"/>
              <a:ext cx="5425119" cy="0"/>
            </a:xfrm>
            <a:prstGeom prst="line">
              <a:avLst/>
            </a:prstGeom>
            <a:ln w="10795">
              <a:solidFill>
                <a:srgbClr val="7030A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/>
          <p:cNvCxnSpPr/>
          <p:nvPr/>
        </p:nvCxnSpPr>
        <p:spPr>
          <a:xfrm flipH="1" flipV="1">
            <a:off x="7019032" y="2006600"/>
            <a:ext cx="7233" cy="1735668"/>
          </a:xfrm>
          <a:prstGeom prst="line">
            <a:avLst/>
          </a:prstGeom>
          <a:ln w="1587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6217672" y="2189214"/>
            <a:ext cx="1613257" cy="927103"/>
            <a:chOff x="6217672" y="2207686"/>
            <a:chExt cx="1613257" cy="927103"/>
          </a:xfrm>
        </p:grpSpPr>
        <p:cxnSp>
          <p:nvCxnSpPr>
            <p:cNvPr id="75" name="Straight Connector 74"/>
            <p:cNvCxnSpPr/>
            <p:nvPr/>
          </p:nvCxnSpPr>
          <p:spPr>
            <a:xfrm flipV="1">
              <a:off x="6624947" y="2251559"/>
              <a:ext cx="0" cy="722364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7429282" y="2207686"/>
              <a:ext cx="0" cy="766237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reeform 35"/>
            <p:cNvSpPr/>
            <p:nvPr/>
          </p:nvSpPr>
          <p:spPr>
            <a:xfrm>
              <a:off x="6620933" y="2973923"/>
              <a:ext cx="791633" cy="160866"/>
            </a:xfrm>
            <a:custGeom>
              <a:avLst/>
              <a:gdLst>
                <a:gd name="connsiteX0" fmla="*/ 0 w 808567"/>
                <a:gd name="connsiteY0" fmla="*/ 0 h 146066"/>
                <a:gd name="connsiteX1" fmla="*/ 91017 w 808567"/>
                <a:gd name="connsiteY1" fmla="*/ 63500 h 146066"/>
                <a:gd name="connsiteX2" fmla="*/ 224367 w 808567"/>
                <a:gd name="connsiteY2" fmla="*/ 112183 h 146066"/>
                <a:gd name="connsiteX3" fmla="*/ 334434 w 808567"/>
                <a:gd name="connsiteY3" fmla="*/ 133350 h 146066"/>
                <a:gd name="connsiteX4" fmla="*/ 404284 w 808567"/>
                <a:gd name="connsiteY4" fmla="*/ 146050 h 146066"/>
                <a:gd name="connsiteX5" fmla="*/ 537634 w 808567"/>
                <a:gd name="connsiteY5" fmla="*/ 135467 h 146066"/>
                <a:gd name="connsiteX6" fmla="*/ 626534 w 808567"/>
                <a:gd name="connsiteY6" fmla="*/ 112183 h 146066"/>
                <a:gd name="connsiteX7" fmla="*/ 747184 w 808567"/>
                <a:gd name="connsiteY7" fmla="*/ 65617 h 146066"/>
                <a:gd name="connsiteX8" fmla="*/ 808567 w 808567"/>
                <a:gd name="connsiteY8" fmla="*/ 8467 h 14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8567" h="146066">
                  <a:moveTo>
                    <a:pt x="0" y="0"/>
                  </a:moveTo>
                  <a:cubicBezTo>
                    <a:pt x="26811" y="22401"/>
                    <a:pt x="53623" y="44803"/>
                    <a:pt x="91017" y="63500"/>
                  </a:cubicBezTo>
                  <a:cubicBezTo>
                    <a:pt x="128411" y="82197"/>
                    <a:pt x="183798" y="100541"/>
                    <a:pt x="224367" y="112183"/>
                  </a:cubicBezTo>
                  <a:cubicBezTo>
                    <a:pt x="264936" y="123825"/>
                    <a:pt x="334434" y="133350"/>
                    <a:pt x="334434" y="133350"/>
                  </a:cubicBezTo>
                  <a:cubicBezTo>
                    <a:pt x="364420" y="138994"/>
                    <a:pt x="370417" y="145697"/>
                    <a:pt x="404284" y="146050"/>
                  </a:cubicBezTo>
                  <a:cubicBezTo>
                    <a:pt x="438151" y="146403"/>
                    <a:pt x="500592" y="141112"/>
                    <a:pt x="537634" y="135467"/>
                  </a:cubicBezTo>
                  <a:cubicBezTo>
                    <a:pt x="574676" y="129822"/>
                    <a:pt x="591609" y="123825"/>
                    <a:pt x="626534" y="112183"/>
                  </a:cubicBezTo>
                  <a:cubicBezTo>
                    <a:pt x="661459" y="100541"/>
                    <a:pt x="716845" y="82903"/>
                    <a:pt x="747184" y="65617"/>
                  </a:cubicBezTo>
                  <a:cubicBezTo>
                    <a:pt x="777523" y="48331"/>
                    <a:pt x="793045" y="28399"/>
                    <a:pt x="808567" y="8467"/>
                  </a:cubicBezTo>
                </a:path>
              </a:pathLst>
            </a:custGeom>
            <a:noFill/>
            <a:ln w="158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6217672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7427668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396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" y="107258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714" y="1594386"/>
            <a:ext cx="4488378" cy="48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60" name="Group 2059"/>
          <p:cNvGrpSpPr/>
          <p:nvPr/>
        </p:nvGrpSpPr>
        <p:grpSpPr>
          <a:xfrm>
            <a:off x="6212728" y="2172085"/>
            <a:ext cx="1598215" cy="1423511"/>
            <a:chOff x="6212728" y="2172085"/>
            <a:chExt cx="1598215" cy="1423511"/>
          </a:xfrm>
        </p:grpSpPr>
        <p:cxnSp>
          <p:nvCxnSpPr>
            <p:cNvPr id="2056" name="Straight Connector 2055"/>
            <p:cNvCxnSpPr/>
            <p:nvPr/>
          </p:nvCxnSpPr>
          <p:spPr>
            <a:xfrm>
              <a:off x="6227121" y="3587077"/>
              <a:ext cx="15838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227121" y="2189019"/>
              <a:ext cx="15838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2057"/>
            <p:cNvCxnSpPr/>
            <p:nvPr/>
          </p:nvCxnSpPr>
          <p:spPr>
            <a:xfrm>
              <a:off x="7810943" y="2172085"/>
              <a:ext cx="0" cy="14234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212728" y="2172137"/>
              <a:ext cx="0" cy="14234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>
            <a:off x="6224580" y="3100921"/>
            <a:ext cx="15838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8" name="Group 2067"/>
          <p:cNvGrpSpPr/>
          <p:nvPr/>
        </p:nvGrpSpPr>
        <p:grpSpPr>
          <a:xfrm>
            <a:off x="6550107" y="2189019"/>
            <a:ext cx="943849" cy="707110"/>
            <a:chOff x="6550107" y="2189019"/>
            <a:chExt cx="943849" cy="707110"/>
          </a:xfrm>
        </p:grpSpPr>
        <p:cxnSp>
          <p:nvCxnSpPr>
            <p:cNvPr id="2065" name="Straight Connector 2064"/>
            <p:cNvCxnSpPr/>
            <p:nvPr/>
          </p:nvCxnSpPr>
          <p:spPr>
            <a:xfrm>
              <a:off x="6550107" y="2189019"/>
              <a:ext cx="0" cy="694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7493956" y="2201334"/>
              <a:ext cx="0" cy="694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/>
            <p:cNvCxnSpPr/>
            <p:nvPr/>
          </p:nvCxnSpPr>
          <p:spPr>
            <a:xfrm>
              <a:off x="6558574" y="2885087"/>
              <a:ext cx="93538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/>
          <p:cNvCxnSpPr/>
          <p:nvPr/>
        </p:nvCxnSpPr>
        <p:spPr>
          <a:xfrm flipH="1" flipV="1">
            <a:off x="7019032" y="2006600"/>
            <a:ext cx="7233" cy="1735668"/>
          </a:xfrm>
          <a:prstGeom prst="line">
            <a:avLst/>
          </a:prstGeom>
          <a:ln w="1587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6217672" y="2170742"/>
            <a:ext cx="1613257" cy="927103"/>
            <a:chOff x="6217672" y="2207686"/>
            <a:chExt cx="1613257" cy="927103"/>
          </a:xfrm>
        </p:grpSpPr>
        <p:cxnSp>
          <p:nvCxnSpPr>
            <p:cNvPr id="75" name="Straight Connector 74"/>
            <p:cNvCxnSpPr/>
            <p:nvPr/>
          </p:nvCxnSpPr>
          <p:spPr>
            <a:xfrm flipH="1" flipV="1">
              <a:off x="6620933" y="2209081"/>
              <a:ext cx="4014" cy="764842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7429282" y="2207686"/>
              <a:ext cx="0" cy="766237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reeform 35"/>
            <p:cNvSpPr/>
            <p:nvPr/>
          </p:nvSpPr>
          <p:spPr>
            <a:xfrm>
              <a:off x="6620933" y="2973923"/>
              <a:ext cx="791633" cy="160866"/>
            </a:xfrm>
            <a:custGeom>
              <a:avLst/>
              <a:gdLst>
                <a:gd name="connsiteX0" fmla="*/ 0 w 808567"/>
                <a:gd name="connsiteY0" fmla="*/ 0 h 146066"/>
                <a:gd name="connsiteX1" fmla="*/ 91017 w 808567"/>
                <a:gd name="connsiteY1" fmla="*/ 63500 h 146066"/>
                <a:gd name="connsiteX2" fmla="*/ 224367 w 808567"/>
                <a:gd name="connsiteY2" fmla="*/ 112183 h 146066"/>
                <a:gd name="connsiteX3" fmla="*/ 334434 w 808567"/>
                <a:gd name="connsiteY3" fmla="*/ 133350 h 146066"/>
                <a:gd name="connsiteX4" fmla="*/ 404284 w 808567"/>
                <a:gd name="connsiteY4" fmla="*/ 146050 h 146066"/>
                <a:gd name="connsiteX5" fmla="*/ 537634 w 808567"/>
                <a:gd name="connsiteY5" fmla="*/ 135467 h 146066"/>
                <a:gd name="connsiteX6" fmla="*/ 626534 w 808567"/>
                <a:gd name="connsiteY6" fmla="*/ 112183 h 146066"/>
                <a:gd name="connsiteX7" fmla="*/ 747184 w 808567"/>
                <a:gd name="connsiteY7" fmla="*/ 65617 h 146066"/>
                <a:gd name="connsiteX8" fmla="*/ 808567 w 808567"/>
                <a:gd name="connsiteY8" fmla="*/ 8467 h 14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8567" h="146066">
                  <a:moveTo>
                    <a:pt x="0" y="0"/>
                  </a:moveTo>
                  <a:cubicBezTo>
                    <a:pt x="26811" y="22401"/>
                    <a:pt x="53623" y="44803"/>
                    <a:pt x="91017" y="63500"/>
                  </a:cubicBezTo>
                  <a:cubicBezTo>
                    <a:pt x="128411" y="82197"/>
                    <a:pt x="183798" y="100541"/>
                    <a:pt x="224367" y="112183"/>
                  </a:cubicBezTo>
                  <a:cubicBezTo>
                    <a:pt x="264936" y="123825"/>
                    <a:pt x="334434" y="133350"/>
                    <a:pt x="334434" y="133350"/>
                  </a:cubicBezTo>
                  <a:cubicBezTo>
                    <a:pt x="364420" y="138994"/>
                    <a:pt x="370417" y="145697"/>
                    <a:pt x="404284" y="146050"/>
                  </a:cubicBezTo>
                  <a:cubicBezTo>
                    <a:pt x="438151" y="146403"/>
                    <a:pt x="500592" y="141112"/>
                    <a:pt x="537634" y="135467"/>
                  </a:cubicBezTo>
                  <a:cubicBezTo>
                    <a:pt x="574676" y="129822"/>
                    <a:pt x="591609" y="123825"/>
                    <a:pt x="626534" y="112183"/>
                  </a:cubicBezTo>
                  <a:cubicBezTo>
                    <a:pt x="661459" y="100541"/>
                    <a:pt x="716845" y="82903"/>
                    <a:pt x="747184" y="65617"/>
                  </a:cubicBezTo>
                  <a:cubicBezTo>
                    <a:pt x="777523" y="48331"/>
                    <a:pt x="793045" y="28399"/>
                    <a:pt x="808567" y="8467"/>
                  </a:cubicBezTo>
                </a:path>
              </a:pathLst>
            </a:custGeom>
            <a:noFill/>
            <a:ln w="158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6217672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7427668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66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" y="107258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714" y="1594386"/>
            <a:ext cx="4488378" cy="48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60" name="Group 2059"/>
          <p:cNvGrpSpPr/>
          <p:nvPr/>
        </p:nvGrpSpPr>
        <p:grpSpPr>
          <a:xfrm>
            <a:off x="6212728" y="2172085"/>
            <a:ext cx="1598215" cy="1423511"/>
            <a:chOff x="6212728" y="2172085"/>
            <a:chExt cx="1598215" cy="1423511"/>
          </a:xfrm>
        </p:grpSpPr>
        <p:cxnSp>
          <p:nvCxnSpPr>
            <p:cNvPr id="2056" name="Straight Connector 2055"/>
            <p:cNvCxnSpPr/>
            <p:nvPr/>
          </p:nvCxnSpPr>
          <p:spPr>
            <a:xfrm>
              <a:off x="6227121" y="3587077"/>
              <a:ext cx="158382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227121" y="2189019"/>
              <a:ext cx="158382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2057"/>
            <p:cNvCxnSpPr/>
            <p:nvPr/>
          </p:nvCxnSpPr>
          <p:spPr>
            <a:xfrm>
              <a:off x="7810943" y="2172085"/>
              <a:ext cx="0" cy="14234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212728" y="2172137"/>
              <a:ext cx="0" cy="14234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>
            <a:off x="6224580" y="3100921"/>
            <a:ext cx="15838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8" name="Group 2067"/>
          <p:cNvGrpSpPr/>
          <p:nvPr/>
        </p:nvGrpSpPr>
        <p:grpSpPr>
          <a:xfrm>
            <a:off x="6550107" y="2189019"/>
            <a:ext cx="943849" cy="707110"/>
            <a:chOff x="6550107" y="2189019"/>
            <a:chExt cx="943849" cy="707110"/>
          </a:xfrm>
        </p:grpSpPr>
        <p:cxnSp>
          <p:nvCxnSpPr>
            <p:cNvPr id="2065" name="Straight Connector 2064"/>
            <p:cNvCxnSpPr/>
            <p:nvPr/>
          </p:nvCxnSpPr>
          <p:spPr>
            <a:xfrm>
              <a:off x="6550107" y="2189019"/>
              <a:ext cx="0" cy="694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7493956" y="2201334"/>
              <a:ext cx="0" cy="694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/>
            <p:cNvCxnSpPr/>
            <p:nvPr/>
          </p:nvCxnSpPr>
          <p:spPr>
            <a:xfrm>
              <a:off x="6558574" y="2885087"/>
              <a:ext cx="93538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/>
          <p:cNvCxnSpPr/>
          <p:nvPr/>
        </p:nvCxnSpPr>
        <p:spPr>
          <a:xfrm flipH="1" flipV="1">
            <a:off x="7019032" y="2006600"/>
            <a:ext cx="7233" cy="1735668"/>
          </a:xfrm>
          <a:prstGeom prst="line">
            <a:avLst/>
          </a:prstGeom>
          <a:ln w="1587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6217672" y="2170742"/>
            <a:ext cx="1613257" cy="927103"/>
            <a:chOff x="6217672" y="2207686"/>
            <a:chExt cx="1613257" cy="927103"/>
          </a:xfrm>
        </p:grpSpPr>
        <p:cxnSp>
          <p:nvCxnSpPr>
            <p:cNvPr id="75" name="Straight Connector 74"/>
            <p:cNvCxnSpPr/>
            <p:nvPr/>
          </p:nvCxnSpPr>
          <p:spPr>
            <a:xfrm flipH="1" flipV="1">
              <a:off x="6620933" y="2209081"/>
              <a:ext cx="4014" cy="764842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7429282" y="2207686"/>
              <a:ext cx="0" cy="766237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reeform 35"/>
            <p:cNvSpPr/>
            <p:nvPr/>
          </p:nvSpPr>
          <p:spPr>
            <a:xfrm>
              <a:off x="6620933" y="2973923"/>
              <a:ext cx="791633" cy="160866"/>
            </a:xfrm>
            <a:custGeom>
              <a:avLst/>
              <a:gdLst>
                <a:gd name="connsiteX0" fmla="*/ 0 w 808567"/>
                <a:gd name="connsiteY0" fmla="*/ 0 h 146066"/>
                <a:gd name="connsiteX1" fmla="*/ 91017 w 808567"/>
                <a:gd name="connsiteY1" fmla="*/ 63500 h 146066"/>
                <a:gd name="connsiteX2" fmla="*/ 224367 w 808567"/>
                <a:gd name="connsiteY2" fmla="*/ 112183 h 146066"/>
                <a:gd name="connsiteX3" fmla="*/ 334434 w 808567"/>
                <a:gd name="connsiteY3" fmla="*/ 133350 h 146066"/>
                <a:gd name="connsiteX4" fmla="*/ 404284 w 808567"/>
                <a:gd name="connsiteY4" fmla="*/ 146050 h 146066"/>
                <a:gd name="connsiteX5" fmla="*/ 537634 w 808567"/>
                <a:gd name="connsiteY5" fmla="*/ 135467 h 146066"/>
                <a:gd name="connsiteX6" fmla="*/ 626534 w 808567"/>
                <a:gd name="connsiteY6" fmla="*/ 112183 h 146066"/>
                <a:gd name="connsiteX7" fmla="*/ 747184 w 808567"/>
                <a:gd name="connsiteY7" fmla="*/ 65617 h 146066"/>
                <a:gd name="connsiteX8" fmla="*/ 808567 w 808567"/>
                <a:gd name="connsiteY8" fmla="*/ 8467 h 14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8567" h="146066">
                  <a:moveTo>
                    <a:pt x="0" y="0"/>
                  </a:moveTo>
                  <a:cubicBezTo>
                    <a:pt x="26811" y="22401"/>
                    <a:pt x="53623" y="44803"/>
                    <a:pt x="91017" y="63500"/>
                  </a:cubicBezTo>
                  <a:cubicBezTo>
                    <a:pt x="128411" y="82197"/>
                    <a:pt x="183798" y="100541"/>
                    <a:pt x="224367" y="112183"/>
                  </a:cubicBezTo>
                  <a:cubicBezTo>
                    <a:pt x="264936" y="123825"/>
                    <a:pt x="334434" y="133350"/>
                    <a:pt x="334434" y="133350"/>
                  </a:cubicBezTo>
                  <a:cubicBezTo>
                    <a:pt x="364420" y="138994"/>
                    <a:pt x="370417" y="145697"/>
                    <a:pt x="404284" y="146050"/>
                  </a:cubicBezTo>
                  <a:cubicBezTo>
                    <a:pt x="438151" y="146403"/>
                    <a:pt x="500592" y="141112"/>
                    <a:pt x="537634" y="135467"/>
                  </a:cubicBezTo>
                  <a:cubicBezTo>
                    <a:pt x="574676" y="129822"/>
                    <a:pt x="591609" y="123825"/>
                    <a:pt x="626534" y="112183"/>
                  </a:cubicBezTo>
                  <a:cubicBezTo>
                    <a:pt x="661459" y="100541"/>
                    <a:pt x="716845" y="82903"/>
                    <a:pt x="747184" y="65617"/>
                  </a:cubicBezTo>
                  <a:cubicBezTo>
                    <a:pt x="777523" y="48331"/>
                    <a:pt x="793045" y="28399"/>
                    <a:pt x="808567" y="8467"/>
                  </a:cubicBezTo>
                </a:path>
              </a:pathLst>
            </a:custGeom>
            <a:noFill/>
            <a:ln w="158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6217672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7427668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963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5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DỰNG HÌNH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" y="1072586"/>
            <a:ext cx="12444549" cy="669581"/>
          </a:xfrm>
          <a:prstGeom prst="roundRect">
            <a:avLst/>
          </a:prstGeom>
          <a:noFill/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600" b="1" i="1" dirty="0">
                <a:solidFill>
                  <a:schemeClr val="tx1"/>
                </a:solidFill>
              </a:rPr>
              <a:t>b. </a:t>
            </a:r>
            <a:r>
              <a:rPr lang="en-US" sz="2600" b="1" i="1" dirty="0" err="1">
                <a:solidFill>
                  <a:schemeClr val="tx1"/>
                </a:solidFill>
              </a:rPr>
              <a:t>Dựng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hình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chiếu</a:t>
            </a:r>
            <a:r>
              <a:rPr lang="en-US" sz="2600" b="1" i="1" dirty="0">
                <a:solidFill>
                  <a:schemeClr val="tx1"/>
                </a:solidFill>
              </a:rPr>
              <a:t> </a:t>
            </a:r>
            <a:r>
              <a:rPr lang="en-US" sz="2600" b="1" i="1" dirty="0" err="1">
                <a:solidFill>
                  <a:schemeClr val="tx1"/>
                </a:solidFill>
              </a:rPr>
              <a:t>thứ</a:t>
            </a:r>
            <a:r>
              <a:rPr lang="en-US" sz="2600" b="1" i="1" dirty="0">
                <a:solidFill>
                  <a:schemeClr val="tx1"/>
                </a:solidFill>
              </a:rPr>
              <a:t> 3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714" y="1594386"/>
            <a:ext cx="4488378" cy="48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60" name="Group 2059"/>
          <p:cNvGrpSpPr/>
          <p:nvPr/>
        </p:nvGrpSpPr>
        <p:grpSpPr>
          <a:xfrm>
            <a:off x="6212728" y="2172085"/>
            <a:ext cx="1598215" cy="1423511"/>
            <a:chOff x="6212728" y="2172085"/>
            <a:chExt cx="1598215" cy="1423511"/>
          </a:xfrm>
        </p:grpSpPr>
        <p:cxnSp>
          <p:nvCxnSpPr>
            <p:cNvPr id="2056" name="Straight Connector 2055"/>
            <p:cNvCxnSpPr/>
            <p:nvPr/>
          </p:nvCxnSpPr>
          <p:spPr>
            <a:xfrm>
              <a:off x="6227121" y="3587077"/>
              <a:ext cx="158382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227121" y="2189019"/>
              <a:ext cx="158382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2057"/>
            <p:cNvCxnSpPr/>
            <p:nvPr/>
          </p:nvCxnSpPr>
          <p:spPr>
            <a:xfrm>
              <a:off x="7810943" y="2172085"/>
              <a:ext cx="0" cy="14234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212728" y="2172137"/>
              <a:ext cx="0" cy="14234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>
            <a:off x="6224580" y="3100921"/>
            <a:ext cx="158382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8" name="Group 2067"/>
          <p:cNvGrpSpPr/>
          <p:nvPr/>
        </p:nvGrpSpPr>
        <p:grpSpPr>
          <a:xfrm>
            <a:off x="6550107" y="2189019"/>
            <a:ext cx="943849" cy="707110"/>
            <a:chOff x="6550107" y="2189019"/>
            <a:chExt cx="943849" cy="707110"/>
          </a:xfrm>
        </p:grpSpPr>
        <p:cxnSp>
          <p:nvCxnSpPr>
            <p:cNvPr id="2065" name="Straight Connector 2064"/>
            <p:cNvCxnSpPr/>
            <p:nvPr/>
          </p:nvCxnSpPr>
          <p:spPr>
            <a:xfrm>
              <a:off x="6550107" y="2189019"/>
              <a:ext cx="0" cy="69479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7493956" y="2201334"/>
              <a:ext cx="0" cy="69479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/>
            <p:cNvCxnSpPr/>
            <p:nvPr/>
          </p:nvCxnSpPr>
          <p:spPr>
            <a:xfrm>
              <a:off x="6558574" y="2885087"/>
              <a:ext cx="93538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/>
          <p:cNvCxnSpPr/>
          <p:nvPr/>
        </p:nvCxnSpPr>
        <p:spPr>
          <a:xfrm flipH="1" flipV="1">
            <a:off x="7019032" y="2006600"/>
            <a:ext cx="7233" cy="1735668"/>
          </a:xfrm>
          <a:prstGeom prst="line">
            <a:avLst/>
          </a:prstGeom>
          <a:ln w="1587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6217672" y="2170742"/>
            <a:ext cx="1613257" cy="927103"/>
            <a:chOff x="6217672" y="2207686"/>
            <a:chExt cx="1613257" cy="927103"/>
          </a:xfrm>
        </p:grpSpPr>
        <p:cxnSp>
          <p:nvCxnSpPr>
            <p:cNvPr id="75" name="Straight Connector 74"/>
            <p:cNvCxnSpPr/>
            <p:nvPr/>
          </p:nvCxnSpPr>
          <p:spPr>
            <a:xfrm flipH="1" flipV="1">
              <a:off x="6620933" y="2209081"/>
              <a:ext cx="4014" cy="764842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7429282" y="2207686"/>
              <a:ext cx="0" cy="766237"/>
            </a:xfrm>
            <a:prstGeom prst="line">
              <a:avLst/>
            </a:prstGeom>
            <a:ln w="158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reeform 35"/>
            <p:cNvSpPr/>
            <p:nvPr/>
          </p:nvSpPr>
          <p:spPr>
            <a:xfrm>
              <a:off x="6620933" y="2973923"/>
              <a:ext cx="791633" cy="160866"/>
            </a:xfrm>
            <a:custGeom>
              <a:avLst/>
              <a:gdLst>
                <a:gd name="connsiteX0" fmla="*/ 0 w 808567"/>
                <a:gd name="connsiteY0" fmla="*/ 0 h 146066"/>
                <a:gd name="connsiteX1" fmla="*/ 91017 w 808567"/>
                <a:gd name="connsiteY1" fmla="*/ 63500 h 146066"/>
                <a:gd name="connsiteX2" fmla="*/ 224367 w 808567"/>
                <a:gd name="connsiteY2" fmla="*/ 112183 h 146066"/>
                <a:gd name="connsiteX3" fmla="*/ 334434 w 808567"/>
                <a:gd name="connsiteY3" fmla="*/ 133350 h 146066"/>
                <a:gd name="connsiteX4" fmla="*/ 404284 w 808567"/>
                <a:gd name="connsiteY4" fmla="*/ 146050 h 146066"/>
                <a:gd name="connsiteX5" fmla="*/ 537634 w 808567"/>
                <a:gd name="connsiteY5" fmla="*/ 135467 h 146066"/>
                <a:gd name="connsiteX6" fmla="*/ 626534 w 808567"/>
                <a:gd name="connsiteY6" fmla="*/ 112183 h 146066"/>
                <a:gd name="connsiteX7" fmla="*/ 747184 w 808567"/>
                <a:gd name="connsiteY7" fmla="*/ 65617 h 146066"/>
                <a:gd name="connsiteX8" fmla="*/ 808567 w 808567"/>
                <a:gd name="connsiteY8" fmla="*/ 8467 h 14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8567" h="146066">
                  <a:moveTo>
                    <a:pt x="0" y="0"/>
                  </a:moveTo>
                  <a:cubicBezTo>
                    <a:pt x="26811" y="22401"/>
                    <a:pt x="53623" y="44803"/>
                    <a:pt x="91017" y="63500"/>
                  </a:cubicBezTo>
                  <a:cubicBezTo>
                    <a:pt x="128411" y="82197"/>
                    <a:pt x="183798" y="100541"/>
                    <a:pt x="224367" y="112183"/>
                  </a:cubicBezTo>
                  <a:cubicBezTo>
                    <a:pt x="264936" y="123825"/>
                    <a:pt x="334434" y="133350"/>
                    <a:pt x="334434" y="133350"/>
                  </a:cubicBezTo>
                  <a:cubicBezTo>
                    <a:pt x="364420" y="138994"/>
                    <a:pt x="370417" y="145697"/>
                    <a:pt x="404284" y="146050"/>
                  </a:cubicBezTo>
                  <a:cubicBezTo>
                    <a:pt x="438151" y="146403"/>
                    <a:pt x="500592" y="141112"/>
                    <a:pt x="537634" y="135467"/>
                  </a:cubicBezTo>
                  <a:cubicBezTo>
                    <a:pt x="574676" y="129822"/>
                    <a:pt x="591609" y="123825"/>
                    <a:pt x="626534" y="112183"/>
                  </a:cubicBezTo>
                  <a:cubicBezTo>
                    <a:pt x="661459" y="100541"/>
                    <a:pt x="716845" y="82903"/>
                    <a:pt x="747184" y="65617"/>
                  </a:cubicBezTo>
                  <a:cubicBezTo>
                    <a:pt x="777523" y="48331"/>
                    <a:pt x="793045" y="28399"/>
                    <a:pt x="808567" y="8467"/>
                  </a:cubicBezTo>
                </a:path>
              </a:pathLst>
            </a:custGeom>
            <a:noFill/>
            <a:ln w="158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6217672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7427668" y="2973923"/>
              <a:ext cx="403261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5661594" y="2006600"/>
            <a:ext cx="2714055" cy="2152650"/>
            <a:chOff x="5661594" y="2006600"/>
            <a:chExt cx="2714055" cy="2152650"/>
          </a:xfrm>
        </p:grpSpPr>
        <p:sp>
          <p:nvSpPr>
            <p:cNvPr id="24" name="Rectangle 23"/>
            <p:cNvSpPr/>
            <p:nvPr/>
          </p:nvSpPr>
          <p:spPr>
            <a:xfrm>
              <a:off x="5661594" y="2006600"/>
              <a:ext cx="2714055" cy="21526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108640" y="3789918"/>
              <a:ext cx="1946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HÌNH CHIẾU CẠNH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358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I. HÌNH CHIẾU VUÔNG GÓC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6</a:t>
            </a:r>
            <a:r>
              <a:rPr lang="en-US" sz="3000" b="1" dirty="0" smtClean="0">
                <a:solidFill>
                  <a:srgbClr val="FF0000"/>
                </a:solidFill>
              </a:rPr>
              <a:t>. </a:t>
            </a:r>
            <a:r>
              <a:rPr lang="en-US" sz="3000" b="1" dirty="0">
                <a:solidFill>
                  <a:srgbClr val="FF0000"/>
                </a:solidFill>
              </a:rPr>
              <a:t>GHI KÍCH THƯỚC TRÊN HÌNH CHIẾU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512290"/>
            <a:ext cx="7103533" cy="33698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chemeClr val="tx1"/>
                </a:solidFill>
              </a:rPr>
              <a:t>Kích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thước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của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vật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thể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ra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làm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các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loại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sau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- </a:t>
            </a:r>
            <a:r>
              <a:rPr lang="en-US" sz="2400" b="1" dirty="0" err="1">
                <a:solidFill>
                  <a:schemeClr val="tx1"/>
                </a:solidFill>
              </a:rPr>
              <a:t>Kích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thước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định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khối</a:t>
            </a:r>
            <a:r>
              <a:rPr lang="en-US" sz="2400" b="1" dirty="0">
                <a:solidFill>
                  <a:schemeClr val="tx1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kích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thước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khuôn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khổ</a:t>
            </a:r>
            <a:r>
              <a:rPr lang="en-US" sz="2400" dirty="0">
                <a:solidFill>
                  <a:schemeClr val="tx1"/>
                </a:solidFill>
              </a:rPr>
              <a:t> hay </a:t>
            </a:r>
            <a:r>
              <a:rPr lang="en-US" sz="2400" dirty="0" err="1">
                <a:solidFill>
                  <a:schemeClr val="tx1"/>
                </a:solidFill>
              </a:rPr>
              <a:t>kích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thước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choán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chỗ</a:t>
            </a:r>
            <a:r>
              <a:rPr lang="en-US" sz="2400" dirty="0">
                <a:solidFill>
                  <a:schemeClr val="tx1"/>
                </a:solidFill>
              </a:rPr>
              <a:t>)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kích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thước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xác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định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độ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lớn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nhất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vật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theo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chiều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dài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rộng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cao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- </a:t>
            </a:r>
            <a:r>
              <a:rPr lang="en-US" sz="2400" b="1" dirty="0" err="1">
                <a:solidFill>
                  <a:schemeClr val="tx1"/>
                </a:solidFill>
              </a:rPr>
              <a:t>Kích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thước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định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vị</a:t>
            </a:r>
            <a:r>
              <a:rPr lang="en-US" sz="2400" b="1" dirty="0">
                <a:solidFill>
                  <a:schemeClr val="tx1"/>
                </a:solidFill>
              </a:rPr>
              <a:t>: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kích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thước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xác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định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vị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trí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tương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đối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giữa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khối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học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bản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tạo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thành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vật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- </a:t>
            </a:r>
            <a:r>
              <a:rPr lang="en-US" sz="2400" b="1" dirty="0" err="1">
                <a:solidFill>
                  <a:schemeClr val="tx1"/>
                </a:solidFill>
              </a:rPr>
              <a:t>Kích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thước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định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hình</a:t>
            </a:r>
            <a:r>
              <a:rPr lang="en-US" sz="2400" b="1" dirty="0">
                <a:solidFill>
                  <a:schemeClr val="tx1"/>
                </a:solidFill>
              </a:rPr>
              <a:t>: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kích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thước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xác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định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độ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lớn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từng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khối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học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bản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tạo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thành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vật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t="-843"/>
          <a:stretch/>
        </p:blipFill>
        <p:spPr bwMode="auto">
          <a:xfrm>
            <a:off x="7205133" y="1446723"/>
            <a:ext cx="4876799" cy="35487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2713B4C7-7993-DF33-31D4-F20FB166E649}"/>
              </a:ext>
            </a:extLst>
          </p:cNvPr>
          <p:cNvSpPr/>
          <p:nvPr/>
        </p:nvSpPr>
        <p:spPr>
          <a:xfrm>
            <a:off x="8156376" y="1371600"/>
            <a:ext cx="1682568" cy="438912"/>
          </a:xfrm>
          <a:custGeom>
            <a:avLst/>
            <a:gdLst>
              <a:gd name="connsiteX0" fmla="*/ 335352 w 1682568"/>
              <a:gd name="connsiteY0" fmla="*/ 408432 h 438912"/>
              <a:gd name="connsiteX1" fmla="*/ 335352 w 1682568"/>
              <a:gd name="connsiteY1" fmla="*/ 408432 h 438912"/>
              <a:gd name="connsiteX2" fmla="*/ 274392 w 1682568"/>
              <a:gd name="connsiteY2" fmla="*/ 426720 h 438912"/>
              <a:gd name="connsiteX3" fmla="*/ 250008 w 1682568"/>
              <a:gd name="connsiteY3" fmla="*/ 438912 h 438912"/>
              <a:gd name="connsiteX4" fmla="*/ 97608 w 1682568"/>
              <a:gd name="connsiteY4" fmla="*/ 426720 h 438912"/>
              <a:gd name="connsiteX5" fmla="*/ 36648 w 1682568"/>
              <a:gd name="connsiteY5" fmla="*/ 384048 h 438912"/>
              <a:gd name="connsiteX6" fmla="*/ 24456 w 1682568"/>
              <a:gd name="connsiteY6" fmla="*/ 365760 h 438912"/>
              <a:gd name="connsiteX7" fmla="*/ 18360 w 1682568"/>
              <a:gd name="connsiteY7" fmla="*/ 316992 h 438912"/>
              <a:gd name="connsiteX8" fmla="*/ 6168 w 1682568"/>
              <a:gd name="connsiteY8" fmla="*/ 274320 h 438912"/>
              <a:gd name="connsiteX9" fmla="*/ 6168 w 1682568"/>
              <a:gd name="connsiteY9" fmla="*/ 158496 h 438912"/>
              <a:gd name="connsiteX10" fmla="*/ 12264 w 1682568"/>
              <a:gd name="connsiteY10" fmla="*/ 128016 h 438912"/>
              <a:gd name="connsiteX11" fmla="*/ 73224 w 1682568"/>
              <a:gd name="connsiteY11" fmla="*/ 54864 h 438912"/>
              <a:gd name="connsiteX12" fmla="*/ 128088 w 1682568"/>
              <a:gd name="connsiteY12" fmla="*/ 36576 h 438912"/>
              <a:gd name="connsiteX13" fmla="*/ 280488 w 1682568"/>
              <a:gd name="connsiteY13" fmla="*/ 6096 h 438912"/>
              <a:gd name="connsiteX14" fmla="*/ 560904 w 1682568"/>
              <a:gd name="connsiteY14" fmla="*/ 0 h 438912"/>
              <a:gd name="connsiteX15" fmla="*/ 1493592 w 1682568"/>
              <a:gd name="connsiteY15" fmla="*/ 24384 h 438912"/>
              <a:gd name="connsiteX16" fmla="*/ 1554552 w 1682568"/>
              <a:gd name="connsiteY16" fmla="*/ 48768 h 438912"/>
              <a:gd name="connsiteX17" fmla="*/ 1591128 w 1682568"/>
              <a:gd name="connsiteY17" fmla="*/ 60960 h 438912"/>
              <a:gd name="connsiteX18" fmla="*/ 1627704 w 1682568"/>
              <a:gd name="connsiteY18" fmla="*/ 109728 h 438912"/>
              <a:gd name="connsiteX19" fmla="*/ 1670376 w 1682568"/>
              <a:gd name="connsiteY19" fmla="*/ 164592 h 438912"/>
              <a:gd name="connsiteX20" fmla="*/ 1676472 w 1682568"/>
              <a:gd name="connsiteY20" fmla="*/ 195072 h 438912"/>
              <a:gd name="connsiteX21" fmla="*/ 1682568 w 1682568"/>
              <a:gd name="connsiteY21" fmla="*/ 219456 h 438912"/>
              <a:gd name="connsiteX22" fmla="*/ 1676472 w 1682568"/>
              <a:gd name="connsiteY22" fmla="*/ 304800 h 438912"/>
              <a:gd name="connsiteX23" fmla="*/ 1664280 w 1682568"/>
              <a:gd name="connsiteY23" fmla="*/ 329184 h 438912"/>
              <a:gd name="connsiteX24" fmla="*/ 1633800 w 1682568"/>
              <a:gd name="connsiteY24" fmla="*/ 371856 h 438912"/>
              <a:gd name="connsiteX25" fmla="*/ 1615512 w 1682568"/>
              <a:gd name="connsiteY25" fmla="*/ 384048 h 438912"/>
              <a:gd name="connsiteX26" fmla="*/ 1585032 w 1682568"/>
              <a:gd name="connsiteY26" fmla="*/ 426720 h 438912"/>
              <a:gd name="connsiteX27" fmla="*/ 1554552 w 1682568"/>
              <a:gd name="connsiteY27" fmla="*/ 438912 h 438912"/>
              <a:gd name="connsiteX28" fmla="*/ 1475304 w 1682568"/>
              <a:gd name="connsiteY28" fmla="*/ 414528 h 438912"/>
              <a:gd name="connsiteX29" fmla="*/ 1450920 w 1682568"/>
              <a:gd name="connsiteY29" fmla="*/ 390144 h 438912"/>
              <a:gd name="connsiteX30" fmla="*/ 1414344 w 1682568"/>
              <a:gd name="connsiteY30" fmla="*/ 341376 h 438912"/>
              <a:gd name="connsiteX31" fmla="*/ 1396056 w 1682568"/>
              <a:gd name="connsiteY31" fmla="*/ 323088 h 438912"/>
              <a:gd name="connsiteX32" fmla="*/ 1359480 w 1682568"/>
              <a:gd name="connsiteY32" fmla="*/ 310896 h 438912"/>
              <a:gd name="connsiteX33" fmla="*/ 1341192 w 1682568"/>
              <a:gd name="connsiteY33" fmla="*/ 298704 h 438912"/>
              <a:gd name="connsiteX34" fmla="*/ 1268040 w 1682568"/>
              <a:gd name="connsiteY34" fmla="*/ 280416 h 438912"/>
              <a:gd name="connsiteX35" fmla="*/ 1237560 w 1682568"/>
              <a:gd name="connsiteY35" fmla="*/ 268224 h 438912"/>
              <a:gd name="connsiteX36" fmla="*/ 1219272 w 1682568"/>
              <a:gd name="connsiteY36" fmla="*/ 262128 h 438912"/>
              <a:gd name="connsiteX37" fmla="*/ 1158312 w 1682568"/>
              <a:gd name="connsiteY37" fmla="*/ 237744 h 438912"/>
              <a:gd name="connsiteX38" fmla="*/ 768168 w 1682568"/>
              <a:gd name="connsiteY38" fmla="*/ 243840 h 438912"/>
              <a:gd name="connsiteX39" fmla="*/ 688920 w 1682568"/>
              <a:gd name="connsiteY39" fmla="*/ 256032 h 438912"/>
              <a:gd name="connsiteX40" fmla="*/ 670632 w 1682568"/>
              <a:gd name="connsiteY40" fmla="*/ 262128 h 438912"/>
              <a:gd name="connsiteX41" fmla="*/ 640152 w 1682568"/>
              <a:gd name="connsiteY41" fmla="*/ 274320 h 438912"/>
              <a:gd name="connsiteX42" fmla="*/ 567000 w 1682568"/>
              <a:gd name="connsiteY42" fmla="*/ 286512 h 438912"/>
              <a:gd name="connsiteX43" fmla="*/ 457272 w 1682568"/>
              <a:gd name="connsiteY43" fmla="*/ 298704 h 438912"/>
              <a:gd name="connsiteX44" fmla="*/ 396312 w 1682568"/>
              <a:gd name="connsiteY44" fmla="*/ 310896 h 438912"/>
              <a:gd name="connsiteX45" fmla="*/ 378024 w 1682568"/>
              <a:gd name="connsiteY45" fmla="*/ 316992 h 438912"/>
              <a:gd name="connsiteX46" fmla="*/ 359736 w 1682568"/>
              <a:gd name="connsiteY46" fmla="*/ 359664 h 438912"/>
              <a:gd name="connsiteX47" fmla="*/ 335352 w 1682568"/>
              <a:gd name="connsiteY47" fmla="*/ 396240 h 438912"/>
              <a:gd name="connsiteX48" fmla="*/ 335352 w 1682568"/>
              <a:gd name="connsiteY48" fmla="*/ 408432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682568" h="438912">
                <a:moveTo>
                  <a:pt x="335352" y="408432"/>
                </a:moveTo>
                <a:lnTo>
                  <a:pt x="335352" y="408432"/>
                </a:lnTo>
                <a:cubicBezTo>
                  <a:pt x="315032" y="414528"/>
                  <a:pt x="294371" y="419585"/>
                  <a:pt x="274392" y="426720"/>
                </a:cubicBezTo>
                <a:cubicBezTo>
                  <a:pt x="265834" y="429776"/>
                  <a:pt x="259095" y="438912"/>
                  <a:pt x="250008" y="438912"/>
                </a:cubicBezTo>
                <a:cubicBezTo>
                  <a:pt x="199046" y="438912"/>
                  <a:pt x="148408" y="430784"/>
                  <a:pt x="97608" y="426720"/>
                </a:cubicBezTo>
                <a:cubicBezTo>
                  <a:pt x="91633" y="422737"/>
                  <a:pt x="45675" y="393075"/>
                  <a:pt x="36648" y="384048"/>
                </a:cubicBezTo>
                <a:cubicBezTo>
                  <a:pt x="31467" y="378867"/>
                  <a:pt x="28520" y="371856"/>
                  <a:pt x="24456" y="365760"/>
                </a:cubicBezTo>
                <a:cubicBezTo>
                  <a:pt x="22424" y="349504"/>
                  <a:pt x="21053" y="333152"/>
                  <a:pt x="18360" y="316992"/>
                </a:cubicBezTo>
                <a:cubicBezTo>
                  <a:pt x="15809" y="301683"/>
                  <a:pt x="11000" y="288815"/>
                  <a:pt x="6168" y="274320"/>
                </a:cubicBezTo>
                <a:cubicBezTo>
                  <a:pt x="-1101" y="208899"/>
                  <a:pt x="-2960" y="226956"/>
                  <a:pt x="6168" y="158496"/>
                </a:cubicBezTo>
                <a:cubicBezTo>
                  <a:pt x="7537" y="148226"/>
                  <a:pt x="7352" y="137139"/>
                  <a:pt x="12264" y="128016"/>
                </a:cubicBezTo>
                <a:cubicBezTo>
                  <a:pt x="14492" y="123879"/>
                  <a:pt x="57803" y="63167"/>
                  <a:pt x="73224" y="54864"/>
                </a:cubicBezTo>
                <a:cubicBezTo>
                  <a:pt x="90197" y="45725"/>
                  <a:pt x="109428" y="41414"/>
                  <a:pt x="128088" y="36576"/>
                </a:cubicBezTo>
                <a:cubicBezTo>
                  <a:pt x="132448" y="35446"/>
                  <a:pt x="246510" y="7378"/>
                  <a:pt x="280488" y="6096"/>
                </a:cubicBezTo>
                <a:cubicBezTo>
                  <a:pt x="373916" y="2570"/>
                  <a:pt x="467432" y="2032"/>
                  <a:pt x="560904" y="0"/>
                </a:cubicBezTo>
                <a:lnTo>
                  <a:pt x="1493592" y="24384"/>
                </a:lnTo>
                <a:cubicBezTo>
                  <a:pt x="1515916" y="25226"/>
                  <a:pt x="1534847" y="40886"/>
                  <a:pt x="1554552" y="48768"/>
                </a:cubicBezTo>
                <a:cubicBezTo>
                  <a:pt x="1566484" y="53541"/>
                  <a:pt x="1578936" y="56896"/>
                  <a:pt x="1591128" y="60960"/>
                </a:cubicBezTo>
                <a:cubicBezTo>
                  <a:pt x="1603320" y="77216"/>
                  <a:pt x="1613336" y="95360"/>
                  <a:pt x="1627704" y="109728"/>
                </a:cubicBezTo>
                <a:cubicBezTo>
                  <a:pt x="1664610" y="146634"/>
                  <a:pt x="1651758" y="127357"/>
                  <a:pt x="1670376" y="164592"/>
                </a:cubicBezTo>
                <a:cubicBezTo>
                  <a:pt x="1672408" y="174752"/>
                  <a:pt x="1674224" y="184958"/>
                  <a:pt x="1676472" y="195072"/>
                </a:cubicBezTo>
                <a:cubicBezTo>
                  <a:pt x="1678289" y="203251"/>
                  <a:pt x="1682568" y="211078"/>
                  <a:pt x="1682568" y="219456"/>
                </a:cubicBezTo>
                <a:cubicBezTo>
                  <a:pt x="1682568" y="247976"/>
                  <a:pt x="1681161" y="276668"/>
                  <a:pt x="1676472" y="304800"/>
                </a:cubicBezTo>
                <a:cubicBezTo>
                  <a:pt x="1674978" y="313764"/>
                  <a:pt x="1668789" y="321294"/>
                  <a:pt x="1664280" y="329184"/>
                </a:cubicBezTo>
                <a:cubicBezTo>
                  <a:pt x="1659665" y="337260"/>
                  <a:pt x="1638161" y="367495"/>
                  <a:pt x="1633800" y="371856"/>
                </a:cubicBezTo>
                <a:cubicBezTo>
                  <a:pt x="1628619" y="377037"/>
                  <a:pt x="1621608" y="379984"/>
                  <a:pt x="1615512" y="384048"/>
                </a:cubicBezTo>
                <a:cubicBezTo>
                  <a:pt x="1606569" y="401933"/>
                  <a:pt x="1603006" y="415486"/>
                  <a:pt x="1585032" y="426720"/>
                </a:cubicBezTo>
                <a:cubicBezTo>
                  <a:pt x="1575753" y="432520"/>
                  <a:pt x="1564712" y="434848"/>
                  <a:pt x="1554552" y="438912"/>
                </a:cubicBezTo>
                <a:cubicBezTo>
                  <a:pt x="1548953" y="437312"/>
                  <a:pt x="1482972" y="419129"/>
                  <a:pt x="1475304" y="414528"/>
                </a:cubicBezTo>
                <a:cubicBezTo>
                  <a:pt x="1465447" y="408614"/>
                  <a:pt x="1459048" y="398272"/>
                  <a:pt x="1450920" y="390144"/>
                </a:cubicBezTo>
                <a:cubicBezTo>
                  <a:pt x="1432627" y="344412"/>
                  <a:pt x="1449643" y="371633"/>
                  <a:pt x="1414344" y="341376"/>
                </a:cubicBezTo>
                <a:cubicBezTo>
                  <a:pt x="1407798" y="335765"/>
                  <a:pt x="1403592" y="327275"/>
                  <a:pt x="1396056" y="323088"/>
                </a:cubicBezTo>
                <a:cubicBezTo>
                  <a:pt x="1384822" y="316847"/>
                  <a:pt x="1370173" y="318025"/>
                  <a:pt x="1359480" y="310896"/>
                </a:cubicBezTo>
                <a:cubicBezTo>
                  <a:pt x="1353384" y="306832"/>
                  <a:pt x="1348143" y="301021"/>
                  <a:pt x="1341192" y="298704"/>
                </a:cubicBezTo>
                <a:cubicBezTo>
                  <a:pt x="1317347" y="290756"/>
                  <a:pt x="1291377" y="289751"/>
                  <a:pt x="1268040" y="280416"/>
                </a:cubicBezTo>
                <a:cubicBezTo>
                  <a:pt x="1257880" y="276352"/>
                  <a:pt x="1247806" y="272066"/>
                  <a:pt x="1237560" y="268224"/>
                </a:cubicBezTo>
                <a:cubicBezTo>
                  <a:pt x="1231543" y="265968"/>
                  <a:pt x="1225178" y="264659"/>
                  <a:pt x="1219272" y="262128"/>
                </a:cubicBezTo>
                <a:cubicBezTo>
                  <a:pt x="1156484" y="235219"/>
                  <a:pt x="1241564" y="265495"/>
                  <a:pt x="1158312" y="237744"/>
                </a:cubicBezTo>
                <a:lnTo>
                  <a:pt x="768168" y="243840"/>
                </a:lnTo>
                <a:cubicBezTo>
                  <a:pt x="751511" y="244303"/>
                  <a:pt x="708653" y="251099"/>
                  <a:pt x="688920" y="256032"/>
                </a:cubicBezTo>
                <a:cubicBezTo>
                  <a:pt x="682686" y="257590"/>
                  <a:pt x="676649" y="259872"/>
                  <a:pt x="670632" y="262128"/>
                </a:cubicBezTo>
                <a:cubicBezTo>
                  <a:pt x="660386" y="265970"/>
                  <a:pt x="650804" y="271814"/>
                  <a:pt x="640152" y="274320"/>
                </a:cubicBezTo>
                <a:cubicBezTo>
                  <a:pt x="616089" y="279982"/>
                  <a:pt x="591598" y="284052"/>
                  <a:pt x="567000" y="286512"/>
                </a:cubicBezTo>
                <a:cubicBezTo>
                  <a:pt x="543520" y="288860"/>
                  <a:pt x="483159" y="294390"/>
                  <a:pt x="457272" y="298704"/>
                </a:cubicBezTo>
                <a:cubicBezTo>
                  <a:pt x="436832" y="302111"/>
                  <a:pt x="415971" y="304343"/>
                  <a:pt x="396312" y="310896"/>
                </a:cubicBezTo>
                <a:lnTo>
                  <a:pt x="378024" y="316992"/>
                </a:lnTo>
                <a:cubicBezTo>
                  <a:pt x="333646" y="383559"/>
                  <a:pt x="399101" y="280935"/>
                  <a:pt x="359736" y="359664"/>
                </a:cubicBezTo>
                <a:cubicBezTo>
                  <a:pt x="353183" y="372770"/>
                  <a:pt x="335352" y="396240"/>
                  <a:pt x="335352" y="396240"/>
                </a:cubicBezTo>
                <a:cubicBezTo>
                  <a:pt x="328154" y="425032"/>
                  <a:pt x="335352" y="406400"/>
                  <a:pt x="335352" y="4084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09BA4B2-DAB0-F558-4B81-2CC76441E5A1}"/>
              </a:ext>
            </a:extLst>
          </p:cNvPr>
          <p:cNvSpPr/>
          <p:nvPr/>
        </p:nvSpPr>
        <p:spPr>
          <a:xfrm>
            <a:off x="7218617" y="1530096"/>
            <a:ext cx="1132903" cy="1584960"/>
          </a:xfrm>
          <a:custGeom>
            <a:avLst/>
            <a:gdLst>
              <a:gd name="connsiteX0" fmla="*/ 1065847 w 1132903"/>
              <a:gd name="connsiteY0" fmla="*/ 304800 h 1584960"/>
              <a:gd name="connsiteX1" fmla="*/ 1065847 w 1132903"/>
              <a:gd name="connsiteY1" fmla="*/ 304800 h 1584960"/>
              <a:gd name="connsiteX2" fmla="*/ 1114615 w 1132903"/>
              <a:gd name="connsiteY2" fmla="*/ 256032 h 1584960"/>
              <a:gd name="connsiteX3" fmla="*/ 1132903 w 1132903"/>
              <a:gd name="connsiteY3" fmla="*/ 201168 h 1584960"/>
              <a:gd name="connsiteX4" fmla="*/ 943927 w 1132903"/>
              <a:gd name="connsiteY4" fmla="*/ 91440 h 1584960"/>
              <a:gd name="connsiteX5" fmla="*/ 840295 w 1132903"/>
              <a:gd name="connsiteY5" fmla="*/ 54864 h 1584960"/>
              <a:gd name="connsiteX6" fmla="*/ 529399 w 1132903"/>
              <a:gd name="connsiteY6" fmla="*/ 0 h 1584960"/>
              <a:gd name="connsiteX7" fmla="*/ 383095 w 1132903"/>
              <a:gd name="connsiteY7" fmla="*/ 24384 h 1584960"/>
              <a:gd name="connsiteX8" fmla="*/ 340423 w 1132903"/>
              <a:gd name="connsiteY8" fmla="*/ 60960 h 1584960"/>
              <a:gd name="connsiteX9" fmla="*/ 322135 w 1132903"/>
              <a:gd name="connsiteY9" fmla="*/ 85344 h 1584960"/>
              <a:gd name="connsiteX10" fmla="*/ 285559 w 1132903"/>
              <a:gd name="connsiteY10" fmla="*/ 109728 h 1584960"/>
              <a:gd name="connsiteX11" fmla="*/ 267271 w 1132903"/>
              <a:gd name="connsiteY11" fmla="*/ 128016 h 1584960"/>
              <a:gd name="connsiteX12" fmla="*/ 224599 w 1132903"/>
              <a:gd name="connsiteY12" fmla="*/ 146304 h 1584960"/>
              <a:gd name="connsiteX13" fmla="*/ 163639 w 1132903"/>
              <a:gd name="connsiteY13" fmla="*/ 176784 h 1584960"/>
              <a:gd name="connsiteX14" fmla="*/ 127063 w 1132903"/>
              <a:gd name="connsiteY14" fmla="*/ 243840 h 1584960"/>
              <a:gd name="connsiteX15" fmla="*/ 114871 w 1132903"/>
              <a:gd name="connsiteY15" fmla="*/ 280416 h 1584960"/>
              <a:gd name="connsiteX16" fmla="*/ 84391 w 1132903"/>
              <a:gd name="connsiteY16" fmla="*/ 347472 h 1584960"/>
              <a:gd name="connsiteX17" fmla="*/ 41719 w 1132903"/>
              <a:gd name="connsiteY17" fmla="*/ 530352 h 1584960"/>
              <a:gd name="connsiteX18" fmla="*/ 11239 w 1132903"/>
              <a:gd name="connsiteY18" fmla="*/ 786384 h 1584960"/>
              <a:gd name="connsiteX19" fmla="*/ 17335 w 1132903"/>
              <a:gd name="connsiteY19" fmla="*/ 1207008 h 1584960"/>
              <a:gd name="connsiteX20" fmla="*/ 96583 w 1132903"/>
              <a:gd name="connsiteY20" fmla="*/ 1408176 h 1584960"/>
              <a:gd name="connsiteX21" fmla="*/ 114871 w 1132903"/>
              <a:gd name="connsiteY21" fmla="*/ 1450848 h 1584960"/>
              <a:gd name="connsiteX22" fmla="*/ 120967 w 1132903"/>
              <a:gd name="connsiteY22" fmla="*/ 1481328 h 1584960"/>
              <a:gd name="connsiteX23" fmla="*/ 145351 w 1132903"/>
              <a:gd name="connsiteY23" fmla="*/ 1517904 h 1584960"/>
              <a:gd name="connsiteX24" fmla="*/ 181927 w 1132903"/>
              <a:gd name="connsiteY24" fmla="*/ 1548384 h 1584960"/>
              <a:gd name="connsiteX25" fmla="*/ 291655 w 1132903"/>
              <a:gd name="connsiteY25" fmla="*/ 1584960 h 1584960"/>
              <a:gd name="connsiteX26" fmla="*/ 498919 w 1132903"/>
              <a:gd name="connsiteY26" fmla="*/ 1560576 h 1584960"/>
              <a:gd name="connsiteX27" fmla="*/ 517207 w 1132903"/>
              <a:gd name="connsiteY27" fmla="*/ 1542288 h 1584960"/>
              <a:gd name="connsiteX28" fmla="*/ 529399 w 1132903"/>
              <a:gd name="connsiteY28" fmla="*/ 1475232 h 1584960"/>
              <a:gd name="connsiteX29" fmla="*/ 511111 w 1132903"/>
              <a:gd name="connsiteY29" fmla="*/ 1383792 h 1584960"/>
              <a:gd name="connsiteX30" fmla="*/ 505015 w 1132903"/>
              <a:gd name="connsiteY30" fmla="*/ 1335024 h 1584960"/>
              <a:gd name="connsiteX31" fmla="*/ 486727 w 1132903"/>
              <a:gd name="connsiteY31" fmla="*/ 1322832 h 1584960"/>
              <a:gd name="connsiteX32" fmla="*/ 456247 w 1132903"/>
              <a:gd name="connsiteY32" fmla="*/ 1298448 h 1584960"/>
              <a:gd name="connsiteX33" fmla="*/ 395287 w 1132903"/>
              <a:gd name="connsiteY33" fmla="*/ 1249680 h 1584960"/>
              <a:gd name="connsiteX34" fmla="*/ 352615 w 1132903"/>
              <a:gd name="connsiteY34" fmla="*/ 1194816 h 1584960"/>
              <a:gd name="connsiteX35" fmla="*/ 340423 w 1132903"/>
              <a:gd name="connsiteY35" fmla="*/ 1115568 h 1584960"/>
              <a:gd name="connsiteX36" fmla="*/ 358711 w 1132903"/>
              <a:gd name="connsiteY36" fmla="*/ 932688 h 1584960"/>
              <a:gd name="connsiteX37" fmla="*/ 364807 w 1132903"/>
              <a:gd name="connsiteY37" fmla="*/ 902208 h 1584960"/>
              <a:gd name="connsiteX38" fmla="*/ 450151 w 1132903"/>
              <a:gd name="connsiteY38" fmla="*/ 816864 h 1584960"/>
              <a:gd name="connsiteX39" fmla="*/ 511111 w 1132903"/>
              <a:gd name="connsiteY39" fmla="*/ 774192 h 1584960"/>
              <a:gd name="connsiteX40" fmla="*/ 553783 w 1132903"/>
              <a:gd name="connsiteY40" fmla="*/ 755904 h 1584960"/>
              <a:gd name="connsiteX41" fmla="*/ 651319 w 1132903"/>
              <a:gd name="connsiteY41" fmla="*/ 682752 h 1584960"/>
              <a:gd name="connsiteX42" fmla="*/ 693991 w 1132903"/>
              <a:gd name="connsiteY42" fmla="*/ 652272 h 1584960"/>
              <a:gd name="connsiteX43" fmla="*/ 742759 w 1132903"/>
              <a:gd name="connsiteY43" fmla="*/ 603504 h 1584960"/>
              <a:gd name="connsiteX44" fmla="*/ 767143 w 1132903"/>
              <a:gd name="connsiteY44" fmla="*/ 573024 h 1584960"/>
              <a:gd name="connsiteX45" fmla="*/ 797623 w 1132903"/>
              <a:gd name="connsiteY45" fmla="*/ 554736 h 1584960"/>
              <a:gd name="connsiteX46" fmla="*/ 815911 w 1132903"/>
              <a:gd name="connsiteY46" fmla="*/ 530352 h 1584960"/>
              <a:gd name="connsiteX47" fmla="*/ 828103 w 1132903"/>
              <a:gd name="connsiteY47" fmla="*/ 512064 h 1584960"/>
              <a:gd name="connsiteX48" fmla="*/ 870775 w 1132903"/>
              <a:gd name="connsiteY48" fmla="*/ 457200 h 1584960"/>
              <a:gd name="connsiteX49" fmla="*/ 895159 w 1132903"/>
              <a:gd name="connsiteY49" fmla="*/ 445008 h 1584960"/>
              <a:gd name="connsiteX50" fmla="*/ 937831 w 1132903"/>
              <a:gd name="connsiteY50" fmla="*/ 408432 h 1584960"/>
              <a:gd name="connsiteX51" fmla="*/ 980503 w 1132903"/>
              <a:gd name="connsiteY51" fmla="*/ 365760 h 1584960"/>
              <a:gd name="connsiteX52" fmla="*/ 998791 w 1132903"/>
              <a:gd name="connsiteY52" fmla="*/ 353568 h 1584960"/>
              <a:gd name="connsiteX53" fmla="*/ 1053655 w 1132903"/>
              <a:gd name="connsiteY53" fmla="*/ 310896 h 1584960"/>
              <a:gd name="connsiteX54" fmla="*/ 1078039 w 1132903"/>
              <a:gd name="connsiteY54" fmla="*/ 298704 h 1584960"/>
              <a:gd name="connsiteX55" fmla="*/ 1102423 w 1132903"/>
              <a:gd name="connsiteY55" fmla="*/ 292608 h 1584960"/>
              <a:gd name="connsiteX56" fmla="*/ 1065847 w 1132903"/>
              <a:gd name="connsiteY56" fmla="*/ 304800 h 158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132903" h="1584960">
                <a:moveTo>
                  <a:pt x="1065847" y="304800"/>
                </a:moveTo>
                <a:lnTo>
                  <a:pt x="1065847" y="304800"/>
                </a:lnTo>
                <a:cubicBezTo>
                  <a:pt x="1082103" y="288544"/>
                  <a:pt x="1100598" y="274254"/>
                  <a:pt x="1114615" y="256032"/>
                </a:cubicBezTo>
                <a:cubicBezTo>
                  <a:pt x="1123117" y="244979"/>
                  <a:pt x="1129361" y="215338"/>
                  <a:pt x="1132903" y="201168"/>
                </a:cubicBezTo>
                <a:cubicBezTo>
                  <a:pt x="1055847" y="147229"/>
                  <a:pt x="1048532" y="138237"/>
                  <a:pt x="943927" y="91440"/>
                </a:cubicBezTo>
                <a:cubicBezTo>
                  <a:pt x="910488" y="76481"/>
                  <a:pt x="875691" y="64303"/>
                  <a:pt x="840295" y="54864"/>
                </a:cubicBezTo>
                <a:cubicBezTo>
                  <a:pt x="706870" y="19284"/>
                  <a:pt x="659793" y="17008"/>
                  <a:pt x="529399" y="0"/>
                </a:cubicBezTo>
                <a:cubicBezTo>
                  <a:pt x="494632" y="3863"/>
                  <a:pt x="423946" y="3959"/>
                  <a:pt x="383095" y="24384"/>
                </a:cubicBezTo>
                <a:cubicBezTo>
                  <a:pt x="371049" y="30407"/>
                  <a:pt x="349574" y="50284"/>
                  <a:pt x="340423" y="60960"/>
                </a:cubicBezTo>
                <a:cubicBezTo>
                  <a:pt x="333811" y="68674"/>
                  <a:pt x="329729" y="78594"/>
                  <a:pt x="322135" y="85344"/>
                </a:cubicBezTo>
                <a:cubicBezTo>
                  <a:pt x="311183" y="95079"/>
                  <a:pt x="297125" y="100732"/>
                  <a:pt x="285559" y="109728"/>
                </a:cubicBezTo>
                <a:cubicBezTo>
                  <a:pt x="278754" y="115021"/>
                  <a:pt x="274663" y="123581"/>
                  <a:pt x="267271" y="128016"/>
                </a:cubicBezTo>
                <a:cubicBezTo>
                  <a:pt x="254001" y="135978"/>
                  <a:pt x="238440" y="139383"/>
                  <a:pt x="224599" y="146304"/>
                </a:cubicBezTo>
                <a:cubicBezTo>
                  <a:pt x="155669" y="180769"/>
                  <a:pt x="205580" y="162804"/>
                  <a:pt x="163639" y="176784"/>
                </a:cubicBezTo>
                <a:cubicBezTo>
                  <a:pt x="131983" y="287581"/>
                  <a:pt x="174578" y="164648"/>
                  <a:pt x="127063" y="243840"/>
                </a:cubicBezTo>
                <a:cubicBezTo>
                  <a:pt x="120451" y="254860"/>
                  <a:pt x="119764" y="268533"/>
                  <a:pt x="114871" y="280416"/>
                </a:cubicBezTo>
                <a:cubicBezTo>
                  <a:pt x="105523" y="303119"/>
                  <a:pt x="92155" y="324179"/>
                  <a:pt x="84391" y="347472"/>
                </a:cubicBezTo>
                <a:cubicBezTo>
                  <a:pt x="59733" y="421446"/>
                  <a:pt x="54449" y="460336"/>
                  <a:pt x="41719" y="530352"/>
                </a:cubicBezTo>
                <a:cubicBezTo>
                  <a:pt x="26730" y="717718"/>
                  <a:pt x="38384" y="632565"/>
                  <a:pt x="11239" y="786384"/>
                </a:cubicBezTo>
                <a:cubicBezTo>
                  <a:pt x="-1986" y="945080"/>
                  <a:pt x="-7537" y="976944"/>
                  <a:pt x="17335" y="1207008"/>
                </a:cubicBezTo>
                <a:cubicBezTo>
                  <a:pt x="21170" y="1242480"/>
                  <a:pt x="82388" y="1375526"/>
                  <a:pt x="96583" y="1408176"/>
                </a:cubicBezTo>
                <a:cubicBezTo>
                  <a:pt x="102753" y="1422368"/>
                  <a:pt x="114871" y="1450848"/>
                  <a:pt x="114871" y="1450848"/>
                </a:cubicBezTo>
                <a:cubicBezTo>
                  <a:pt x="116903" y="1461008"/>
                  <a:pt x="116680" y="1471896"/>
                  <a:pt x="120967" y="1481328"/>
                </a:cubicBezTo>
                <a:cubicBezTo>
                  <a:pt x="127030" y="1494668"/>
                  <a:pt x="135494" y="1507062"/>
                  <a:pt x="145351" y="1517904"/>
                </a:cubicBezTo>
                <a:cubicBezTo>
                  <a:pt x="156027" y="1529647"/>
                  <a:pt x="168411" y="1540066"/>
                  <a:pt x="181927" y="1548384"/>
                </a:cubicBezTo>
                <a:cubicBezTo>
                  <a:pt x="211020" y="1566287"/>
                  <a:pt x="261880" y="1576840"/>
                  <a:pt x="291655" y="1584960"/>
                </a:cubicBezTo>
                <a:cubicBezTo>
                  <a:pt x="292189" y="1584920"/>
                  <a:pt x="451431" y="1584320"/>
                  <a:pt x="498919" y="1560576"/>
                </a:cubicBezTo>
                <a:cubicBezTo>
                  <a:pt x="506630" y="1556721"/>
                  <a:pt x="511111" y="1548384"/>
                  <a:pt x="517207" y="1542288"/>
                </a:cubicBezTo>
                <a:cubicBezTo>
                  <a:pt x="518767" y="1534487"/>
                  <a:pt x="529902" y="1480515"/>
                  <a:pt x="529399" y="1475232"/>
                </a:cubicBezTo>
                <a:cubicBezTo>
                  <a:pt x="526452" y="1444288"/>
                  <a:pt x="516437" y="1414416"/>
                  <a:pt x="511111" y="1383792"/>
                </a:cubicBezTo>
                <a:cubicBezTo>
                  <a:pt x="508304" y="1367652"/>
                  <a:pt x="511099" y="1350235"/>
                  <a:pt x="505015" y="1335024"/>
                </a:cubicBezTo>
                <a:cubicBezTo>
                  <a:pt x="502294" y="1328222"/>
                  <a:pt x="492588" y="1327228"/>
                  <a:pt x="486727" y="1322832"/>
                </a:cubicBezTo>
                <a:cubicBezTo>
                  <a:pt x="476318" y="1315025"/>
                  <a:pt x="466906" y="1305909"/>
                  <a:pt x="456247" y="1298448"/>
                </a:cubicBezTo>
                <a:cubicBezTo>
                  <a:pt x="415719" y="1270078"/>
                  <a:pt x="431389" y="1291800"/>
                  <a:pt x="395287" y="1249680"/>
                </a:cubicBezTo>
                <a:cubicBezTo>
                  <a:pt x="380209" y="1232089"/>
                  <a:pt x="352615" y="1194816"/>
                  <a:pt x="352615" y="1194816"/>
                </a:cubicBezTo>
                <a:cubicBezTo>
                  <a:pt x="345697" y="1167145"/>
                  <a:pt x="339448" y="1146773"/>
                  <a:pt x="340423" y="1115568"/>
                </a:cubicBezTo>
                <a:cubicBezTo>
                  <a:pt x="341667" y="1075768"/>
                  <a:pt x="349715" y="986664"/>
                  <a:pt x="358711" y="932688"/>
                </a:cubicBezTo>
                <a:cubicBezTo>
                  <a:pt x="360414" y="922468"/>
                  <a:pt x="360173" y="911475"/>
                  <a:pt x="364807" y="902208"/>
                </a:cubicBezTo>
                <a:cubicBezTo>
                  <a:pt x="397944" y="835934"/>
                  <a:pt x="395018" y="855033"/>
                  <a:pt x="450151" y="816864"/>
                </a:cubicBezTo>
                <a:cubicBezTo>
                  <a:pt x="488357" y="790413"/>
                  <a:pt x="470863" y="794316"/>
                  <a:pt x="511111" y="774192"/>
                </a:cubicBezTo>
                <a:cubicBezTo>
                  <a:pt x="524952" y="767271"/>
                  <a:pt x="540821" y="764358"/>
                  <a:pt x="553783" y="755904"/>
                </a:cubicBezTo>
                <a:cubicBezTo>
                  <a:pt x="587823" y="733704"/>
                  <a:pt x="618637" y="706908"/>
                  <a:pt x="651319" y="682752"/>
                </a:cubicBezTo>
                <a:cubicBezTo>
                  <a:pt x="665376" y="672362"/>
                  <a:pt x="681631" y="664632"/>
                  <a:pt x="693991" y="652272"/>
                </a:cubicBezTo>
                <a:cubicBezTo>
                  <a:pt x="710247" y="636016"/>
                  <a:pt x="728398" y="621456"/>
                  <a:pt x="742759" y="603504"/>
                </a:cubicBezTo>
                <a:cubicBezTo>
                  <a:pt x="750887" y="593344"/>
                  <a:pt x="757418" y="581668"/>
                  <a:pt x="767143" y="573024"/>
                </a:cubicBezTo>
                <a:cubicBezTo>
                  <a:pt x="775999" y="565152"/>
                  <a:pt x="787463" y="560832"/>
                  <a:pt x="797623" y="554736"/>
                </a:cubicBezTo>
                <a:cubicBezTo>
                  <a:pt x="803719" y="546608"/>
                  <a:pt x="810006" y="538620"/>
                  <a:pt x="815911" y="530352"/>
                </a:cubicBezTo>
                <a:cubicBezTo>
                  <a:pt x="820169" y="524390"/>
                  <a:pt x="823707" y="517925"/>
                  <a:pt x="828103" y="512064"/>
                </a:cubicBezTo>
                <a:cubicBezTo>
                  <a:pt x="842004" y="493529"/>
                  <a:pt x="850053" y="467561"/>
                  <a:pt x="870775" y="457200"/>
                </a:cubicBezTo>
                <a:lnTo>
                  <a:pt x="895159" y="445008"/>
                </a:lnTo>
                <a:cubicBezTo>
                  <a:pt x="942013" y="382536"/>
                  <a:pt x="883686" y="452732"/>
                  <a:pt x="937831" y="408432"/>
                </a:cubicBezTo>
                <a:cubicBezTo>
                  <a:pt x="953400" y="395694"/>
                  <a:pt x="963766" y="376918"/>
                  <a:pt x="980503" y="365760"/>
                </a:cubicBezTo>
                <a:cubicBezTo>
                  <a:pt x="986599" y="361696"/>
                  <a:pt x="992930" y="357964"/>
                  <a:pt x="998791" y="353568"/>
                </a:cubicBezTo>
                <a:cubicBezTo>
                  <a:pt x="1017326" y="339667"/>
                  <a:pt x="1032933" y="321257"/>
                  <a:pt x="1053655" y="310896"/>
                </a:cubicBezTo>
                <a:cubicBezTo>
                  <a:pt x="1061783" y="306832"/>
                  <a:pt x="1069530" y="301895"/>
                  <a:pt x="1078039" y="298704"/>
                </a:cubicBezTo>
                <a:cubicBezTo>
                  <a:pt x="1085884" y="295762"/>
                  <a:pt x="1094929" y="296355"/>
                  <a:pt x="1102423" y="292608"/>
                </a:cubicBezTo>
                <a:cubicBezTo>
                  <a:pt x="1104240" y="291699"/>
                  <a:pt x="1071943" y="302768"/>
                  <a:pt x="1065847" y="3048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="" xmlns:a16="http://schemas.microsoft.com/office/drawing/2014/main" id="{C20D1B78-DB77-2B2E-105A-3987BD641F00}"/>
              </a:ext>
            </a:extLst>
          </p:cNvPr>
          <p:cNvSpPr/>
          <p:nvPr/>
        </p:nvSpPr>
        <p:spPr>
          <a:xfrm>
            <a:off x="7906512" y="2907792"/>
            <a:ext cx="2225040" cy="37795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DA570AB7-02D7-5160-B27B-561D380E0110}"/>
              </a:ext>
            </a:extLst>
          </p:cNvPr>
          <p:cNvSpPr/>
          <p:nvPr/>
        </p:nvSpPr>
        <p:spPr>
          <a:xfrm>
            <a:off x="7249097" y="3401568"/>
            <a:ext cx="742759" cy="1719072"/>
          </a:xfrm>
          <a:custGeom>
            <a:avLst/>
            <a:gdLst>
              <a:gd name="connsiteX0" fmla="*/ 631268 w 710516"/>
              <a:gd name="connsiteY0" fmla="*/ 1322832 h 1719072"/>
              <a:gd name="connsiteX1" fmla="*/ 631268 w 710516"/>
              <a:gd name="connsiteY1" fmla="*/ 1322832 h 1719072"/>
              <a:gd name="connsiteX2" fmla="*/ 460580 w 710516"/>
              <a:gd name="connsiteY2" fmla="*/ 1316736 h 1719072"/>
              <a:gd name="connsiteX3" fmla="*/ 430100 w 710516"/>
              <a:gd name="connsiteY3" fmla="*/ 1304544 h 1719072"/>
              <a:gd name="connsiteX4" fmla="*/ 344756 w 710516"/>
              <a:gd name="connsiteY4" fmla="*/ 1286256 h 1719072"/>
              <a:gd name="connsiteX5" fmla="*/ 302084 w 710516"/>
              <a:gd name="connsiteY5" fmla="*/ 1267968 h 1719072"/>
              <a:gd name="connsiteX6" fmla="*/ 271604 w 710516"/>
              <a:gd name="connsiteY6" fmla="*/ 1255776 h 1719072"/>
              <a:gd name="connsiteX7" fmla="*/ 253316 w 710516"/>
              <a:gd name="connsiteY7" fmla="*/ 1231392 h 1719072"/>
              <a:gd name="connsiteX8" fmla="*/ 247220 w 710516"/>
              <a:gd name="connsiteY8" fmla="*/ 1207008 h 1719072"/>
              <a:gd name="connsiteX9" fmla="*/ 235028 w 710516"/>
              <a:gd name="connsiteY9" fmla="*/ 1170432 h 1719072"/>
              <a:gd name="connsiteX10" fmla="*/ 228932 w 710516"/>
              <a:gd name="connsiteY10" fmla="*/ 1127760 h 1719072"/>
              <a:gd name="connsiteX11" fmla="*/ 216740 w 710516"/>
              <a:gd name="connsiteY11" fmla="*/ 1091184 h 1719072"/>
              <a:gd name="connsiteX12" fmla="*/ 210644 w 710516"/>
              <a:gd name="connsiteY12" fmla="*/ 1066800 h 1719072"/>
              <a:gd name="connsiteX13" fmla="*/ 204548 w 710516"/>
              <a:gd name="connsiteY13" fmla="*/ 1011936 h 1719072"/>
              <a:gd name="connsiteX14" fmla="*/ 216740 w 710516"/>
              <a:gd name="connsiteY14" fmla="*/ 725424 h 1719072"/>
              <a:gd name="connsiteX15" fmla="*/ 222836 w 710516"/>
              <a:gd name="connsiteY15" fmla="*/ 707136 h 1719072"/>
              <a:gd name="connsiteX16" fmla="*/ 228932 w 710516"/>
              <a:gd name="connsiteY16" fmla="*/ 670560 h 1719072"/>
              <a:gd name="connsiteX17" fmla="*/ 235028 w 710516"/>
              <a:gd name="connsiteY17" fmla="*/ 646176 h 1719072"/>
              <a:gd name="connsiteX18" fmla="*/ 253316 w 710516"/>
              <a:gd name="connsiteY18" fmla="*/ 548640 h 1719072"/>
              <a:gd name="connsiteX19" fmla="*/ 259412 w 710516"/>
              <a:gd name="connsiteY19" fmla="*/ 524256 h 1719072"/>
              <a:gd name="connsiteX20" fmla="*/ 271604 w 710516"/>
              <a:gd name="connsiteY20" fmla="*/ 505968 h 1719072"/>
              <a:gd name="connsiteX21" fmla="*/ 277700 w 710516"/>
              <a:gd name="connsiteY21" fmla="*/ 481584 h 1719072"/>
              <a:gd name="connsiteX22" fmla="*/ 314276 w 710516"/>
              <a:gd name="connsiteY22" fmla="*/ 420624 h 1719072"/>
              <a:gd name="connsiteX23" fmla="*/ 332564 w 710516"/>
              <a:gd name="connsiteY23" fmla="*/ 402336 h 1719072"/>
              <a:gd name="connsiteX24" fmla="*/ 350852 w 710516"/>
              <a:gd name="connsiteY24" fmla="*/ 377952 h 1719072"/>
              <a:gd name="connsiteX25" fmla="*/ 399620 w 710516"/>
              <a:gd name="connsiteY25" fmla="*/ 347472 h 1719072"/>
              <a:gd name="connsiteX26" fmla="*/ 430100 w 710516"/>
              <a:gd name="connsiteY26" fmla="*/ 329184 h 1719072"/>
              <a:gd name="connsiteX27" fmla="*/ 515444 w 710516"/>
              <a:gd name="connsiteY27" fmla="*/ 310896 h 1719072"/>
              <a:gd name="connsiteX28" fmla="*/ 576404 w 710516"/>
              <a:gd name="connsiteY28" fmla="*/ 298704 h 1719072"/>
              <a:gd name="connsiteX29" fmla="*/ 631268 w 710516"/>
              <a:gd name="connsiteY29" fmla="*/ 292608 h 1719072"/>
              <a:gd name="connsiteX30" fmla="*/ 680036 w 710516"/>
              <a:gd name="connsiteY30" fmla="*/ 280416 h 1719072"/>
              <a:gd name="connsiteX31" fmla="*/ 698324 w 710516"/>
              <a:gd name="connsiteY31" fmla="*/ 256032 h 1719072"/>
              <a:gd name="connsiteX32" fmla="*/ 710516 w 710516"/>
              <a:gd name="connsiteY32" fmla="*/ 182880 h 1719072"/>
              <a:gd name="connsiteX33" fmla="*/ 680036 w 710516"/>
              <a:gd name="connsiteY33" fmla="*/ 134112 h 1719072"/>
              <a:gd name="connsiteX34" fmla="*/ 643460 w 710516"/>
              <a:gd name="connsiteY34" fmla="*/ 115824 h 1719072"/>
              <a:gd name="connsiteX35" fmla="*/ 527636 w 710516"/>
              <a:gd name="connsiteY35" fmla="*/ 67056 h 1719072"/>
              <a:gd name="connsiteX36" fmla="*/ 466676 w 710516"/>
              <a:gd name="connsiteY36" fmla="*/ 48768 h 1719072"/>
              <a:gd name="connsiteX37" fmla="*/ 424004 w 710516"/>
              <a:gd name="connsiteY37" fmla="*/ 30480 h 1719072"/>
              <a:gd name="connsiteX38" fmla="*/ 369140 w 710516"/>
              <a:gd name="connsiteY38" fmla="*/ 18288 h 1719072"/>
              <a:gd name="connsiteX39" fmla="*/ 289892 w 710516"/>
              <a:gd name="connsiteY39" fmla="*/ 0 h 1719072"/>
              <a:gd name="connsiteX40" fmla="*/ 228932 w 710516"/>
              <a:gd name="connsiteY40" fmla="*/ 12192 h 1719072"/>
              <a:gd name="connsiteX41" fmla="*/ 180164 w 710516"/>
              <a:gd name="connsiteY41" fmla="*/ 18288 h 1719072"/>
              <a:gd name="connsiteX42" fmla="*/ 137492 w 710516"/>
              <a:gd name="connsiteY42" fmla="*/ 42672 h 1719072"/>
              <a:gd name="connsiteX43" fmla="*/ 119204 w 710516"/>
              <a:gd name="connsiteY43" fmla="*/ 60960 h 1719072"/>
              <a:gd name="connsiteX44" fmla="*/ 100916 w 710516"/>
              <a:gd name="connsiteY44" fmla="*/ 73152 h 1719072"/>
              <a:gd name="connsiteX45" fmla="*/ 52148 w 710516"/>
              <a:gd name="connsiteY45" fmla="*/ 134112 h 1719072"/>
              <a:gd name="connsiteX46" fmla="*/ 15572 w 710516"/>
              <a:gd name="connsiteY46" fmla="*/ 188976 h 1719072"/>
              <a:gd name="connsiteX47" fmla="*/ 9476 w 710516"/>
              <a:gd name="connsiteY47" fmla="*/ 225552 h 1719072"/>
              <a:gd name="connsiteX48" fmla="*/ 9476 w 710516"/>
              <a:gd name="connsiteY48" fmla="*/ 609600 h 1719072"/>
              <a:gd name="connsiteX49" fmla="*/ 27764 w 710516"/>
              <a:gd name="connsiteY49" fmla="*/ 749808 h 1719072"/>
              <a:gd name="connsiteX50" fmla="*/ 39956 w 710516"/>
              <a:gd name="connsiteY50" fmla="*/ 829056 h 1719072"/>
              <a:gd name="connsiteX51" fmla="*/ 64340 w 710516"/>
              <a:gd name="connsiteY51" fmla="*/ 896112 h 1719072"/>
              <a:gd name="connsiteX52" fmla="*/ 100916 w 710516"/>
              <a:gd name="connsiteY52" fmla="*/ 1170432 h 1719072"/>
              <a:gd name="connsiteX53" fmla="*/ 94820 w 710516"/>
              <a:gd name="connsiteY53" fmla="*/ 1517904 h 1719072"/>
              <a:gd name="connsiteX54" fmla="*/ 82628 w 710516"/>
              <a:gd name="connsiteY54" fmla="*/ 1548384 h 1719072"/>
              <a:gd name="connsiteX55" fmla="*/ 70436 w 710516"/>
              <a:gd name="connsiteY55" fmla="*/ 1652016 h 1719072"/>
              <a:gd name="connsiteX56" fmla="*/ 107012 w 710516"/>
              <a:gd name="connsiteY56" fmla="*/ 1682496 h 1719072"/>
              <a:gd name="connsiteX57" fmla="*/ 308180 w 710516"/>
              <a:gd name="connsiteY57" fmla="*/ 1719072 h 1719072"/>
              <a:gd name="connsiteX58" fmla="*/ 369140 w 710516"/>
              <a:gd name="connsiteY58" fmla="*/ 1706880 h 1719072"/>
              <a:gd name="connsiteX59" fmla="*/ 393524 w 710516"/>
              <a:gd name="connsiteY59" fmla="*/ 1694688 h 1719072"/>
              <a:gd name="connsiteX60" fmla="*/ 411812 w 710516"/>
              <a:gd name="connsiteY60" fmla="*/ 1688592 h 1719072"/>
              <a:gd name="connsiteX61" fmla="*/ 472772 w 710516"/>
              <a:gd name="connsiteY61" fmla="*/ 1658112 h 1719072"/>
              <a:gd name="connsiteX62" fmla="*/ 539828 w 710516"/>
              <a:gd name="connsiteY62" fmla="*/ 1597152 h 1719072"/>
              <a:gd name="connsiteX63" fmla="*/ 570308 w 710516"/>
              <a:gd name="connsiteY63" fmla="*/ 1578864 h 1719072"/>
              <a:gd name="connsiteX64" fmla="*/ 631268 w 710516"/>
              <a:gd name="connsiteY64" fmla="*/ 1572768 h 1719072"/>
              <a:gd name="connsiteX65" fmla="*/ 661748 w 710516"/>
              <a:gd name="connsiteY65" fmla="*/ 1548384 h 1719072"/>
              <a:gd name="connsiteX66" fmla="*/ 692228 w 710516"/>
              <a:gd name="connsiteY66" fmla="*/ 1481328 h 1719072"/>
              <a:gd name="connsiteX67" fmla="*/ 692228 w 710516"/>
              <a:gd name="connsiteY67" fmla="*/ 1353312 h 1719072"/>
              <a:gd name="connsiteX68" fmla="*/ 667844 w 710516"/>
              <a:gd name="connsiteY68" fmla="*/ 1328928 h 1719072"/>
              <a:gd name="connsiteX69" fmla="*/ 631268 w 710516"/>
              <a:gd name="connsiteY69" fmla="*/ 1286256 h 1719072"/>
              <a:gd name="connsiteX70" fmla="*/ 545924 w 710516"/>
              <a:gd name="connsiteY70" fmla="*/ 1304544 h 1719072"/>
              <a:gd name="connsiteX71" fmla="*/ 539828 w 710516"/>
              <a:gd name="connsiteY71" fmla="*/ 1310640 h 1719072"/>
              <a:gd name="connsiteX72" fmla="*/ 484964 w 710516"/>
              <a:gd name="connsiteY72" fmla="*/ 1310640 h 1719072"/>
              <a:gd name="connsiteX73" fmla="*/ 484964 w 710516"/>
              <a:gd name="connsiteY73" fmla="*/ 1322832 h 1719072"/>
              <a:gd name="connsiteX74" fmla="*/ 527636 w 710516"/>
              <a:gd name="connsiteY74" fmla="*/ 1322832 h 1719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710516" h="1719072">
                <a:moveTo>
                  <a:pt x="631268" y="1322832"/>
                </a:moveTo>
                <a:lnTo>
                  <a:pt x="631268" y="1322832"/>
                </a:lnTo>
                <a:cubicBezTo>
                  <a:pt x="574372" y="1320800"/>
                  <a:pt x="517278" y="1321890"/>
                  <a:pt x="460580" y="1316736"/>
                </a:cubicBezTo>
                <a:cubicBezTo>
                  <a:pt x="449682" y="1315745"/>
                  <a:pt x="440673" y="1307364"/>
                  <a:pt x="430100" y="1304544"/>
                </a:cubicBezTo>
                <a:cubicBezTo>
                  <a:pt x="325127" y="1276551"/>
                  <a:pt x="403717" y="1303102"/>
                  <a:pt x="344756" y="1286256"/>
                </a:cubicBezTo>
                <a:cubicBezTo>
                  <a:pt x="318463" y="1278744"/>
                  <a:pt x="331345" y="1280973"/>
                  <a:pt x="302084" y="1267968"/>
                </a:cubicBezTo>
                <a:cubicBezTo>
                  <a:pt x="292084" y="1263524"/>
                  <a:pt x="281764" y="1259840"/>
                  <a:pt x="271604" y="1255776"/>
                </a:cubicBezTo>
                <a:cubicBezTo>
                  <a:pt x="265508" y="1247648"/>
                  <a:pt x="257860" y="1240479"/>
                  <a:pt x="253316" y="1231392"/>
                </a:cubicBezTo>
                <a:cubicBezTo>
                  <a:pt x="249569" y="1223898"/>
                  <a:pt x="249627" y="1215033"/>
                  <a:pt x="247220" y="1207008"/>
                </a:cubicBezTo>
                <a:cubicBezTo>
                  <a:pt x="243527" y="1194698"/>
                  <a:pt x="239092" y="1182624"/>
                  <a:pt x="235028" y="1170432"/>
                </a:cubicBezTo>
                <a:cubicBezTo>
                  <a:pt x="232996" y="1156208"/>
                  <a:pt x="232163" y="1141760"/>
                  <a:pt x="228932" y="1127760"/>
                </a:cubicBezTo>
                <a:cubicBezTo>
                  <a:pt x="226042" y="1115238"/>
                  <a:pt x="220433" y="1103494"/>
                  <a:pt x="216740" y="1091184"/>
                </a:cubicBezTo>
                <a:cubicBezTo>
                  <a:pt x="214333" y="1083159"/>
                  <a:pt x="212676" y="1074928"/>
                  <a:pt x="210644" y="1066800"/>
                </a:cubicBezTo>
                <a:cubicBezTo>
                  <a:pt x="208612" y="1048512"/>
                  <a:pt x="204548" y="1030337"/>
                  <a:pt x="204548" y="1011936"/>
                </a:cubicBezTo>
                <a:cubicBezTo>
                  <a:pt x="204548" y="984230"/>
                  <a:pt x="204965" y="801960"/>
                  <a:pt x="216740" y="725424"/>
                </a:cubicBezTo>
                <a:cubicBezTo>
                  <a:pt x="217717" y="719073"/>
                  <a:pt x="221442" y="713409"/>
                  <a:pt x="222836" y="707136"/>
                </a:cubicBezTo>
                <a:cubicBezTo>
                  <a:pt x="225517" y="695070"/>
                  <a:pt x="226508" y="682680"/>
                  <a:pt x="228932" y="670560"/>
                </a:cubicBezTo>
                <a:cubicBezTo>
                  <a:pt x="230575" y="662345"/>
                  <a:pt x="233529" y="654419"/>
                  <a:pt x="235028" y="646176"/>
                </a:cubicBezTo>
                <a:cubicBezTo>
                  <a:pt x="253340" y="545459"/>
                  <a:pt x="225534" y="669031"/>
                  <a:pt x="253316" y="548640"/>
                </a:cubicBezTo>
                <a:cubicBezTo>
                  <a:pt x="255200" y="540476"/>
                  <a:pt x="256112" y="531957"/>
                  <a:pt x="259412" y="524256"/>
                </a:cubicBezTo>
                <a:cubicBezTo>
                  <a:pt x="262298" y="517522"/>
                  <a:pt x="267540" y="512064"/>
                  <a:pt x="271604" y="505968"/>
                </a:cubicBezTo>
                <a:cubicBezTo>
                  <a:pt x="273636" y="497840"/>
                  <a:pt x="274758" y="489429"/>
                  <a:pt x="277700" y="481584"/>
                </a:cubicBezTo>
                <a:cubicBezTo>
                  <a:pt x="283472" y="466191"/>
                  <a:pt x="305769" y="429131"/>
                  <a:pt x="314276" y="420624"/>
                </a:cubicBezTo>
                <a:cubicBezTo>
                  <a:pt x="320372" y="414528"/>
                  <a:pt x="326953" y="408882"/>
                  <a:pt x="332564" y="402336"/>
                </a:cubicBezTo>
                <a:cubicBezTo>
                  <a:pt x="339176" y="394622"/>
                  <a:pt x="343668" y="385136"/>
                  <a:pt x="350852" y="377952"/>
                </a:cubicBezTo>
                <a:cubicBezTo>
                  <a:pt x="369378" y="359426"/>
                  <a:pt x="377890" y="359544"/>
                  <a:pt x="399620" y="347472"/>
                </a:cubicBezTo>
                <a:cubicBezTo>
                  <a:pt x="409977" y="341718"/>
                  <a:pt x="419041" y="333437"/>
                  <a:pt x="430100" y="329184"/>
                </a:cubicBezTo>
                <a:cubicBezTo>
                  <a:pt x="459554" y="317855"/>
                  <a:pt x="485432" y="316898"/>
                  <a:pt x="515444" y="310896"/>
                </a:cubicBezTo>
                <a:cubicBezTo>
                  <a:pt x="563903" y="301204"/>
                  <a:pt x="513736" y="307060"/>
                  <a:pt x="576404" y="298704"/>
                </a:cubicBezTo>
                <a:cubicBezTo>
                  <a:pt x="594643" y="296272"/>
                  <a:pt x="613052" y="295210"/>
                  <a:pt x="631268" y="292608"/>
                </a:cubicBezTo>
                <a:cubicBezTo>
                  <a:pt x="657015" y="288930"/>
                  <a:pt x="658762" y="287507"/>
                  <a:pt x="680036" y="280416"/>
                </a:cubicBezTo>
                <a:cubicBezTo>
                  <a:pt x="686132" y="272288"/>
                  <a:pt x="695294" y="265730"/>
                  <a:pt x="698324" y="256032"/>
                </a:cubicBezTo>
                <a:cubicBezTo>
                  <a:pt x="705697" y="232437"/>
                  <a:pt x="710516" y="182880"/>
                  <a:pt x="710516" y="182880"/>
                </a:cubicBezTo>
                <a:cubicBezTo>
                  <a:pt x="700356" y="166624"/>
                  <a:pt x="693591" y="147667"/>
                  <a:pt x="680036" y="134112"/>
                </a:cubicBezTo>
                <a:cubicBezTo>
                  <a:pt x="670397" y="124473"/>
                  <a:pt x="655937" y="121314"/>
                  <a:pt x="643460" y="115824"/>
                </a:cubicBezTo>
                <a:cubicBezTo>
                  <a:pt x="605117" y="98953"/>
                  <a:pt x="567760" y="79093"/>
                  <a:pt x="527636" y="67056"/>
                </a:cubicBezTo>
                <a:cubicBezTo>
                  <a:pt x="507316" y="60960"/>
                  <a:pt x="486681" y="55829"/>
                  <a:pt x="466676" y="48768"/>
                </a:cubicBezTo>
                <a:cubicBezTo>
                  <a:pt x="452083" y="43618"/>
                  <a:pt x="438775" y="35096"/>
                  <a:pt x="424004" y="30480"/>
                </a:cubicBezTo>
                <a:cubicBezTo>
                  <a:pt x="406123" y="24892"/>
                  <a:pt x="387242" y="23115"/>
                  <a:pt x="369140" y="18288"/>
                </a:cubicBezTo>
                <a:cubicBezTo>
                  <a:pt x="291898" y="-2310"/>
                  <a:pt x="375512" y="12231"/>
                  <a:pt x="289892" y="0"/>
                </a:cubicBezTo>
                <a:cubicBezTo>
                  <a:pt x="269572" y="4064"/>
                  <a:pt x="249372" y="8785"/>
                  <a:pt x="228932" y="12192"/>
                </a:cubicBezTo>
                <a:cubicBezTo>
                  <a:pt x="212772" y="14885"/>
                  <a:pt x="196057" y="14315"/>
                  <a:pt x="180164" y="18288"/>
                </a:cubicBezTo>
                <a:cubicBezTo>
                  <a:pt x="171646" y="20417"/>
                  <a:pt x="145266" y="36194"/>
                  <a:pt x="137492" y="42672"/>
                </a:cubicBezTo>
                <a:cubicBezTo>
                  <a:pt x="130869" y="48191"/>
                  <a:pt x="125827" y="55441"/>
                  <a:pt x="119204" y="60960"/>
                </a:cubicBezTo>
                <a:cubicBezTo>
                  <a:pt x="113576" y="65650"/>
                  <a:pt x="107012" y="69088"/>
                  <a:pt x="100916" y="73152"/>
                </a:cubicBezTo>
                <a:cubicBezTo>
                  <a:pt x="52439" y="145867"/>
                  <a:pt x="100791" y="78520"/>
                  <a:pt x="52148" y="134112"/>
                </a:cubicBezTo>
                <a:cubicBezTo>
                  <a:pt x="35986" y="152583"/>
                  <a:pt x="28317" y="167734"/>
                  <a:pt x="15572" y="188976"/>
                </a:cubicBezTo>
                <a:cubicBezTo>
                  <a:pt x="13540" y="201168"/>
                  <a:pt x="11009" y="213287"/>
                  <a:pt x="9476" y="225552"/>
                </a:cubicBezTo>
                <a:cubicBezTo>
                  <a:pt x="-7036" y="357650"/>
                  <a:pt x="1403" y="456207"/>
                  <a:pt x="9476" y="609600"/>
                </a:cubicBezTo>
                <a:cubicBezTo>
                  <a:pt x="11953" y="656667"/>
                  <a:pt x="21280" y="703124"/>
                  <a:pt x="27764" y="749808"/>
                </a:cubicBezTo>
                <a:cubicBezTo>
                  <a:pt x="31441" y="776281"/>
                  <a:pt x="33474" y="803127"/>
                  <a:pt x="39956" y="829056"/>
                </a:cubicBezTo>
                <a:cubicBezTo>
                  <a:pt x="45724" y="852130"/>
                  <a:pt x="56212" y="873760"/>
                  <a:pt x="64340" y="896112"/>
                </a:cubicBezTo>
                <a:cubicBezTo>
                  <a:pt x="91077" y="1130060"/>
                  <a:pt x="74685" y="1039279"/>
                  <a:pt x="100916" y="1170432"/>
                </a:cubicBezTo>
                <a:cubicBezTo>
                  <a:pt x="98884" y="1286256"/>
                  <a:pt x="100419" y="1402198"/>
                  <a:pt x="94820" y="1517904"/>
                </a:cubicBezTo>
                <a:cubicBezTo>
                  <a:pt x="94291" y="1528834"/>
                  <a:pt x="84335" y="1537575"/>
                  <a:pt x="82628" y="1548384"/>
                </a:cubicBezTo>
                <a:cubicBezTo>
                  <a:pt x="61000" y="1685359"/>
                  <a:pt x="88947" y="1596483"/>
                  <a:pt x="70436" y="1652016"/>
                </a:cubicBezTo>
                <a:cubicBezTo>
                  <a:pt x="78893" y="1677388"/>
                  <a:pt x="72437" y="1673532"/>
                  <a:pt x="107012" y="1682496"/>
                </a:cubicBezTo>
                <a:cubicBezTo>
                  <a:pt x="233370" y="1715256"/>
                  <a:pt x="209979" y="1710145"/>
                  <a:pt x="308180" y="1719072"/>
                </a:cubicBezTo>
                <a:cubicBezTo>
                  <a:pt x="328500" y="1715008"/>
                  <a:pt x="349215" y="1712573"/>
                  <a:pt x="369140" y="1706880"/>
                </a:cubicBezTo>
                <a:cubicBezTo>
                  <a:pt x="377878" y="1704384"/>
                  <a:pt x="385171" y="1698268"/>
                  <a:pt x="393524" y="1694688"/>
                </a:cubicBezTo>
                <a:cubicBezTo>
                  <a:pt x="399430" y="1692157"/>
                  <a:pt x="405978" y="1691285"/>
                  <a:pt x="411812" y="1688592"/>
                </a:cubicBezTo>
                <a:cubicBezTo>
                  <a:pt x="432439" y="1679072"/>
                  <a:pt x="452452" y="1668272"/>
                  <a:pt x="472772" y="1658112"/>
                </a:cubicBezTo>
                <a:cubicBezTo>
                  <a:pt x="497433" y="1625231"/>
                  <a:pt x="494570" y="1624307"/>
                  <a:pt x="539828" y="1597152"/>
                </a:cubicBezTo>
                <a:cubicBezTo>
                  <a:pt x="549988" y="1591056"/>
                  <a:pt x="558860" y="1581917"/>
                  <a:pt x="570308" y="1578864"/>
                </a:cubicBezTo>
                <a:cubicBezTo>
                  <a:pt x="590040" y="1573602"/>
                  <a:pt x="610948" y="1574800"/>
                  <a:pt x="631268" y="1572768"/>
                </a:cubicBezTo>
                <a:cubicBezTo>
                  <a:pt x="641428" y="1564640"/>
                  <a:pt x="655192" y="1559623"/>
                  <a:pt x="661748" y="1548384"/>
                </a:cubicBezTo>
                <a:cubicBezTo>
                  <a:pt x="721736" y="1445547"/>
                  <a:pt x="638576" y="1534980"/>
                  <a:pt x="692228" y="1481328"/>
                </a:cubicBezTo>
                <a:cubicBezTo>
                  <a:pt x="707828" y="1434528"/>
                  <a:pt x="710539" y="1433880"/>
                  <a:pt x="692228" y="1353312"/>
                </a:cubicBezTo>
                <a:cubicBezTo>
                  <a:pt x="689681" y="1342103"/>
                  <a:pt x="674901" y="1338001"/>
                  <a:pt x="667844" y="1328928"/>
                </a:cubicBezTo>
                <a:cubicBezTo>
                  <a:pt x="632213" y="1283116"/>
                  <a:pt x="667808" y="1310616"/>
                  <a:pt x="631268" y="1286256"/>
                </a:cubicBezTo>
                <a:cubicBezTo>
                  <a:pt x="571232" y="1291714"/>
                  <a:pt x="578213" y="1280327"/>
                  <a:pt x="545924" y="1304544"/>
                </a:cubicBezTo>
                <a:cubicBezTo>
                  <a:pt x="543625" y="1306268"/>
                  <a:pt x="541860" y="1308608"/>
                  <a:pt x="539828" y="1310640"/>
                </a:cubicBezTo>
                <a:lnTo>
                  <a:pt x="484964" y="1310640"/>
                </a:lnTo>
                <a:lnTo>
                  <a:pt x="484964" y="1322832"/>
                </a:lnTo>
                <a:lnTo>
                  <a:pt x="527636" y="1322832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3EF60D18-5A96-5E42-1AAC-676513E8EECA}"/>
              </a:ext>
            </a:extLst>
          </p:cNvPr>
          <p:cNvSpPr/>
          <p:nvPr/>
        </p:nvSpPr>
        <p:spPr>
          <a:xfrm>
            <a:off x="8314716" y="3310128"/>
            <a:ext cx="1390153" cy="286512"/>
          </a:xfrm>
          <a:custGeom>
            <a:avLst/>
            <a:gdLst>
              <a:gd name="connsiteX0" fmla="*/ 201396 w 1390153"/>
              <a:gd name="connsiteY0" fmla="*/ 274320 h 286512"/>
              <a:gd name="connsiteX1" fmla="*/ 201396 w 1390153"/>
              <a:gd name="connsiteY1" fmla="*/ 274320 h 286512"/>
              <a:gd name="connsiteX2" fmla="*/ 6324 w 1390153"/>
              <a:gd name="connsiteY2" fmla="*/ 249936 h 286512"/>
              <a:gd name="connsiteX3" fmla="*/ 228 w 1390153"/>
              <a:gd name="connsiteY3" fmla="*/ 225552 h 286512"/>
              <a:gd name="connsiteX4" fmla="*/ 6324 w 1390153"/>
              <a:gd name="connsiteY4" fmla="*/ 85344 h 286512"/>
              <a:gd name="connsiteX5" fmla="*/ 18516 w 1390153"/>
              <a:gd name="connsiteY5" fmla="*/ 67056 h 286512"/>
              <a:gd name="connsiteX6" fmla="*/ 55092 w 1390153"/>
              <a:gd name="connsiteY6" fmla="*/ 54864 h 286512"/>
              <a:gd name="connsiteX7" fmla="*/ 244068 w 1390153"/>
              <a:gd name="connsiteY7" fmla="*/ 42672 h 286512"/>
              <a:gd name="connsiteX8" fmla="*/ 274548 w 1390153"/>
              <a:gd name="connsiteY8" fmla="*/ 36576 h 286512"/>
              <a:gd name="connsiteX9" fmla="*/ 335508 w 1390153"/>
              <a:gd name="connsiteY9" fmla="*/ 30480 h 286512"/>
              <a:gd name="connsiteX10" fmla="*/ 518388 w 1390153"/>
              <a:gd name="connsiteY10" fmla="*/ 0 h 286512"/>
              <a:gd name="connsiteX11" fmla="*/ 1140180 w 1390153"/>
              <a:gd name="connsiteY11" fmla="*/ 6096 h 286512"/>
              <a:gd name="connsiteX12" fmla="*/ 1182852 w 1390153"/>
              <a:gd name="connsiteY12" fmla="*/ 18288 h 286512"/>
              <a:gd name="connsiteX13" fmla="*/ 1213332 w 1390153"/>
              <a:gd name="connsiteY13" fmla="*/ 24384 h 286512"/>
              <a:gd name="connsiteX14" fmla="*/ 1280388 w 1390153"/>
              <a:gd name="connsiteY14" fmla="*/ 42672 h 286512"/>
              <a:gd name="connsiteX15" fmla="*/ 1310868 w 1390153"/>
              <a:gd name="connsiteY15" fmla="*/ 60960 h 286512"/>
              <a:gd name="connsiteX16" fmla="*/ 1365732 w 1390153"/>
              <a:gd name="connsiteY16" fmla="*/ 121920 h 286512"/>
              <a:gd name="connsiteX17" fmla="*/ 1377924 w 1390153"/>
              <a:gd name="connsiteY17" fmla="*/ 146304 h 286512"/>
              <a:gd name="connsiteX18" fmla="*/ 1390116 w 1390153"/>
              <a:gd name="connsiteY18" fmla="*/ 182880 h 286512"/>
              <a:gd name="connsiteX19" fmla="*/ 1371828 w 1390153"/>
              <a:gd name="connsiteY19" fmla="*/ 274320 h 286512"/>
              <a:gd name="connsiteX20" fmla="*/ 1353540 w 1390153"/>
              <a:gd name="connsiteY20" fmla="*/ 280416 h 286512"/>
              <a:gd name="connsiteX21" fmla="*/ 1329156 w 1390153"/>
              <a:gd name="connsiteY21" fmla="*/ 286512 h 286512"/>
              <a:gd name="connsiteX22" fmla="*/ 1115796 w 1390153"/>
              <a:gd name="connsiteY22" fmla="*/ 280416 h 286512"/>
              <a:gd name="connsiteX23" fmla="*/ 1048740 w 1390153"/>
              <a:gd name="connsiteY23" fmla="*/ 274320 h 286512"/>
              <a:gd name="connsiteX24" fmla="*/ 993876 w 1390153"/>
              <a:gd name="connsiteY24" fmla="*/ 249936 h 286512"/>
              <a:gd name="connsiteX25" fmla="*/ 963396 w 1390153"/>
              <a:gd name="connsiteY25" fmla="*/ 243840 h 286512"/>
              <a:gd name="connsiteX26" fmla="*/ 865860 w 1390153"/>
              <a:gd name="connsiteY26" fmla="*/ 213360 h 286512"/>
              <a:gd name="connsiteX27" fmla="*/ 847572 w 1390153"/>
              <a:gd name="connsiteY27" fmla="*/ 201168 h 286512"/>
              <a:gd name="connsiteX28" fmla="*/ 804900 w 1390153"/>
              <a:gd name="connsiteY28" fmla="*/ 195072 h 286512"/>
              <a:gd name="connsiteX29" fmla="*/ 780516 w 1390153"/>
              <a:gd name="connsiteY29" fmla="*/ 188976 h 286512"/>
              <a:gd name="connsiteX30" fmla="*/ 664692 w 1390153"/>
              <a:gd name="connsiteY30" fmla="*/ 195072 h 286512"/>
              <a:gd name="connsiteX31" fmla="*/ 640308 w 1390153"/>
              <a:gd name="connsiteY31" fmla="*/ 213360 h 286512"/>
              <a:gd name="connsiteX32" fmla="*/ 603732 w 1390153"/>
              <a:gd name="connsiteY32" fmla="*/ 231648 h 286512"/>
              <a:gd name="connsiteX33" fmla="*/ 585444 w 1390153"/>
              <a:gd name="connsiteY33" fmla="*/ 243840 h 286512"/>
              <a:gd name="connsiteX34" fmla="*/ 561060 w 1390153"/>
              <a:gd name="connsiteY34" fmla="*/ 249936 h 286512"/>
              <a:gd name="connsiteX35" fmla="*/ 451332 w 1390153"/>
              <a:gd name="connsiteY35" fmla="*/ 262128 h 286512"/>
              <a:gd name="connsiteX36" fmla="*/ 201396 w 1390153"/>
              <a:gd name="connsiteY36" fmla="*/ 274320 h 286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390153" h="286512">
                <a:moveTo>
                  <a:pt x="201396" y="274320"/>
                </a:moveTo>
                <a:lnTo>
                  <a:pt x="201396" y="274320"/>
                </a:lnTo>
                <a:cubicBezTo>
                  <a:pt x="136372" y="266192"/>
                  <a:pt x="70009" y="265375"/>
                  <a:pt x="6324" y="249936"/>
                </a:cubicBezTo>
                <a:cubicBezTo>
                  <a:pt x="-1818" y="247962"/>
                  <a:pt x="228" y="233930"/>
                  <a:pt x="228" y="225552"/>
                </a:cubicBezTo>
                <a:cubicBezTo>
                  <a:pt x="228" y="178772"/>
                  <a:pt x="962" y="131816"/>
                  <a:pt x="6324" y="85344"/>
                </a:cubicBezTo>
                <a:cubicBezTo>
                  <a:pt x="7164" y="78066"/>
                  <a:pt x="12303" y="70939"/>
                  <a:pt x="18516" y="67056"/>
                </a:cubicBezTo>
                <a:cubicBezTo>
                  <a:pt x="29414" y="60245"/>
                  <a:pt x="42267" y="55691"/>
                  <a:pt x="55092" y="54864"/>
                </a:cubicBezTo>
                <a:lnTo>
                  <a:pt x="244068" y="42672"/>
                </a:lnTo>
                <a:cubicBezTo>
                  <a:pt x="254228" y="40640"/>
                  <a:pt x="264278" y="37945"/>
                  <a:pt x="274548" y="36576"/>
                </a:cubicBezTo>
                <a:cubicBezTo>
                  <a:pt x="294790" y="33877"/>
                  <a:pt x="315405" y="34070"/>
                  <a:pt x="335508" y="30480"/>
                </a:cubicBezTo>
                <a:cubicBezTo>
                  <a:pt x="530362" y="-4315"/>
                  <a:pt x="367905" y="12540"/>
                  <a:pt x="518388" y="0"/>
                </a:cubicBezTo>
                <a:lnTo>
                  <a:pt x="1140180" y="6096"/>
                </a:lnTo>
                <a:cubicBezTo>
                  <a:pt x="1154968" y="6503"/>
                  <a:pt x="1168501" y="14700"/>
                  <a:pt x="1182852" y="18288"/>
                </a:cubicBezTo>
                <a:cubicBezTo>
                  <a:pt x="1192904" y="20801"/>
                  <a:pt x="1203408" y="21407"/>
                  <a:pt x="1213332" y="24384"/>
                </a:cubicBezTo>
                <a:cubicBezTo>
                  <a:pt x="1286755" y="46411"/>
                  <a:pt x="1197475" y="28853"/>
                  <a:pt x="1280388" y="42672"/>
                </a:cubicBezTo>
                <a:cubicBezTo>
                  <a:pt x="1290548" y="48768"/>
                  <a:pt x="1301698" y="53457"/>
                  <a:pt x="1310868" y="60960"/>
                </a:cubicBezTo>
                <a:cubicBezTo>
                  <a:pt x="1327877" y="74877"/>
                  <a:pt x="1352862" y="101328"/>
                  <a:pt x="1365732" y="121920"/>
                </a:cubicBezTo>
                <a:cubicBezTo>
                  <a:pt x="1370548" y="129626"/>
                  <a:pt x="1374549" y="137867"/>
                  <a:pt x="1377924" y="146304"/>
                </a:cubicBezTo>
                <a:cubicBezTo>
                  <a:pt x="1382697" y="158236"/>
                  <a:pt x="1390116" y="182880"/>
                  <a:pt x="1390116" y="182880"/>
                </a:cubicBezTo>
                <a:cubicBezTo>
                  <a:pt x="1388790" y="198798"/>
                  <a:pt x="1395982" y="254996"/>
                  <a:pt x="1371828" y="274320"/>
                </a:cubicBezTo>
                <a:cubicBezTo>
                  <a:pt x="1366810" y="278334"/>
                  <a:pt x="1359719" y="278651"/>
                  <a:pt x="1353540" y="280416"/>
                </a:cubicBezTo>
                <a:cubicBezTo>
                  <a:pt x="1345484" y="282718"/>
                  <a:pt x="1337284" y="284480"/>
                  <a:pt x="1329156" y="286512"/>
                </a:cubicBezTo>
                <a:lnTo>
                  <a:pt x="1115796" y="280416"/>
                </a:lnTo>
                <a:cubicBezTo>
                  <a:pt x="1093373" y="279441"/>
                  <a:pt x="1070800" y="278456"/>
                  <a:pt x="1048740" y="274320"/>
                </a:cubicBezTo>
                <a:cubicBezTo>
                  <a:pt x="1019505" y="268838"/>
                  <a:pt x="1020007" y="258646"/>
                  <a:pt x="993876" y="249936"/>
                </a:cubicBezTo>
                <a:cubicBezTo>
                  <a:pt x="984046" y="246659"/>
                  <a:pt x="973556" y="245872"/>
                  <a:pt x="963396" y="243840"/>
                </a:cubicBezTo>
                <a:cubicBezTo>
                  <a:pt x="899975" y="212130"/>
                  <a:pt x="932662" y="221710"/>
                  <a:pt x="865860" y="213360"/>
                </a:cubicBezTo>
                <a:cubicBezTo>
                  <a:pt x="859764" y="209296"/>
                  <a:pt x="854589" y="203273"/>
                  <a:pt x="847572" y="201168"/>
                </a:cubicBezTo>
                <a:cubicBezTo>
                  <a:pt x="833810" y="197039"/>
                  <a:pt x="819037" y="197642"/>
                  <a:pt x="804900" y="195072"/>
                </a:cubicBezTo>
                <a:cubicBezTo>
                  <a:pt x="796657" y="193573"/>
                  <a:pt x="788644" y="191008"/>
                  <a:pt x="780516" y="188976"/>
                </a:cubicBezTo>
                <a:cubicBezTo>
                  <a:pt x="741908" y="191008"/>
                  <a:pt x="702782" y="188448"/>
                  <a:pt x="664692" y="195072"/>
                </a:cubicBezTo>
                <a:cubicBezTo>
                  <a:pt x="654682" y="196813"/>
                  <a:pt x="648576" y="207455"/>
                  <a:pt x="640308" y="213360"/>
                </a:cubicBezTo>
                <a:cubicBezTo>
                  <a:pt x="599544" y="242477"/>
                  <a:pt x="643994" y="211517"/>
                  <a:pt x="603732" y="231648"/>
                </a:cubicBezTo>
                <a:cubicBezTo>
                  <a:pt x="597179" y="234925"/>
                  <a:pt x="592178" y="240954"/>
                  <a:pt x="585444" y="243840"/>
                </a:cubicBezTo>
                <a:cubicBezTo>
                  <a:pt x="577743" y="247140"/>
                  <a:pt x="569116" y="247634"/>
                  <a:pt x="561060" y="249936"/>
                </a:cubicBezTo>
                <a:cubicBezTo>
                  <a:pt x="503516" y="266377"/>
                  <a:pt x="598033" y="252348"/>
                  <a:pt x="451332" y="262128"/>
                </a:cubicBezTo>
                <a:cubicBezTo>
                  <a:pt x="331864" y="301951"/>
                  <a:pt x="243052" y="272288"/>
                  <a:pt x="201396" y="27432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26B60323-FEF0-59BC-19CE-BBC19683B733}"/>
              </a:ext>
            </a:extLst>
          </p:cNvPr>
          <p:cNvSpPr/>
          <p:nvPr/>
        </p:nvSpPr>
        <p:spPr>
          <a:xfrm>
            <a:off x="9003620" y="2560320"/>
            <a:ext cx="378124" cy="314558"/>
          </a:xfrm>
          <a:custGeom>
            <a:avLst/>
            <a:gdLst>
              <a:gd name="connsiteX0" fmla="*/ 225724 w 402508"/>
              <a:gd name="connsiteY0" fmla="*/ 0 h 314558"/>
              <a:gd name="connsiteX1" fmla="*/ 225724 w 402508"/>
              <a:gd name="connsiteY1" fmla="*/ 0 h 314558"/>
              <a:gd name="connsiteX2" fmla="*/ 170860 w 402508"/>
              <a:gd name="connsiteY2" fmla="*/ 24384 h 314558"/>
              <a:gd name="connsiteX3" fmla="*/ 134284 w 402508"/>
              <a:gd name="connsiteY3" fmla="*/ 48768 h 314558"/>
              <a:gd name="connsiteX4" fmla="*/ 122092 w 402508"/>
              <a:gd name="connsiteY4" fmla="*/ 67056 h 314558"/>
              <a:gd name="connsiteX5" fmla="*/ 103804 w 402508"/>
              <a:gd name="connsiteY5" fmla="*/ 79248 h 314558"/>
              <a:gd name="connsiteX6" fmla="*/ 73324 w 402508"/>
              <a:gd name="connsiteY6" fmla="*/ 103632 h 314558"/>
              <a:gd name="connsiteX7" fmla="*/ 42844 w 402508"/>
              <a:gd name="connsiteY7" fmla="*/ 140208 h 314558"/>
              <a:gd name="connsiteX8" fmla="*/ 6268 w 402508"/>
              <a:gd name="connsiteY8" fmla="*/ 146304 h 314558"/>
              <a:gd name="connsiteX9" fmla="*/ 172 w 402508"/>
              <a:gd name="connsiteY9" fmla="*/ 170688 h 314558"/>
              <a:gd name="connsiteX10" fmla="*/ 36748 w 402508"/>
              <a:gd name="connsiteY10" fmla="*/ 207264 h 314558"/>
              <a:gd name="connsiteX11" fmla="*/ 73324 w 402508"/>
              <a:gd name="connsiteY11" fmla="*/ 231648 h 314558"/>
              <a:gd name="connsiteX12" fmla="*/ 85516 w 402508"/>
              <a:gd name="connsiteY12" fmla="*/ 249936 h 314558"/>
              <a:gd name="connsiteX13" fmla="*/ 55036 w 402508"/>
              <a:gd name="connsiteY13" fmla="*/ 280416 h 314558"/>
              <a:gd name="connsiteX14" fmla="*/ 48940 w 402508"/>
              <a:gd name="connsiteY14" fmla="*/ 310896 h 314558"/>
              <a:gd name="connsiteX15" fmla="*/ 115996 w 402508"/>
              <a:gd name="connsiteY15" fmla="*/ 286512 h 314558"/>
              <a:gd name="connsiteX16" fmla="*/ 140380 w 402508"/>
              <a:gd name="connsiteY16" fmla="*/ 280416 h 314558"/>
              <a:gd name="connsiteX17" fmla="*/ 347644 w 402508"/>
              <a:gd name="connsiteY17" fmla="*/ 268224 h 314558"/>
              <a:gd name="connsiteX18" fmla="*/ 365932 w 402508"/>
              <a:gd name="connsiteY18" fmla="*/ 256032 h 314558"/>
              <a:gd name="connsiteX19" fmla="*/ 372028 w 402508"/>
              <a:gd name="connsiteY19" fmla="*/ 237744 h 314558"/>
              <a:gd name="connsiteX20" fmla="*/ 378124 w 402508"/>
              <a:gd name="connsiteY20" fmla="*/ 188976 h 314558"/>
              <a:gd name="connsiteX21" fmla="*/ 390316 w 402508"/>
              <a:gd name="connsiteY21" fmla="*/ 170688 h 314558"/>
              <a:gd name="connsiteX22" fmla="*/ 402508 w 402508"/>
              <a:gd name="connsiteY22" fmla="*/ 146304 h 314558"/>
              <a:gd name="connsiteX23" fmla="*/ 390316 w 402508"/>
              <a:gd name="connsiteY23" fmla="*/ 97536 h 314558"/>
              <a:gd name="connsiteX24" fmla="*/ 353740 w 402508"/>
              <a:gd name="connsiteY24" fmla="*/ 85344 h 314558"/>
              <a:gd name="connsiteX25" fmla="*/ 292780 w 402508"/>
              <a:gd name="connsiteY25" fmla="*/ 60960 h 314558"/>
              <a:gd name="connsiteX26" fmla="*/ 256204 w 402508"/>
              <a:gd name="connsiteY26" fmla="*/ 42672 h 314558"/>
              <a:gd name="connsiteX27" fmla="*/ 201340 w 402508"/>
              <a:gd name="connsiteY27" fmla="*/ 36576 h 314558"/>
              <a:gd name="connsiteX28" fmla="*/ 225724 w 402508"/>
              <a:gd name="connsiteY28" fmla="*/ 0 h 31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02508" h="314558">
                <a:moveTo>
                  <a:pt x="225724" y="0"/>
                </a:moveTo>
                <a:lnTo>
                  <a:pt x="225724" y="0"/>
                </a:lnTo>
                <a:cubicBezTo>
                  <a:pt x="207436" y="8128"/>
                  <a:pt x="188518" y="14966"/>
                  <a:pt x="170860" y="24384"/>
                </a:cubicBezTo>
                <a:cubicBezTo>
                  <a:pt x="157931" y="31280"/>
                  <a:pt x="134284" y="48768"/>
                  <a:pt x="134284" y="48768"/>
                </a:cubicBezTo>
                <a:cubicBezTo>
                  <a:pt x="130220" y="54864"/>
                  <a:pt x="127273" y="61875"/>
                  <a:pt x="122092" y="67056"/>
                </a:cubicBezTo>
                <a:cubicBezTo>
                  <a:pt x="116911" y="72237"/>
                  <a:pt x="109665" y="74852"/>
                  <a:pt x="103804" y="79248"/>
                </a:cubicBezTo>
                <a:cubicBezTo>
                  <a:pt x="93395" y="87055"/>
                  <a:pt x="82524" y="94432"/>
                  <a:pt x="73324" y="103632"/>
                </a:cubicBezTo>
                <a:cubicBezTo>
                  <a:pt x="61018" y="115938"/>
                  <a:pt x="60820" y="132219"/>
                  <a:pt x="42844" y="140208"/>
                </a:cubicBezTo>
                <a:cubicBezTo>
                  <a:pt x="31549" y="145228"/>
                  <a:pt x="18460" y="144272"/>
                  <a:pt x="6268" y="146304"/>
                </a:cubicBezTo>
                <a:cubicBezTo>
                  <a:pt x="4236" y="154432"/>
                  <a:pt x="-1013" y="162394"/>
                  <a:pt x="172" y="170688"/>
                </a:cubicBezTo>
                <a:cubicBezTo>
                  <a:pt x="2263" y="185323"/>
                  <a:pt x="28326" y="201369"/>
                  <a:pt x="36748" y="207264"/>
                </a:cubicBezTo>
                <a:cubicBezTo>
                  <a:pt x="48752" y="215667"/>
                  <a:pt x="73324" y="231648"/>
                  <a:pt x="73324" y="231648"/>
                </a:cubicBezTo>
                <a:cubicBezTo>
                  <a:pt x="77388" y="237744"/>
                  <a:pt x="85516" y="242610"/>
                  <a:pt x="85516" y="249936"/>
                </a:cubicBezTo>
                <a:cubicBezTo>
                  <a:pt x="85516" y="263483"/>
                  <a:pt x="63164" y="274997"/>
                  <a:pt x="55036" y="280416"/>
                </a:cubicBezTo>
                <a:cubicBezTo>
                  <a:pt x="53004" y="290576"/>
                  <a:pt x="39417" y="306815"/>
                  <a:pt x="48940" y="310896"/>
                </a:cubicBezTo>
                <a:cubicBezTo>
                  <a:pt x="81057" y="324660"/>
                  <a:pt x="94154" y="295873"/>
                  <a:pt x="115996" y="286512"/>
                </a:cubicBezTo>
                <a:cubicBezTo>
                  <a:pt x="123697" y="283212"/>
                  <a:pt x="132201" y="282233"/>
                  <a:pt x="140380" y="280416"/>
                </a:cubicBezTo>
                <a:cubicBezTo>
                  <a:pt x="218226" y="263117"/>
                  <a:pt x="219982" y="272626"/>
                  <a:pt x="347644" y="268224"/>
                </a:cubicBezTo>
                <a:cubicBezTo>
                  <a:pt x="353740" y="264160"/>
                  <a:pt x="361355" y="261753"/>
                  <a:pt x="365932" y="256032"/>
                </a:cubicBezTo>
                <a:cubicBezTo>
                  <a:pt x="369946" y="251014"/>
                  <a:pt x="370879" y="244066"/>
                  <a:pt x="372028" y="237744"/>
                </a:cubicBezTo>
                <a:cubicBezTo>
                  <a:pt x="374959" y="221626"/>
                  <a:pt x="373813" y="204781"/>
                  <a:pt x="378124" y="188976"/>
                </a:cubicBezTo>
                <a:cubicBezTo>
                  <a:pt x="380052" y="181908"/>
                  <a:pt x="386681" y="177049"/>
                  <a:pt x="390316" y="170688"/>
                </a:cubicBezTo>
                <a:cubicBezTo>
                  <a:pt x="394825" y="162798"/>
                  <a:pt x="398444" y="154432"/>
                  <a:pt x="402508" y="146304"/>
                </a:cubicBezTo>
                <a:cubicBezTo>
                  <a:pt x="398444" y="130048"/>
                  <a:pt x="400784" y="110620"/>
                  <a:pt x="390316" y="97536"/>
                </a:cubicBezTo>
                <a:cubicBezTo>
                  <a:pt x="382288" y="87501"/>
                  <a:pt x="365773" y="89856"/>
                  <a:pt x="353740" y="85344"/>
                </a:cubicBezTo>
                <a:cubicBezTo>
                  <a:pt x="333248" y="77660"/>
                  <a:pt x="310990" y="73100"/>
                  <a:pt x="292780" y="60960"/>
                </a:cubicBezTo>
                <a:cubicBezTo>
                  <a:pt x="278738" y="51598"/>
                  <a:pt x="273030" y="45476"/>
                  <a:pt x="256204" y="42672"/>
                </a:cubicBezTo>
                <a:cubicBezTo>
                  <a:pt x="238054" y="39647"/>
                  <a:pt x="219628" y="38608"/>
                  <a:pt x="201340" y="36576"/>
                </a:cubicBezTo>
                <a:cubicBezTo>
                  <a:pt x="207770" y="-2004"/>
                  <a:pt x="221660" y="6096"/>
                  <a:pt x="22572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83563FBA-4865-8017-81BE-E867BB5772FB}"/>
              </a:ext>
            </a:extLst>
          </p:cNvPr>
          <p:cNvGrpSpPr/>
          <p:nvPr/>
        </p:nvGrpSpPr>
        <p:grpSpPr>
          <a:xfrm>
            <a:off x="8595360" y="3743860"/>
            <a:ext cx="569115" cy="1041500"/>
            <a:chOff x="8595360" y="3743860"/>
            <a:chExt cx="569115" cy="1041500"/>
          </a:xfrm>
        </p:grpSpPr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C00CC549-126A-717F-5B91-FFA2A89D4FE7}"/>
                </a:ext>
              </a:extLst>
            </p:cNvPr>
            <p:cNvSpPr/>
            <p:nvPr/>
          </p:nvSpPr>
          <p:spPr>
            <a:xfrm>
              <a:off x="8595360" y="4529394"/>
              <a:ext cx="387315" cy="255966"/>
            </a:xfrm>
            <a:custGeom>
              <a:avLst/>
              <a:gdLst>
                <a:gd name="connsiteX0" fmla="*/ 115824 w 387315"/>
                <a:gd name="connsiteY0" fmla="*/ 18222 h 255966"/>
                <a:gd name="connsiteX1" fmla="*/ 115824 w 387315"/>
                <a:gd name="connsiteY1" fmla="*/ 18222 h 255966"/>
                <a:gd name="connsiteX2" fmla="*/ 60960 w 387315"/>
                <a:gd name="connsiteY2" fmla="*/ 30414 h 255966"/>
                <a:gd name="connsiteX3" fmla="*/ 30480 w 387315"/>
                <a:gd name="connsiteY3" fmla="*/ 66990 h 255966"/>
                <a:gd name="connsiteX4" fmla="*/ 24384 w 387315"/>
                <a:gd name="connsiteY4" fmla="*/ 85278 h 255966"/>
                <a:gd name="connsiteX5" fmla="*/ 0 w 387315"/>
                <a:gd name="connsiteY5" fmla="*/ 127950 h 255966"/>
                <a:gd name="connsiteX6" fmla="*/ 6096 w 387315"/>
                <a:gd name="connsiteY6" fmla="*/ 182814 h 255966"/>
                <a:gd name="connsiteX7" fmla="*/ 18288 w 387315"/>
                <a:gd name="connsiteY7" fmla="*/ 237678 h 255966"/>
                <a:gd name="connsiteX8" fmla="*/ 30480 w 387315"/>
                <a:gd name="connsiteY8" fmla="*/ 255966 h 255966"/>
                <a:gd name="connsiteX9" fmla="*/ 335280 w 387315"/>
                <a:gd name="connsiteY9" fmla="*/ 249870 h 255966"/>
                <a:gd name="connsiteX10" fmla="*/ 347472 w 387315"/>
                <a:gd name="connsiteY10" fmla="*/ 219390 h 255966"/>
                <a:gd name="connsiteX11" fmla="*/ 353568 w 387315"/>
                <a:gd name="connsiteY11" fmla="*/ 146238 h 255966"/>
                <a:gd name="connsiteX12" fmla="*/ 377952 w 387315"/>
                <a:gd name="connsiteY12" fmla="*/ 91374 h 255966"/>
                <a:gd name="connsiteX13" fmla="*/ 377952 w 387315"/>
                <a:gd name="connsiteY13" fmla="*/ 6030 h 255966"/>
                <a:gd name="connsiteX14" fmla="*/ 85344 w 387315"/>
                <a:gd name="connsiteY14" fmla="*/ 12126 h 255966"/>
                <a:gd name="connsiteX15" fmla="*/ 115824 w 387315"/>
                <a:gd name="connsiteY15" fmla="*/ 18222 h 255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7315" h="255966">
                  <a:moveTo>
                    <a:pt x="115824" y="18222"/>
                  </a:moveTo>
                  <a:lnTo>
                    <a:pt x="115824" y="18222"/>
                  </a:lnTo>
                  <a:cubicBezTo>
                    <a:pt x="97536" y="22286"/>
                    <a:pt x="78733" y="24490"/>
                    <a:pt x="60960" y="30414"/>
                  </a:cubicBezTo>
                  <a:cubicBezTo>
                    <a:pt x="41498" y="36901"/>
                    <a:pt x="38027" y="49381"/>
                    <a:pt x="30480" y="66990"/>
                  </a:cubicBezTo>
                  <a:cubicBezTo>
                    <a:pt x="27949" y="72896"/>
                    <a:pt x="26915" y="79372"/>
                    <a:pt x="24384" y="85278"/>
                  </a:cubicBezTo>
                  <a:cubicBezTo>
                    <a:pt x="15103" y="106934"/>
                    <a:pt x="12244" y="109584"/>
                    <a:pt x="0" y="127950"/>
                  </a:cubicBezTo>
                  <a:cubicBezTo>
                    <a:pt x="2032" y="146238"/>
                    <a:pt x="3664" y="164575"/>
                    <a:pt x="6096" y="182814"/>
                  </a:cubicBezTo>
                  <a:cubicBezTo>
                    <a:pt x="7799" y="195585"/>
                    <a:pt x="11116" y="223335"/>
                    <a:pt x="18288" y="237678"/>
                  </a:cubicBezTo>
                  <a:cubicBezTo>
                    <a:pt x="21565" y="244231"/>
                    <a:pt x="26416" y="249870"/>
                    <a:pt x="30480" y="255966"/>
                  </a:cubicBezTo>
                  <a:lnTo>
                    <a:pt x="335280" y="249870"/>
                  </a:lnTo>
                  <a:cubicBezTo>
                    <a:pt x="346151" y="248616"/>
                    <a:pt x="345570" y="230166"/>
                    <a:pt x="347472" y="219390"/>
                  </a:cubicBezTo>
                  <a:cubicBezTo>
                    <a:pt x="351724" y="195294"/>
                    <a:pt x="349316" y="170334"/>
                    <a:pt x="353568" y="146238"/>
                  </a:cubicBezTo>
                  <a:cubicBezTo>
                    <a:pt x="355691" y="134209"/>
                    <a:pt x="372031" y="103216"/>
                    <a:pt x="377952" y="91374"/>
                  </a:cubicBezTo>
                  <a:cubicBezTo>
                    <a:pt x="380679" y="77738"/>
                    <a:pt x="397584" y="9235"/>
                    <a:pt x="377952" y="6030"/>
                  </a:cubicBezTo>
                  <a:cubicBezTo>
                    <a:pt x="281670" y="-9690"/>
                    <a:pt x="182879" y="10051"/>
                    <a:pt x="85344" y="12126"/>
                  </a:cubicBezTo>
                  <a:cubicBezTo>
                    <a:pt x="83312" y="12169"/>
                    <a:pt x="110744" y="17206"/>
                    <a:pt x="115824" y="18222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66A29BB5-9D2B-51B7-3FBE-A5B6205FAF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500" y="3939159"/>
              <a:ext cx="131064" cy="57302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Arrow: Down 26">
              <a:extLst>
                <a:ext uri="{FF2B5EF4-FFF2-40B4-BE49-F238E27FC236}">
                  <a16:creationId xmlns="" xmlns:a16="http://schemas.microsoft.com/office/drawing/2014/main" id="{3F8668E5-B4AF-D267-BF85-6155B7D6EE23}"/>
                </a:ext>
              </a:extLst>
            </p:cNvPr>
            <p:cNvSpPr/>
            <p:nvPr/>
          </p:nvSpPr>
          <p:spPr>
            <a:xfrm rot="657085">
              <a:off x="9048422" y="3743860"/>
              <a:ext cx="116053" cy="187226"/>
            </a:xfrm>
            <a:prstGeom prst="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F71B57A2-9D68-169C-1DE9-D169E372F880}"/>
              </a:ext>
            </a:extLst>
          </p:cNvPr>
          <p:cNvSpPr/>
          <p:nvPr/>
        </p:nvSpPr>
        <p:spPr>
          <a:xfrm>
            <a:off x="7504176" y="3663696"/>
            <a:ext cx="484415" cy="1097280"/>
          </a:xfrm>
          <a:custGeom>
            <a:avLst/>
            <a:gdLst>
              <a:gd name="connsiteX0" fmla="*/ 469392 w 484415"/>
              <a:gd name="connsiteY0" fmla="*/ 103632 h 1097280"/>
              <a:gd name="connsiteX1" fmla="*/ 469392 w 484415"/>
              <a:gd name="connsiteY1" fmla="*/ 103632 h 1097280"/>
              <a:gd name="connsiteX2" fmla="*/ 445008 w 484415"/>
              <a:gd name="connsiteY2" fmla="*/ 335280 h 1097280"/>
              <a:gd name="connsiteX3" fmla="*/ 438912 w 484415"/>
              <a:gd name="connsiteY3" fmla="*/ 353568 h 1097280"/>
              <a:gd name="connsiteX4" fmla="*/ 426720 w 484415"/>
              <a:gd name="connsiteY4" fmla="*/ 371856 h 1097280"/>
              <a:gd name="connsiteX5" fmla="*/ 408432 w 484415"/>
              <a:gd name="connsiteY5" fmla="*/ 414528 h 1097280"/>
              <a:gd name="connsiteX6" fmla="*/ 347472 w 484415"/>
              <a:gd name="connsiteY6" fmla="*/ 469392 h 1097280"/>
              <a:gd name="connsiteX7" fmla="*/ 335280 w 484415"/>
              <a:gd name="connsiteY7" fmla="*/ 493776 h 1097280"/>
              <a:gd name="connsiteX8" fmla="*/ 323088 w 484415"/>
              <a:gd name="connsiteY8" fmla="*/ 536448 h 1097280"/>
              <a:gd name="connsiteX9" fmla="*/ 316992 w 484415"/>
              <a:gd name="connsiteY9" fmla="*/ 554736 h 1097280"/>
              <a:gd name="connsiteX10" fmla="*/ 323088 w 484415"/>
              <a:gd name="connsiteY10" fmla="*/ 652272 h 1097280"/>
              <a:gd name="connsiteX11" fmla="*/ 329184 w 484415"/>
              <a:gd name="connsiteY11" fmla="*/ 694944 h 1097280"/>
              <a:gd name="connsiteX12" fmla="*/ 347472 w 484415"/>
              <a:gd name="connsiteY12" fmla="*/ 725424 h 1097280"/>
              <a:gd name="connsiteX13" fmla="*/ 359664 w 484415"/>
              <a:gd name="connsiteY13" fmla="*/ 743712 h 1097280"/>
              <a:gd name="connsiteX14" fmla="*/ 384048 w 484415"/>
              <a:gd name="connsiteY14" fmla="*/ 762000 h 1097280"/>
              <a:gd name="connsiteX15" fmla="*/ 402336 w 484415"/>
              <a:gd name="connsiteY15" fmla="*/ 780288 h 1097280"/>
              <a:gd name="connsiteX16" fmla="*/ 426720 w 484415"/>
              <a:gd name="connsiteY16" fmla="*/ 798576 h 1097280"/>
              <a:gd name="connsiteX17" fmla="*/ 457200 w 484415"/>
              <a:gd name="connsiteY17" fmla="*/ 841248 h 1097280"/>
              <a:gd name="connsiteX18" fmla="*/ 463296 w 484415"/>
              <a:gd name="connsiteY18" fmla="*/ 859536 h 1097280"/>
              <a:gd name="connsiteX19" fmla="*/ 475488 w 484415"/>
              <a:gd name="connsiteY19" fmla="*/ 890016 h 1097280"/>
              <a:gd name="connsiteX20" fmla="*/ 463296 w 484415"/>
              <a:gd name="connsiteY20" fmla="*/ 1066800 h 1097280"/>
              <a:gd name="connsiteX21" fmla="*/ 384048 w 484415"/>
              <a:gd name="connsiteY21" fmla="*/ 1097280 h 1097280"/>
              <a:gd name="connsiteX22" fmla="*/ 158496 w 484415"/>
              <a:gd name="connsiteY22" fmla="*/ 1018032 h 1097280"/>
              <a:gd name="connsiteX23" fmla="*/ 109728 w 484415"/>
              <a:gd name="connsiteY23" fmla="*/ 993648 h 1097280"/>
              <a:gd name="connsiteX24" fmla="*/ 60960 w 484415"/>
              <a:gd name="connsiteY24" fmla="*/ 926592 h 1097280"/>
              <a:gd name="connsiteX25" fmla="*/ 48768 w 484415"/>
              <a:gd name="connsiteY25" fmla="*/ 896112 h 1097280"/>
              <a:gd name="connsiteX26" fmla="*/ 12192 w 484415"/>
              <a:gd name="connsiteY26" fmla="*/ 829056 h 1097280"/>
              <a:gd name="connsiteX27" fmla="*/ 0 w 484415"/>
              <a:gd name="connsiteY27" fmla="*/ 792480 h 1097280"/>
              <a:gd name="connsiteX28" fmla="*/ 12192 w 484415"/>
              <a:gd name="connsiteY28" fmla="*/ 420624 h 1097280"/>
              <a:gd name="connsiteX29" fmla="*/ 30480 w 484415"/>
              <a:gd name="connsiteY29" fmla="*/ 341376 h 1097280"/>
              <a:gd name="connsiteX30" fmla="*/ 54864 w 484415"/>
              <a:gd name="connsiteY30" fmla="*/ 262128 h 1097280"/>
              <a:gd name="connsiteX31" fmla="*/ 60960 w 484415"/>
              <a:gd name="connsiteY31" fmla="*/ 225552 h 1097280"/>
              <a:gd name="connsiteX32" fmla="*/ 85344 w 484415"/>
              <a:gd name="connsiteY32" fmla="*/ 170688 h 1097280"/>
              <a:gd name="connsiteX33" fmla="*/ 121920 w 484415"/>
              <a:gd name="connsiteY33" fmla="*/ 79248 h 1097280"/>
              <a:gd name="connsiteX34" fmla="*/ 140208 w 484415"/>
              <a:gd name="connsiteY34" fmla="*/ 42672 h 1097280"/>
              <a:gd name="connsiteX35" fmla="*/ 164592 w 484415"/>
              <a:gd name="connsiteY35" fmla="*/ 24384 h 1097280"/>
              <a:gd name="connsiteX36" fmla="*/ 201168 w 484415"/>
              <a:gd name="connsiteY36" fmla="*/ 0 h 1097280"/>
              <a:gd name="connsiteX37" fmla="*/ 280416 w 484415"/>
              <a:gd name="connsiteY37" fmla="*/ 6096 h 1097280"/>
              <a:gd name="connsiteX38" fmla="*/ 304800 w 484415"/>
              <a:gd name="connsiteY38" fmla="*/ 18288 h 1097280"/>
              <a:gd name="connsiteX39" fmla="*/ 341376 w 484415"/>
              <a:gd name="connsiteY39" fmla="*/ 24384 h 1097280"/>
              <a:gd name="connsiteX40" fmla="*/ 359664 w 484415"/>
              <a:gd name="connsiteY40" fmla="*/ 30480 h 1097280"/>
              <a:gd name="connsiteX41" fmla="*/ 384048 w 484415"/>
              <a:gd name="connsiteY41" fmla="*/ 36576 h 1097280"/>
              <a:gd name="connsiteX42" fmla="*/ 402336 w 484415"/>
              <a:gd name="connsiteY42" fmla="*/ 48768 h 1097280"/>
              <a:gd name="connsiteX43" fmla="*/ 420624 w 484415"/>
              <a:gd name="connsiteY43" fmla="*/ 54864 h 1097280"/>
              <a:gd name="connsiteX44" fmla="*/ 438912 w 484415"/>
              <a:gd name="connsiteY44" fmla="*/ 73152 h 1097280"/>
              <a:gd name="connsiteX45" fmla="*/ 463296 w 484415"/>
              <a:gd name="connsiteY45" fmla="*/ 91440 h 1097280"/>
              <a:gd name="connsiteX46" fmla="*/ 469392 w 484415"/>
              <a:gd name="connsiteY46" fmla="*/ 109728 h 1097280"/>
              <a:gd name="connsiteX47" fmla="*/ 469392 w 484415"/>
              <a:gd name="connsiteY47" fmla="*/ 103632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84415" h="1097280">
                <a:moveTo>
                  <a:pt x="469392" y="103632"/>
                </a:moveTo>
                <a:lnTo>
                  <a:pt x="469392" y="103632"/>
                </a:lnTo>
                <a:cubicBezTo>
                  <a:pt x="453791" y="361052"/>
                  <a:pt x="482597" y="235042"/>
                  <a:pt x="445008" y="335280"/>
                </a:cubicBezTo>
                <a:cubicBezTo>
                  <a:pt x="442752" y="341297"/>
                  <a:pt x="441786" y="347821"/>
                  <a:pt x="438912" y="353568"/>
                </a:cubicBezTo>
                <a:cubicBezTo>
                  <a:pt x="435635" y="360121"/>
                  <a:pt x="430784" y="365760"/>
                  <a:pt x="426720" y="371856"/>
                </a:cubicBezTo>
                <a:cubicBezTo>
                  <a:pt x="422056" y="390510"/>
                  <a:pt x="422465" y="400495"/>
                  <a:pt x="408432" y="414528"/>
                </a:cubicBezTo>
                <a:cubicBezTo>
                  <a:pt x="379160" y="443800"/>
                  <a:pt x="379527" y="405281"/>
                  <a:pt x="347472" y="469392"/>
                </a:cubicBezTo>
                <a:cubicBezTo>
                  <a:pt x="343408" y="477520"/>
                  <a:pt x="338860" y="485423"/>
                  <a:pt x="335280" y="493776"/>
                </a:cubicBezTo>
                <a:cubicBezTo>
                  <a:pt x="329016" y="508392"/>
                  <a:pt x="327507" y="520981"/>
                  <a:pt x="323088" y="536448"/>
                </a:cubicBezTo>
                <a:cubicBezTo>
                  <a:pt x="321323" y="542627"/>
                  <a:pt x="319024" y="548640"/>
                  <a:pt x="316992" y="554736"/>
                </a:cubicBezTo>
                <a:cubicBezTo>
                  <a:pt x="319024" y="587248"/>
                  <a:pt x="320266" y="619819"/>
                  <a:pt x="323088" y="652272"/>
                </a:cubicBezTo>
                <a:cubicBezTo>
                  <a:pt x="324333" y="666586"/>
                  <a:pt x="324640" y="681313"/>
                  <a:pt x="329184" y="694944"/>
                </a:cubicBezTo>
                <a:cubicBezTo>
                  <a:pt x="332931" y="706184"/>
                  <a:pt x="341192" y="715376"/>
                  <a:pt x="347472" y="725424"/>
                </a:cubicBezTo>
                <a:cubicBezTo>
                  <a:pt x="351355" y="731637"/>
                  <a:pt x="354483" y="738531"/>
                  <a:pt x="359664" y="743712"/>
                </a:cubicBezTo>
                <a:cubicBezTo>
                  <a:pt x="366848" y="750896"/>
                  <a:pt x="376334" y="755388"/>
                  <a:pt x="384048" y="762000"/>
                </a:cubicBezTo>
                <a:cubicBezTo>
                  <a:pt x="390594" y="767611"/>
                  <a:pt x="395790" y="774677"/>
                  <a:pt x="402336" y="780288"/>
                </a:cubicBezTo>
                <a:cubicBezTo>
                  <a:pt x="410050" y="786900"/>
                  <a:pt x="419536" y="791392"/>
                  <a:pt x="426720" y="798576"/>
                </a:cubicBezTo>
                <a:cubicBezTo>
                  <a:pt x="429481" y="801337"/>
                  <a:pt x="453739" y="834325"/>
                  <a:pt x="457200" y="841248"/>
                </a:cubicBezTo>
                <a:cubicBezTo>
                  <a:pt x="460074" y="846995"/>
                  <a:pt x="461040" y="853519"/>
                  <a:pt x="463296" y="859536"/>
                </a:cubicBezTo>
                <a:cubicBezTo>
                  <a:pt x="467138" y="869782"/>
                  <a:pt x="471424" y="879856"/>
                  <a:pt x="475488" y="890016"/>
                </a:cubicBezTo>
                <a:cubicBezTo>
                  <a:pt x="484545" y="953418"/>
                  <a:pt x="494262" y="993608"/>
                  <a:pt x="463296" y="1066800"/>
                </a:cubicBezTo>
                <a:cubicBezTo>
                  <a:pt x="455249" y="1085820"/>
                  <a:pt x="403852" y="1093319"/>
                  <a:pt x="384048" y="1097280"/>
                </a:cubicBezTo>
                <a:cubicBezTo>
                  <a:pt x="236924" y="1078889"/>
                  <a:pt x="318166" y="1100620"/>
                  <a:pt x="158496" y="1018032"/>
                </a:cubicBezTo>
                <a:cubicBezTo>
                  <a:pt x="142353" y="1009682"/>
                  <a:pt x="109728" y="993648"/>
                  <a:pt x="109728" y="993648"/>
                </a:cubicBezTo>
                <a:cubicBezTo>
                  <a:pt x="92225" y="971769"/>
                  <a:pt x="74503" y="951422"/>
                  <a:pt x="60960" y="926592"/>
                </a:cubicBezTo>
                <a:cubicBezTo>
                  <a:pt x="55720" y="916985"/>
                  <a:pt x="53662" y="905899"/>
                  <a:pt x="48768" y="896112"/>
                </a:cubicBezTo>
                <a:cubicBezTo>
                  <a:pt x="22885" y="844346"/>
                  <a:pt x="36448" y="887271"/>
                  <a:pt x="12192" y="829056"/>
                </a:cubicBezTo>
                <a:cubicBezTo>
                  <a:pt x="7249" y="817193"/>
                  <a:pt x="4064" y="804672"/>
                  <a:pt x="0" y="792480"/>
                </a:cubicBezTo>
                <a:cubicBezTo>
                  <a:pt x="4064" y="668528"/>
                  <a:pt x="3831" y="544360"/>
                  <a:pt x="12192" y="420624"/>
                </a:cubicBezTo>
                <a:cubicBezTo>
                  <a:pt x="14020" y="393575"/>
                  <a:pt x="23432" y="367554"/>
                  <a:pt x="30480" y="341376"/>
                </a:cubicBezTo>
                <a:cubicBezTo>
                  <a:pt x="37665" y="314688"/>
                  <a:pt x="47830" y="288856"/>
                  <a:pt x="54864" y="262128"/>
                </a:cubicBezTo>
                <a:cubicBezTo>
                  <a:pt x="58010" y="250175"/>
                  <a:pt x="57051" y="237278"/>
                  <a:pt x="60960" y="225552"/>
                </a:cubicBezTo>
                <a:cubicBezTo>
                  <a:pt x="67289" y="206566"/>
                  <a:pt x="77724" y="189193"/>
                  <a:pt x="85344" y="170688"/>
                </a:cubicBezTo>
                <a:cubicBezTo>
                  <a:pt x="112692" y="104271"/>
                  <a:pt x="93561" y="140693"/>
                  <a:pt x="121920" y="79248"/>
                </a:cubicBezTo>
                <a:cubicBezTo>
                  <a:pt x="127632" y="66872"/>
                  <a:pt x="131839" y="53432"/>
                  <a:pt x="140208" y="42672"/>
                </a:cubicBezTo>
                <a:cubicBezTo>
                  <a:pt x="146446" y="34652"/>
                  <a:pt x="156269" y="30210"/>
                  <a:pt x="164592" y="24384"/>
                </a:cubicBezTo>
                <a:cubicBezTo>
                  <a:pt x="176596" y="15981"/>
                  <a:pt x="188976" y="8128"/>
                  <a:pt x="201168" y="0"/>
                </a:cubicBezTo>
                <a:cubicBezTo>
                  <a:pt x="227584" y="2032"/>
                  <a:pt x="254325" y="1492"/>
                  <a:pt x="280416" y="6096"/>
                </a:cubicBezTo>
                <a:cubicBezTo>
                  <a:pt x="289365" y="7675"/>
                  <a:pt x="296096" y="15677"/>
                  <a:pt x="304800" y="18288"/>
                </a:cubicBezTo>
                <a:cubicBezTo>
                  <a:pt x="316639" y="21840"/>
                  <a:pt x="329310" y="21703"/>
                  <a:pt x="341376" y="24384"/>
                </a:cubicBezTo>
                <a:cubicBezTo>
                  <a:pt x="347649" y="25778"/>
                  <a:pt x="353485" y="28715"/>
                  <a:pt x="359664" y="30480"/>
                </a:cubicBezTo>
                <a:cubicBezTo>
                  <a:pt x="367720" y="32782"/>
                  <a:pt x="375920" y="34544"/>
                  <a:pt x="384048" y="36576"/>
                </a:cubicBezTo>
                <a:cubicBezTo>
                  <a:pt x="390144" y="40640"/>
                  <a:pt x="395783" y="45491"/>
                  <a:pt x="402336" y="48768"/>
                </a:cubicBezTo>
                <a:cubicBezTo>
                  <a:pt x="408083" y="51642"/>
                  <a:pt x="415277" y="51300"/>
                  <a:pt x="420624" y="54864"/>
                </a:cubicBezTo>
                <a:cubicBezTo>
                  <a:pt x="427797" y="59646"/>
                  <a:pt x="432366" y="67541"/>
                  <a:pt x="438912" y="73152"/>
                </a:cubicBezTo>
                <a:cubicBezTo>
                  <a:pt x="446626" y="79764"/>
                  <a:pt x="455168" y="85344"/>
                  <a:pt x="463296" y="91440"/>
                </a:cubicBezTo>
                <a:cubicBezTo>
                  <a:pt x="465328" y="97536"/>
                  <a:pt x="467834" y="103494"/>
                  <a:pt x="469392" y="109728"/>
                </a:cubicBezTo>
                <a:cubicBezTo>
                  <a:pt x="471905" y="119780"/>
                  <a:pt x="469392" y="104648"/>
                  <a:pt x="469392" y="1036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54C4189B-B391-7854-FB5A-F8286B64EC3F}"/>
              </a:ext>
            </a:extLst>
          </p:cNvPr>
          <p:cNvSpPr/>
          <p:nvPr/>
        </p:nvSpPr>
        <p:spPr>
          <a:xfrm>
            <a:off x="7494016" y="2346960"/>
            <a:ext cx="484415" cy="5279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F87B889-13F3-5D16-470C-50283D3BF687}"/>
              </a:ext>
            </a:extLst>
          </p:cNvPr>
          <p:cNvSpPr/>
          <p:nvPr/>
        </p:nvSpPr>
        <p:spPr>
          <a:xfrm>
            <a:off x="10434320" y="1530096"/>
            <a:ext cx="386347" cy="9184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2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animBg="1"/>
      <p:bldP spid="8" grpId="0" animBg="1"/>
      <p:bldP spid="11" grpId="0" animBg="1"/>
      <p:bldP spid="14" grpId="0" animBg="1"/>
      <p:bldP spid="16" grpId="0" animBg="1"/>
      <p:bldP spid="18" grpId="0" animBg="1"/>
      <p:bldP spid="19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6. GHI KÍCH THƯỚC TRÊN HÌNH CHIẾU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111" y="923330"/>
            <a:ext cx="5880683" cy="533632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200" b="1" dirty="0" err="1">
                <a:solidFill>
                  <a:schemeClr val="tx1"/>
                </a:solidFill>
              </a:rPr>
              <a:t>Lưu</a:t>
            </a:r>
            <a:r>
              <a:rPr lang="en-US" sz="2200" b="1" dirty="0">
                <a:solidFill>
                  <a:schemeClr val="tx1"/>
                </a:solidFill>
              </a:rPr>
              <a:t> ý </a:t>
            </a:r>
            <a:r>
              <a:rPr lang="en-US" sz="2200" b="1" dirty="0" err="1">
                <a:solidFill>
                  <a:schemeClr val="tx1"/>
                </a:solidFill>
              </a:rPr>
              <a:t>về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ghi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kích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thước</a:t>
            </a:r>
            <a:r>
              <a:rPr lang="en-US" sz="2200" b="1" dirty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en-US" sz="2200" dirty="0" err="1">
                <a:solidFill>
                  <a:schemeClr val="tx1"/>
                </a:solidFill>
              </a:rPr>
              <a:t>Mỗi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chỉ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ghi</a:t>
            </a:r>
            <a:r>
              <a:rPr lang="en-US" sz="2200" dirty="0">
                <a:solidFill>
                  <a:schemeClr val="tx1"/>
                </a:solidFill>
              </a:rPr>
              <a:t> 1 </a:t>
            </a:r>
            <a:r>
              <a:rPr lang="en-US" sz="2200" dirty="0" err="1">
                <a:solidFill>
                  <a:schemeClr val="tx1"/>
                </a:solidFill>
              </a:rPr>
              <a:t>lần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bản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vẽ</a:t>
            </a:r>
            <a:r>
              <a:rPr lang="en-US" sz="2200" dirty="0">
                <a:solidFill>
                  <a:schemeClr val="tx1"/>
                </a:solidFill>
              </a:rPr>
              <a:t>. </a:t>
            </a:r>
            <a:r>
              <a:rPr lang="en-US" sz="2200" dirty="0" err="1">
                <a:solidFill>
                  <a:schemeClr val="tx1"/>
                </a:solidFill>
              </a:rPr>
              <a:t>Nên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ghi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lần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lượt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các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loại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theo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thứ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tự</a:t>
            </a:r>
            <a:r>
              <a:rPr lang="en-US" sz="2200" dirty="0">
                <a:solidFill>
                  <a:schemeClr val="tx1"/>
                </a:solidFill>
              </a:rPr>
              <a:t> (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định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khối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b="1" dirty="0" err="1">
                <a:solidFill>
                  <a:srgbClr val="FF0000"/>
                </a:solidFill>
              </a:rPr>
              <a:t>định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vị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b="1" dirty="0" err="1">
                <a:solidFill>
                  <a:srgbClr val="FF0000"/>
                </a:solidFill>
              </a:rPr>
              <a:t>định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hình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en-US" sz="2200" dirty="0" err="1">
                <a:solidFill>
                  <a:schemeClr val="tx1"/>
                </a:solidFill>
              </a:rPr>
              <a:t>Các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thành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phần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của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phải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theo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đúng</a:t>
            </a:r>
            <a:r>
              <a:rPr lang="en-US" sz="2200" dirty="0">
                <a:solidFill>
                  <a:schemeClr val="tx1"/>
                </a:solidFill>
              </a:rPr>
              <a:t> TCVN </a:t>
            </a:r>
            <a:r>
              <a:rPr lang="en-US" sz="2200" dirty="0" err="1">
                <a:solidFill>
                  <a:schemeClr val="tx1"/>
                </a:solidFill>
              </a:rPr>
              <a:t>về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trình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bày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bản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vẽ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en-US" sz="2200" dirty="0" err="1">
                <a:solidFill>
                  <a:schemeClr val="tx1"/>
                </a:solidFill>
              </a:rPr>
              <a:t>Các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định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hình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của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bộ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phận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nào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dirty="0" err="1">
                <a:solidFill>
                  <a:schemeClr val="tx1"/>
                </a:solidFill>
              </a:rPr>
              <a:t>nên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ghi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hình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biểu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diễn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thể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hiện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đặc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trưng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nhất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cấu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tạo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của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bộ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phận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đó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en-US" sz="2200" dirty="0" err="1">
                <a:solidFill>
                  <a:schemeClr val="tx1"/>
                </a:solidFill>
              </a:rPr>
              <a:t>Các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liên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quan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dirty="0" err="1">
                <a:solidFill>
                  <a:schemeClr val="tx1"/>
                </a:solidFill>
              </a:rPr>
              <a:t>biểu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thị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cùng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một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bộ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phận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thì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ghi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gần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nhau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en-US" sz="2200" dirty="0" err="1">
                <a:solidFill>
                  <a:schemeClr val="tx1"/>
                </a:solidFill>
              </a:rPr>
              <a:t>Các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cấu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tạo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trong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thường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được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ghi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về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bên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hình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cắt</a:t>
            </a:r>
            <a:r>
              <a:rPr lang="en-US" sz="2200" dirty="0" smtClean="0">
                <a:solidFill>
                  <a:schemeClr val="tx1"/>
                </a:solidFill>
              </a:rPr>
              <a:t>, </a:t>
            </a:r>
            <a:r>
              <a:rPr lang="en-US" sz="2200" dirty="0" err="1" smtClean="0">
                <a:solidFill>
                  <a:schemeClr val="tx1"/>
                </a:solidFill>
              </a:rPr>
              <a:t>kích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thước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cấu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tạo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bên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ngoài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thường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ghi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về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bên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hình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chiếu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  <a:endParaRPr lang="en-US" sz="2200" dirty="0">
              <a:solidFill>
                <a:schemeClr val="tx1"/>
              </a:solidFill>
            </a:endParaRP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en-US" sz="2200" dirty="0" err="1">
                <a:solidFill>
                  <a:schemeClr val="tx1"/>
                </a:solidFill>
              </a:rPr>
              <a:t>Nên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tập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trung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ghi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kích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thước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một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số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hình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biểu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diễn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896" y="1126063"/>
            <a:ext cx="4275786" cy="398090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765961" y="1146220"/>
            <a:ext cx="386366" cy="24469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856113" y="1126063"/>
            <a:ext cx="244698" cy="26485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3" y="923330"/>
            <a:ext cx="4268653" cy="50769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02" y="923330"/>
            <a:ext cx="4921920" cy="4704146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10764591" y="3214369"/>
            <a:ext cx="386366" cy="24469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0854743" y="3194212"/>
            <a:ext cx="244698" cy="26485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151" y="1049301"/>
            <a:ext cx="4227742" cy="480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9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II. HÌNH TRÍCH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1" y="836704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1. KHÁI NIỆM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3145" y="1297604"/>
            <a:ext cx="11884922" cy="134399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/>
            <a:r>
              <a:rPr lang="vi-VN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Hình trích </a:t>
            </a:r>
            <a:r>
              <a:rPr lang="vi-VN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là </a:t>
            </a:r>
            <a:r>
              <a:rPr lang="vi-VN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hình biểu diễn </a:t>
            </a:r>
            <a:r>
              <a:rPr lang="vi-VN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(thường được phóng to) được </a:t>
            </a:r>
            <a:r>
              <a:rPr lang="vi-VN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trích ra </a:t>
            </a:r>
            <a:r>
              <a:rPr lang="vi-VN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từ một hình biểu diễn đã có trên bản vẽ.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Hình trích nhằm </a:t>
            </a:r>
            <a:r>
              <a:rPr lang="vi-VN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thể hiện tỉ mỉ </a:t>
            </a:r>
            <a:r>
              <a:rPr lang="vi-VN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cấu tạo của bộ phận nhỏ của vật thể mà trên hình biểu diễn chính chưa thể hiện rõ.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817898"/>
            <a:ext cx="8268102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b="1" dirty="0">
                <a:solidFill>
                  <a:srgbClr val="FF0000"/>
                </a:solidFill>
              </a:rPr>
              <a:t>2. KÝ HIỆU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543" y="3174727"/>
            <a:ext cx="11884922" cy="134399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/>
            <a:r>
              <a:rPr lang="en-US" sz="2800" dirty="0" err="1">
                <a:solidFill>
                  <a:schemeClr val="tx1"/>
                </a:solidFill>
              </a:rPr>
              <a:t>Tại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tử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trích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đường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tròn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bằng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nét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liền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mảnh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kèm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theo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chữ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số</a:t>
            </a:r>
            <a:r>
              <a:rPr lang="en-US" sz="2800" b="1" dirty="0">
                <a:solidFill>
                  <a:srgbClr val="FF0000"/>
                </a:solidFill>
              </a:rPr>
              <a:t> La </a:t>
            </a:r>
            <a:r>
              <a:rPr lang="en-US" sz="2800" b="1" dirty="0" err="1">
                <a:solidFill>
                  <a:srgbClr val="FF0000"/>
                </a:solidFill>
              </a:rPr>
              <a:t>mã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đặt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trích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  <a:r>
              <a:rPr lang="en-US" sz="2800" dirty="0" err="1">
                <a:solidFill>
                  <a:schemeClr val="tx1"/>
                </a:solidFill>
              </a:rPr>
              <a:t>Số</a:t>
            </a:r>
            <a:r>
              <a:rPr lang="en-US" sz="2800" dirty="0">
                <a:solidFill>
                  <a:schemeClr val="tx1"/>
                </a:solidFill>
              </a:rPr>
              <a:t> La </a:t>
            </a:r>
            <a:r>
              <a:rPr lang="en-US" sz="2800" dirty="0" err="1">
                <a:solidFill>
                  <a:schemeClr val="tx1"/>
                </a:solidFill>
              </a:rPr>
              <a:t>Mã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được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viết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trên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giá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ngang</a:t>
            </a:r>
            <a:r>
              <a:rPr lang="en-US" sz="2800" dirty="0">
                <a:solidFill>
                  <a:schemeClr val="tx1"/>
                </a:solidFill>
              </a:rPr>
              <a:t>; ở </a:t>
            </a:r>
            <a:r>
              <a:rPr lang="en-US" sz="2800" dirty="0" err="1">
                <a:solidFill>
                  <a:schemeClr val="tx1"/>
                </a:solidFill>
              </a:rPr>
              <a:t>phần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trích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tỷ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lệ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được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viết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dưới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giá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nằm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ngang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l="14694" b="54816"/>
          <a:stretch>
            <a:fillRect/>
          </a:stretch>
        </p:blipFill>
        <p:spPr bwMode="auto">
          <a:xfrm>
            <a:off x="1407160" y="4775836"/>
            <a:ext cx="4130040" cy="171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 rotWithShape="1"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55851" b="1667"/>
          <a:stretch/>
        </p:blipFill>
        <p:spPr bwMode="auto">
          <a:xfrm>
            <a:off x="6207844" y="4833779"/>
            <a:ext cx="4120515" cy="160221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9685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animBg="1"/>
      <p:bldP spid="6" grpId="0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II. HÌNH TRÍCH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9095FA3-E4EA-5FB1-A953-674A043FB7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 rot="5400000">
            <a:off x="3183419" y="-650847"/>
            <a:ext cx="5857246" cy="886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2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II. HÌNH TRÍCH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A7C2370-6CE4-F7A3-81F0-2D7847D04F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249" y="855429"/>
            <a:ext cx="8874936" cy="5813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722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="" xmlns:a16="http://schemas.microsoft.com/office/drawing/2014/main" id="{3BBF0FB7-5414-619E-F0F4-77974C34D0F5}"/>
              </a:ext>
            </a:extLst>
          </p:cNvPr>
          <p:cNvCxnSpPr/>
          <p:nvPr/>
        </p:nvCxnSpPr>
        <p:spPr>
          <a:xfrm flipH="1">
            <a:off x="3471107" y="3429000"/>
            <a:ext cx="7120" cy="514830"/>
          </a:xfrm>
          <a:prstGeom prst="line">
            <a:avLst/>
          </a:prstGeom>
          <a:ln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BÀI TẬP BỔ TRỢ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2333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1. Cho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chiếu</a:t>
            </a:r>
            <a:r>
              <a:rPr lang="en-US" sz="2400" b="1" dirty="0"/>
              <a:t> </a:t>
            </a:r>
            <a:r>
              <a:rPr lang="en-US" sz="2400" b="1" dirty="0" err="1"/>
              <a:t>trục</a:t>
            </a:r>
            <a:r>
              <a:rPr lang="en-US" sz="2400" b="1" dirty="0"/>
              <a:t> </a:t>
            </a:r>
            <a:r>
              <a:rPr lang="en-US" sz="2400" b="1" dirty="0" err="1"/>
              <a:t>đo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</a:t>
            </a:r>
            <a:r>
              <a:rPr lang="en-US" sz="2400" b="1" dirty="0" err="1"/>
              <a:t>vật</a:t>
            </a:r>
            <a:r>
              <a:rPr lang="en-US" sz="2400" b="1" dirty="0"/>
              <a:t> </a:t>
            </a:r>
            <a:r>
              <a:rPr lang="en-US" sz="2400" b="1" dirty="0" err="1"/>
              <a:t>thể</a:t>
            </a:r>
            <a:r>
              <a:rPr lang="en-US" sz="2400" b="1" dirty="0"/>
              <a:t>. </a:t>
            </a:r>
            <a:r>
              <a:rPr lang="en-US" sz="2400" b="1" dirty="0" err="1"/>
              <a:t>Bổ</a:t>
            </a:r>
            <a:r>
              <a:rPr lang="en-US" sz="2400" b="1" dirty="0"/>
              <a:t> sung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hoàn</a:t>
            </a:r>
            <a:r>
              <a:rPr lang="en-US" sz="2400" b="1" dirty="0"/>
              <a:t> </a:t>
            </a:r>
            <a:r>
              <a:rPr lang="en-US" sz="2400" b="1" dirty="0" err="1"/>
              <a:t>thiện</a:t>
            </a:r>
            <a:r>
              <a:rPr lang="en-US" sz="2400" b="1" dirty="0"/>
              <a:t> 3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chiếu</a:t>
            </a:r>
            <a:r>
              <a:rPr lang="en-US" sz="2400" b="1" dirty="0"/>
              <a:t> </a:t>
            </a:r>
            <a:r>
              <a:rPr lang="en-US" sz="2400" b="1" dirty="0" err="1"/>
              <a:t>thẳng</a:t>
            </a:r>
            <a:r>
              <a:rPr lang="en-US" sz="2400" b="1" dirty="0"/>
              <a:t> </a:t>
            </a:r>
            <a:r>
              <a:rPr lang="en-US" sz="2400" b="1" dirty="0" err="1"/>
              <a:t>góc</a:t>
            </a:r>
            <a:r>
              <a:rPr lang="en-US" sz="2400" b="1" dirty="0"/>
              <a:t>.</a:t>
            </a:r>
          </a:p>
        </p:txBody>
      </p:sp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014" y="1877435"/>
            <a:ext cx="8780055" cy="459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4110446" y="2142309"/>
            <a:ext cx="304800" cy="418014"/>
            <a:chOff x="4110446" y="2142309"/>
            <a:chExt cx="304800" cy="41801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4110446" y="2142309"/>
              <a:ext cx="3048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110446" y="2346963"/>
              <a:ext cx="3048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110446" y="2560323"/>
              <a:ext cx="3048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3370217" y="2852051"/>
            <a:ext cx="261255" cy="313522"/>
            <a:chOff x="3370217" y="2852051"/>
            <a:chExt cx="261255" cy="313522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3370217" y="2856412"/>
              <a:ext cx="0" cy="30916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500844" y="2852051"/>
              <a:ext cx="0" cy="30916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631472" y="2856412"/>
              <a:ext cx="0" cy="30916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3108959" y="2023719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6786282" y="2178169"/>
            <a:ext cx="367553" cy="451307"/>
            <a:chOff x="6786282" y="2178169"/>
            <a:chExt cx="367553" cy="45130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6786282" y="2178169"/>
              <a:ext cx="36755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786282" y="2629476"/>
              <a:ext cx="36755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6119868" y="2890260"/>
            <a:ext cx="304800" cy="360131"/>
            <a:chOff x="6112042" y="2881122"/>
            <a:chExt cx="304800" cy="360131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6112042" y="2894447"/>
              <a:ext cx="0" cy="346806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6416842" y="2881122"/>
              <a:ext cx="0" cy="346806"/>
            </a:xfrm>
            <a:prstGeom prst="line">
              <a:avLst/>
            </a:prstGeom>
            <a:ln w="222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6653107" y="2306731"/>
            <a:ext cx="599340" cy="197230"/>
            <a:chOff x="6653107" y="2306731"/>
            <a:chExt cx="599340" cy="197230"/>
          </a:xfrm>
        </p:grpSpPr>
        <p:grpSp>
          <p:nvGrpSpPr>
            <p:cNvPr id="35" name="Group 34"/>
            <p:cNvGrpSpPr/>
            <p:nvPr/>
          </p:nvGrpSpPr>
          <p:grpSpPr>
            <a:xfrm>
              <a:off x="6777312" y="2306731"/>
              <a:ext cx="376518" cy="197230"/>
              <a:chOff x="6777312" y="2306731"/>
              <a:chExt cx="376518" cy="197230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6786277" y="2306731"/>
                <a:ext cx="367553" cy="0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777312" y="2503961"/>
                <a:ext cx="367553" cy="0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Connector 47"/>
            <p:cNvCxnSpPr/>
            <p:nvPr/>
          </p:nvCxnSpPr>
          <p:spPr>
            <a:xfrm flipH="1">
              <a:off x="6653107" y="2414308"/>
              <a:ext cx="59934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/>
        </p:nvSpPr>
        <p:spPr>
          <a:xfrm>
            <a:off x="5880792" y="2023876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>
            <a:off x="9269506" y="2834121"/>
            <a:ext cx="188006" cy="375877"/>
            <a:chOff x="9269506" y="2834121"/>
            <a:chExt cx="188006" cy="375877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9269506" y="2834121"/>
              <a:ext cx="0" cy="3758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9269506" y="3036595"/>
              <a:ext cx="18800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Connector 60"/>
          <p:cNvCxnSpPr/>
          <p:nvPr/>
        </p:nvCxnSpPr>
        <p:spPr>
          <a:xfrm>
            <a:off x="9654988" y="2423273"/>
            <a:ext cx="38548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744128" y="1973974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>
            <a:off x="3164540" y="3792071"/>
            <a:ext cx="65836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2" name="Group 1031"/>
          <p:cNvGrpSpPr/>
          <p:nvPr/>
        </p:nvGrpSpPr>
        <p:grpSpPr>
          <a:xfrm>
            <a:off x="3370217" y="4066134"/>
            <a:ext cx="270220" cy="514830"/>
            <a:chOff x="3370217" y="4066134"/>
            <a:chExt cx="270220" cy="514830"/>
          </a:xfrm>
        </p:grpSpPr>
        <p:cxnSp>
          <p:nvCxnSpPr>
            <p:cNvPr id="1028" name="Straight Connector 1027"/>
            <p:cNvCxnSpPr/>
            <p:nvPr/>
          </p:nvCxnSpPr>
          <p:spPr>
            <a:xfrm>
              <a:off x="3370217" y="4119147"/>
              <a:ext cx="0" cy="2287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640437" y="4119146"/>
              <a:ext cx="0" cy="2287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/>
            <p:cNvCxnSpPr/>
            <p:nvPr/>
          </p:nvCxnSpPr>
          <p:spPr>
            <a:xfrm flipH="1">
              <a:off x="3493724" y="4066134"/>
              <a:ext cx="7120" cy="514830"/>
            </a:xfrm>
            <a:prstGeom prst="line">
              <a:avLst/>
            </a:prstGeom>
            <a:ln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4" name="Straight Connector 1033"/>
          <p:cNvCxnSpPr/>
          <p:nvPr/>
        </p:nvCxnSpPr>
        <p:spPr>
          <a:xfrm>
            <a:off x="4074586" y="3612776"/>
            <a:ext cx="23743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062009" y="3434092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2" name="Group 1041"/>
          <p:cNvGrpSpPr/>
          <p:nvPr/>
        </p:nvGrpSpPr>
        <p:grpSpPr>
          <a:xfrm>
            <a:off x="6106160" y="4233514"/>
            <a:ext cx="240855" cy="535199"/>
            <a:chOff x="6106160" y="4233514"/>
            <a:chExt cx="240855" cy="535199"/>
          </a:xfrm>
        </p:grpSpPr>
        <p:cxnSp>
          <p:nvCxnSpPr>
            <p:cNvPr id="1036" name="Straight Connector 1035"/>
            <p:cNvCxnSpPr/>
            <p:nvPr/>
          </p:nvCxnSpPr>
          <p:spPr>
            <a:xfrm>
              <a:off x="6106160" y="4335030"/>
              <a:ext cx="0" cy="32004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6347015" y="4320980"/>
              <a:ext cx="0" cy="32004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/>
            <p:cNvCxnSpPr/>
            <p:nvPr/>
          </p:nvCxnSpPr>
          <p:spPr>
            <a:xfrm>
              <a:off x="6230470" y="4233514"/>
              <a:ext cx="0" cy="535199"/>
            </a:xfrm>
            <a:prstGeom prst="line">
              <a:avLst/>
            </a:prstGeom>
            <a:ln w="1270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 flipH="1">
            <a:off x="6230465" y="3462170"/>
            <a:ext cx="8970" cy="705883"/>
          </a:xfrm>
          <a:prstGeom prst="line">
            <a:avLst/>
          </a:prstGeom>
          <a:ln w="127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/>
          <p:cNvCxnSpPr/>
          <p:nvPr/>
        </p:nvCxnSpPr>
        <p:spPr>
          <a:xfrm>
            <a:off x="6907057" y="3815111"/>
            <a:ext cx="33523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847288" y="3444240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0" name="Straight Connector 1049"/>
          <p:cNvCxnSpPr/>
          <p:nvPr/>
        </p:nvCxnSpPr>
        <p:spPr>
          <a:xfrm>
            <a:off x="9127067" y="3427306"/>
            <a:ext cx="0" cy="390166"/>
          </a:xfrm>
          <a:prstGeom prst="line">
            <a:avLst/>
          </a:prstGeom>
          <a:ln w="127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5" name="Group 1054"/>
          <p:cNvGrpSpPr/>
          <p:nvPr/>
        </p:nvGrpSpPr>
        <p:grpSpPr>
          <a:xfrm>
            <a:off x="8906933" y="4242237"/>
            <a:ext cx="465667" cy="390166"/>
            <a:chOff x="8906933" y="4242237"/>
            <a:chExt cx="465667" cy="390166"/>
          </a:xfrm>
        </p:grpSpPr>
        <p:cxnSp>
          <p:nvCxnSpPr>
            <p:cNvPr id="1053" name="Straight Connector 1052"/>
            <p:cNvCxnSpPr/>
            <p:nvPr/>
          </p:nvCxnSpPr>
          <p:spPr>
            <a:xfrm>
              <a:off x="8906933" y="4320746"/>
              <a:ext cx="0" cy="259984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8991597" y="4320740"/>
              <a:ext cx="0" cy="259984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9296403" y="4312501"/>
              <a:ext cx="0" cy="259984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9372600" y="4312417"/>
              <a:ext cx="0" cy="259984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9152468" y="4242237"/>
              <a:ext cx="0" cy="390166"/>
            </a:xfrm>
            <a:prstGeom prst="line">
              <a:avLst/>
            </a:prstGeom>
            <a:ln w="1270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9719726" y="3410372"/>
            <a:ext cx="286876" cy="664229"/>
            <a:chOff x="9719726" y="3410372"/>
            <a:chExt cx="286876" cy="664229"/>
          </a:xfrm>
        </p:grpSpPr>
        <p:cxnSp>
          <p:nvCxnSpPr>
            <p:cNvPr id="65" name="Straight Connector 64"/>
            <p:cNvCxnSpPr/>
            <p:nvPr/>
          </p:nvCxnSpPr>
          <p:spPr>
            <a:xfrm>
              <a:off x="9719732" y="3629856"/>
              <a:ext cx="286870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9719726" y="3892327"/>
              <a:ext cx="286870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9863167" y="3410372"/>
              <a:ext cx="0" cy="664229"/>
            </a:xfrm>
            <a:prstGeom prst="line">
              <a:avLst/>
            </a:prstGeom>
            <a:ln w="1270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/>
          <p:nvPr/>
        </p:nvSpPr>
        <p:spPr>
          <a:xfrm>
            <a:off x="8726444" y="3422385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/>
          <p:nvPr/>
        </p:nvCxnSpPr>
        <p:spPr>
          <a:xfrm>
            <a:off x="3459856" y="5012267"/>
            <a:ext cx="0" cy="578634"/>
          </a:xfrm>
          <a:prstGeom prst="line">
            <a:avLst/>
          </a:prstGeom>
          <a:ln w="127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/>
          <p:cNvGrpSpPr/>
          <p:nvPr/>
        </p:nvGrpSpPr>
        <p:grpSpPr>
          <a:xfrm>
            <a:off x="3156073" y="5655753"/>
            <a:ext cx="603139" cy="578634"/>
            <a:chOff x="3156073" y="5655753"/>
            <a:chExt cx="603139" cy="578634"/>
          </a:xfrm>
        </p:grpSpPr>
        <p:cxnSp>
          <p:nvCxnSpPr>
            <p:cNvPr id="114" name="Straight Connector 113"/>
            <p:cNvCxnSpPr/>
            <p:nvPr/>
          </p:nvCxnSpPr>
          <p:spPr>
            <a:xfrm>
              <a:off x="3614538" y="5685368"/>
              <a:ext cx="0" cy="3640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78"/>
            <p:cNvGrpSpPr/>
            <p:nvPr/>
          </p:nvGrpSpPr>
          <p:grpSpPr>
            <a:xfrm>
              <a:off x="3156073" y="5655753"/>
              <a:ext cx="603139" cy="578634"/>
              <a:chOff x="3156073" y="5655753"/>
              <a:chExt cx="603139" cy="578634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3302000" y="5698067"/>
                <a:ext cx="0" cy="33443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3293533" y="6040967"/>
                <a:ext cx="31253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3459850" y="5655753"/>
                <a:ext cx="0" cy="578634"/>
              </a:xfrm>
              <a:prstGeom prst="line">
                <a:avLst/>
              </a:prstGeom>
              <a:ln w="12700">
                <a:solidFill>
                  <a:srgbClr val="00B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3156073" y="5848349"/>
                <a:ext cx="1374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3621752" y="5839876"/>
                <a:ext cx="1374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2" name="Straight Connector 81"/>
          <p:cNvCxnSpPr/>
          <p:nvPr/>
        </p:nvCxnSpPr>
        <p:spPr>
          <a:xfrm>
            <a:off x="4040718" y="5096932"/>
            <a:ext cx="340660" cy="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82329" y="4907561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/>
          <p:cNvGrpSpPr/>
          <p:nvPr/>
        </p:nvGrpSpPr>
        <p:grpSpPr>
          <a:xfrm>
            <a:off x="6042210" y="5163670"/>
            <a:ext cx="566072" cy="374750"/>
            <a:chOff x="6042210" y="5163670"/>
            <a:chExt cx="566072" cy="374750"/>
          </a:xfrm>
        </p:grpSpPr>
        <p:cxnSp>
          <p:nvCxnSpPr>
            <p:cNvPr id="89" name="Straight Connector 88"/>
            <p:cNvCxnSpPr/>
            <p:nvPr/>
          </p:nvCxnSpPr>
          <p:spPr>
            <a:xfrm>
              <a:off x="6042210" y="5163670"/>
              <a:ext cx="55710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6051175" y="5538420"/>
              <a:ext cx="55710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6042205" y="5907760"/>
            <a:ext cx="566072" cy="177520"/>
            <a:chOff x="6042210" y="5163670"/>
            <a:chExt cx="566072" cy="177520"/>
          </a:xfrm>
        </p:grpSpPr>
        <p:cxnSp>
          <p:nvCxnSpPr>
            <p:cNvPr id="134" name="Straight Connector 133"/>
            <p:cNvCxnSpPr/>
            <p:nvPr/>
          </p:nvCxnSpPr>
          <p:spPr>
            <a:xfrm>
              <a:off x="6042210" y="5163670"/>
              <a:ext cx="557107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>
              <a:off x="6051175" y="5341190"/>
              <a:ext cx="557107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Straight Connector 91"/>
          <p:cNvCxnSpPr/>
          <p:nvPr/>
        </p:nvCxnSpPr>
        <p:spPr>
          <a:xfrm>
            <a:off x="6221500" y="5907760"/>
            <a:ext cx="0" cy="17752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>
            <a:off x="6454585" y="5907755"/>
            <a:ext cx="0" cy="17752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17233" y="4942018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Connector 93"/>
          <p:cNvCxnSpPr/>
          <p:nvPr/>
        </p:nvCxnSpPr>
        <p:spPr>
          <a:xfrm>
            <a:off x="9091207" y="4889631"/>
            <a:ext cx="0" cy="630859"/>
          </a:xfrm>
          <a:prstGeom prst="line">
            <a:avLst/>
          </a:prstGeom>
          <a:ln w="127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9091207" y="5536559"/>
            <a:ext cx="0" cy="548721"/>
          </a:xfrm>
          <a:prstGeom prst="line">
            <a:avLst/>
          </a:prstGeom>
          <a:ln w="127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/>
          <p:cNvGrpSpPr/>
          <p:nvPr/>
        </p:nvGrpSpPr>
        <p:grpSpPr>
          <a:xfrm>
            <a:off x="9637058" y="4942018"/>
            <a:ext cx="369538" cy="379961"/>
            <a:chOff x="9637058" y="4942018"/>
            <a:chExt cx="369538" cy="379961"/>
          </a:xfrm>
        </p:grpSpPr>
        <p:cxnSp>
          <p:nvCxnSpPr>
            <p:cNvPr id="102" name="Straight Connector 101"/>
            <p:cNvCxnSpPr>
              <a:cxnSpLocks/>
            </p:cNvCxnSpPr>
            <p:nvPr/>
          </p:nvCxnSpPr>
          <p:spPr>
            <a:xfrm>
              <a:off x="9639748" y="4942018"/>
              <a:ext cx="0" cy="379961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9637058" y="5321979"/>
              <a:ext cx="369538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/>
          <p:cNvSpPr/>
          <p:nvPr/>
        </p:nvSpPr>
        <p:spPr>
          <a:xfrm>
            <a:off x="8713757" y="4909552"/>
            <a:ext cx="1471748" cy="1297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7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1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3" y="1449970"/>
            <a:ext cx="6953250" cy="508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" name="Group 124"/>
          <p:cNvGrpSpPr/>
          <p:nvPr/>
        </p:nvGrpSpPr>
        <p:grpSpPr>
          <a:xfrm>
            <a:off x="4542367" y="5262881"/>
            <a:ext cx="508000" cy="497839"/>
            <a:chOff x="4542367" y="5262881"/>
            <a:chExt cx="508000" cy="497839"/>
          </a:xfrm>
        </p:grpSpPr>
        <p:cxnSp>
          <p:nvCxnSpPr>
            <p:cNvPr id="111" name="Straight Connector 110"/>
            <p:cNvCxnSpPr/>
            <p:nvPr/>
          </p:nvCxnSpPr>
          <p:spPr>
            <a:xfrm>
              <a:off x="4714240" y="5395806"/>
              <a:ext cx="0" cy="364914"/>
            </a:xfrm>
            <a:prstGeom prst="line">
              <a:avLst/>
            </a:prstGeom>
            <a:ln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4871720" y="5369560"/>
              <a:ext cx="0" cy="391160"/>
            </a:xfrm>
            <a:prstGeom prst="line">
              <a:avLst/>
            </a:prstGeom>
            <a:ln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4714240" y="5262881"/>
              <a:ext cx="0" cy="132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flipV="1">
              <a:off x="4871720" y="5262881"/>
              <a:ext cx="0" cy="132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4542367" y="5528733"/>
              <a:ext cx="50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BÀI TẬP BỔ TRỢ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2333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2. Cho 3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chiếu</a:t>
            </a:r>
            <a:r>
              <a:rPr lang="en-US" sz="2400" b="1" dirty="0"/>
              <a:t> </a:t>
            </a:r>
            <a:r>
              <a:rPr lang="en-US" sz="2400" b="1" dirty="0" err="1"/>
              <a:t>vuông</a:t>
            </a:r>
            <a:r>
              <a:rPr lang="en-US" sz="2400" b="1" dirty="0"/>
              <a:t> </a:t>
            </a:r>
            <a:r>
              <a:rPr lang="en-US" sz="2400" b="1" dirty="0" err="1"/>
              <a:t>góc</a:t>
            </a:r>
            <a:r>
              <a:rPr lang="en-US" sz="2400" b="1" dirty="0"/>
              <a:t> </a:t>
            </a:r>
            <a:r>
              <a:rPr lang="en-US" sz="2400" b="1" dirty="0" err="1"/>
              <a:t>còn</a:t>
            </a:r>
            <a:r>
              <a:rPr lang="en-US" sz="2400" b="1" dirty="0"/>
              <a:t> </a:t>
            </a:r>
            <a:r>
              <a:rPr lang="en-US" sz="2400" b="1" dirty="0" err="1"/>
              <a:t>thiếu</a:t>
            </a:r>
            <a:r>
              <a:rPr lang="en-US" sz="2400" b="1" dirty="0"/>
              <a:t> </a:t>
            </a:r>
            <a:r>
              <a:rPr lang="en-US" sz="2400" b="1" dirty="0" err="1"/>
              <a:t>một</a:t>
            </a:r>
            <a:r>
              <a:rPr lang="en-US" sz="2400" b="1" dirty="0"/>
              <a:t> </a:t>
            </a:r>
            <a:r>
              <a:rPr lang="en-US" sz="2400" b="1" dirty="0" err="1"/>
              <a:t>số</a:t>
            </a:r>
            <a:r>
              <a:rPr lang="en-US" sz="2400" b="1" dirty="0"/>
              <a:t> </a:t>
            </a:r>
            <a:r>
              <a:rPr lang="en-US" sz="2400" b="1" dirty="0" err="1"/>
              <a:t>nét</a:t>
            </a:r>
            <a:r>
              <a:rPr lang="en-US" sz="2400" b="1" dirty="0"/>
              <a:t>, </a:t>
            </a:r>
            <a:r>
              <a:rPr lang="en-US" sz="2400" b="1" dirty="0" err="1"/>
              <a:t>hãy</a:t>
            </a:r>
            <a:r>
              <a:rPr lang="en-US" sz="2400" b="1" dirty="0"/>
              <a:t> </a:t>
            </a:r>
            <a:r>
              <a:rPr lang="en-US" sz="2400" b="1" dirty="0" err="1"/>
              <a:t>bổ</a:t>
            </a:r>
            <a:r>
              <a:rPr lang="en-US" sz="2400" b="1" dirty="0"/>
              <a:t> sung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755900" y="1898468"/>
            <a:ext cx="714485" cy="4347"/>
            <a:chOff x="2755900" y="1898468"/>
            <a:chExt cx="714485" cy="4347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2755900" y="1898468"/>
              <a:ext cx="174171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296214" y="1902815"/>
              <a:ext cx="174171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44686" y="1724297"/>
            <a:ext cx="326570" cy="361416"/>
            <a:chOff x="3744686" y="1724297"/>
            <a:chExt cx="326570" cy="361416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3753395" y="1724297"/>
              <a:ext cx="200297" cy="0"/>
            </a:xfrm>
            <a:prstGeom prst="line">
              <a:avLst/>
            </a:prstGeom>
            <a:ln w="952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44686" y="2085713"/>
              <a:ext cx="326570" cy="0"/>
            </a:xfrm>
            <a:prstGeom prst="line">
              <a:avLst/>
            </a:prstGeom>
            <a:ln w="952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757742" y="1902824"/>
              <a:ext cx="200297" cy="0"/>
            </a:xfrm>
            <a:prstGeom prst="line">
              <a:avLst/>
            </a:prstGeom>
            <a:ln w="952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751909" y="2512415"/>
            <a:ext cx="714102" cy="313509"/>
            <a:chOff x="2751909" y="2512415"/>
            <a:chExt cx="714102" cy="313509"/>
          </a:xfrm>
        </p:grpSpPr>
        <p:grpSp>
          <p:nvGrpSpPr>
            <p:cNvPr id="14" name="Group 13"/>
            <p:cNvGrpSpPr/>
            <p:nvPr/>
          </p:nvGrpSpPr>
          <p:grpSpPr>
            <a:xfrm>
              <a:off x="2751909" y="2512415"/>
              <a:ext cx="714102" cy="309162"/>
              <a:chOff x="2751909" y="2512415"/>
              <a:chExt cx="714102" cy="309162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2751909" y="2717073"/>
                <a:ext cx="71410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26080" y="2525486"/>
                <a:ext cx="0" cy="200296"/>
              </a:xfrm>
              <a:prstGeom prst="line">
                <a:avLst/>
              </a:prstGeom>
              <a:ln>
                <a:solidFill>
                  <a:srgbClr val="FFC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278787" y="2512415"/>
                <a:ext cx="0" cy="200296"/>
              </a:xfrm>
              <a:prstGeom prst="line">
                <a:avLst/>
              </a:prstGeom>
              <a:ln>
                <a:solidFill>
                  <a:srgbClr val="FFC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117669" y="2725782"/>
                <a:ext cx="0" cy="9579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108954" y="2525471"/>
                <a:ext cx="0" cy="200296"/>
              </a:xfrm>
              <a:prstGeom prst="line">
                <a:avLst/>
              </a:prstGeom>
              <a:ln>
                <a:solidFill>
                  <a:srgbClr val="FFC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/>
            <p:cNvCxnSpPr/>
            <p:nvPr/>
          </p:nvCxnSpPr>
          <p:spPr>
            <a:xfrm>
              <a:off x="2939127" y="2730129"/>
              <a:ext cx="0" cy="957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278778" y="2730129"/>
              <a:ext cx="0" cy="957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86215" y="2255520"/>
            <a:ext cx="224364" cy="673451"/>
            <a:chOff x="5186215" y="2255520"/>
            <a:chExt cx="224364" cy="673451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5192562" y="2327940"/>
              <a:ext cx="0" cy="125277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410579" y="2325822"/>
              <a:ext cx="0" cy="125277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186215" y="2743780"/>
              <a:ext cx="0" cy="125277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404232" y="2741662"/>
              <a:ext cx="0" cy="125277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298440" y="2255520"/>
              <a:ext cx="0" cy="256895"/>
            </a:xfrm>
            <a:prstGeom prst="line">
              <a:avLst/>
            </a:prstGeom>
            <a:ln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298440" y="2672076"/>
              <a:ext cx="0" cy="256895"/>
            </a:xfrm>
            <a:prstGeom prst="line">
              <a:avLst/>
            </a:prstGeom>
            <a:ln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9" name="Group 2048"/>
          <p:cNvGrpSpPr/>
          <p:nvPr/>
        </p:nvGrpSpPr>
        <p:grpSpPr>
          <a:xfrm>
            <a:off x="5868902" y="1519372"/>
            <a:ext cx="541422" cy="611053"/>
            <a:chOff x="5868902" y="1519372"/>
            <a:chExt cx="541422" cy="611053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5878427" y="1690245"/>
              <a:ext cx="115972" cy="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68902" y="1950449"/>
              <a:ext cx="115972" cy="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975729" y="1519372"/>
              <a:ext cx="0" cy="611053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6296404" y="1519372"/>
              <a:ext cx="0" cy="611053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294352" y="1693420"/>
              <a:ext cx="115972" cy="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6294352" y="1953624"/>
              <a:ext cx="115972" cy="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2" name="Group 2051"/>
          <p:cNvGrpSpPr/>
          <p:nvPr/>
        </p:nvGrpSpPr>
        <p:grpSpPr>
          <a:xfrm>
            <a:off x="7230737" y="1667248"/>
            <a:ext cx="512064" cy="157650"/>
            <a:chOff x="7230737" y="1667248"/>
            <a:chExt cx="512064" cy="157650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7230737" y="1667248"/>
              <a:ext cx="51206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7235810" y="1677545"/>
              <a:ext cx="0" cy="1473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7733862" y="1677545"/>
              <a:ext cx="0" cy="14173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5" name="Group 2054"/>
          <p:cNvGrpSpPr/>
          <p:nvPr/>
        </p:nvGrpSpPr>
        <p:grpSpPr>
          <a:xfrm>
            <a:off x="8399763" y="1518294"/>
            <a:ext cx="364084" cy="290879"/>
            <a:chOff x="8399763" y="1518294"/>
            <a:chExt cx="364084" cy="290879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8399763" y="1522527"/>
              <a:ext cx="0" cy="286646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8759599" y="1518294"/>
              <a:ext cx="4248" cy="284528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59" name="Straight Connector 2058"/>
          <p:cNvCxnSpPr/>
          <p:nvPr/>
        </p:nvCxnSpPr>
        <p:spPr>
          <a:xfrm>
            <a:off x="2679700" y="3860800"/>
            <a:ext cx="873670" cy="0"/>
          </a:xfrm>
          <a:prstGeom prst="line">
            <a:avLst/>
          </a:prstGeom>
          <a:ln w="158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Straight Connector 2071"/>
          <p:cNvCxnSpPr/>
          <p:nvPr/>
        </p:nvCxnSpPr>
        <p:spPr>
          <a:xfrm>
            <a:off x="3108954" y="3727450"/>
            <a:ext cx="444416" cy="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3219450" y="4318000"/>
            <a:ext cx="6350" cy="377825"/>
            <a:chOff x="3219450" y="4318000"/>
            <a:chExt cx="6350" cy="377825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3225800" y="4318000"/>
              <a:ext cx="0" cy="1016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3219450" y="4594225"/>
              <a:ext cx="0" cy="1016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3964389" y="3721100"/>
            <a:ext cx="398061" cy="141817"/>
            <a:chOff x="3964389" y="3721100"/>
            <a:chExt cx="398061" cy="141817"/>
          </a:xfrm>
        </p:grpSpPr>
        <p:cxnSp>
          <p:nvCxnSpPr>
            <p:cNvPr id="2057" name="Straight Connector 2056"/>
            <p:cNvCxnSpPr/>
            <p:nvPr/>
          </p:nvCxnSpPr>
          <p:spPr>
            <a:xfrm>
              <a:off x="3964389" y="3860800"/>
              <a:ext cx="39806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/>
            <p:cNvGrpSpPr/>
            <p:nvPr/>
          </p:nvGrpSpPr>
          <p:grpSpPr>
            <a:xfrm>
              <a:off x="4071256" y="3721100"/>
              <a:ext cx="198967" cy="141817"/>
              <a:chOff x="4071256" y="3721100"/>
              <a:chExt cx="198967" cy="141817"/>
            </a:xfrm>
          </p:grpSpPr>
          <p:cxnSp>
            <p:nvCxnSpPr>
              <p:cNvPr id="48" name="Straight Connector 47"/>
              <p:cNvCxnSpPr/>
              <p:nvPr/>
            </p:nvCxnSpPr>
            <p:spPr>
              <a:xfrm>
                <a:off x="4071256" y="3729567"/>
                <a:ext cx="0" cy="13335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4270223" y="3721100"/>
                <a:ext cx="0" cy="13335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Group 65"/>
          <p:cNvGrpSpPr/>
          <p:nvPr/>
        </p:nvGrpSpPr>
        <p:grpSpPr>
          <a:xfrm>
            <a:off x="6212840" y="3550920"/>
            <a:ext cx="457200" cy="284480"/>
            <a:chOff x="6212840" y="3550920"/>
            <a:chExt cx="457200" cy="284480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6212840" y="3550920"/>
              <a:ext cx="45212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6217920" y="3835400"/>
              <a:ext cx="45212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5150655" y="4287520"/>
            <a:ext cx="615145" cy="477520"/>
            <a:chOff x="5150655" y="4287520"/>
            <a:chExt cx="615145" cy="477520"/>
          </a:xfrm>
        </p:grpSpPr>
        <p:cxnSp>
          <p:nvCxnSpPr>
            <p:cNvPr id="61" name="Straight Connector 60"/>
            <p:cNvCxnSpPr/>
            <p:nvPr/>
          </p:nvCxnSpPr>
          <p:spPr>
            <a:xfrm>
              <a:off x="5150655" y="4287520"/>
              <a:ext cx="0" cy="477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5262880" y="4294505"/>
              <a:ext cx="0" cy="455295"/>
            </a:xfrm>
            <a:prstGeom prst="line">
              <a:avLst/>
            </a:prstGeom>
            <a:ln w="952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5765800" y="4294505"/>
              <a:ext cx="0" cy="455295"/>
            </a:xfrm>
            <a:prstGeom prst="line">
              <a:avLst/>
            </a:prstGeom>
            <a:ln w="952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/>
          <p:cNvCxnSpPr/>
          <p:nvPr/>
        </p:nvCxnSpPr>
        <p:spPr>
          <a:xfrm>
            <a:off x="6091722" y="3705860"/>
            <a:ext cx="705318" cy="0"/>
          </a:xfrm>
          <a:prstGeom prst="line">
            <a:avLst/>
          </a:prstGeom>
          <a:ln w="9525">
            <a:solidFill>
              <a:srgbClr val="92D05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/>
          <p:cNvGrpSpPr/>
          <p:nvPr/>
        </p:nvGrpSpPr>
        <p:grpSpPr>
          <a:xfrm>
            <a:off x="7166610" y="3734647"/>
            <a:ext cx="729797" cy="10161"/>
            <a:chOff x="7166610" y="3734647"/>
            <a:chExt cx="729797" cy="10161"/>
          </a:xfrm>
        </p:grpSpPr>
        <p:cxnSp>
          <p:nvCxnSpPr>
            <p:cNvPr id="82" name="Straight Connector 81"/>
            <p:cNvCxnSpPr/>
            <p:nvPr/>
          </p:nvCxnSpPr>
          <p:spPr>
            <a:xfrm flipV="1">
              <a:off x="7166610" y="3744807"/>
              <a:ext cx="182865" cy="1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7713542" y="3734647"/>
              <a:ext cx="182865" cy="1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7146290" y="4272280"/>
            <a:ext cx="773430" cy="367665"/>
            <a:chOff x="7146290" y="4272280"/>
            <a:chExt cx="773430" cy="367665"/>
          </a:xfrm>
        </p:grpSpPr>
        <p:cxnSp>
          <p:nvCxnSpPr>
            <p:cNvPr id="90" name="Straight Connector 89"/>
            <p:cNvCxnSpPr/>
            <p:nvPr/>
          </p:nvCxnSpPr>
          <p:spPr>
            <a:xfrm>
              <a:off x="7146290" y="4272280"/>
              <a:ext cx="77343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>
              <a:off x="7146290" y="4639945"/>
              <a:ext cx="77343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8310880" y="3772535"/>
            <a:ext cx="594360" cy="0"/>
            <a:chOff x="8310880" y="3772535"/>
            <a:chExt cx="594360" cy="0"/>
          </a:xfrm>
        </p:grpSpPr>
        <p:cxnSp>
          <p:nvCxnSpPr>
            <p:cNvPr id="96" name="Straight Connector 95"/>
            <p:cNvCxnSpPr/>
            <p:nvPr/>
          </p:nvCxnSpPr>
          <p:spPr>
            <a:xfrm flipH="1">
              <a:off x="8310880" y="3772535"/>
              <a:ext cx="137160" cy="0"/>
            </a:xfrm>
            <a:prstGeom prst="line">
              <a:avLst/>
            </a:prstGeom>
            <a:ln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H="1">
              <a:off x="8768080" y="3772535"/>
              <a:ext cx="137160" cy="0"/>
            </a:xfrm>
            <a:prstGeom prst="line">
              <a:avLst/>
            </a:prstGeom>
            <a:ln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9" name="Straight Connector 98"/>
          <p:cNvCxnSpPr/>
          <p:nvPr/>
        </p:nvCxnSpPr>
        <p:spPr>
          <a:xfrm>
            <a:off x="7533005" y="4084320"/>
            <a:ext cx="0" cy="807720"/>
          </a:xfrm>
          <a:prstGeom prst="line">
            <a:avLst/>
          </a:prstGeom>
          <a:ln>
            <a:solidFill>
              <a:srgbClr val="92D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3693160" y="5369560"/>
            <a:ext cx="0" cy="39116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6803390" y="6112042"/>
            <a:ext cx="0" cy="221381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>
            <a:off x="7112000" y="6112042"/>
            <a:ext cx="0" cy="221381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/>
          <p:cNvGrpSpPr/>
          <p:nvPr/>
        </p:nvGrpSpPr>
        <p:grpSpPr>
          <a:xfrm>
            <a:off x="6803390" y="5985933"/>
            <a:ext cx="309033" cy="477473"/>
            <a:chOff x="6803390" y="5985933"/>
            <a:chExt cx="309033" cy="477473"/>
          </a:xfrm>
        </p:grpSpPr>
        <p:cxnSp>
          <p:nvCxnSpPr>
            <p:cNvPr id="135" name="Straight Connector 134"/>
            <p:cNvCxnSpPr/>
            <p:nvPr/>
          </p:nvCxnSpPr>
          <p:spPr>
            <a:xfrm flipV="1">
              <a:off x="6803390" y="5985933"/>
              <a:ext cx="0" cy="12611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flipV="1">
              <a:off x="7112411" y="5990178"/>
              <a:ext cx="0" cy="12611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flipV="1">
              <a:off x="6803402" y="6333051"/>
              <a:ext cx="0" cy="12611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V="1">
              <a:off x="7112423" y="6337296"/>
              <a:ext cx="0" cy="12611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/>
          <p:cNvGrpSpPr/>
          <p:nvPr/>
        </p:nvGrpSpPr>
        <p:grpSpPr>
          <a:xfrm>
            <a:off x="7564755" y="5369560"/>
            <a:ext cx="728345" cy="275166"/>
            <a:chOff x="7564755" y="5369560"/>
            <a:chExt cx="728345" cy="275166"/>
          </a:xfrm>
        </p:grpSpPr>
        <p:cxnSp>
          <p:nvCxnSpPr>
            <p:cNvPr id="139" name="Straight Connector 138"/>
            <p:cNvCxnSpPr/>
            <p:nvPr/>
          </p:nvCxnSpPr>
          <p:spPr>
            <a:xfrm>
              <a:off x="7677982" y="5644726"/>
              <a:ext cx="469068" cy="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7804974" y="5369560"/>
              <a:ext cx="208726" cy="0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7564755" y="5522383"/>
              <a:ext cx="728345" cy="0"/>
            </a:xfrm>
            <a:prstGeom prst="line">
              <a:avLst/>
            </a:prstGeom>
            <a:ln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Straight Connector 90"/>
          <p:cNvCxnSpPr/>
          <p:nvPr/>
        </p:nvCxnSpPr>
        <p:spPr>
          <a:xfrm>
            <a:off x="5106247" y="1518294"/>
            <a:ext cx="0" cy="601971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/>
          <p:cNvGrpSpPr/>
          <p:nvPr/>
        </p:nvGrpSpPr>
        <p:grpSpPr>
          <a:xfrm>
            <a:off x="7311076" y="1521502"/>
            <a:ext cx="355618" cy="290879"/>
            <a:chOff x="8387064" y="1514061"/>
            <a:chExt cx="355618" cy="290879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8387064" y="1518294"/>
              <a:ext cx="0" cy="286646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>
              <a:off x="8738434" y="1514061"/>
              <a:ext cx="4248" cy="284528"/>
            </a:xfrm>
            <a:prstGeom prst="line">
              <a:avLst/>
            </a:prstGeom>
            <a:ln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7" name="Group 2076"/>
          <p:cNvGrpSpPr/>
          <p:nvPr/>
        </p:nvGrpSpPr>
        <p:grpSpPr>
          <a:xfrm>
            <a:off x="3964389" y="3496733"/>
            <a:ext cx="402294" cy="0"/>
            <a:chOff x="3964389" y="3496733"/>
            <a:chExt cx="402294" cy="0"/>
          </a:xfrm>
        </p:grpSpPr>
        <p:cxnSp>
          <p:nvCxnSpPr>
            <p:cNvPr id="2076" name="Straight Connector 2075"/>
            <p:cNvCxnSpPr/>
            <p:nvPr/>
          </p:nvCxnSpPr>
          <p:spPr>
            <a:xfrm>
              <a:off x="3964389" y="3496733"/>
              <a:ext cx="1068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4259816" y="3496733"/>
              <a:ext cx="1068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Straight Connector 125"/>
          <p:cNvCxnSpPr/>
          <p:nvPr/>
        </p:nvCxnSpPr>
        <p:spPr>
          <a:xfrm>
            <a:off x="4709160" y="5395806"/>
            <a:ext cx="1645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367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1. </a:t>
            </a:r>
            <a:r>
              <a:rPr lang="en-US" sz="2800" b="1" dirty="0" err="1">
                <a:solidFill>
                  <a:srgbClr val="FF0000"/>
                </a:solidFill>
              </a:rPr>
              <a:t>Mục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đích</a:t>
            </a:r>
            <a:r>
              <a:rPr lang="en-US" sz="2800" b="1" dirty="0">
                <a:solidFill>
                  <a:srgbClr val="FF0000"/>
                </a:solidFill>
              </a:rPr>
              <a:t>, </a:t>
            </a:r>
            <a:r>
              <a:rPr lang="en-US" sz="2800" b="1" dirty="0" err="1">
                <a:solidFill>
                  <a:srgbClr val="FF0000"/>
                </a:solidFill>
              </a:rPr>
              <a:t>yêu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cầu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19534" y="1289327"/>
            <a:ext cx="11785015" cy="403344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Luyện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tập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biểu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diễn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đơn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giản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bằng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thẳng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góc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từ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trục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đo</a:t>
            </a:r>
            <a:r>
              <a:rPr lang="en-US" sz="2800" dirty="0">
                <a:solidFill>
                  <a:schemeClr val="tx1"/>
                </a:solidFill>
              </a:rPr>
              <a:t>).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Vận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dụng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những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kiến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thức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về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phương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pháp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thẳng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góc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lập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liên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hệ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giữa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không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với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liên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hệ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giữa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với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nhau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Nắm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vững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quy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định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TCVN </a:t>
            </a:r>
            <a:r>
              <a:rPr lang="en-US" sz="2800" dirty="0" err="1">
                <a:solidFill>
                  <a:schemeClr val="tx1"/>
                </a:solidFill>
              </a:rPr>
              <a:t>về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cách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bố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trí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cách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chọn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chính</a:t>
            </a:r>
            <a:r>
              <a:rPr lang="en-US" sz="2800" dirty="0">
                <a:solidFill>
                  <a:schemeClr val="tx1"/>
                </a:solidFill>
              </a:rPr>
              <a:t>…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Nắm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vững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phương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pháp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phân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tích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thẳng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góc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ghi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kích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thước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một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hoàn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chỉnh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364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2. </a:t>
            </a:r>
            <a:r>
              <a:rPr lang="en-US" sz="2800" b="1" dirty="0" err="1">
                <a:solidFill>
                  <a:srgbClr val="FF0000"/>
                </a:solidFill>
              </a:rPr>
              <a:t>Nội</a:t>
            </a:r>
            <a:r>
              <a:rPr lang="en-US" sz="2800" b="1" dirty="0">
                <a:solidFill>
                  <a:srgbClr val="FF0000"/>
                </a:solidFill>
              </a:rPr>
              <a:t> dung</a:t>
            </a: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19534" y="1289328"/>
            <a:ext cx="11785015" cy="181000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Từ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trục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vuông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góc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đứng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bằng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cạnh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đó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tất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cả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nét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khuất</a:t>
            </a:r>
            <a:r>
              <a:rPr lang="en-US" sz="2800" dirty="0">
                <a:solidFill>
                  <a:schemeClr val="tx1"/>
                </a:solidFill>
              </a:rPr>
              <a:t>).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Ghi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kích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thước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vuông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góc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642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3. </a:t>
            </a:r>
            <a:r>
              <a:rPr lang="en-US" sz="2800" b="1" dirty="0" err="1">
                <a:solidFill>
                  <a:srgbClr val="FF0000"/>
                </a:solidFill>
              </a:rPr>
              <a:t>Hướng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dẫn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19534" y="1231117"/>
            <a:ext cx="11785015" cy="50152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Học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viên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nắm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rõ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thuyết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đặc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biệt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nội</a:t>
            </a:r>
            <a:r>
              <a:rPr lang="en-US" sz="2800" dirty="0">
                <a:solidFill>
                  <a:schemeClr val="tx1"/>
                </a:solidFill>
              </a:rPr>
              <a:t> dung </a:t>
            </a:r>
            <a:r>
              <a:rPr lang="en-US" sz="2800" dirty="0" err="1">
                <a:solidFill>
                  <a:schemeClr val="tx1"/>
                </a:solidFill>
              </a:rPr>
              <a:t>bài</a:t>
            </a:r>
            <a:r>
              <a:rPr lang="en-US" sz="2800" dirty="0">
                <a:solidFill>
                  <a:schemeClr val="tx1"/>
                </a:solidFill>
              </a:rPr>
              <a:t> 3: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vuông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góc</a:t>
            </a:r>
            <a:r>
              <a:rPr lang="en-US" sz="2800" dirty="0">
                <a:solidFill>
                  <a:schemeClr val="tx1"/>
                </a:solidFill>
              </a:rPr>
              <a:t>),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tiêu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chuẩn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về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bày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bản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…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Mỗi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học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viên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làm</a:t>
            </a:r>
            <a:r>
              <a:rPr lang="en-US" sz="2800" dirty="0">
                <a:solidFill>
                  <a:schemeClr val="tx1"/>
                </a:solidFill>
              </a:rPr>
              <a:t> 01 </a:t>
            </a:r>
            <a:r>
              <a:rPr lang="en-US" sz="2800" dirty="0" err="1">
                <a:solidFill>
                  <a:schemeClr val="tx1"/>
                </a:solidFill>
              </a:rPr>
              <a:t>bài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tương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ứng</a:t>
            </a:r>
            <a:r>
              <a:rPr lang="en-US" sz="2800" dirty="0">
                <a:solidFill>
                  <a:schemeClr val="tx1"/>
                </a:solidFill>
              </a:rPr>
              <a:t> 01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trục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đo</a:t>
            </a:r>
            <a:r>
              <a:rPr lang="en-US" sz="2800" dirty="0">
                <a:solidFill>
                  <a:schemeClr val="tx1"/>
                </a:solidFill>
              </a:rPr>
              <a:t>) </a:t>
            </a:r>
            <a:r>
              <a:rPr lang="en-US" sz="2800" dirty="0" err="1">
                <a:solidFill>
                  <a:schemeClr val="tx1"/>
                </a:solidFill>
              </a:rPr>
              <a:t>theo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phân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công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giảng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viên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Bản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được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bày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giấy</a:t>
            </a:r>
            <a:r>
              <a:rPr lang="en-US" sz="2800" dirty="0">
                <a:solidFill>
                  <a:schemeClr val="tx1"/>
                </a:solidFill>
              </a:rPr>
              <a:t> A4, </a:t>
            </a:r>
            <a:r>
              <a:rPr lang="en-US" sz="2800" dirty="0" err="1">
                <a:solidFill>
                  <a:schemeClr val="tx1"/>
                </a:solidFill>
              </a:rPr>
              <a:t>khổ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đứng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hoặc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nằm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ngang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phụ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thuộc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kích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thước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tỉ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lệ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bản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lựa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chọn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học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viên</a:t>
            </a:r>
            <a:r>
              <a:rPr lang="en-US" sz="2800" dirty="0">
                <a:solidFill>
                  <a:schemeClr val="tx1"/>
                </a:solidFill>
              </a:rPr>
              <a:t>).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Chọn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hướng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bố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trí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ghi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kích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thước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nhằm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hiện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rõ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đặc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trưng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tính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chất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biểu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diễn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Không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kẻ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trục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đường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gióng</a:t>
            </a:r>
            <a:r>
              <a:rPr lang="en-US" sz="2800" dirty="0">
                <a:solidFill>
                  <a:schemeClr val="tx1"/>
                </a:solidFill>
              </a:rPr>
              <a:t>; </a:t>
            </a:r>
            <a:r>
              <a:rPr lang="en-US" sz="2800" dirty="0" err="1">
                <a:solidFill>
                  <a:schemeClr val="tx1"/>
                </a:solidFill>
              </a:rPr>
              <a:t>không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ghi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hiệu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điểm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đường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thẳng</a:t>
            </a:r>
            <a:r>
              <a:rPr lang="en-US" sz="2800" dirty="0">
                <a:solidFill>
                  <a:schemeClr val="tx1"/>
                </a:solidFill>
              </a:rPr>
              <a:t>…, </a:t>
            </a:r>
            <a:r>
              <a:rPr lang="en-US" sz="2800" dirty="0" err="1">
                <a:solidFill>
                  <a:srgbClr val="FF0000"/>
                </a:solidFill>
              </a:rPr>
              <a:t>lưu</a:t>
            </a:r>
            <a:r>
              <a:rPr lang="en-US" sz="2800" dirty="0">
                <a:solidFill>
                  <a:srgbClr val="FF0000"/>
                </a:solidFill>
              </a:rPr>
              <a:t> ý chi </a:t>
            </a:r>
            <a:r>
              <a:rPr lang="en-US" sz="2800" dirty="0" err="1">
                <a:solidFill>
                  <a:srgbClr val="FF0000"/>
                </a:solidFill>
              </a:rPr>
              <a:t>tiết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có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ren</a:t>
            </a:r>
            <a:endParaRPr lang="en-US" sz="2800" dirty="0">
              <a:solidFill>
                <a:srgbClr val="FF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chemeClr val="tx1"/>
                </a:solidFill>
              </a:rPr>
              <a:t>Bản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có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đầy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đủ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khung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tên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khung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theo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đúng</a:t>
            </a:r>
            <a:r>
              <a:rPr lang="en-US" sz="2800" dirty="0">
                <a:solidFill>
                  <a:schemeClr val="tx1"/>
                </a:solidFill>
              </a:rPr>
              <a:t> TCVN.</a:t>
            </a:r>
          </a:p>
        </p:txBody>
      </p:sp>
    </p:spTree>
    <p:extLst>
      <p:ext uri="{BB962C8B-B14F-4D97-AF65-F5344CB8AC3E}">
        <p14:creationId xmlns:p14="http://schemas.microsoft.com/office/powerpoint/2010/main" val="286095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4. </a:t>
            </a:r>
            <a:r>
              <a:rPr lang="en-US" sz="2800" b="1" dirty="0" err="1">
                <a:solidFill>
                  <a:srgbClr val="FF0000"/>
                </a:solidFill>
              </a:rPr>
              <a:t>Gợi</a:t>
            </a:r>
            <a:r>
              <a:rPr lang="en-US" sz="2800" b="1" dirty="0">
                <a:solidFill>
                  <a:srgbClr val="FF0000"/>
                </a:solidFill>
              </a:rPr>
              <a:t> ý </a:t>
            </a:r>
            <a:r>
              <a:rPr lang="en-US" sz="2800" b="1" dirty="0" err="1">
                <a:solidFill>
                  <a:srgbClr val="FF0000"/>
                </a:solidFill>
              </a:rPr>
              <a:t>chọn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hướng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chiếu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19534" y="1231116"/>
            <a:ext cx="11785015" cy="13580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cap="rnd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/>
            <a:r>
              <a:rPr lang="en-US" sz="2800" dirty="0" err="1">
                <a:solidFill>
                  <a:schemeClr val="tx1"/>
                </a:solidFill>
              </a:rPr>
              <a:t>Chọn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hướng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chiếu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chính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hiện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rõ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nhất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được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tính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chất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của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biểu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diễn</a:t>
            </a:r>
            <a:r>
              <a:rPr lang="en-US" sz="2800" dirty="0">
                <a:solidFill>
                  <a:schemeClr val="tx1"/>
                </a:solidFill>
              </a:rPr>
              <a:t> (Theo </a:t>
            </a:r>
            <a:r>
              <a:rPr lang="en-US" sz="2800" dirty="0" err="1">
                <a:solidFill>
                  <a:schemeClr val="tx1"/>
                </a:solidFill>
              </a:rPr>
              <a:t>gợi</a:t>
            </a:r>
            <a:r>
              <a:rPr lang="en-US" sz="2800" dirty="0">
                <a:solidFill>
                  <a:schemeClr val="tx1"/>
                </a:solidFill>
              </a:rPr>
              <a:t> ý </a:t>
            </a:r>
            <a:r>
              <a:rPr lang="en-US" sz="2800" dirty="0" err="1">
                <a:solidFill>
                  <a:schemeClr val="tx1"/>
                </a:solidFill>
              </a:rPr>
              <a:t>trong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sách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bài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tập</a:t>
            </a:r>
            <a:r>
              <a:rPr lang="en-US" sz="2800" dirty="0">
                <a:solidFill>
                  <a:schemeClr val="tx1"/>
                </a:solidFill>
              </a:rPr>
              <a:t> VKT </a:t>
            </a:r>
            <a:r>
              <a:rPr lang="en-US" sz="2800" dirty="0" err="1">
                <a:solidFill>
                  <a:schemeClr val="tx1"/>
                </a:solidFill>
              </a:rPr>
              <a:t>cơ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khí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đối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với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từng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mô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hình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vật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5186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63599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* </a:t>
            </a:r>
            <a:r>
              <a:rPr lang="en-US" sz="2800" b="1" dirty="0" err="1">
                <a:solidFill>
                  <a:srgbClr val="FF0000"/>
                </a:solidFill>
              </a:rPr>
              <a:t>Lưu</a:t>
            </a:r>
            <a:r>
              <a:rPr lang="en-US" sz="2800" b="1" dirty="0">
                <a:solidFill>
                  <a:srgbClr val="FF0000"/>
                </a:solidFill>
              </a:rPr>
              <a:t> ý </a:t>
            </a:r>
            <a:r>
              <a:rPr lang="en-US" sz="2800" b="1" dirty="0" err="1">
                <a:solidFill>
                  <a:srgbClr val="FF0000"/>
                </a:solidFill>
              </a:rPr>
              <a:t>khi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vẽ</a:t>
            </a:r>
            <a:r>
              <a:rPr lang="en-US" sz="2800" b="1" dirty="0">
                <a:solidFill>
                  <a:srgbClr val="FF0000"/>
                </a:solidFill>
              </a:rPr>
              <a:t> chi </a:t>
            </a:r>
            <a:r>
              <a:rPr lang="en-US" sz="2800" b="1" dirty="0" err="1">
                <a:solidFill>
                  <a:srgbClr val="FF0000"/>
                </a:solidFill>
              </a:rPr>
              <a:t>tiết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có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ren</a:t>
            </a:r>
            <a:r>
              <a:rPr lang="en-US" sz="2800" b="1" dirty="0">
                <a:solidFill>
                  <a:srgbClr val="FF0000"/>
                </a:solidFill>
              </a:rPr>
              <a:t> (BT 2.02; 2.08; 2.20)</a:t>
            </a: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52" y="1493801"/>
            <a:ext cx="5575765" cy="3065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/>
          <a:srcRect t="15927"/>
          <a:stretch/>
        </p:blipFill>
        <p:spPr bwMode="auto">
          <a:xfrm>
            <a:off x="2055574" y="4832616"/>
            <a:ext cx="7389159" cy="13926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97532CD-137F-A400-5938-BF079FCE6A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974" y="1636279"/>
            <a:ext cx="5022003" cy="292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8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429651" y="1171587"/>
            <a:ext cx="7600675" cy="4056673"/>
            <a:chOff x="4429651" y="1171587"/>
            <a:chExt cx="7600675" cy="405667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9651" y="1450260"/>
              <a:ext cx="3237253" cy="2950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3245" y="1171587"/>
              <a:ext cx="4207081" cy="4056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Rounded Rectangle 8">
            <a:extLst>
              <a:ext uri="{FF2B5EF4-FFF2-40B4-BE49-F238E27FC236}">
                <a16:creationId xmlns="" xmlns:a16="http://schemas.microsoft.com/office/drawing/2014/main" id="{AB320463-BF55-6223-C0CF-B5014547AC58}"/>
              </a:ext>
            </a:extLst>
          </p:cNvPr>
          <p:cNvSpPr/>
          <p:nvPr/>
        </p:nvSpPr>
        <p:spPr>
          <a:xfrm>
            <a:off x="8619" y="1883235"/>
            <a:ext cx="5143045" cy="22152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600">
                <a:solidFill>
                  <a:schemeClr val="tx1"/>
                </a:solidFill>
              </a:rPr>
              <a:t>- Phân tích hình dạng, cấu tạo…</a:t>
            </a:r>
            <a:endParaRPr lang="en-US" sz="2600" dirty="0">
              <a:solidFill>
                <a:schemeClr val="tx1"/>
              </a:solidFill>
            </a:endParaRPr>
          </a:p>
          <a:p>
            <a:pPr algn="just"/>
            <a:r>
              <a:rPr lang="en-US" sz="2600">
                <a:solidFill>
                  <a:schemeClr val="tx1"/>
                </a:solidFill>
              </a:rPr>
              <a:t>- Phân tích kích thước…</a:t>
            </a:r>
            <a:endParaRPr lang="en-US" sz="2600" dirty="0">
              <a:solidFill>
                <a:schemeClr val="tx1"/>
              </a:solidFill>
            </a:endParaRPr>
          </a:p>
          <a:p>
            <a:pPr algn="just"/>
            <a:r>
              <a:rPr lang="en-US" sz="2600">
                <a:solidFill>
                  <a:schemeClr val="tx1"/>
                </a:solidFill>
              </a:rPr>
              <a:t>- Lựa chọn hướng chiếu…</a:t>
            </a:r>
          </a:p>
          <a:p>
            <a:pPr algn="just"/>
            <a:r>
              <a:rPr lang="en-US" sz="2600">
                <a:solidFill>
                  <a:schemeClr val="tx1"/>
                </a:solidFill>
              </a:rPr>
              <a:t>- Thực hành vẽ…</a:t>
            </a:r>
          </a:p>
          <a:p>
            <a:pPr algn="just"/>
            <a:r>
              <a:rPr lang="en-US" sz="2600">
                <a:solidFill>
                  <a:schemeClr val="tx1"/>
                </a:solidFill>
              </a:rPr>
              <a:t>- Hoàn thiện bản vẽ…</a:t>
            </a:r>
          </a:p>
        </p:txBody>
      </p:sp>
    </p:spTree>
    <p:extLst>
      <p:ext uri="{BB962C8B-B14F-4D97-AF65-F5344CB8AC3E}">
        <p14:creationId xmlns:p14="http://schemas.microsoft.com/office/powerpoint/2010/main" val="207531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E7B66A9D-56CC-8DFB-1640-15A4F764B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1631686" y="2472266"/>
            <a:ext cx="1687247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2054"/>
            <p:cNvCxnSpPr/>
            <p:nvPr/>
          </p:nvCxnSpPr>
          <p:spPr>
            <a:xfrm>
              <a:off x="3318933" y="2472266"/>
              <a:ext cx="7789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6" name="Group 2075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cxnSp>
          <p:nvCxnSpPr>
            <p:cNvPr id="65" name="Straight Connector 64"/>
            <p:cNvCxnSpPr/>
            <p:nvPr/>
          </p:nvCxnSpPr>
          <p:spPr>
            <a:xfrm flipV="1">
              <a:off x="1626587" y="2466753"/>
              <a:ext cx="540014" cy="135128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2166601" y="2466753"/>
              <a:ext cx="634348" cy="25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2800949" y="2472266"/>
              <a:ext cx="523892" cy="1345767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1626587" y="3818033"/>
              <a:ext cx="1698254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935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1740555" y="2751667"/>
            <a:ext cx="1468312" cy="770467"/>
            <a:chOff x="1740555" y="2751667"/>
            <a:chExt cx="1468312" cy="770467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2060442" y="2751667"/>
              <a:ext cx="852091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740555" y="3522134"/>
              <a:ext cx="1468312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474711" y="2271628"/>
            <a:ext cx="2208953" cy="3740845"/>
            <a:chOff x="2474711" y="2271628"/>
            <a:chExt cx="2208953" cy="3740845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2474711" y="22716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2474711" y="4487336"/>
              <a:ext cx="1602" cy="1525137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1740555" y="2472266"/>
            <a:ext cx="1459845" cy="2174020"/>
            <a:chOff x="1740555" y="2472266"/>
            <a:chExt cx="1459845" cy="2174020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2060442" y="2751667"/>
              <a:ext cx="0" cy="1886152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2902373" y="2751667"/>
              <a:ext cx="0" cy="1870065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H="1">
              <a:off x="2166601" y="2472266"/>
              <a:ext cx="6949" cy="2174020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flipH="1">
              <a:off x="2800084" y="2489201"/>
              <a:ext cx="3907" cy="2157085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>
              <a:off x="1740555" y="3522134"/>
              <a:ext cx="3042" cy="1099598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>
              <a:off x="3197358" y="3536730"/>
              <a:ext cx="3042" cy="1099598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632734"/>
              <a:ext cx="0" cy="620552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632904"/>
              <a:ext cx="0" cy="620552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2409770" y="3391950"/>
            <a:ext cx="133086" cy="127000"/>
            <a:chOff x="5643880" y="2687320"/>
            <a:chExt cx="133086" cy="127000"/>
          </a:xfrm>
        </p:grpSpPr>
        <p:cxnSp>
          <p:nvCxnSpPr>
            <p:cNvPr id="87" name="Straight Connector 86"/>
            <p:cNvCxnSpPr/>
            <p:nvPr/>
          </p:nvCxnSpPr>
          <p:spPr>
            <a:xfrm flipV="1">
              <a:off x="5643880" y="2751667"/>
              <a:ext cx="133086" cy="1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5707380" y="2687320"/>
              <a:ext cx="0" cy="12700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7"/>
            <a:ext cx="891540" cy="879130"/>
            <a:chOff x="6398260" y="3318108"/>
            <a:chExt cx="891540" cy="879130"/>
          </a:xfrm>
        </p:grpSpPr>
        <p:sp>
          <p:nvSpPr>
            <p:cNvPr id="94" name="Oval 93"/>
            <p:cNvSpPr/>
            <p:nvPr/>
          </p:nvSpPr>
          <p:spPr>
            <a:xfrm>
              <a:off x="6398260" y="3318108"/>
              <a:ext cx="891540" cy="879130"/>
            </a:xfrm>
            <a:prstGeom prst="ellipse">
              <a:avLst/>
            </a:pr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3"/>
              <a:ext cx="293370" cy="297326"/>
            </a:xfrm>
            <a:prstGeom prst="ellipse">
              <a:avLst/>
            </a:pr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9634"/>
            <a:ext cx="893657" cy="368399"/>
            <a:chOff x="2038005" y="3449634"/>
            <a:chExt cx="893657" cy="368399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54642"/>
              <a:ext cx="893657" cy="70114"/>
              <a:chOff x="2038005" y="3454642"/>
              <a:chExt cx="893657" cy="70114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2" y="3457264"/>
                <a:ext cx="0" cy="67492"/>
              </a:xfrm>
              <a:prstGeom prst="line">
                <a:avLst/>
              </a:prstGeom>
              <a:ln w="63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505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2" grpId="0" animBg="1"/>
      <p:bldP spid="4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AB52E7E-F86E-326C-69AF-A69606E27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1631686" y="2472266"/>
            <a:ext cx="1687247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2054"/>
            <p:cNvCxnSpPr/>
            <p:nvPr/>
          </p:nvCxnSpPr>
          <p:spPr>
            <a:xfrm>
              <a:off x="3318933" y="2472266"/>
              <a:ext cx="7789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6" name="Group 2075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cxnSp>
          <p:nvCxnSpPr>
            <p:cNvPr id="65" name="Straight Connector 64"/>
            <p:cNvCxnSpPr/>
            <p:nvPr/>
          </p:nvCxnSpPr>
          <p:spPr>
            <a:xfrm flipV="1">
              <a:off x="1626587" y="2466753"/>
              <a:ext cx="540014" cy="135128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2166601" y="2466753"/>
              <a:ext cx="634348" cy="25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2800949" y="2472266"/>
              <a:ext cx="523892" cy="1345767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1626587" y="3818033"/>
              <a:ext cx="1698254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1740555" y="2751667"/>
            <a:ext cx="1468312" cy="770467"/>
            <a:chOff x="1740555" y="2751667"/>
            <a:chExt cx="1468312" cy="770467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2060442" y="2751667"/>
              <a:ext cx="852091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740555" y="3522134"/>
              <a:ext cx="1468312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474711" y="2271628"/>
            <a:ext cx="2208953" cy="3740845"/>
            <a:chOff x="2474711" y="2271628"/>
            <a:chExt cx="2208953" cy="3740845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2474711" y="22716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2474711" y="4487336"/>
              <a:ext cx="1602" cy="1525137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1740555" y="2472266"/>
            <a:ext cx="1459845" cy="2404534"/>
            <a:chOff x="1740555" y="2472266"/>
            <a:chExt cx="1459845" cy="2404534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2060442" y="2751667"/>
              <a:ext cx="9634" cy="2125133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2902373" y="2751667"/>
              <a:ext cx="0" cy="2122169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H="1">
              <a:off x="2166601" y="2472266"/>
              <a:ext cx="6949" cy="2174020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flipH="1">
              <a:off x="2800084" y="2489201"/>
              <a:ext cx="3907" cy="2157085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>
              <a:off x="1740555" y="3522134"/>
              <a:ext cx="3042" cy="1099598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>
              <a:off x="3197358" y="3536730"/>
              <a:ext cx="3042" cy="1099598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2409770" y="3391950"/>
            <a:ext cx="133086" cy="127000"/>
            <a:chOff x="5643880" y="2687320"/>
            <a:chExt cx="133086" cy="127000"/>
          </a:xfrm>
        </p:grpSpPr>
        <p:cxnSp>
          <p:nvCxnSpPr>
            <p:cNvPr id="87" name="Straight Connector 86"/>
            <p:cNvCxnSpPr/>
            <p:nvPr/>
          </p:nvCxnSpPr>
          <p:spPr>
            <a:xfrm flipV="1">
              <a:off x="5643880" y="2751667"/>
              <a:ext cx="133086" cy="1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5707380" y="2687320"/>
              <a:ext cx="0" cy="12700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9634"/>
            <a:ext cx="893657" cy="368399"/>
            <a:chOff x="2038005" y="3449634"/>
            <a:chExt cx="893657" cy="368399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54642"/>
              <a:ext cx="893657" cy="70114"/>
              <a:chOff x="2038005" y="3454642"/>
              <a:chExt cx="893657" cy="70114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2" y="3457264"/>
                <a:ext cx="0" cy="67492"/>
              </a:xfrm>
              <a:prstGeom prst="line">
                <a:avLst/>
              </a:prstGeom>
              <a:ln w="63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740555" y="3491010"/>
            <a:ext cx="1456803" cy="2286371"/>
            <a:chOff x="1740555" y="3491010"/>
            <a:chExt cx="1456803" cy="2286371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1740555" y="4629352"/>
              <a:ext cx="0" cy="1133856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197358" y="4643525"/>
              <a:ext cx="0" cy="1133856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038005" y="3518950"/>
              <a:ext cx="0" cy="2253572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931238" y="3491010"/>
              <a:ext cx="0" cy="2275162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635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9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F823CF9-5370-9038-61BA-3F6F569F1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1631686" y="2472266"/>
            <a:ext cx="1687247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2054"/>
            <p:cNvCxnSpPr/>
            <p:nvPr/>
          </p:nvCxnSpPr>
          <p:spPr>
            <a:xfrm>
              <a:off x="3318933" y="2472266"/>
              <a:ext cx="7789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6" name="Group 2075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cxnSp>
          <p:nvCxnSpPr>
            <p:cNvPr id="65" name="Straight Connector 64"/>
            <p:cNvCxnSpPr/>
            <p:nvPr/>
          </p:nvCxnSpPr>
          <p:spPr>
            <a:xfrm flipV="1">
              <a:off x="1626587" y="2466753"/>
              <a:ext cx="540014" cy="135128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2166601" y="2466753"/>
              <a:ext cx="634348" cy="25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2800949" y="2472266"/>
              <a:ext cx="523892" cy="1345767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1626587" y="3812751"/>
              <a:ext cx="706058" cy="5282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1740555" y="2751667"/>
            <a:ext cx="1171978" cy="770467"/>
            <a:chOff x="1740555" y="2751667"/>
            <a:chExt cx="1171978" cy="770467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2060442" y="2751667"/>
              <a:ext cx="852091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740555" y="3522134"/>
              <a:ext cx="295929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474711" y="2271628"/>
            <a:ext cx="2208953" cy="3740845"/>
            <a:chOff x="2474711" y="2271628"/>
            <a:chExt cx="2208953" cy="3740845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2474711" y="22716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2474711" y="4487336"/>
              <a:ext cx="1602" cy="1525137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1740555" y="2472266"/>
            <a:ext cx="1459845" cy="2404534"/>
            <a:chOff x="1740555" y="2472266"/>
            <a:chExt cx="1459845" cy="2404534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2060442" y="2751667"/>
              <a:ext cx="9634" cy="2125133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2902373" y="2751667"/>
              <a:ext cx="0" cy="2122169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H="1">
              <a:off x="2166601" y="2472266"/>
              <a:ext cx="6949" cy="2174020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flipH="1">
              <a:off x="2800084" y="2489201"/>
              <a:ext cx="3907" cy="2157085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>
              <a:off x="1740555" y="3522134"/>
              <a:ext cx="3042" cy="1099598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>
              <a:off x="3197358" y="3536730"/>
              <a:ext cx="3042" cy="1099598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2409770" y="3391950"/>
            <a:ext cx="133086" cy="127000"/>
            <a:chOff x="5643880" y="2687320"/>
            <a:chExt cx="133086" cy="127000"/>
          </a:xfrm>
        </p:grpSpPr>
        <p:cxnSp>
          <p:nvCxnSpPr>
            <p:cNvPr id="87" name="Straight Connector 86"/>
            <p:cNvCxnSpPr/>
            <p:nvPr/>
          </p:nvCxnSpPr>
          <p:spPr>
            <a:xfrm flipV="1">
              <a:off x="5643880" y="2751667"/>
              <a:ext cx="133086" cy="1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5707380" y="2687320"/>
              <a:ext cx="0" cy="12700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63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740555" y="3491010"/>
            <a:ext cx="1456803" cy="2286371"/>
            <a:chOff x="1740555" y="3491010"/>
            <a:chExt cx="1456803" cy="2286371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1740555" y="4629352"/>
              <a:ext cx="0" cy="1133856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197358" y="4643525"/>
              <a:ext cx="0" cy="1133856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038005" y="3518950"/>
              <a:ext cx="0" cy="2253572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931238" y="3491010"/>
              <a:ext cx="0" cy="2275162"/>
            </a:xfrm>
            <a:prstGeom prst="line">
              <a:avLst/>
            </a:prstGeom>
            <a:ln w="31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635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H="1">
            <a:off x="2626015" y="3812860"/>
            <a:ext cx="706058" cy="5282"/>
          </a:xfrm>
          <a:prstGeom prst="line">
            <a:avLst/>
          </a:prstGeom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01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A3240AF-4AF4-4965-5E14-2BF658A3E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6" name="Group 2075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cxnSp>
          <p:nvCxnSpPr>
            <p:cNvPr id="65" name="Straight Connector 64"/>
            <p:cNvCxnSpPr/>
            <p:nvPr/>
          </p:nvCxnSpPr>
          <p:spPr>
            <a:xfrm flipV="1">
              <a:off x="1626587" y="2466753"/>
              <a:ext cx="540014" cy="135128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2166601" y="2466753"/>
              <a:ext cx="634348" cy="25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2800949" y="2472266"/>
              <a:ext cx="523892" cy="1345767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1626587" y="3817931"/>
              <a:ext cx="706058" cy="102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1740555" y="2751667"/>
            <a:ext cx="1171978" cy="770467"/>
            <a:chOff x="1740555" y="2751667"/>
            <a:chExt cx="1171978" cy="770467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2060442" y="2751667"/>
              <a:ext cx="852091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740555" y="3522134"/>
              <a:ext cx="295929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474711" y="2271628"/>
            <a:ext cx="2208953" cy="3740845"/>
            <a:chOff x="2474711" y="2271628"/>
            <a:chExt cx="2208953" cy="3740845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2474711" y="22716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2474711" y="4487336"/>
              <a:ext cx="1602" cy="1525137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2409770" y="3391950"/>
            <a:ext cx="133086" cy="127000"/>
            <a:chOff x="5643880" y="2687320"/>
            <a:chExt cx="133086" cy="127000"/>
          </a:xfrm>
        </p:grpSpPr>
        <p:cxnSp>
          <p:nvCxnSpPr>
            <p:cNvPr id="87" name="Straight Connector 86"/>
            <p:cNvCxnSpPr/>
            <p:nvPr/>
          </p:nvCxnSpPr>
          <p:spPr>
            <a:xfrm flipV="1">
              <a:off x="5643880" y="2751667"/>
              <a:ext cx="133086" cy="1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5707380" y="2687320"/>
              <a:ext cx="0" cy="12700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63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63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635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H="1">
            <a:off x="2622346" y="3817931"/>
            <a:ext cx="706058" cy="102"/>
          </a:xfrm>
          <a:prstGeom prst="line">
            <a:avLst/>
          </a:prstGeom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02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E6653EE4-C57A-7E9F-B804-6E723506F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63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grpSp>
          <p:nvGrpSpPr>
            <p:cNvPr id="2076" name="Group 2075"/>
            <p:cNvGrpSpPr/>
            <p:nvPr/>
          </p:nvGrpSpPr>
          <p:grpSpPr>
            <a:xfrm>
              <a:off x="1626587" y="2466753"/>
              <a:ext cx="1698254" cy="1351280"/>
              <a:chOff x="1626587" y="2466753"/>
              <a:chExt cx="1698254" cy="135128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26587" y="2466753"/>
                <a:ext cx="540014" cy="135128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66601" y="2466753"/>
                <a:ext cx="634348" cy="25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800949" y="2472266"/>
                <a:ext cx="523892" cy="1345767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1626587" y="3817931"/>
                <a:ext cx="706058" cy="10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1740555" y="2751667"/>
              <a:ext cx="1171978" cy="770467"/>
              <a:chOff x="1740555" y="2751667"/>
              <a:chExt cx="1171978" cy="770467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060442" y="2751667"/>
                <a:ext cx="85209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740555" y="3522134"/>
                <a:ext cx="295929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Group 50"/>
          <p:cNvGrpSpPr/>
          <p:nvPr/>
        </p:nvGrpSpPr>
        <p:grpSpPr>
          <a:xfrm>
            <a:off x="2474711" y="2271628"/>
            <a:ext cx="2208953" cy="3740845"/>
            <a:chOff x="2474711" y="2271628"/>
            <a:chExt cx="2208953" cy="3740845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2474711" y="22716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2474711" y="4487336"/>
              <a:ext cx="1602" cy="1525137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63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635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2617917" y="3818033"/>
            <a:ext cx="706058" cy="10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79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8E72540B-CFEE-6480-B992-9959CB159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grpSp>
          <p:nvGrpSpPr>
            <p:cNvPr id="2076" name="Group 2075"/>
            <p:cNvGrpSpPr/>
            <p:nvPr/>
          </p:nvGrpSpPr>
          <p:grpSpPr>
            <a:xfrm>
              <a:off x="1626587" y="2466753"/>
              <a:ext cx="1698254" cy="1351280"/>
              <a:chOff x="1626587" y="2466753"/>
              <a:chExt cx="1698254" cy="135128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26587" y="2466753"/>
                <a:ext cx="540014" cy="135128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66601" y="2466753"/>
                <a:ext cx="634348" cy="25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800949" y="2472266"/>
                <a:ext cx="523892" cy="1345767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1626587" y="3817931"/>
                <a:ext cx="706058" cy="10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1740555" y="2751667"/>
              <a:ext cx="1171978" cy="770467"/>
              <a:chOff x="1740555" y="2751667"/>
              <a:chExt cx="1171978" cy="770467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060442" y="2751667"/>
                <a:ext cx="85209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740555" y="3522134"/>
                <a:ext cx="295929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Group 50"/>
          <p:cNvGrpSpPr/>
          <p:nvPr/>
        </p:nvGrpSpPr>
        <p:grpSpPr>
          <a:xfrm>
            <a:off x="2474711" y="2271628"/>
            <a:ext cx="2208953" cy="3740845"/>
            <a:chOff x="2474711" y="2271628"/>
            <a:chExt cx="2208953" cy="3740845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2474711" y="22716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2474711" y="4487336"/>
              <a:ext cx="1602" cy="1525137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635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635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2617917" y="3818033"/>
            <a:ext cx="706058" cy="10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51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4EDD17FF-B6A7-58AA-A1D1-518B2D489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grpSp>
          <p:nvGrpSpPr>
            <p:cNvPr id="2076" name="Group 2075"/>
            <p:cNvGrpSpPr/>
            <p:nvPr/>
          </p:nvGrpSpPr>
          <p:grpSpPr>
            <a:xfrm>
              <a:off x="1626587" y="2466753"/>
              <a:ext cx="1698254" cy="1351280"/>
              <a:chOff x="1626587" y="2466753"/>
              <a:chExt cx="1698254" cy="135128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26587" y="2466753"/>
                <a:ext cx="540014" cy="135128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66601" y="2466753"/>
                <a:ext cx="634348" cy="25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800949" y="2472266"/>
                <a:ext cx="523892" cy="1345767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1626587" y="3817931"/>
                <a:ext cx="706058" cy="10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1740555" y="2751667"/>
              <a:ext cx="1171978" cy="770467"/>
              <a:chOff x="1740555" y="2751667"/>
              <a:chExt cx="1171978" cy="770467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060442" y="2751667"/>
                <a:ext cx="85209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740555" y="3522134"/>
                <a:ext cx="295929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Group 50"/>
          <p:cNvGrpSpPr/>
          <p:nvPr/>
        </p:nvGrpSpPr>
        <p:grpSpPr>
          <a:xfrm>
            <a:off x="2480599" y="2297028"/>
            <a:ext cx="2203065" cy="3655039"/>
            <a:chOff x="2480599" y="2297028"/>
            <a:chExt cx="2203065" cy="3655039"/>
          </a:xfrm>
        </p:grpSpPr>
        <p:cxnSp>
          <p:nvCxnSpPr>
            <p:cNvPr id="47" name="Straight Connector 46"/>
            <p:cNvCxnSpPr/>
            <p:nvPr/>
          </p:nvCxnSpPr>
          <p:spPr>
            <a:xfrm flipH="1">
              <a:off x="2480599" y="2297028"/>
              <a:ext cx="5888" cy="1580705"/>
            </a:xfrm>
            <a:prstGeom prst="line">
              <a:avLst/>
            </a:prstGeom>
            <a:ln w="9525">
              <a:solidFill>
                <a:srgbClr val="00B05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2480599" y="4521200"/>
              <a:ext cx="5888" cy="1430867"/>
            </a:xfrm>
            <a:prstGeom prst="line">
              <a:avLst/>
            </a:prstGeom>
            <a:ln w="9525">
              <a:solidFill>
                <a:srgbClr val="00B05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2617917" y="3818033"/>
            <a:ext cx="706058" cy="10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23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F35EA995-A589-1A0A-28A6-DDB04A786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grpSp>
          <p:nvGrpSpPr>
            <p:cNvPr id="2076" name="Group 2075"/>
            <p:cNvGrpSpPr/>
            <p:nvPr/>
          </p:nvGrpSpPr>
          <p:grpSpPr>
            <a:xfrm>
              <a:off x="1626587" y="2466753"/>
              <a:ext cx="1698254" cy="1351280"/>
              <a:chOff x="1626587" y="2466753"/>
              <a:chExt cx="1698254" cy="135128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26587" y="2466753"/>
                <a:ext cx="540014" cy="135128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66601" y="2466753"/>
                <a:ext cx="634348" cy="25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800949" y="2472266"/>
                <a:ext cx="523892" cy="1345767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1626587" y="3817931"/>
                <a:ext cx="706058" cy="10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1740555" y="2751667"/>
              <a:ext cx="1171978" cy="770467"/>
              <a:chOff x="1740555" y="2751667"/>
              <a:chExt cx="1171978" cy="770467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060442" y="2751667"/>
                <a:ext cx="85209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740555" y="3522134"/>
                <a:ext cx="295929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Group 50"/>
          <p:cNvGrpSpPr/>
          <p:nvPr/>
        </p:nvGrpSpPr>
        <p:grpSpPr>
          <a:xfrm>
            <a:off x="2480599" y="2297028"/>
            <a:ext cx="2203065" cy="3655039"/>
            <a:chOff x="2480599" y="2297028"/>
            <a:chExt cx="2203065" cy="3655039"/>
          </a:xfrm>
        </p:grpSpPr>
        <p:cxnSp>
          <p:nvCxnSpPr>
            <p:cNvPr id="47" name="Straight Connector 46"/>
            <p:cNvCxnSpPr/>
            <p:nvPr/>
          </p:nvCxnSpPr>
          <p:spPr>
            <a:xfrm flipH="1">
              <a:off x="2480599" y="2297028"/>
              <a:ext cx="5888" cy="1580705"/>
            </a:xfrm>
            <a:prstGeom prst="line">
              <a:avLst/>
            </a:prstGeom>
            <a:ln w="9525">
              <a:solidFill>
                <a:srgbClr val="00B05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2480599" y="4521200"/>
              <a:ext cx="5888" cy="1430867"/>
            </a:xfrm>
            <a:prstGeom prst="line">
              <a:avLst/>
            </a:prstGeom>
            <a:ln w="9525">
              <a:solidFill>
                <a:srgbClr val="00B05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2617917" y="3818033"/>
            <a:ext cx="706058" cy="10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4097867" y="2466753"/>
            <a:ext cx="0" cy="1342119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095750" y="3808872"/>
            <a:ext cx="1168825" cy="926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800949" y="5253456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741333" y="2280095"/>
            <a:ext cx="8467" cy="2964894"/>
          </a:xfrm>
          <a:prstGeom prst="line">
            <a:avLst/>
          </a:prstGeom>
          <a:ln w="952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2462263" y="4880902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4402647" y="1907541"/>
            <a:ext cx="8467" cy="2964894"/>
          </a:xfrm>
          <a:prstGeom prst="line">
            <a:avLst/>
          </a:prstGeom>
          <a:ln w="952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2936146" y="3543278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095750" y="2472266"/>
            <a:ext cx="654050" cy="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2801684" y="2755878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411114" y="2751667"/>
            <a:ext cx="22" cy="787509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411136" y="3538510"/>
            <a:ext cx="853439" cy="66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402647" y="2763788"/>
            <a:ext cx="347153" cy="66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479330" y="3015076"/>
            <a:ext cx="290547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411114" y="3015185"/>
            <a:ext cx="853439" cy="66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5264531" y="3004700"/>
            <a:ext cx="22" cy="787509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748065" y="2466753"/>
            <a:ext cx="1735" cy="2977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488803" y="3307321"/>
            <a:ext cx="290547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4123243" y="3307321"/>
            <a:ext cx="1141332" cy="0"/>
          </a:xfrm>
          <a:prstGeom prst="line">
            <a:avLst/>
          </a:prstGeom>
          <a:ln w="635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8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9CC27FD2-8D69-C113-F581-75C498838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9" y="2987137"/>
            <a:ext cx="3513667" cy="32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97867" y="2472266"/>
            <a:ext cx="1166708" cy="1345665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3318933" y="2288562"/>
            <a:ext cx="2226734" cy="3488819"/>
            <a:chOff x="3318933" y="2288562"/>
            <a:chExt cx="2226734" cy="348881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27399" y="4621732"/>
              <a:ext cx="1016001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18933" y="5777381"/>
              <a:ext cx="2226734" cy="0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2047"/>
            <p:cNvCxnSpPr/>
            <p:nvPr/>
          </p:nvCxnSpPr>
          <p:spPr>
            <a:xfrm flipH="1" flipV="1">
              <a:off x="4095750" y="2288562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5264574" y="3433204"/>
              <a:ext cx="1" cy="2337404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grpSp>
          <p:nvGrpSpPr>
            <p:cNvPr id="2076" name="Group 2075"/>
            <p:cNvGrpSpPr/>
            <p:nvPr/>
          </p:nvGrpSpPr>
          <p:grpSpPr>
            <a:xfrm>
              <a:off x="1626587" y="2466753"/>
              <a:ext cx="1698254" cy="1351280"/>
              <a:chOff x="1626587" y="2466753"/>
              <a:chExt cx="1698254" cy="135128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26587" y="2466753"/>
                <a:ext cx="540014" cy="135128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66601" y="2466753"/>
                <a:ext cx="634348" cy="25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800949" y="2472266"/>
                <a:ext cx="523892" cy="1345767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1626587" y="3817931"/>
                <a:ext cx="706058" cy="10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1740555" y="2751667"/>
              <a:ext cx="1171978" cy="770467"/>
              <a:chOff x="1740555" y="2751667"/>
              <a:chExt cx="1171978" cy="770467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060442" y="2751667"/>
                <a:ext cx="85209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740555" y="3522134"/>
                <a:ext cx="295929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Group 50"/>
          <p:cNvGrpSpPr/>
          <p:nvPr/>
        </p:nvGrpSpPr>
        <p:grpSpPr>
          <a:xfrm>
            <a:off x="2480599" y="2297028"/>
            <a:ext cx="2203065" cy="3655039"/>
            <a:chOff x="2480599" y="2297028"/>
            <a:chExt cx="2203065" cy="3655039"/>
          </a:xfrm>
        </p:grpSpPr>
        <p:cxnSp>
          <p:nvCxnSpPr>
            <p:cNvPr id="47" name="Straight Connector 46"/>
            <p:cNvCxnSpPr/>
            <p:nvPr/>
          </p:nvCxnSpPr>
          <p:spPr>
            <a:xfrm flipH="1">
              <a:off x="2480599" y="2297028"/>
              <a:ext cx="5888" cy="1580705"/>
            </a:xfrm>
            <a:prstGeom prst="line">
              <a:avLst/>
            </a:prstGeom>
            <a:ln w="9525">
              <a:solidFill>
                <a:srgbClr val="00B05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2480599" y="4521200"/>
              <a:ext cx="5888" cy="1430867"/>
            </a:xfrm>
            <a:prstGeom prst="line">
              <a:avLst/>
            </a:prstGeom>
            <a:ln w="9525">
              <a:solidFill>
                <a:srgbClr val="00B05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683664" y="2297028"/>
              <a:ext cx="0" cy="1728872"/>
            </a:xfrm>
            <a:prstGeom prst="line">
              <a:avLst/>
            </a:prstGeom>
            <a:ln w="63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2617917" y="3818033"/>
            <a:ext cx="706058" cy="10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800949" y="5253456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741333" y="2280095"/>
            <a:ext cx="8467" cy="2964894"/>
          </a:xfrm>
          <a:prstGeom prst="line">
            <a:avLst/>
          </a:prstGeom>
          <a:ln w="952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2462263" y="4880902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4402647" y="1907541"/>
            <a:ext cx="8467" cy="2964894"/>
          </a:xfrm>
          <a:prstGeom prst="line">
            <a:avLst/>
          </a:prstGeom>
          <a:ln w="952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2936146" y="3543278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2801684" y="2755878"/>
            <a:ext cx="225872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479330" y="3015076"/>
            <a:ext cx="290547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5264531" y="3004700"/>
            <a:ext cx="22" cy="787509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4097867" y="2466753"/>
            <a:ext cx="0" cy="134211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095750" y="3808872"/>
            <a:ext cx="1168825" cy="926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095750" y="2472266"/>
            <a:ext cx="654050" cy="1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411114" y="2751667"/>
            <a:ext cx="22" cy="78750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411136" y="3538510"/>
            <a:ext cx="853439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402647" y="2763788"/>
            <a:ext cx="347153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411114" y="3015185"/>
            <a:ext cx="853439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748065" y="2466753"/>
            <a:ext cx="1735" cy="297701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488803" y="3307321"/>
            <a:ext cx="2905470" cy="0"/>
          </a:xfrm>
          <a:prstGeom prst="line">
            <a:avLst/>
          </a:prstGeom>
          <a:ln w="952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4123243" y="3307321"/>
            <a:ext cx="1141332" cy="0"/>
          </a:xfrm>
          <a:prstGeom prst="line">
            <a:avLst/>
          </a:prstGeom>
          <a:ln w="127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75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C1F40FDB-AF49-6AA7-950D-7309019F6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45" y="1171587"/>
            <a:ext cx="4207081" cy="40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grpSp>
          <p:nvGrpSpPr>
            <p:cNvPr id="2076" name="Group 2075"/>
            <p:cNvGrpSpPr/>
            <p:nvPr/>
          </p:nvGrpSpPr>
          <p:grpSpPr>
            <a:xfrm>
              <a:off x="1626587" y="2466753"/>
              <a:ext cx="1698254" cy="1351280"/>
              <a:chOff x="1626587" y="2466753"/>
              <a:chExt cx="1698254" cy="135128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26587" y="2466753"/>
                <a:ext cx="540014" cy="135128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66601" y="2466753"/>
                <a:ext cx="634348" cy="25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800949" y="2472266"/>
                <a:ext cx="523892" cy="1345767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1626587" y="3817931"/>
                <a:ext cx="706058" cy="10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1740555" y="2751667"/>
              <a:ext cx="1171978" cy="770467"/>
              <a:chOff x="1740555" y="2751667"/>
              <a:chExt cx="1171978" cy="770467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060442" y="2751667"/>
                <a:ext cx="85209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740555" y="3522134"/>
                <a:ext cx="295929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7" name="Straight Connector 46"/>
          <p:cNvCxnSpPr/>
          <p:nvPr/>
        </p:nvCxnSpPr>
        <p:spPr>
          <a:xfrm flipH="1">
            <a:off x="2480599" y="2297028"/>
            <a:ext cx="5888" cy="1580705"/>
          </a:xfrm>
          <a:prstGeom prst="line">
            <a:avLst/>
          </a:prstGeom>
          <a:ln w="9525">
            <a:solidFill>
              <a:srgbClr val="00B05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>
            <a:off x="2480599" y="4521200"/>
            <a:ext cx="5888" cy="1430867"/>
          </a:xfrm>
          <a:prstGeom prst="line">
            <a:avLst/>
          </a:prstGeom>
          <a:ln w="9525">
            <a:solidFill>
              <a:srgbClr val="00B05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2617917" y="3818033"/>
            <a:ext cx="706058" cy="10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5264531" y="3004700"/>
            <a:ext cx="22" cy="787509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4097867" y="2466753"/>
            <a:ext cx="0" cy="134211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095750" y="3808872"/>
            <a:ext cx="1168825" cy="926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095750" y="2472266"/>
            <a:ext cx="654050" cy="1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411114" y="2751667"/>
            <a:ext cx="22" cy="78750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411136" y="3538510"/>
            <a:ext cx="853439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402647" y="2763788"/>
            <a:ext cx="347153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411114" y="3015185"/>
            <a:ext cx="853439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748065" y="2466753"/>
            <a:ext cx="1735" cy="297701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4123243" y="3307321"/>
            <a:ext cx="1141332" cy="0"/>
          </a:xfrm>
          <a:prstGeom prst="line">
            <a:avLst/>
          </a:prstGeom>
          <a:ln w="127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11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799" y="2297028"/>
            <a:ext cx="4047067" cy="382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02733" y="1727200"/>
            <a:ext cx="7526867" cy="4766734"/>
            <a:chOff x="702733" y="1727200"/>
            <a:chExt cx="7526867" cy="4766734"/>
          </a:xfrm>
        </p:grpSpPr>
        <p:sp>
          <p:nvSpPr>
            <p:cNvPr id="5" name="Rectangle 4"/>
            <p:cNvSpPr/>
            <p:nvPr/>
          </p:nvSpPr>
          <p:spPr>
            <a:xfrm>
              <a:off x="855133" y="1806928"/>
              <a:ext cx="7292927" cy="459307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4286" y="5799395"/>
              <a:ext cx="2223766" cy="5921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2733" y="1727200"/>
              <a:ext cx="7526867" cy="476673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/>
          <p:cNvSpPr/>
          <p:nvPr/>
        </p:nvSpPr>
        <p:spPr>
          <a:xfrm>
            <a:off x="1640152" y="4629352"/>
            <a:ext cx="1687247" cy="1148029"/>
          </a:xfrm>
          <a:prstGeom prst="rect">
            <a:avLst/>
          </a:prstGeom>
          <a:noFill/>
          <a:ln w="63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1640152" y="4637819"/>
            <a:ext cx="1696719" cy="1156496"/>
            <a:chOff x="1640152" y="4620885"/>
            <a:chExt cx="1696719" cy="1156496"/>
          </a:xfrm>
        </p:grpSpPr>
        <p:cxnSp>
          <p:nvCxnSpPr>
            <p:cNvPr id="2078" name="Straight Connector 2077"/>
            <p:cNvCxnSpPr/>
            <p:nvPr/>
          </p:nvCxnSpPr>
          <p:spPr>
            <a:xfrm>
              <a:off x="1640152" y="4620885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49624" y="5768914"/>
              <a:ext cx="1687247" cy="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40152" y="462300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336871" y="4629352"/>
              <a:ext cx="0" cy="114802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626587" y="2466753"/>
            <a:ext cx="1698254" cy="1351280"/>
            <a:chOff x="1626587" y="2466753"/>
            <a:chExt cx="1698254" cy="1351280"/>
          </a:xfrm>
        </p:grpSpPr>
        <p:grpSp>
          <p:nvGrpSpPr>
            <p:cNvPr id="2076" name="Group 2075"/>
            <p:cNvGrpSpPr/>
            <p:nvPr/>
          </p:nvGrpSpPr>
          <p:grpSpPr>
            <a:xfrm>
              <a:off x="1626587" y="2466753"/>
              <a:ext cx="1698254" cy="1351280"/>
              <a:chOff x="1626587" y="2466753"/>
              <a:chExt cx="1698254" cy="135128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26587" y="2466753"/>
                <a:ext cx="540014" cy="135128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66601" y="2466753"/>
                <a:ext cx="634348" cy="25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800949" y="2472266"/>
                <a:ext cx="523892" cy="1345767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1626587" y="3817931"/>
                <a:ext cx="706058" cy="10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1740555" y="2751667"/>
              <a:ext cx="1171978" cy="770467"/>
              <a:chOff x="1740555" y="2751667"/>
              <a:chExt cx="1171978" cy="770467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060442" y="2751667"/>
                <a:ext cx="85209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740555" y="3522134"/>
                <a:ext cx="295929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7" name="Straight Connector 46"/>
          <p:cNvCxnSpPr/>
          <p:nvPr/>
        </p:nvCxnSpPr>
        <p:spPr>
          <a:xfrm flipH="1">
            <a:off x="2480599" y="2297028"/>
            <a:ext cx="5888" cy="1580705"/>
          </a:xfrm>
          <a:prstGeom prst="line">
            <a:avLst/>
          </a:prstGeom>
          <a:ln w="9525">
            <a:solidFill>
              <a:srgbClr val="00B05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>
            <a:off x="2480599" y="4521200"/>
            <a:ext cx="5888" cy="1430867"/>
          </a:xfrm>
          <a:prstGeom prst="line">
            <a:avLst/>
          </a:prstGeom>
          <a:ln w="9525">
            <a:solidFill>
              <a:srgbClr val="00B05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/>
          <p:cNvGrpSpPr/>
          <p:nvPr/>
        </p:nvGrpSpPr>
        <p:grpSpPr>
          <a:xfrm>
            <a:off x="2070076" y="4629352"/>
            <a:ext cx="832297" cy="624104"/>
            <a:chOff x="2070076" y="4629352"/>
            <a:chExt cx="832297" cy="624104"/>
          </a:xfrm>
        </p:grpSpPr>
        <p:grpSp>
          <p:nvGrpSpPr>
            <p:cNvPr id="60" name="Group 59"/>
            <p:cNvGrpSpPr/>
            <p:nvPr/>
          </p:nvGrpSpPr>
          <p:grpSpPr>
            <a:xfrm>
              <a:off x="2070076" y="4629352"/>
              <a:ext cx="832297" cy="623934"/>
              <a:chOff x="2070076" y="4629352"/>
              <a:chExt cx="832297" cy="623934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2166601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2800084" y="4629352"/>
                <a:ext cx="0" cy="62055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2070076" y="5253286"/>
                <a:ext cx="83229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2070076" y="4873836"/>
              <a:ext cx="0" cy="37945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902373" y="4873836"/>
              <a:ext cx="0" cy="37962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038005" y="3015076"/>
            <a:ext cx="891540" cy="440908"/>
            <a:chOff x="6398260" y="3318107"/>
            <a:chExt cx="891540" cy="440908"/>
          </a:xfrm>
        </p:grpSpPr>
        <p:sp>
          <p:nvSpPr>
            <p:cNvPr id="94" name="Oval 93"/>
            <p:cNvSpPr/>
            <p:nvPr/>
          </p:nvSpPr>
          <p:spPr>
            <a:xfrm>
              <a:off x="6398260" y="3318107"/>
              <a:ext cx="891540" cy="439565"/>
            </a:xfrm>
            <a:custGeom>
              <a:avLst/>
              <a:gdLst>
                <a:gd name="connsiteX0" fmla="*/ 0 w 891540"/>
                <a:gd name="connsiteY0" fmla="*/ 439565 h 879130"/>
                <a:gd name="connsiteX1" fmla="*/ 445770 w 891540"/>
                <a:gd name="connsiteY1" fmla="*/ 0 h 879130"/>
                <a:gd name="connsiteX2" fmla="*/ 891540 w 891540"/>
                <a:gd name="connsiteY2" fmla="*/ 439565 h 879130"/>
                <a:gd name="connsiteX3" fmla="*/ 445770 w 891540"/>
                <a:gd name="connsiteY3" fmla="*/ 879130 h 879130"/>
                <a:gd name="connsiteX4" fmla="*/ 0 w 891540"/>
                <a:gd name="connsiteY4" fmla="*/ 439565 h 879130"/>
                <a:gd name="connsiteX0" fmla="*/ 0 w 891540"/>
                <a:gd name="connsiteY0" fmla="*/ 439565 h 970570"/>
                <a:gd name="connsiteX1" fmla="*/ 445770 w 891540"/>
                <a:gd name="connsiteY1" fmla="*/ 0 h 970570"/>
                <a:gd name="connsiteX2" fmla="*/ 891540 w 891540"/>
                <a:gd name="connsiteY2" fmla="*/ 439565 h 970570"/>
                <a:gd name="connsiteX3" fmla="*/ 537210 w 891540"/>
                <a:gd name="connsiteY3" fmla="*/ 970570 h 970570"/>
                <a:gd name="connsiteX0" fmla="*/ 0 w 891540"/>
                <a:gd name="connsiteY0" fmla="*/ 439565 h 439565"/>
                <a:gd name="connsiteX1" fmla="*/ 445770 w 891540"/>
                <a:gd name="connsiteY1" fmla="*/ 0 h 439565"/>
                <a:gd name="connsiteX2" fmla="*/ 891540 w 891540"/>
                <a:gd name="connsiteY2" fmla="*/ 439565 h 43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540" h="439565">
                  <a:moveTo>
                    <a:pt x="0" y="439565"/>
                  </a:moveTo>
                  <a:cubicBezTo>
                    <a:pt x="0" y="196800"/>
                    <a:pt x="199578" y="0"/>
                    <a:pt x="445770" y="0"/>
                  </a:cubicBezTo>
                  <a:cubicBezTo>
                    <a:pt x="691962" y="0"/>
                    <a:pt x="891540" y="196800"/>
                    <a:pt x="891540" y="439565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6692900" y="3610352"/>
              <a:ext cx="293370" cy="148663"/>
            </a:xfrm>
            <a:custGeom>
              <a:avLst/>
              <a:gdLst>
                <a:gd name="connsiteX0" fmla="*/ 0 w 293370"/>
                <a:gd name="connsiteY0" fmla="*/ 148663 h 297326"/>
                <a:gd name="connsiteX1" fmla="*/ 146685 w 293370"/>
                <a:gd name="connsiteY1" fmla="*/ 0 h 297326"/>
                <a:gd name="connsiteX2" fmla="*/ 293370 w 293370"/>
                <a:gd name="connsiteY2" fmla="*/ 148663 h 297326"/>
                <a:gd name="connsiteX3" fmla="*/ 146685 w 293370"/>
                <a:gd name="connsiteY3" fmla="*/ 297326 h 297326"/>
                <a:gd name="connsiteX4" fmla="*/ 0 w 293370"/>
                <a:gd name="connsiteY4" fmla="*/ 148663 h 297326"/>
                <a:gd name="connsiteX0" fmla="*/ 0 w 293370"/>
                <a:gd name="connsiteY0" fmla="*/ 148663 h 388766"/>
                <a:gd name="connsiteX1" fmla="*/ 146685 w 293370"/>
                <a:gd name="connsiteY1" fmla="*/ 0 h 388766"/>
                <a:gd name="connsiteX2" fmla="*/ 293370 w 293370"/>
                <a:gd name="connsiteY2" fmla="*/ 148663 h 388766"/>
                <a:gd name="connsiteX3" fmla="*/ 238125 w 293370"/>
                <a:gd name="connsiteY3" fmla="*/ 388766 h 388766"/>
                <a:gd name="connsiteX0" fmla="*/ 0 w 293370"/>
                <a:gd name="connsiteY0" fmla="*/ 148663 h 148663"/>
                <a:gd name="connsiteX1" fmla="*/ 146685 w 293370"/>
                <a:gd name="connsiteY1" fmla="*/ 0 h 148663"/>
                <a:gd name="connsiteX2" fmla="*/ 293370 w 293370"/>
                <a:gd name="connsiteY2" fmla="*/ 148663 h 14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3370" h="148663">
                  <a:moveTo>
                    <a:pt x="0" y="148663"/>
                  </a:moveTo>
                  <a:cubicBezTo>
                    <a:pt x="0" y="66559"/>
                    <a:pt x="65673" y="0"/>
                    <a:pt x="146685" y="0"/>
                  </a:cubicBezTo>
                  <a:cubicBezTo>
                    <a:pt x="227697" y="0"/>
                    <a:pt x="293370" y="66559"/>
                    <a:pt x="293370" y="148663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038005" y="3447736"/>
            <a:ext cx="893656" cy="370297"/>
            <a:chOff x="2038005" y="3447736"/>
            <a:chExt cx="893656" cy="370297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38005" y="3447736"/>
              <a:ext cx="893656" cy="91440"/>
              <a:chOff x="2038005" y="3447736"/>
              <a:chExt cx="893656" cy="9144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2038005" y="3454642"/>
                <a:ext cx="0" cy="6749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2931661" y="3447736"/>
                <a:ext cx="0" cy="9144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/>
            <p:cNvCxnSpPr/>
            <p:nvPr/>
          </p:nvCxnSpPr>
          <p:spPr>
            <a:xfrm>
              <a:off x="2332645" y="3449634"/>
              <a:ext cx="0" cy="368399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2626015" y="3451191"/>
              <a:ext cx="0" cy="36674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740555" y="4873836"/>
            <a:ext cx="1468312" cy="919209"/>
            <a:chOff x="1740555" y="4873836"/>
            <a:chExt cx="1468312" cy="919209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034963" y="4883997"/>
              <a:ext cx="3042" cy="909048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740555" y="4873836"/>
              <a:ext cx="1468312" cy="912012"/>
              <a:chOff x="1740555" y="4873836"/>
              <a:chExt cx="1468312" cy="9120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740555" y="4876800"/>
                <a:ext cx="329521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02373" y="4876800"/>
                <a:ext cx="298027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74055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201325" y="4873836"/>
                <a:ext cx="7542" cy="912012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2934625" y="4876800"/>
                <a:ext cx="3042" cy="909048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5" name="Group 2064"/>
          <p:cNvGrpSpPr/>
          <p:nvPr/>
        </p:nvGrpSpPr>
        <p:grpSpPr>
          <a:xfrm>
            <a:off x="2070076" y="4637819"/>
            <a:ext cx="832297" cy="1139562"/>
            <a:chOff x="2070076" y="4637819"/>
            <a:chExt cx="832297" cy="1139562"/>
          </a:xfrm>
        </p:grpSpPr>
        <p:grpSp>
          <p:nvGrpSpPr>
            <p:cNvPr id="2059" name="Group 2058"/>
            <p:cNvGrpSpPr/>
            <p:nvPr/>
          </p:nvGrpSpPr>
          <p:grpSpPr>
            <a:xfrm>
              <a:off x="2332645" y="4637819"/>
              <a:ext cx="293370" cy="1139562"/>
              <a:chOff x="2332645" y="4637819"/>
              <a:chExt cx="293370" cy="1139562"/>
            </a:xfrm>
          </p:grpSpPr>
          <p:cxnSp>
            <p:nvCxnSpPr>
              <p:cNvPr id="2054" name="Straight Connector 2053"/>
              <p:cNvCxnSpPr/>
              <p:nvPr/>
            </p:nvCxnSpPr>
            <p:spPr>
              <a:xfrm>
                <a:off x="2332645" y="4637819"/>
                <a:ext cx="0" cy="1139562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2626015" y="4641427"/>
                <a:ext cx="0" cy="1131095"/>
              </a:xfrm>
              <a:prstGeom prst="line">
                <a:avLst/>
              </a:prstGeom>
              <a:ln w="12700">
                <a:solidFill>
                  <a:srgbClr val="FFC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3" name="Straight Connector 2062"/>
            <p:cNvCxnSpPr/>
            <p:nvPr/>
          </p:nvCxnSpPr>
          <p:spPr>
            <a:xfrm>
              <a:off x="2070076" y="4883997"/>
              <a:ext cx="832297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Straight Connector 100"/>
          <p:cNvCxnSpPr/>
          <p:nvPr/>
        </p:nvCxnSpPr>
        <p:spPr>
          <a:xfrm>
            <a:off x="2930863" y="3533878"/>
            <a:ext cx="279592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2617917" y="3818033"/>
            <a:ext cx="706058" cy="10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5264531" y="3004700"/>
            <a:ext cx="22" cy="787509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4097867" y="2466753"/>
            <a:ext cx="0" cy="134211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095750" y="3808872"/>
            <a:ext cx="1168825" cy="926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095750" y="2472266"/>
            <a:ext cx="654050" cy="1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411114" y="2751667"/>
            <a:ext cx="22" cy="78750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411136" y="3538510"/>
            <a:ext cx="853439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402647" y="2763788"/>
            <a:ext cx="347153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411114" y="3015185"/>
            <a:ext cx="853439" cy="666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748065" y="2466753"/>
            <a:ext cx="1735" cy="297701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4123243" y="3307321"/>
            <a:ext cx="1141332" cy="0"/>
          </a:xfrm>
          <a:prstGeom prst="line">
            <a:avLst/>
          </a:prstGeom>
          <a:ln w="127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5924286" y="5796298"/>
            <a:ext cx="2223774" cy="603700"/>
            <a:chOff x="5924286" y="5796298"/>
            <a:chExt cx="2223774" cy="603700"/>
          </a:xfrm>
        </p:grpSpPr>
        <p:cxnSp>
          <p:nvCxnSpPr>
            <p:cNvPr id="9" name="Straight Connector 8"/>
            <p:cNvCxnSpPr>
              <a:stCxn id="10" idx="1"/>
              <a:endCxn id="10" idx="3"/>
            </p:cNvCxnSpPr>
            <p:nvPr/>
          </p:nvCxnSpPr>
          <p:spPr>
            <a:xfrm>
              <a:off x="5924286" y="6095465"/>
              <a:ext cx="2223766" cy="0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17635" y="5799395"/>
              <a:ext cx="0" cy="600603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6290734" y="5799395"/>
              <a:ext cx="1" cy="296069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>
              <a:off x="6629401" y="5796298"/>
              <a:ext cx="1" cy="296069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924286" y="5952067"/>
              <a:ext cx="993349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H="1">
              <a:off x="7738534" y="6103929"/>
              <a:ext cx="1" cy="296069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738534" y="6251963"/>
              <a:ext cx="409526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75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1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5" y="1298574"/>
            <a:ext cx="7741708" cy="5510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644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</a:rPr>
              <a:t>Ví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dụ</a:t>
            </a:r>
            <a:r>
              <a:rPr lang="en-US" sz="2800" b="1" dirty="0">
                <a:solidFill>
                  <a:schemeClr val="tx1"/>
                </a:solidFill>
              </a:rPr>
              <a:t> 2 (</a:t>
            </a:r>
            <a:r>
              <a:rPr lang="en-US" sz="2800" b="1" dirty="0" err="1">
                <a:solidFill>
                  <a:schemeClr val="tx1"/>
                </a:solidFill>
              </a:rPr>
              <a:t>th­ực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hành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vẽ</a:t>
            </a:r>
            <a:r>
              <a:rPr lang="en-US" sz="2800" b="1" dirty="0" smtClean="0">
                <a:solidFill>
                  <a:schemeClr val="tx1"/>
                </a:solidFill>
              </a:rPr>
              <a:t>)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A30A4F5-2E5D-CCFD-5B83-54CA13DB59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235" y="1804292"/>
            <a:ext cx="3856764" cy="43407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85B4AF4-6695-468F-720B-8DAAC01B8E90}"/>
              </a:ext>
            </a:extLst>
          </p:cNvPr>
          <p:cNvSpPr txBox="1"/>
          <p:nvPr/>
        </p:nvSpPr>
        <p:spPr>
          <a:xfrm>
            <a:off x="1972235" y="6273299"/>
            <a:ext cx="299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Nhóm</a:t>
            </a:r>
            <a:r>
              <a:rPr lang="en-US" b="1" dirty="0">
                <a:solidFill>
                  <a:srgbClr val="FF0000"/>
                </a:solidFill>
              </a:rPr>
              <a:t>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B4A015E-2CE8-8DF8-9A06-2A7953B2988F}"/>
              </a:ext>
            </a:extLst>
          </p:cNvPr>
          <p:cNvSpPr txBox="1"/>
          <p:nvPr/>
        </p:nvSpPr>
        <p:spPr>
          <a:xfrm>
            <a:off x="8050306" y="5960384"/>
            <a:ext cx="299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Nhóm</a:t>
            </a:r>
            <a:r>
              <a:rPr lang="en-US" b="1" dirty="0">
                <a:solidFill>
                  <a:srgbClr val="FF0000"/>
                </a:solidFill>
              </a:rPr>
              <a:t> 2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583" y="1985262"/>
            <a:ext cx="4277072" cy="4258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709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6235" y="903890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MỘT SỐ LỖI SAI THƯỜNG GẶP</a:t>
            </a: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1CEFBA4-EAFE-C117-2105-ED7CD2B53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34" y="1290245"/>
            <a:ext cx="3428065" cy="5331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FB82EDF-5464-7039-C20F-22160C098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497" y="1378958"/>
            <a:ext cx="7268569" cy="515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1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6235" y="903890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MỘT SỐ LỖI SAI THƯỜNG GẶP</a:t>
            </a: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2E86C0E-AB6A-4217-6B3E-8DCB2C273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87" y="1475942"/>
            <a:ext cx="8124825" cy="5237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7A1B154-9FF0-12CA-0B5D-EE689A473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415" y="1260719"/>
            <a:ext cx="8161997" cy="545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2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6235" y="903890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BÀI LÀM LẠI </a:t>
            </a: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229B882-E2B9-EFD1-F684-4AAC181B75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53" t="18780" r="41743" b="35441"/>
          <a:stretch/>
        </p:blipFill>
        <p:spPr>
          <a:xfrm>
            <a:off x="808075" y="1636280"/>
            <a:ext cx="3274828" cy="47113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4202F6CD-7EF1-0E49-DE6C-A409A34347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62" t="18394" r="38301" b="21659"/>
          <a:stretch/>
        </p:blipFill>
        <p:spPr>
          <a:xfrm>
            <a:off x="4731489" y="1636280"/>
            <a:ext cx="3137193" cy="47113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B6B1D429-1B00-8AE4-1A4C-C7333D4084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68" t="20592" r="47404" b="27360"/>
          <a:stretch/>
        </p:blipFill>
        <p:spPr>
          <a:xfrm>
            <a:off x="8517268" y="1636280"/>
            <a:ext cx="3009014" cy="471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7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0" y="1229521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600" dirty="0" err="1">
                <a:solidFill>
                  <a:schemeClr val="tx1"/>
                </a:solidFill>
              </a:rPr>
              <a:t>Một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số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lưu</a:t>
            </a:r>
            <a:r>
              <a:rPr lang="en-US" sz="2600" dirty="0">
                <a:solidFill>
                  <a:schemeClr val="tx1"/>
                </a:solidFill>
              </a:rPr>
              <a:t> ý </a:t>
            </a:r>
            <a:r>
              <a:rPr lang="en-US" sz="2600" dirty="0" err="1">
                <a:solidFill>
                  <a:schemeClr val="tx1"/>
                </a:solidFill>
              </a:rPr>
              <a:t>về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sai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sót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trong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quá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thực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hiện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bài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tập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5575" y="1636280"/>
            <a:ext cx="9963784" cy="22152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Tx/>
              <a:buChar char="-"/>
            </a:pPr>
            <a:r>
              <a:rPr lang="en-US" sz="2600" dirty="0" err="1">
                <a:solidFill>
                  <a:schemeClr val="tx1"/>
                </a:solidFill>
              </a:rPr>
              <a:t>Bố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trí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trong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khung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….</a:t>
            </a:r>
          </a:p>
          <a:p>
            <a:pPr marL="457200" indent="-457200" algn="just">
              <a:buFontTx/>
              <a:buChar char="-"/>
            </a:pPr>
            <a:r>
              <a:rPr lang="en-US" sz="2600" dirty="0" err="1">
                <a:solidFill>
                  <a:schemeClr val="tx1"/>
                </a:solidFill>
              </a:rPr>
              <a:t>Cách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trình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bày</a:t>
            </a:r>
            <a:r>
              <a:rPr lang="en-US" sz="2600" dirty="0">
                <a:solidFill>
                  <a:schemeClr val="tx1"/>
                </a:solidFill>
              </a:rPr>
              <a:t>: </a:t>
            </a:r>
            <a:r>
              <a:rPr lang="en-US" sz="2600" dirty="0" err="1">
                <a:solidFill>
                  <a:schemeClr val="tx1"/>
                </a:solidFill>
              </a:rPr>
              <a:t>đường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nét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tẩy</a:t>
            </a:r>
            <a:r>
              <a:rPr lang="en-US" sz="2600" dirty="0">
                <a:solidFill>
                  <a:schemeClr val="tx1"/>
                </a:solidFill>
              </a:rPr>
              <a:t> – </a:t>
            </a:r>
            <a:r>
              <a:rPr lang="en-US" sz="2600" dirty="0" err="1">
                <a:solidFill>
                  <a:schemeClr val="tx1"/>
                </a:solidFill>
              </a:rPr>
              <a:t>xóa</a:t>
            </a:r>
            <a:r>
              <a:rPr lang="en-US" sz="2600" dirty="0">
                <a:solidFill>
                  <a:schemeClr val="tx1"/>
                </a:solidFill>
              </a:rPr>
              <a:t>…</a:t>
            </a:r>
          </a:p>
          <a:p>
            <a:pPr marL="457200" indent="-457200" algn="just">
              <a:buFontTx/>
              <a:buChar char="-"/>
            </a:pPr>
            <a:r>
              <a:rPr lang="en-US" sz="2600" dirty="0" err="1">
                <a:solidFill>
                  <a:schemeClr val="tx1"/>
                </a:solidFill>
              </a:rPr>
              <a:t>Nét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mũi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tên</a:t>
            </a:r>
            <a:r>
              <a:rPr lang="en-US" sz="2600" dirty="0">
                <a:solidFill>
                  <a:schemeClr val="tx1"/>
                </a:solidFill>
              </a:rPr>
              <a:t>…</a:t>
            </a:r>
          </a:p>
          <a:p>
            <a:pPr marL="457200" indent="-457200" algn="just">
              <a:buFontTx/>
              <a:buChar char="-"/>
            </a:pPr>
            <a:r>
              <a:rPr lang="en-US" sz="2600" dirty="0" err="1">
                <a:solidFill>
                  <a:schemeClr val="tx1"/>
                </a:solidFill>
              </a:rPr>
              <a:t>Cách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ghi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kích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thước</a:t>
            </a:r>
            <a:r>
              <a:rPr lang="en-US" sz="2600" dirty="0">
                <a:solidFill>
                  <a:schemeClr val="tx1"/>
                </a:solidFill>
              </a:rPr>
              <a:t> (</a:t>
            </a:r>
            <a:r>
              <a:rPr lang="en-US" sz="2600" dirty="0" err="1">
                <a:solidFill>
                  <a:schemeClr val="tx1"/>
                </a:solidFill>
              </a:rPr>
              <a:t>sai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cách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ghi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ghi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không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thống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nhất</a:t>
            </a:r>
            <a:r>
              <a:rPr lang="en-US" sz="2600" dirty="0">
                <a:solidFill>
                  <a:schemeClr val="tx1"/>
                </a:solidFill>
              </a:rPr>
              <a:t>…)</a:t>
            </a:r>
          </a:p>
          <a:p>
            <a:pPr marL="457200" indent="-457200" algn="just">
              <a:buFontTx/>
              <a:buChar char="-"/>
            </a:pPr>
            <a:r>
              <a:rPr lang="en-US" sz="2600" dirty="0" err="1">
                <a:solidFill>
                  <a:schemeClr val="tx1"/>
                </a:solidFill>
              </a:rPr>
              <a:t>Khung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tên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khung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vẽ</a:t>
            </a:r>
            <a:r>
              <a:rPr lang="en-US" sz="2600" dirty="0">
                <a:solidFill>
                  <a:schemeClr val="tx1"/>
                </a:solidFill>
              </a:rPr>
              <a:t>, </a:t>
            </a:r>
            <a:r>
              <a:rPr lang="en-US" sz="2600" dirty="0" err="1">
                <a:solidFill>
                  <a:schemeClr val="tx1"/>
                </a:solidFill>
              </a:rPr>
              <a:t>chữ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biết</a:t>
            </a:r>
            <a:r>
              <a:rPr lang="en-US" sz="2600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0515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III. HƯỚNG DẪN BÀI 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TẬP 1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-2" y="836704"/>
            <a:ext cx="10119361" cy="3568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5. </a:t>
            </a:r>
            <a:r>
              <a:rPr lang="en-US" sz="2800" b="1" dirty="0" err="1">
                <a:solidFill>
                  <a:srgbClr val="FF0000"/>
                </a:solidFill>
              </a:rPr>
              <a:t>Ví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dụ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mẫu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AutoShape 2" descr="{\displaystyle {\frac {x^{2}}{a^{2}}}+{\frac {y^{2}}{b^{2}}}=1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DF117C8-BDF4-0894-4D62-13365692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938" y="1636280"/>
            <a:ext cx="4325726" cy="4719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4E0E19BD-1DF8-2543-9E02-C6D5A469E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238" y="1636280"/>
            <a:ext cx="4487232" cy="46625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6E535823-7BD7-5ED3-E897-2462E8C8CEA4}"/>
              </a:ext>
            </a:extLst>
          </p:cNvPr>
          <p:cNvSpPr txBox="1"/>
          <p:nvPr/>
        </p:nvSpPr>
        <p:spPr>
          <a:xfrm>
            <a:off x="1928533" y="6429332"/>
            <a:ext cx="299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Bài</a:t>
            </a:r>
            <a:r>
              <a:rPr lang="en-US" b="1" dirty="0">
                <a:solidFill>
                  <a:srgbClr val="FF0000"/>
                </a:solidFill>
              </a:rPr>
              <a:t> 2.05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A342417-9076-16E7-2D15-2118A4AE98A0}"/>
              </a:ext>
            </a:extLst>
          </p:cNvPr>
          <p:cNvSpPr txBox="1"/>
          <p:nvPr/>
        </p:nvSpPr>
        <p:spPr>
          <a:xfrm>
            <a:off x="7677748" y="6353215"/>
            <a:ext cx="299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Bài</a:t>
            </a:r>
            <a:r>
              <a:rPr lang="en-US" b="1" dirty="0">
                <a:solidFill>
                  <a:srgbClr val="FF0000"/>
                </a:solidFill>
              </a:rPr>
              <a:t> 2.02</a:t>
            </a:r>
          </a:p>
        </p:txBody>
      </p:sp>
    </p:spTree>
    <p:extLst>
      <p:ext uri="{BB962C8B-B14F-4D97-AF65-F5344CB8AC3E}">
        <p14:creationId xmlns:p14="http://schemas.microsoft.com/office/powerpoint/2010/main" val="338031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695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KẾT LUẬN NỘI DUNG BÀI HỌC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979696"/>
            <a:ext cx="121920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	</a:t>
            </a:r>
            <a:r>
              <a:rPr lang="en-US" sz="2400" dirty="0" err="1"/>
              <a:t>Trước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bắt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vẽ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nắm</a:t>
            </a:r>
            <a:r>
              <a:rPr lang="en-US" sz="2400" dirty="0"/>
              <a:t> </a:t>
            </a:r>
            <a:r>
              <a:rPr lang="en-US" sz="2400" dirty="0" err="1"/>
              <a:t>chắc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, </a:t>
            </a:r>
            <a:r>
              <a:rPr lang="en-US" sz="2400" dirty="0" err="1"/>
              <a:t>đặc</a:t>
            </a:r>
            <a:r>
              <a:rPr lang="en-US" sz="2400" dirty="0"/>
              <a:t> </a:t>
            </a:r>
            <a:r>
              <a:rPr lang="en-US" sz="2400" dirty="0" err="1"/>
              <a:t>biệt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thẳng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.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ta </a:t>
            </a:r>
            <a:r>
              <a:rPr lang="en-US" sz="2400" b="1" i="1" dirty="0" err="1">
                <a:solidFill>
                  <a:srgbClr val="FF0000"/>
                </a:solidFill>
              </a:rPr>
              <a:t>khái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niệm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và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phân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loại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hệ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thống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chiếu</a:t>
            </a:r>
            <a:r>
              <a:rPr lang="en-US" sz="2400" b="1" i="1" dirty="0" smtClean="0">
                <a:solidFill>
                  <a:srgbClr val="FF0000"/>
                </a:solidFill>
              </a:rPr>
              <a:t>,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các</a:t>
            </a: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hình</a:t>
            </a: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chiếu</a:t>
            </a: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cơ</a:t>
            </a: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bản</a:t>
            </a:r>
            <a:r>
              <a:rPr lang="en-US" sz="2400" dirty="0" smtClean="0">
                <a:solidFill>
                  <a:srgbClr val="FF0000"/>
                </a:solidFill>
              </a:rPr>
              <a:t>; </a:t>
            </a:r>
            <a:r>
              <a:rPr lang="en-US" sz="2400" b="1" i="1" dirty="0" err="1">
                <a:solidFill>
                  <a:srgbClr val="FF0000"/>
                </a:solidFill>
              </a:rPr>
              <a:t>hình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chiếu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phụ</a:t>
            </a:r>
            <a:r>
              <a:rPr lang="en-US" sz="2400" b="1" i="1" dirty="0">
                <a:solidFill>
                  <a:srgbClr val="FF0000"/>
                </a:solidFill>
              </a:rPr>
              <a:t> - </a:t>
            </a:r>
            <a:r>
              <a:rPr lang="en-US" sz="2400" b="1" i="1" dirty="0" err="1">
                <a:solidFill>
                  <a:srgbClr val="FF0000"/>
                </a:solidFill>
              </a:rPr>
              <a:t>hình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chiếu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riêng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phần</a:t>
            </a:r>
            <a:r>
              <a:rPr lang="en-US" sz="2400" dirty="0">
                <a:solidFill>
                  <a:srgbClr val="FF0000"/>
                </a:solidFill>
              </a:rPr>
              <a:t>; </a:t>
            </a:r>
            <a:r>
              <a:rPr lang="en-US" sz="2400" b="1" i="1" dirty="0" err="1">
                <a:solidFill>
                  <a:srgbClr val="FF0000"/>
                </a:solidFill>
              </a:rPr>
              <a:t>dựng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hình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chiếu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(3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3); </a:t>
            </a:r>
            <a:r>
              <a:rPr lang="en-US" sz="2400" b="1" i="1" dirty="0" err="1">
                <a:solidFill>
                  <a:srgbClr val="FF0000"/>
                </a:solidFill>
              </a:rPr>
              <a:t>ghi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kích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thước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trên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hình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chiếu</a:t>
            </a:r>
            <a:r>
              <a:rPr lang="en-US" sz="2400" b="1" i="1" dirty="0">
                <a:solidFill>
                  <a:srgbClr val="FF0000"/>
                </a:solidFill>
              </a:rPr>
              <a:t>; </a:t>
            </a:r>
            <a:r>
              <a:rPr lang="en-US" sz="2400" b="1" i="1" dirty="0" err="1">
                <a:solidFill>
                  <a:srgbClr val="FF0000"/>
                </a:solidFill>
              </a:rPr>
              <a:t>hình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trích</a:t>
            </a:r>
            <a:r>
              <a:rPr lang="en-US" sz="2400" dirty="0"/>
              <a:t>.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vẽ</a:t>
            </a:r>
            <a:r>
              <a:rPr lang="en-US" sz="2400" dirty="0"/>
              <a:t> 3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vẽ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3 (BT3: </a:t>
            </a:r>
            <a:r>
              <a:rPr lang="en-US" sz="2400" dirty="0" err="1"/>
              <a:t>ghép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HCTĐ)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r>
              <a:rPr lang="en-US" sz="3800" b="1" dirty="0"/>
              <a:t>ÔN TẬP BÀI HỌC</a:t>
            </a:r>
            <a:endParaRPr lang="en-US" sz="3800" dirty="0"/>
          </a:p>
          <a:p>
            <a:r>
              <a:rPr lang="en-US" sz="2400" dirty="0"/>
              <a:t>	- </a:t>
            </a:r>
            <a:r>
              <a:rPr lang="en-US" sz="2400" dirty="0" err="1"/>
              <a:t>Nghiên</a:t>
            </a:r>
            <a:r>
              <a:rPr lang="en-US" sz="2400" dirty="0"/>
              <a:t> </a:t>
            </a:r>
            <a:r>
              <a:rPr lang="en-US" sz="2400" dirty="0" err="1"/>
              <a:t>cứu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thuyết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 smtClean="0"/>
              <a:t>chiếu</a:t>
            </a:r>
            <a:r>
              <a:rPr lang="en-US" sz="2400" dirty="0"/>
              <a:t> </a:t>
            </a:r>
            <a:r>
              <a:rPr lang="en-US" sz="2400" dirty="0" err="1" smtClean="0"/>
              <a:t>vuông</a:t>
            </a:r>
            <a:r>
              <a:rPr lang="en-US" sz="2400" dirty="0" smtClean="0"/>
              <a:t> </a:t>
            </a:r>
            <a:r>
              <a:rPr lang="en-US" sz="2400" dirty="0" err="1"/>
              <a:t>góc</a:t>
            </a:r>
            <a:endParaRPr lang="en-US" sz="2400" dirty="0"/>
          </a:p>
          <a:p>
            <a:r>
              <a:rPr lang="en-US" sz="2400" dirty="0"/>
              <a:t>	- </a:t>
            </a:r>
            <a:r>
              <a:rPr lang="en-US" sz="2400" dirty="0" err="1"/>
              <a:t>Nghiên</a:t>
            </a:r>
            <a:r>
              <a:rPr lang="en-US" sz="2400" dirty="0"/>
              <a:t> </a:t>
            </a:r>
            <a:r>
              <a:rPr lang="en-US" sz="2400" dirty="0" err="1"/>
              <a:t>cứu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3.</a:t>
            </a:r>
          </a:p>
          <a:p>
            <a:r>
              <a:rPr lang="en-US" sz="2400" dirty="0"/>
              <a:t>	- </a:t>
            </a:r>
            <a:r>
              <a:rPr lang="en-US" sz="2400" dirty="0" err="1"/>
              <a:t>Nghiên</a:t>
            </a:r>
            <a:r>
              <a:rPr lang="en-US" sz="2400" dirty="0"/>
              <a:t> </a:t>
            </a:r>
            <a:r>
              <a:rPr lang="en-US" sz="2400" dirty="0" err="1"/>
              <a:t>cứu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 dirty="0"/>
              <a:t> dung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1 (</a:t>
            </a:r>
            <a:r>
              <a:rPr lang="en-US" sz="2400" dirty="0" err="1"/>
              <a:t>sách</a:t>
            </a:r>
            <a:r>
              <a:rPr lang="en-US" sz="2400" dirty="0"/>
              <a:t> BT VKT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khí</a:t>
            </a:r>
            <a:r>
              <a:rPr lang="en-US" sz="2400" dirty="0"/>
              <a:t>, </a:t>
            </a:r>
            <a:r>
              <a:rPr lang="en-US" sz="2400" dirty="0" err="1"/>
              <a:t>tập</a:t>
            </a:r>
            <a:r>
              <a:rPr lang="en-US" sz="2400" dirty="0"/>
              <a:t> 1),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thiện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nộp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đúng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ra.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615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002" y="712950"/>
            <a:ext cx="12378088" cy="67901"/>
          </a:xfrm>
          <a:prstGeom prst="rect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2700000" scaled="0"/>
          </a:gradFill>
          <a:ln w="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695"/>
            <a:ext cx="12192000" cy="923330"/>
          </a:xfrm>
          <a:prstGeom prst="rect">
            <a:avLst/>
          </a:prstGeom>
        </p:spPr>
        <p:txBody>
          <a:bodyPr wrap="square" lIns="274320" tIns="182880" rIns="274320" bIns="18288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DẪN</a:t>
            </a:r>
            <a:r>
              <a:rPr lang="en-US" sz="3600" b="1" dirty="0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err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US" sz="3600" b="1">
                <a:ln w="0"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CỨU CHUẨN BỊ BÀI MỚI</a:t>
            </a:r>
            <a:endParaRPr lang="vi-VN" sz="3600" b="1" dirty="0">
              <a:ln w="0"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" y="922635"/>
            <a:ext cx="121920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	</a:t>
            </a:r>
            <a:r>
              <a:rPr lang="en-US" sz="2800" b="1" dirty="0" err="1">
                <a:solidFill>
                  <a:srgbClr val="7030A0"/>
                </a:solidFill>
              </a:rPr>
              <a:t>Nội</a:t>
            </a:r>
            <a:r>
              <a:rPr lang="en-US" sz="2800" b="1" dirty="0">
                <a:solidFill>
                  <a:srgbClr val="7030A0"/>
                </a:solidFill>
              </a:rPr>
              <a:t> dung </a:t>
            </a:r>
            <a:r>
              <a:rPr lang="en-US" sz="2800" b="1" dirty="0" err="1">
                <a:solidFill>
                  <a:srgbClr val="7030A0"/>
                </a:solidFill>
              </a:rPr>
              <a:t>nghiên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 err="1">
                <a:solidFill>
                  <a:srgbClr val="7030A0"/>
                </a:solidFill>
              </a:rPr>
              <a:t>cứu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 err="1">
                <a:solidFill>
                  <a:srgbClr val="7030A0"/>
                </a:solidFill>
              </a:rPr>
              <a:t>Bài</a:t>
            </a:r>
            <a:r>
              <a:rPr lang="en-US" sz="2800" b="1" dirty="0">
                <a:solidFill>
                  <a:srgbClr val="7030A0"/>
                </a:solidFill>
              </a:rPr>
              <a:t> 4: </a:t>
            </a:r>
            <a:r>
              <a:rPr lang="en-US" sz="2800" b="1" dirty="0" err="1">
                <a:solidFill>
                  <a:srgbClr val="7030A0"/>
                </a:solidFill>
              </a:rPr>
              <a:t>Hình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 err="1">
                <a:solidFill>
                  <a:srgbClr val="7030A0"/>
                </a:solidFill>
              </a:rPr>
              <a:t>cắt</a:t>
            </a:r>
            <a:r>
              <a:rPr lang="en-US" sz="2800" b="1" dirty="0">
                <a:solidFill>
                  <a:srgbClr val="7030A0"/>
                </a:solidFill>
              </a:rPr>
              <a:t> - </a:t>
            </a:r>
            <a:r>
              <a:rPr lang="en-US" sz="2800" b="1" dirty="0" err="1">
                <a:solidFill>
                  <a:srgbClr val="7030A0"/>
                </a:solidFill>
              </a:rPr>
              <a:t>mặt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 err="1">
                <a:solidFill>
                  <a:srgbClr val="7030A0"/>
                </a:solidFill>
              </a:rPr>
              <a:t>cắt</a:t>
            </a:r>
            <a:endParaRPr lang="en-US" sz="2800" b="1" dirty="0">
              <a:solidFill>
                <a:srgbClr val="7030A0"/>
              </a:solidFill>
            </a:endParaRPr>
          </a:p>
          <a:p>
            <a:pPr algn="just"/>
            <a:r>
              <a:rPr lang="en-US" sz="2400" b="1" dirty="0"/>
              <a:t>	</a:t>
            </a:r>
          </a:p>
          <a:p>
            <a:pPr algn="just"/>
            <a:r>
              <a:rPr lang="en-US" sz="2400" b="1" dirty="0"/>
              <a:t>	</a:t>
            </a:r>
            <a:r>
              <a:rPr lang="en-US" sz="2400" b="1" dirty="0" err="1"/>
              <a:t>Học</a:t>
            </a:r>
            <a:r>
              <a:rPr lang="en-US" sz="2400" b="1" dirty="0"/>
              <a:t> </a:t>
            </a:r>
            <a:r>
              <a:rPr lang="en-US" sz="2400" b="1" dirty="0" err="1"/>
              <a:t>viên</a:t>
            </a:r>
            <a:r>
              <a:rPr lang="en-US" sz="2400" b="1" dirty="0"/>
              <a:t> </a:t>
            </a:r>
            <a:r>
              <a:rPr lang="en-US" sz="2400" b="1" dirty="0" err="1"/>
              <a:t>tập</a:t>
            </a:r>
            <a:r>
              <a:rPr lang="en-US" sz="2400" b="1" dirty="0"/>
              <a:t> </a:t>
            </a:r>
            <a:r>
              <a:rPr lang="en-US" sz="2400" b="1" dirty="0" err="1"/>
              <a:t>trung</a:t>
            </a:r>
            <a:r>
              <a:rPr lang="en-US" sz="2400" b="1" dirty="0"/>
              <a:t> </a:t>
            </a:r>
            <a:r>
              <a:rPr lang="en-US" sz="2400" b="1" dirty="0" err="1"/>
              <a:t>tìm</a:t>
            </a:r>
            <a:r>
              <a:rPr lang="en-US" sz="2400" b="1" dirty="0"/>
              <a:t> </a:t>
            </a:r>
            <a:r>
              <a:rPr lang="en-US" sz="2400" b="1" dirty="0" err="1"/>
              <a:t>hiểu</a:t>
            </a:r>
            <a:r>
              <a:rPr lang="en-US" sz="2400" b="1" dirty="0"/>
              <a:t>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nghiên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r>
              <a:rPr lang="en-US" sz="2400" b="1" dirty="0"/>
              <a:t> </a:t>
            </a:r>
            <a:r>
              <a:rPr lang="en-US" sz="2400" b="1" dirty="0" err="1"/>
              <a:t>các</a:t>
            </a:r>
            <a:r>
              <a:rPr lang="en-US" sz="2400" b="1" dirty="0"/>
              <a:t> </a:t>
            </a:r>
            <a:r>
              <a:rPr lang="en-US" sz="2400" b="1" dirty="0" err="1"/>
              <a:t>nội</a:t>
            </a:r>
            <a:r>
              <a:rPr lang="en-US" sz="2400" b="1" dirty="0"/>
              <a:t> dung </a:t>
            </a:r>
            <a:r>
              <a:rPr lang="en-US" sz="2400" b="1" dirty="0" err="1"/>
              <a:t>sau</a:t>
            </a:r>
            <a:r>
              <a:rPr lang="en-US" sz="2400" b="1" dirty="0"/>
              <a:t>:</a:t>
            </a:r>
          </a:p>
          <a:p>
            <a:r>
              <a:rPr lang="en-US" sz="2400" dirty="0"/>
              <a:t>	- </a:t>
            </a:r>
            <a:r>
              <a:rPr lang="en-US" sz="2400" dirty="0" err="1"/>
              <a:t>Khái</a:t>
            </a:r>
            <a:r>
              <a:rPr lang="en-US" sz="2400" dirty="0"/>
              <a:t> </a:t>
            </a:r>
            <a:r>
              <a:rPr lang="en-US" sz="2400" dirty="0" err="1"/>
              <a:t>niệm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cắt</a:t>
            </a:r>
            <a:r>
              <a:rPr lang="en-US" sz="2400" dirty="0"/>
              <a:t> - </a:t>
            </a:r>
            <a:r>
              <a:rPr lang="en-US" sz="2400" dirty="0" err="1"/>
              <a:t>mặt</a:t>
            </a:r>
            <a:r>
              <a:rPr lang="en-US" sz="2400" dirty="0"/>
              <a:t> </a:t>
            </a:r>
            <a:r>
              <a:rPr lang="en-US" sz="2400" dirty="0" err="1"/>
              <a:t>cắt</a:t>
            </a:r>
            <a:r>
              <a:rPr lang="en-US" sz="2400" dirty="0"/>
              <a:t>?</a:t>
            </a:r>
          </a:p>
          <a:p>
            <a:r>
              <a:rPr lang="en-US" sz="2400" dirty="0"/>
              <a:t>	-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cắt</a:t>
            </a:r>
            <a:r>
              <a:rPr lang="en-US" sz="2400" dirty="0"/>
              <a:t> (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 </a:t>
            </a:r>
            <a:r>
              <a:rPr lang="en-US" sz="2400" dirty="0" err="1"/>
              <a:t>chí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).</a:t>
            </a:r>
          </a:p>
          <a:p>
            <a:r>
              <a:rPr lang="en-US" sz="2400" dirty="0"/>
              <a:t>	-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mặt</a:t>
            </a:r>
            <a:r>
              <a:rPr lang="en-US" sz="2400" dirty="0"/>
              <a:t> </a:t>
            </a:r>
            <a:r>
              <a:rPr lang="en-US" sz="2400" dirty="0" err="1"/>
              <a:t>cắt</a:t>
            </a:r>
            <a:r>
              <a:rPr lang="en-US" sz="2400" dirty="0"/>
              <a:t>.</a:t>
            </a:r>
          </a:p>
          <a:p>
            <a:r>
              <a:rPr lang="en-US" sz="2400" dirty="0"/>
              <a:t>	-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 dirty="0"/>
              <a:t> dung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2: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cắt</a:t>
            </a:r>
            <a:r>
              <a:rPr lang="en-US" sz="2400" dirty="0"/>
              <a:t> (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xem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 dirty="0"/>
              <a:t> dung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3361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T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11923</TotalTime>
  <Words>3537</Words>
  <Application>Microsoft Office PowerPoint</Application>
  <PresentationFormat>Widescreen</PresentationFormat>
  <Paragraphs>436</Paragraphs>
  <Slides>82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.VnBodoni</vt:lpstr>
      <vt:lpstr>Arial</vt:lpstr>
      <vt:lpstr>Calibri</vt:lpstr>
      <vt:lpstr>Calibri Light</vt:lpstr>
      <vt:lpstr>Cambria</vt:lpstr>
      <vt:lpstr>Times New Roman</vt:lpstr>
      <vt:lpstr>Wingdings</vt:lpstr>
      <vt:lpstr>BIA</vt:lpstr>
      <vt:lpstr>KTRA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Microsoft account</cp:lastModifiedBy>
  <cp:revision>1524</cp:revision>
  <dcterms:created xsi:type="dcterms:W3CDTF">2016-08-02T00:18:32Z</dcterms:created>
  <dcterms:modified xsi:type="dcterms:W3CDTF">2025-08-26T00:51:52Z</dcterms:modified>
</cp:coreProperties>
</file>