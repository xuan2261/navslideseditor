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55" r:id="rId2"/>
    <p:sldId id="402" r:id="rId3"/>
    <p:sldId id="385" r:id="rId4"/>
    <p:sldId id="386" r:id="rId5"/>
    <p:sldId id="387" r:id="rId6"/>
    <p:sldId id="350" r:id="rId7"/>
    <p:sldId id="351" r:id="rId8"/>
    <p:sldId id="352" r:id="rId9"/>
    <p:sldId id="356" r:id="rId10"/>
    <p:sldId id="357" r:id="rId11"/>
    <p:sldId id="396" r:id="rId12"/>
    <p:sldId id="358" r:id="rId13"/>
    <p:sldId id="397" r:id="rId14"/>
    <p:sldId id="359" r:id="rId15"/>
    <p:sldId id="360" r:id="rId16"/>
    <p:sldId id="361" r:id="rId17"/>
    <p:sldId id="398" r:id="rId18"/>
    <p:sldId id="399" r:id="rId19"/>
    <p:sldId id="362" r:id="rId20"/>
    <p:sldId id="400" r:id="rId21"/>
    <p:sldId id="403" r:id="rId22"/>
    <p:sldId id="363" r:id="rId23"/>
    <p:sldId id="404" r:id="rId24"/>
    <p:sldId id="405" r:id="rId25"/>
    <p:sldId id="364" r:id="rId26"/>
    <p:sldId id="365" r:id="rId27"/>
    <p:sldId id="366" r:id="rId28"/>
    <p:sldId id="415" r:id="rId29"/>
    <p:sldId id="416" r:id="rId30"/>
    <p:sldId id="367" r:id="rId31"/>
    <p:sldId id="414" r:id="rId32"/>
    <p:sldId id="401" r:id="rId33"/>
    <p:sldId id="410" r:id="rId34"/>
    <p:sldId id="411" r:id="rId35"/>
    <p:sldId id="412" r:id="rId36"/>
    <p:sldId id="413" r:id="rId37"/>
    <p:sldId id="417" r:id="rId38"/>
    <p:sldId id="419" r:id="rId39"/>
    <p:sldId id="418" r:id="rId40"/>
    <p:sldId id="420" r:id="rId41"/>
    <p:sldId id="368" r:id="rId42"/>
    <p:sldId id="389" r:id="rId43"/>
    <p:sldId id="406" r:id="rId44"/>
    <p:sldId id="407" r:id="rId45"/>
    <p:sldId id="370" r:id="rId46"/>
  </p:sldIdLst>
  <p:sldSz cx="12192000" cy="6858000"/>
  <p:notesSz cx="6858000" cy="9144000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2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AC464-B52B-446E-BEE0-6DDC832EFC1A}" type="datetimeFigureOut">
              <a:rPr lang="en-US" smtClean="0"/>
              <a:t>10/04/2026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3109B-C0C9-4B10-88EF-6B1D6579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>
                <a:solidFill>
                  <a:srgbClr val="009900"/>
                </a:solidFill>
                <a:sym typeface="Symbol" panose="05050102010706020507" pitchFamily="18" charset="2"/>
              </a:rPr>
              <a:t> Dùng bảng Các nô để rút gọn hàm (với các hàm là J, K của các Trigơ, biến là tổ hợp Q ở trạng thái hiện tại).</a:t>
            </a:r>
            <a:endParaRPr lang="vi-VN" altLang="en-US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3109B-C0C9-4B10-88EF-6B1D65796B6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15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>
                <a:solidFill>
                  <a:srgbClr val="009900"/>
                </a:solidFill>
                <a:sym typeface="Symbol" panose="05050102010706020507" pitchFamily="18" charset="2"/>
              </a:rPr>
              <a:t> Dùng bảng Các nô để rút gọn hàm (với các hàm là J, K của các Trigơ, biến là tổ hợp Q ở trạng thái hiện tại).</a:t>
            </a:r>
            <a:endParaRPr lang="vi-VN" altLang="en-US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3109B-C0C9-4B10-88EF-6B1D65796B6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24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>
                <a:solidFill>
                  <a:srgbClr val="009900"/>
                </a:solidFill>
                <a:sym typeface="Symbol" panose="05050102010706020507" pitchFamily="18" charset="2"/>
              </a:rPr>
              <a:t> Dùng bảng Các nô để rút gọn hàm (với các hàm là J, K của các Trigơ, biến là tổ hợp Q ở trạng thái hiện tại).</a:t>
            </a:r>
            <a:endParaRPr lang="vi-VN" altLang="en-US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3109B-C0C9-4B10-88EF-6B1D65796B6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3109B-C0C9-4B10-88EF-6B1D65796B6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58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750B71-8D8A-4FD1-ACEB-1564990C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2869"/>
            <a:ext cx="1022465" cy="2168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9F8C1F-8FD6-4673-8C56-0F60DFEB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7382" y="6622867"/>
            <a:ext cx="474617" cy="20406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43AE65-149B-47F7-B155-458B2D08FBA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BE9A74D5-8953-28B0-AA83-7C6066DC8EC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7" y="81228"/>
            <a:ext cx="11844545" cy="106777"/>
          </a:xfrm>
          <a:prstGeom prst="rect">
            <a:avLst/>
          </a:prstGeom>
          <a:solidFill>
            <a:srgbClr val="005AA9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3" name="Line 14">
            <a:extLst>
              <a:ext uri="{FF2B5EF4-FFF2-40B4-BE49-F238E27FC236}">
                <a16:creationId xmlns:a16="http://schemas.microsoft.com/office/drawing/2014/main" id="{66724688-266A-E961-9228-C90D1F5545E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7" y="211403"/>
            <a:ext cx="11844545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79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8299-2088-4332-BDC4-C33E97DB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A272-3022-4197-90A8-037179942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A7CDC-8654-4A05-9148-34D4E53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B58A-55CE-4238-91AF-302BFEE815C6}" type="datetime1">
              <a:rPr lang="en-US" smtClean="0"/>
              <a:t>10/04/2026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C121B-8345-4F96-AAE9-C0141E55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2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EDC2-91D2-4435-BFF6-2AD39D43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F3E0C-6717-477B-B0E4-6D3263B5D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0667-7AAF-4897-A278-FB57AF8F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6C0B-BB57-4929-AF2C-7EB155309351}" type="datetime1">
              <a:rPr lang="en-US" smtClean="0"/>
              <a:t>10/04/2026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B2808-D5BA-44FE-9A11-DA405284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CCA9-E899-4CC3-87AE-D8FC3410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4E01A-8199-4BEB-A8B5-DBEEE553F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F0B58-4975-4C7C-8582-7BD1929D7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F18B1-192B-4F77-8AF8-F4AADA6C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E750-C446-42AE-8FE4-ACB17EC7C632}" type="datetime1">
              <a:rPr lang="en-US" smtClean="0"/>
              <a:t>10/04/2026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05309-2DD6-4410-9725-48576439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9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DD56-FFC7-473F-BBDA-4863FE0A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2C960-7332-4D48-9399-EBB8A270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7765A-E518-4B8F-99D3-0BD50CFB0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84805-DDC0-49C7-840C-9D764C6BC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4D634-28CE-4B13-BC06-0F1FA71A9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01B9D-1478-414F-9C41-01873E86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339C-5B76-4E06-B5D4-735AA1C3A129}" type="datetime1">
              <a:rPr lang="en-US" smtClean="0"/>
              <a:t>10/04/2026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FA2FE1-B80C-4973-B7FB-EDBEA717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48CB-F16C-4ED8-BAA0-39C4126F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05DED-F69B-4049-AAB4-434F1D6B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864-EA12-484F-BCC4-B23B2C3F1129}" type="datetime1">
              <a:rPr lang="en-US" smtClean="0"/>
              <a:t>10/04/2026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8D1A-B11E-4662-8B35-C3C53F4E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F402E-AC34-463E-B401-C05CB1E1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C397-7433-4B51-BCB4-7D00112A59A5}" type="datetime1">
              <a:rPr lang="en-US" smtClean="0"/>
              <a:t>10/04/2026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DC410-1F9F-4726-8FC5-7788B8FE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3B8C-3647-47E8-AB25-0438ACF9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E9865-53C4-4E20-AFA6-F14A8192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227FD-3F6D-4629-AB82-28529D6F1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45499-6C72-496B-9383-DB684FB4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BD39A-4B79-483D-9D9A-500CE626C690}" type="datetime1">
              <a:rPr lang="en-US" smtClean="0"/>
              <a:t>10/04/2026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EE258-2F9B-4F8B-8609-96A4E889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21C7-C55C-4EDB-9778-8860E7EE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24B8A-BE53-4AED-8775-C1A288477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B5911-2563-44F5-967C-6B31408A2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FD5B-863E-4C5F-9276-6C675278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A8E25-002A-4E98-BB2A-01FB36D76154}" type="datetime1">
              <a:rPr lang="en-US" smtClean="0"/>
              <a:t>10/04/2026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137B4-42AE-4A85-874F-1A8B68BC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6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D7E4-F532-486B-A5D3-F415F754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61515-3A72-42B5-8BD9-897927B7E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A63F-8CDE-42AD-8454-B5BBBF12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330F-7983-4560-A246-40FEC314E2D2}" type="datetime1">
              <a:rPr lang="en-US" smtClean="0"/>
              <a:t>10/04/2026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36A9E-902E-470A-9DA8-202AF391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5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D6D3A-1407-425E-8E92-0A63D8588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EABB4-D3CC-4726-90B8-55919C3AF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5C08-22A7-4A1A-A0C9-A0B6814E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DC28-D2E6-4010-B36E-6D7C8CD4A344}" type="datetime1">
              <a:rPr lang="en-US" smtClean="0"/>
              <a:t>10/04/2026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D7961-58B8-412D-BEAF-3E61B4E5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7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C41E3-CC2B-471B-8C2F-35BCAC61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8D17E-5C7C-4B3C-A257-4B221632B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6B5E0-629F-464F-8BCA-AEB25DAC0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3270F-8B37-4C67-9C88-427EE729FD2E}" type="datetime1">
              <a:rPr lang="en-US" smtClean="0"/>
              <a:t>10/04/2026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1DEA-D031-4596-8A0A-924195302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AE65-149B-47F7-B155-458B2D08F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BÀI CŨ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04058" y="1220981"/>
            <a:ext cx="11924712" cy="275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GRAY (3 bits) sang led 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cathode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c?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(3 bits) sang led 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b, e?</a:t>
            </a:r>
          </a:p>
        </p:txBody>
      </p:sp>
    </p:spTree>
    <p:extLst>
      <p:ext uri="{BB962C8B-B14F-4D97-AF65-F5344CB8AC3E}">
        <p14:creationId xmlns:p14="http://schemas.microsoft.com/office/powerpoint/2010/main" val="381532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BÀI CŨ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04058" y="1220981"/>
            <a:ext cx="11924712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1: Vẽ bảng trạng thái (dạng rút gọn) và trình bày cách thành lập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phương trình logic của mạch phân kênh: 1 kênh sang 4 kênh.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vi-V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2: Vẽ bảng trạng thái (dạng rút gọn) và trình bày cách thành lập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phương trình logic của mạch dồn kênh: 4 kênh sang 1 kênh.</a:t>
            </a:r>
            <a:endParaRPr lang="vi-VN" sz="32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21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BÀI CŨ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1500899"/>
            <a:ext cx="116339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		         B.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XOR		         D.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D0DABF-63C7-4FFC-B149-16F698C4A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751" y="2352820"/>
            <a:ext cx="6383899" cy="17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8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BÀI CŨ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1500899"/>
            <a:ext cx="116339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1111011B; 331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19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B. 1011011B; 133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91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1111011B; 133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91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D. 1011011B; 331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19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7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cathode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1101101					B. 1011011		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1001111					D. 0000111</a:t>
            </a:r>
          </a:p>
        </p:txBody>
      </p:sp>
    </p:spTree>
    <p:extLst>
      <p:ext uri="{BB962C8B-B14F-4D97-AF65-F5344CB8AC3E}">
        <p14:creationId xmlns:p14="http://schemas.microsoft.com/office/powerpoint/2010/main" val="236647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337625"/>
            <a:ext cx="11761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BÀI CŨ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1500899"/>
            <a:ext cx="116339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</a:t>
            </a:r>
            <a:r>
              <a:rPr lang="vi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Hàm logic của mạch logic cho như trên hình vẽ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 	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 		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9EB0CB-BD2F-4CB4-A726-F6E0C390C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226" y="2449206"/>
            <a:ext cx="6397547" cy="1461611"/>
          </a:xfrm>
          <a:prstGeom prst="rect">
            <a:avLst/>
          </a:prstGeom>
        </p:spPr>
      </p:pic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97B6638-EB55-4DB7-8F63-62FF9C81D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6948" y="5317590"/>
          <a:ext cx="3070885" cy="75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3137" imgH="180836" progId="Equation.DSMT4">
                  <p:embed/>
                </p:oleObj>
              </mc:Choice>
              <mc:Fallback>
                <p:oleObj name="Equation" r:id="rId3" imgW="733137" imgH="180836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197B6638-EB55-4DB7-8F63-62FF9C81D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6948" y="5317590"/>
                        <a:ext cx="3070885" cy="757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62EA7A2-B152-416C-A71B-17918B37F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2499" y="4210189"/>
          <a:ext cx="3070885" cy="75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3137" imgH="180836" progId="Equation.DSMT4">
                  <p:embed/>
                </p:oleObj>
              </mc:Choice>
              <mc:Fallback>
                <p:oleObj name="Equation" r:id="rId5" imgW="733137" imgH="180836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E62EA7A2-B152-416C-A71B-17918B37F4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2499" y="4210189"/>
                        <a:ext cx="3070885" cy="757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256CAC43-9009-4509-97C3-B94CCF1BC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0123" y="5193838"/>
          <a:ext cx="3070884" cy="881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3137" imgH="275749" progId="Equation.DSMT4">
                  <p:embed/>
                </p:oleObj>
              </mc:Choice>
              <mc:Fallback>
                <p:oleObj name="Equation" r:id="rId7" imgW="733137" imgH="275749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256CAC43-9009-4509-97C3-B94CCF1BC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70123" y="5193838"/>
                        <a:ext cx="3070884" cy="881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02243F38-C03B-4C9C-9352-E37C45D0B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0123" y="4100499"/>
          <a:ext cx="2947600" cy="83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8121" imgH="180836" progId="Equation.DSMT4">
                  <p:embed/>
                </p:oleObj>
              </mc:Choice>
              <mc:Fallback>
                <p:oleObj name="Equation" r:id="rId9" imgW="638121" imgH="180836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02243F38-C03B-4C9C-9352-E37C45D0BC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70123" y="4100499"/>
                        <a:ext cx="2947600" cy="835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298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6" y="1856935"/>
            <a:ext cx="11761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MỤC ĐÍCH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2.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3.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978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41380" y="840439"/>
            <a:ext cx="11924712" cy="5868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YÊU CẦU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CĐR1.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CĐR2.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CĐR3.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CĐR4.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984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				KỸ THUẬT SỐ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1425914"/>
            <a:ext cx="11924712" cy="410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spcBef>
                <a:spcPts val="400"/>
              </a:spcBef>
              <a:spcAft>
                <a:spcPts val="4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 GIAN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450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1075288"/>
            <a:ext cx="117614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41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892512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Flip-flop (FF)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8AF719-86B6-4956-AEB9-9414CF3A29F1}"/>
              </a:ext>
            </a:extLst>
          </p:cNvPr>
          <p:cNvGrpSpPr>
            <a:grpSpLocks/>
          </p:cNvGrpSpPr>
          <p:nvPr/>
        </p:nvGrpSpPr>
        <p:grpSpPr bwMode="auto">
          <a:xfrm>
            <a:off x="7310255" y="3513782"/>
            <a:ext cx="4883652" cy="3276741"/>
            <a:chOff x="3856" y="4642"/>
            <a:chExt cx="3649" cy="2648"/>
          </a:xfrm>
        </p:grpSpPr>
        <p:sp>
          <p:nvSpPr>
            <p:cNvPr id="10" name="Text Box 183">
              <a:extLst>
                <a:ext uri="{FF2B5EF4-FFF2-40B4-BE49-F238E27FC236}">
                  <a16:creationId xmlns:a16="http://schemas.microsoft.com/office/drawing/2014/main" id="{EEAD6B95-6775-4BD9-BDE1-D035B067B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6" y="5414"/>
              <a:ext cx="1539" cy="10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Các </a:t>
              </a:r>
            </a:p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đầu </a:t>
              </a:r>
            </a:p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</a:p>
          </p:txBody>
        </p:sp>
        <p:sp>
          <p:nvSpPr>
            <p:cNvPr id="11" name="Text Box 184">
              <a:extLst>
                <a:ext uri="{FF2B5EF4-FFF2-40B4-BE49-F238E27FC236}">
                  <a16:creationId xmlns:a16="http://schemas.microsoft.com/office/drawing/2014/main" id="{A4BDBDDB-8E13-416D-B1AA-2CFA37187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2" y="4642"/>
              <a:ext cx="72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</a:t>
              </a:r>
              <a:endPara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85">
              <a:extLst>
                <a:ext uri="{FF2B5EF4-FFF2-40B4-BE49-F238E27FC236}">
                  <a16:creationId xmlns:a16="http://schemas.microsoft.com/office/drawing/2014/main" id="{14EDF9ED-EFEF-4605-824A-35D47E32A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" y="5019"/>
              <a:ext cx="576" cy="5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4" name="Text Box 187">
              <a:extLst>
                <a:ext uri="{FF2B5EF4-FFF2-40B4-BE49-F238E27FC236}">
                  <a16:creationId xmlns:a16="http://schemas.microsoft.com/office/drawing/2014/main" id="{A2C9DDC6-19F1-44F3-B6BF-267B8A1EF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2" y="6858"/>
              <a:ext cx="72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9E6BEB-4464-4158-A46A-815535DCF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" y="5146"/>
              <a:ext cx="1152" cy="15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Line 189">
              <a:extLst>
                <a:ext uri="{FF2B5EF4-FFF2-40B4-BE49-F238E27FC236}">
                  <a16:creationId xmlns:a16="http://schemas.microsoft.com/office/drawing/2014/main" id="{7A65E41B-21F1-4244-9F7B-EB85223374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973" y="4856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190">
              <a:extLst>
                <a:ext uri="{FF2B5EF4-FFF2-40B4-BE49-F238E27FC236}">
                  <a16:creationId xmlns:a16="http://schemas.microsoft.com/office/drawing/2014/main" id="{B33C60A7-2BA2-46F6-894D-C52109E957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73" y="6738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191">
              <a:extLst>
                <a:ext uri="{FF2B5EF4-FFF2-40B4-BE49-F238E27FC236}">
                  <a16:creationId xmlns:a16="http://schemas.microsoft.com/office/drawing/2014/main" id="{240D0008-07FD-4264-ADF3-A577BCA3A6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49" y="5325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192">
              <a:extLst>
                <a:ext uri="{FF2B5EF4-FFF2-40B4-BE49-F238E27FC236}">
                  <a16:creationId xmlns:a16="http://schemas.microsoft.com/office/drawing/2014/main" id="{ED447C6B-CDDA-4DE7-B78D-BC3976FAED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49" y="6461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193">
              <a:extLst>
                <a:ext uri="{FF2B5EF4-FFF2-40B4-BE49-F238E27FC236}">
                  <a16:creationId xmlns:a16="http://schemas.microsoft.com/office/drawing/2014/main" id="{B01AFDF8-4369-4750-AF77-AEAA2F5B13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77" y="5469"/>
              <a:ext cx="7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194">
              <a:extLst>
                <a:ext uri="{FF2B5EF4-FFF2-40B4-BE49-F238E27FC236}">
                  <a16:creationId xmlns:a16="http://schemas.microsoft.com/office/drawing/2014/main" id="{177AAFA9-7FF6-4913-8DFC-0DE11174E1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21" y="5757"/>
              <a:ext cx="1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195">
              <a:extLst>
                <a:ext uri="{FF2B5EF4-FFF2-40B4-BE49-F238E27FC236}">
                  <a16:creationId xmlns:a16="http://schemas.microsoft.com/office/drawing/2014/main" id="{E94324EA-992E-423B-85BE-503B5FE0A2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21" y="6044"/>
              <a:ext cx="1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196">
              <a:extLst>
                <a:ext uri="{FF2B5EF4-FFF2-40B4-BE49-F238E27FC236}">
                  <a16:creationId xmlns:a16="http://schemas.microsoft.com/office/drawing/2014/main" id="{DE73F517-AC5E-4CB7-8624-414DDD3C68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77" y="6333"/>
              <a:ext cx="7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197">
              <a:extLst>
                <a:ext uri="{FF2B5EF4-FFF2-40B4-BE49-F238E27FC236}">
                  <a16:creationId xmlns:a16="http://schemas.microsoft.com/office/drawing/2014/main" id="{37478F76-C038-4514-887E-6DD83705D7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09" y="6621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AutoShape 198">
              <a:extLst>
                <a:ext uri="{FF2B5EF4-FFF2-40B4-BE49-F238E27FC236}">
                  <a16:creationId xmlns:a16="http://schemas.microsoft.com/office/drawing/2014/main" id="{9F2AAD52-5076-4AC9-84BB-5F7109899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5469"/>
              <a:ext cx="144" cy="864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199">
              <a:extLst>
                <a:ext uri="{FF2B5EF4-FFF2-40B4-BE49-F238E27FC236}">
                  <a16:creationId xmlns:a16="http://schemas.microsoft.com/office/drawing/2014/main" id="{0CB178C5-B733-4D7E-A8EF-3286A3868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9" y="6496"/>
              <a:ext cx="72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CK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6A270F-673B-40AA-8021-C2FA3DF50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4" y="6736"/>
              <a:ext cx="113" cy="1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AutoShape 202">
              <a:extLst>
                <a:ext uri="{FF2B5EF4-FFF2-40B4-BE49-F238E27FC236}">
                  <a16:creationId xmlns:a16="http://schemas.microsoft.com/office/drawing/2014/main" id="{2882A186-A9AE-4AEC-930C-E9684C5FFD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408" y="6560"/>
              <a:ext cx="113" cy="113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58FD87D-E6A8-416F-BA92-61BEB5A971ED}"/>
              </a:ext>
            </a:extLst>
          </p:cNvPr>
          <p:cNvSpPr/>
          <p:nvPr/>
        </p:nvSpPr>
        <p:spPr>
          <a:xfrm>
            <a:off x="259806" y="3956785"/>
            <a:ext cx="684289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có từ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đến nhiều 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 vào điều khiển. </a:t>
            </a:r>
          </a:p>
          <a:p>
            <a:pPr lvl="0" algn="just"/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đầu ra ở trạng thái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phủ định 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nhau. </a:t>
            </a:r>
          </a:p>
          <a:p>
            <a:pPr lvl="0" algn="just"/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 vào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thiết lập Q về 0, đầu vào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thiết lập Q về 1. </a:t>
            </a:r>
          </a:p>
          <a:p>
            <a:pPr lvl="0" algn="just"/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1 ngõ vào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bộ Clock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27E7BEC-1691-4692-A12E-6C31AB37D2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699342"/>
              </p:ext>
            </p:extLst>
          </p:nvPr>
        </p:nvGraphicFramePr>
        <p:xfrm>
          <a:off x="11507442" y="5281707"/>
          <a:ext cx="513258" cy="57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3674" imgH="495349" progId="Equation.DSMT4">
                  <p:embed/>
                </p:oleObj>
              </mc:Choice>
              <mc:Fallback>
                <p:oleObj name="Equation" r:id="rId2" imgW="443674" imgH="4953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07442" y="5281707"/>
                        <a:ext cx="513258" cy="573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3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892512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8E9F0889-A3B6-4E06-84AA-3B291F327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140" y="4757372"/>
            <a:ext cx="54387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12">
            <a:extLst>
              <a:ext uri="{FF2B5EF4-FFF2-40B4-BE49-F238E27FC236}">
                <a16:creationId xmlns:a16="http://schemas.microsoft.com/office/drawing/2014/main" id="{BAA416C1-E5BA-438D-A8AA-3C610A2AA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/>
          <a:stretch>
            <a:fillRect/>
          </a:stretch>
        </p:blipFill>
        <p:spPr bwMode="auto">
          <a:xfrm>
            <a:off x="6605140" y="5652722"/>
            <a:ext cx="50958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13">
            <a:extLst>
              <a:ext uri="{FF2B5EF4-FFF2-40B4-BE49-F238E27FC236}">
                <a16:creationId xmlns:a16="http://schemas.microsoft.com/office/drawing/2014/main" id="{C62F12D3-F7F5-4C7E-9486-A1177BEA8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"/>
          <a:stretch>
            <a:fillRect/>
          </a:stretch>
        </p:blipFill>
        <p:spPr bwMode="auto">
          <a:xfrm>
            <a:off x="6541640" y="3614372"/>
            <a:ext cx="38227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14">
            <a:extLst>
              <a:ext uri="{FF2B5EF4-FFF2-40B4-BE49-F238E27FC236}">
                <a16:creationId xmlns:a16="http://schemas.microsoft.com/office/drawing/2014/main" id="{55943607-5622-47B4-A8A2-537F01FD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"/>
          <a:stretch>
            <a:fillRect/>
          </a:stretch>
        </p:blipFill>
        <p:spPr bwMode="auto">
          <a:xfrm>
            <a:off x="6579740" y="2614247"/>
            <a:ext cx="38766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5">
            <a:extLst>
              <a:ext uri="{FF2B5EF4-FFF2-40B4-BE49-F238E27FC236}">
                <a16:creationId xmlns:a16="http://schemas.microsoft.com/office/drawing/2014/main" id="{F16D034C-5FE0-4E7C-905E-DE0D8163E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21" y="923991"/>
            <a:ext cx="2148588" cy="1868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45E45F-A6F7-468C-8289-C3580A2F3455}"/>
              </a:ext>
            </a:extLst>
          </p:cNvPr>
          <p:cNvSpPr/>
          <p:nvPr/>
        </p:nvSpPr>
        <p:spPr>
          <a:xfrm>
            <a:off x="148085" y="2049530"/>
            <a:ext cx="604852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Phân loại theo chức năng:</a:t>
            </a:r>
          </a:p>
          <a:p>
            <a:pPr lvl="0"/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loại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(Delay), FF loại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(Togger)</a:t>
            </a:r>
          </a:p>
          <a:p>
            <a:pPr lvl="0"/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loại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(Reset - Set), FF loại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</a:p>
          <a:p>
            <a:pPr lvl="0"/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Phân loại theo phương thức làm việc: </a:t>
            </a:r>
          </a:p>
          <a:p>
            <a:pPr lvl="0"/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FF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đồng bộ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FF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bộ</a:t>
            </a:r>
            <a:endParaRPr lang="en-US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9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RS (RS-FF)</a:t>
            </a:r>
          </a:p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BFED54-CCA5-422D-8861-84522A3DE8BD}"/>
              </a:ext>
            </a:extLst>
          </p:cNvPr>
          <p:cNvGrpSpPr>
            <a:grpSpLocks/>
          </p:cNvGrpSpPr>
          <p:nvPr/>
        </p:nvGrpSpPr>
        <p:grpSpPr bwMode="auto">
          <a:xfrm>
            <a:off x="6204341" y="927684"/>
            <a:ext cx="5720371" cy="3841264"/>
            <a:chOff x="3596" y="6353"/>
            <a:chExt cx="5238" cy="2767"/>
          </a:xfrm>
        </p:grpSpPr>
        <p:sp>
          <p:nvSpPr>
            <p:cNvPr id="33" name="Text Box 204">
              <a:extLst>
                <a:ext uri="{FF2B5EF4-FFF2-40B4-BE49-F238E27FC236}">
                  <a16:creationId xmlns:a16="http://schemas.microsoft.com/office/drawing/2014/main" id="{1667FE14-044C-47CD-85BB-1585665B7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9" y="7721"/>
              <a:ext cx="700" cy="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4" name="Text Box 205">
              <a:extLst>
                <a:ext uri="{FF2B5EF4-FFF2-40B4-BE49-F238E27FC236}">
                  <a16:creationId xmlns:a16="http://schemas.microsoft.com/office/drawing/2014/main" id="{2674F730-152C-4205-9927-7F39C6369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9" y="6695"/>
              <a:ext cx="700" cy="4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5" name="Text Box 206">
              <a:extLst>
                <a:ext uri="{FF2B5EF4-FFF2-40B4-BE49-F238E27FC236}">
                  <a16:creationId xmlns:a16="http://schemas.microsoft.com/office/drawing/2014/main" id="{173C3686-8ECC-49AC-8A6A-CF879A586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1" y="7204"/>
              <a:ext cx="876" cy="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CK</a:t>
              </a:r>
            </a:p>
          </p:txBody>
        </p:sp>
        <p:cxnSp>
          <p:nvCxnSpPr>
            <p:cNvPr id="36" name="Line 207">
              <a:extLst>
                <a:ext uri="{FF2B5EF4-FFF2-40B4-BE49-F238E27FC236}">
                  <a16:creationId xmlns:a16="http://schemas.microsoft.com/office/drawing/2014/main" id="{6FF1CB51-0329-4380-A051-FC3BF5092F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3" y="6924"/>
              <a:ext cx="52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Line 208">
              <a:extLst>
                <a:ext uri="{FF2B5EF4-FFF2-40B4-BE49-F238E27FC236}">
                  <a16:creationId xmlns:a16="http://schemas.microsoft.com/office/drawing/2014/main" id="{8B044BC3-CDED-47BE-9D2D-42A9C9434B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04" y="7963"/>
              <a:ext cx="5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 Box 209">
              <a:extLst>
                <a:ext uri="{FF2B5EF4-FFF2-40B4-BE49-F238E27FC236}">
                  <a16:creationId xmlns:a16="http://schemas.microsoft.com/office/drawing/2014/main" id="{1BE74A27-1653-4551-8ABC-7315CE65F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8" y="6353"/>
              <a:ext cx="875" cy="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</a:t>
              </a:r>
            </a:p>
          </p:txBody>
        </p:sp>
        <p:sp>
          <p:nvSpPr>
            <p:cNvPr id="39" name="Text Box 210">
              <a:extLst>
                <a:ext uri="{FF2B5EF4-FFF2-40B4-BE49-F238E27FC236}">
                  <a16:creationId xmlns:a16="http://schemas.microsoft.com/office/drawing/2014/main" id="{BFFABAB3-B759-4251-95CA-FD87AF2EA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8" y="6638"/>
              <a:ext cx="700" cy="5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40" name="Text Box 211">
              <a:extLst>
                <a:ext uri="{FF2B5EF4-FFF2-40B4-BE49-F238E27FC236}">
                  <a16:creationId xmlns:a16="http://schemas.microsoft.com/office/drawing/2014/main" id="{DFF570D5-4D6E-4A80-A2E7-E1A3DE6D8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9" y="7687"/>
              <a:ext cx="700" cy="5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/Q</a:t>
              </a:r>
            </a:p>
          </p:txBody>
        </p:sp>
        <p:sp>
          <p:nvSpPr>
            <p:cNvPr id="41" name="Text Box 212">
              <a:extLst>
                <a:ext uri="{FF2B5EF4-FFF2-40B4-BE49-F238E27FC236}">
                  <a16:creationId xmlns:a16="http://schemas.microsoft.com/office/drawing/2014/main" id="{69DCFF98-FF3B-46DC-B478-255395C04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8" y="8209"/>
              <a:ext cx="876" cy="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E13CDF4-21C4-4E43-9C15-880328BF6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" y="6715"/>
              <a:ext cx="1401" cy="151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Line 214">
              <a:extLst>
                <a:ext uri="{FF2B5EF4-FFF2-40B4-BE49-F238E27FC236}">
                  <a16:creationId xmlns:a16="http://schemas.microsoft.com/office/drawing/2014/main" id="{B3C85897-D6EE-40C5-9FFD-581BFF8C01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25" y="6438"/>
              <a:ext cx="0" cy="2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Line 215">
              <a:extLst>
                <a:ext uri="{FF2B5EF4-FFF2-40B4-BE49-F238E27FC236}">
                  <a16:creationId xmlns:a16="http://schemas.microsoft.com/office/drawing/2014/main" id="{A46CDEF8-BDFF-4127-8FD9-982B049A2B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25" y="8232"/>
              <a:ext cx="0" cy="2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Line 216">
              <a:extLst>
                <a:ext uri="{FF2B5EF4-FFF2-40B4-BE49-F238E27FC236}">
                  <a16:creationId xmlns:a16="http://schemas.microsoft.com/office/drawing/2014/main" id="{6DD141BA-4897-4B87-AF5A-739BD5D61B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25" y="6887"/>
              <a:ext cx="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Line 217">
              <a:extLst>
                <a:ext uri="{FF2B5EF4-FFF2-40B4-BE49-F238E27FC236}">
                  <a16:creationId xmlns:a16="http://schemas.microsoft.com/office/drawing/2014/main" id="{A3B29A58-3787-4761-8784-426367D707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25" y="7967"/>
              <a:ext cx="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Line 218">
              <a:extLst>
                <a:ext uri="{FF2B5EF4-FFF2-40B4-BE49-F238E27FC236}">
                  <a16:creationId xmlns:a16="http://schemas.microsoft.com/office/drawing/2014/main" id="{F770BC48-554B-495B-A282-DBD9E5CD88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74" y="7457"/>
              <a:ext cx="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 Box 219">
              <a:extLst>
                <a:ext uri="{FF2B5EF4-FFF2-40B4-BE49-F238E27FC236}">
                  <a16:creationId xmlns:a16="http://schemas.microsoft.com/office/drawing/2014/main" id="{F6B0BC4C-458D-4C86-B8A0-E6FF890F4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6" y="8558"/>
              <a:ext cx="5238" cy="5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2.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Sơ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đồ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chân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RS-FF.</a:t>
              </a:r>
              <a:endPara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6DD7078-1BD4-4376-8C4A-5A3888E29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0" y="7399"/>
              <a:ext cx="113" cy="11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7256198-9967-49E3-A17D-24EE1C9C9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86385"/>
              </p:ext>
            </p:extLst>
          </p:nvPr>
        </p:nvGraphicFramePr>
        <p:xfrm>
          <a:off x="267286" y="2243746"/>
          <a:ext cx="5472607" cy="4323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8928">
                  <a:extLst>
                    <a:ext uri="{9D8B030D-6E8A-4147-A177-3AD203B41FA5}">
                      <a16:colId xmlns:a16="http://schemas.microsoft.com/office/drawing/2014/main" val="896433596"/>
                    </a:ext>
                  </a:extLst>
                </a:gridCol>
                <a:gridCol w="1050029">
                  <a:extLst>
                    <a:ext uri="{9D8B030D-6E8A-4147-A177-3AD203B41FA5}">
                      <a16:colId xmlns:a16="http://schemas.microsoft.com/office/drawing/2014/main" val="3300754668"/>
                    </a:ext>
                  </a:extLst>
                </a:gridCol>
                <a:gridCol w="1051512">
                  <a:extLst>
                    <a:ext uri="{9D8B030D-6E8A-4147-A177-3AD203B41FA5}">
                      <a16:colId xmlns:a16="http://schemas.microsoft.com/office/drawing/2014/main" val="4264382182"/>
                    </a:ext>
                  </a:extLst>
                </a:gridCol>
                <a:gridCol w="1051512">
                  <a:extLst>
                    <a:ext uri="{9D8B030D-6E8A-4147-A177-3AD203B41FA5}">
                      <a16:colId xmlns:a16="http://schemas.microsoft.com/office/drawing/2014/main" val="484354324"/>
                    </a:ext>
                  </a:extLst>
                </a:gridCol>
                <a:gridCol w="1260626">
                  <a:extLst>
                    <a:ext uri="{9D8B030D-6E8A-4147-A177-3AD203B41FA5}">
                      <a16:colId xmlns:a16="http://schemas.microsoft.com/office/drawing/2014/main" val="3780799612"/>
                    </a:ext>
                  </a:extLst>
                </a:gridCol>
              </a:tblGrid>
              <a:tr h="665406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</a:t>
                      </a:r>
                      <a:endParaRPr lang="en-US" sz="3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3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3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0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3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0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r>
                        <a:rPr lang="en-US" sz="3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605649875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614268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2645767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134865794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324416702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349519511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1007766719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Cấm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920834453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Cấm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3356700596"/>
                  </a:ext>
                </a:extLst>
              </a:tr>
            </a:tbl>
          </a:graphicData>
        </a:graphic>
      </p:graphicFrame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23589684-EB8B-4EC2-8373-C52C5B2E9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895474"/>
              </p:ext>
            </p:extLst>
          </p:nvPr>
        </p:nvGraphicFramePr>
        <p:xfrm>
          <a:off x="7183353" y="4745347"/>
          <a:ext cx="3534599" cy="899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5489" imgH="275749" progId="Equation.DSMT4">
                  <p:embed/>
                </p:oleObj>
              </mc:Choice>
              <mc:Fallback>
                <p:oleObj name="Equation" r:id="rId2" imgW="1085489" imgH="2757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83353" y="4745347"/>
                        <a:ext cx="3534599" cy="899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877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RS (RS-FF)</a:t>
            </a:r>
          </a:p>
          <a:p>
            <a:pPr algn="just"/>
            <a:r>
              <a:rPr 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  <a:t> - Xác định đầu vào kích (điều khiển):</a:t>
            </a:r>
          </a:p>
          <a:p>
            <a:pPr algn="just"/>
            <a:r>
              <a:rPr 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  <a:t>Từ bảng trạng thái của RS-FF ta có bảng xác định đầu vào kích: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8" name="Group 51">
            <a:extLst>
              <a:ext uri="{FF2B5EF4-FFF2-40B4-BE49-F238E27FC236}">
                <a16:creationId xmlns:a16="http://schemas.microsoft.com/office/drawing/2014/main" id="{09860EE7-3062-4C67-BAC7-4BD54D0A4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28096"/>
              </p:ext>
            </p:extLst>
          </p:nvPr>
        </p:nvGraphicFramePr>
        <p:xfrm>
          <a:off x="474618" y="3490956"/>
          <a:ext cx="4065602" cy="2587627"/>
        </p:xfrm>
        <a:graphic>
          <a:graphicData uri="http://schemas.openxmlformats.org/drawingml/2006/table">
            <a:tbl>
              <a:tblPr/>
              <a:tblGrid>
                <a:gridCol w="186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2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8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  <a:sym typeface="Symbol" pitchFamily="18" charset="2"/>
                        </a:rPr>
                        <a:t> </a:t>
                      </a:r>
                      <a:r>
                        <a:rPr lang="en-US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8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r>
                        <a:rPr lang="en-US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 Box 114">
            <a:extLst>
              <a:ext uri="{FF2B5EF4-FFF2-40B4-BE49-F238E27FC236}">
                <a16:creationId xmlns:a16="http://schemas.microsoft.com/office/drawing/2014/main" id="{92BC1B19-A51B-46BB-97CF-B750D6C29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799" y="3648539"/>
            <a:ext cx="5029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.VnAvant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.VnAvant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.VnAvant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.VnAvant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.VnAvan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Graph trạng thái:</a:t>
            </a:r>
          </a:p>
        </p:txBody>
      </p:sp>
      <p:pic>
        <p:nvPicPr>
          <p:cNvPr id="30" name="Picture 74">
            <a:extLst>
              <a:ext uri="{FF2B5EF4-FFF2-40B4-BE49-F238E27FC236}">
                <a16:creationId xmlns:a16="http://schemas.microsoft.com/office/drawing/2014/main" id="{E0ED20F8-F11F-4A75-BAC7-7A234327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935" y="4881037"/>
            <a:ext cx="4137433" cy="133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78">
            <a:extLst>
              <a:ext uri="{FF2B5EF4-FFF2-40B4-BE49-F238E27FC236}">
                <a16:creationId xmlns:a16="http://schemas.microsoft.com/office/drawing/2014/main" id="{4825031C-9DD1-4625-8235-8522C5207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77247"/>
              </p:ext>
            </p:extLst>
          </p:nvPr>
        </p:nvGraphicFramePr>
        <p:xfrm>
          <a:off x="6844042" y="5277400"/>
          <a:ext cx="351852" cy="542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579" imgH="215713" progId="Equation.3">
                  <p:embed/>
                </p:oleObj>
              </mc:Choice>
              <mc:Fallback>
                <p:oleObj name="Equation" r:id="rId3" imgW="139579" imgH="215713" progId="Equation.3">
                  <p:embed/>
                  <p:pic>
                    <p:nvPicPr>
                      <p:cNvPr id="63" name="Object 78">
                        <a:extLst>
                          <a:ext uri="{FF2B5EF4-FFF2-40B4-BE49-F238E27FC236}">
                            <a16:creationId xmlns:a16="http://schemas.microsoft.com/office/drawing/2014/main" id="{36185A9F-723F-448E-BB2D-77CE08E02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4042" y="5277400"/>
                        <a:ext cx="351852" cy="542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1">
            <a:extLst>
              <a:ext uri="{FF2B5EF4-FFF2-40B4-BE49-F238E27FC236}">
                <a16:creationId xmlns:a16="http://schemas.microsoft.com/office/drawing/2014/main" id="{A4551EAC-4202-434F-AFBD-FF3CDA98D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090603"/>
              </p:ext>
            </p:extLst>
          </p:nvPr>
        </p:nvGraphicFramePr>
        <p:xfrm>
          <a:off x="11334443" y="5160337"/>
          <a:ext cx="382939" cy="511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203024" progId="Equation.3">
                  <p:embed/>
                </p:oleObj>
              </mc:Choice>
              <mc:Fallback>
                <p:oleObj name="Equation" r:id="rId5" imgW="152268" imgH="203024" progId="Equation.3">
                  <p:embed/>
                  <p:pic>
                    <p:nvPicPr>
                      <p:cNvPr id="64" name="Object 81">
                        <a:extLst>
                          <a:ext uri="{FF2B5EF4-FFF2-40B4-BE49-F238E27FC236}">
                            <a16:creationId xmlns:a16="http://schemas.microsoft.com/office/drawing/2014/main" id="{B79E9909-0172-4847-92F3-3E11C7870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443" y="5160337"/>
                        <a:ext cx="382939" cy="511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82">
            <a:extLst>
              <a:ext uri="{FF2B5EF4-FFF2-40B4-BE49-F238E27FC236}">
                <a16:creationId xmlns:a16="http://schemas.microsoft.com/office/drawing/2014/main" id="{0B193568-53D8-489C-988D-EAC7234CF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485017"/>
              </p:ext>
            </p:extLst>
          </p:nvPr>
        </p:nvGraphicFramePr>
        <p:xfrm>
          <a:off x="8924968" y="4362401"/>
          <a:ext cx="669789" cy="544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353" imgH="215619" progId="Equation.3">
                  <p:embed/>
                </p:oleObj>
              </mc:Choice>
              <mc:Fallback>
                <p:oleObj name="Equation" r:id="rId7" imgW="266353" imgH="215619" progId="Equation.3">
                  <p:embed/>
                  <p:pic>
                    <p:nvPicPr>
                      <p:cNvPr id="65" name="Object 82">
                        <a:extLst>
                          <a:ext uri="{FF2B5EF4-FFF2-40B4-BE49-F238E27FC236}">
                            <a16:creationId xmlns:a16="http://schemas.microsoft.com/office/drawing/2014/main" id="{238505D6-46C2-43B7-8F79-579091146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4968" y="4362401"/>
                        <a:ext cx="669789" cy="544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3">
            <a:extLst>
              <a:ext uri="{FF2B5EF4-FFF2-40B4-BE49-F238E27FC236}">
                <a16:creationId xmlns:a16="http://schemas.microsoft.com/office/drawing/2014/main" id="{603308FB-A672-4494-BCCB-DDBF6E6B0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318722"/>
              </p:ext>
            </p:extLst>
          </p:nvPr>
        </p:nvGraphicFramePr>
        <p:xfrm>
          <a:off x="9049447" y="6042691"/>
          <a:ext cx="671202" cy="542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353" imgH="215619" progId="Equation.3">
                  <p:embed/>
                </p:oleObj>
              </mc:Choice>
              <mc:Fallback>
                <p:oleObj name="Equation" r:id="rId9" imgW="266353" imgH="215619" progId="Equation.3">
                  <p:embed/>
                  <p:pic>
                    <p:nvPicPr>
                      <p:cNvPr id="66" name="Object 83">
                        <a:extLst>
                          <a:ext uri="{FF2B5EF4-FFF2-40B4-BE49-F238E27FC236}">
                            <a16:creationId xmlns:a16="http://schemas.microsoft.com/office/drawing/2014/main" id="{0E4E4396-90A4-4CE3-8B2D-8E2E105EC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9447" y="6042691"/>
                        <a:ext cx="671202" cy="542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70">
            <a:extLst>
              <a:ext uri="{FF2B5EF4-FFF2-40B4-BE49-F238E27FC236}">
                <a16:creationId xmlns:a16="http://schemas.microsoft.com/office/drawing/2014/main" id="{D7EDC3BD-20F0-B582-328E-8540FB3BF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973" y="3819208"/>
            <a:ext cx="1391161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.VnAvant" panose="020B7200000000000000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vi-VN" altLang="en-US" sz="2200" b="0">
                <a:latin typeface="Calibri" panose="020F0502020204030204" pitchFamily="34" charset="0"/>
              </a:rPr>
              <a:t>X: lấy giá trị tùy ý (0 hoặc 1), hay còn gọi không xác định.</a:t>
            </a:r>
            <a:endParaRPr lang="en-US" altLang="en-US" sz="22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8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JK (JK-FF)</a:t>
            </a:r>
          </a:p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7256198-9967-49E3-A17D-24EE1C9C9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281384"/>
              </p:ext>
            </p:extLst>
          </p:nvPr>
        </p:nvGraphicFramePr>
        <p:xfrm>
          <a:off x="267286" y="2243746"/>
          <a:ext cx="5472607" cy="4323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8928">
                  <a:extLst>
                    <a:ext uri="{9D8B030D-6E8A-4147-A177-3AD203B41FA5}">
                      <a16:colId xmlns:a16="http://schemas.microsoft.com/office/drawing/2014/main" val="896433596"/>
                    </a:ext>
                  </a:extLst>
                </a:gridCol>
                <a:gridCol w="1050029">
                  <a:extLst>
                    <a:ext uri="{9D8B030D-6E8A-4147-A177-3AD203B41FA5}">
                      <a16:colId xmlns:a16="http://schemas.microsoft.com/office/drawing/2014/main" val="3300754668"/>
                    </a:ext>
                  </a:extLst>
                </a:gridCol>
                <a:gridCol w="1051512">
                  <a:extLst>
                    <a:ext uri="{9D8B030D-6E8A-4147-A177-3AD203B41FA5}">
                      <a16:colId xmlns:a16="http://schemas.microsoft.com/office/drawing/2014/main" val="4264382182"/>
                    </a:ext>
                  </a:extLst>
                </a:gridCol>
                <a:gridCol w="1051512">
                  <a:extLst>
                    <a:ext uri="{9D8B030D-6E8A-4147-A177-3AD203B41FA5}">
                      <a16:colId xmlns:a16="http://schemas.microsoft.com/office/drawing/2014/main" val="484354324"/>
                    </a:ext>
                  </a:extLst>
                </a:gridCol>
                <a:gridCol w="1260626">
                  <a:extLst>
                    <a:ext uri="{9D8B030D-6E8A-4147-A177-3AD203B41FA5}">
                      <a16:colId xmlns:a16="http://schemas.microsoft.com/office/drawing/2014/main" val="3780799612"/>
                    </a:ext>
                  </a:extLst>
                </a:gridCol>
              </a:tblGrid>
              <a:tr h="665406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</a:t>
                      </a:r>
                      <a:endParaRPr lang="en-US" sz="3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sz="3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3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0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3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0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r>
                        <a:rPr lang="en-US" sz="3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605649875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614268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2645767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134865794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324416702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349519511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1007766719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920834453"/>
                  </a:ext>
                </a:extLst>
              </a:tr>
              <a:tr h="420630"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3356700596"/>
                  </a:ext>
                </a:extLst>
              </a:tr>
            </a:tbl>
          </a:graphicData>
        </a:graphic>
      </p:graphicFrame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E2F025-E1C9-4B05-8DA1-805166AB1728}"/>
              </a:ext>
            </a:extLst>
          </p:cNvPr>
          <p:cNvGrpSpPr/>
          <p:nvPr/>
        </p:nvGrpSpPr>
        <p:grpSpPr>
          <a:xfrm>
            <a:off x="6204341" y="1097280"/>
            <a:ext cx="5720371" cy="3671668"/>
            <a:chOff x="6204341" y="1097280"/>
            <a:chExt cx="5720371" cy="3671668"/>
          </a:xfrm>
        </p:grpSpPr>
        <p:sp>
          <p:nvSpPr>
            <p:cNvPr id="48" name="Text Box 219">
              <a:extLst>
                <a:ext uri="{FF2B5EF4-FFF2-40B4-BE49-F238E27FC236}">
                  <a16:creationId xmlns:a16="http://schemas.microsoft.com/office/drawing/2014/main" id="{F6B0BC4C-458D-4C86-B8A0-E6FF890F4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4341" y="3988756"/>
              <a:ext cx="5720371" cy="780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3.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Sơ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đồ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chân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JK-FF.</a:t>
              </a:r>
              <a:endPara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A8EC743-0B0B-477B-B5AD-BDA1B0929C40}"/>
                </a:ext>
              </a:extLst>
            </p:cNvPr>
            <p:cNvPicPr/>
            <p:nvPr/>
          </p:nvPicPr>
          <p:blipFill rotWithShape="1">
            <a:blip r:embed="rId2">
              <a:lum bright="20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2" t="6411" r="14316" b="14743"/>
            <a:stretch/>
          </p:blipFill>
          <p:spPr bwMode="auto">
            <a:xfrm>
              <a:off x="7695028" y="1097280"/>
              <a:ext cx="3263704" cy="289147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746D654-8A58-452C-AD1D-DCBEBD6C5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129862"/>
              </p:ext>
            </p:extLst>
          </p:nvPr>
        </p:nvGraphicFramePr>
        <p:xfrm>
          <a:off x="6766560" y="4951829"/>
          <a:ext cx="4950822" cy="1119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71148" imgH="256694" progId="Equation.DSMT4">
                  <p:embed/>
                </p:oleObj>
              </mc:Choice>
              <mc:Fallback>
                <p:oleObj name="Equation" r:id="rId3" imgW="1171148" imgH="25669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6560" y="4951829"/>
                        <a:ext cx="4950822" cy="11191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64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D (D-FF)</a:t>
            </a:r>
          </a:p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7256198-9967-49E3-A17D-24EE1C9C9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42560"/>
              </p:ext>
            </p:extLst>
          </p:nvPr>
        </p:nvGraphicFramePr>
        <p:xfrm>
          <a:off x="474618" y="2741652"/>
          <a:ext cx="4392804" cy="2652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799">
                  <a:extLst>
                    <a:ext uri="{9D8B030D-6E8A-4147-A177-3AD203B41FA5}">
                      <a16:colId xmlns:a16="http://schemas.microsoft.com/office/drawing/2014/main" val="896433596"/>
                    </a:ext>
                  </a:extLst>
                </a:gridCol>
                <a:gridCol w="1044433">
                  <a:extLst>
                    <a:ext uri="{9D8B030D-6E8A-4147-A177-3AD203B41FA5}">
                      <a16:colId xmlns:a16="http://schemas.microsoft.com/office/drawing/2014/main" val="4264382182"/>
                    </a:ext>
                  </a:extLst>
                </a:gridCol>
                <a:gridCol w="1044433">
                  <a:extLst>
                    <a:ext uri="{9D8B030D-6E8A-4147-A177-3AD203B41FA5}">
                      <a16:colId xmlns:a16="http://schemas.microsoft.com/office/drawing/2014/main" val="484354324"/>
                    </a:ext>
                  </a:extLst>
                </a:gridCol>
                <a:gridCol w="1252139">
                  <a:extLst>
                    <a:ext uri="{9D8B030D-6E8A-4147-A177-3AD203B41FA5}">
                      <a16:colId xmlns:a16="http://schemas.microsoft.com/office/drawing/2014/main" val="3780799612"/>
                    </a:ext>
                  </a:extLst>
                </a:gridCol>
              </a:tblGrid>
              <a:tr h="702221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3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605649875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614268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2645767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134865794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324416702"/>
                  </a:ext>
                </a:extLst>
              </a:tr>
            </a:tbl>
          </a:graphicData>
        </a:graphic>
      </p:graphicFrame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056AFB-5E44-4F71-8F98-A42744A99E8C}"/>
              </a:ext>
            </a:extLst>
          </p:cNvPr>
          <p:cNvGrpSpPr/>
          <p:nvPr/>
        </p:nvGrpSpPr>
        <p:grpSpPr>
          <a:xfrm>
            <a:off x="6204341" y="927685"/>
            <a:ext cx="5720371" cy="3841263"/>
            <a:chOff x="6204341" y="927685"/>
            <a:chExt cx="5720371" cy="3841263"/>
          </a:xfrm>
        </p:grpSpPr>
        <p:sp>
          <p:nvSpPr>
            <p:cNvPr id="48" name="Text Box 219">
              <a:extLst>
                <a:ext uri="{FF2B5EF4-FFF2-40B4-BE49-F238E27FC236}">
                  <a16:creationId xmlns:a16="http://schemas.microsoft.com/office/drawing/2014/main" id="{F6B0BC4C-458D-4C86-B8A0-E6FF890F4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4341" y="3988756"/>
              <a:ext cx="5720371" cy="780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4.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Sơ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đồ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chân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D-FF.</a:t>
              </a:r>
              <a:endPara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FAB606C-22FE-4BFF-A756-D3ECB3460A78}"/>
                </a:ext>
              </a:extLst>
            </p:cNvPr>
            <p:cNvPicPr/>
            <p:nvPr/>
          </p:nvPicPr>
          <p:blipFill rotWithShape="1">
            <a:blip r:embed="rId2">
              <a:lum bright="20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8" t="10897" r="14744" b="15812"/>
            <a:stretch/>
          </p:blipFill>
          <p:spPr bwMode="auto">
            <a:xfrm>
              <a:off x="7948246" y="927685"/>
              <a:ext cx="3080825" cy="308120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31EB930-76AF-4617-83D3-C381B410C9C1}"/>
              </a:ext>
            </a:extLst>
          </p:cNvPr>
          <p:cNvSpPr txBox="1"/>
          <p:nvPr/>
        </p:nvSpPr>
        <p:spPr>
          <a:xfrm>
            <a:off x="7324580" y="5148539"/>
            <a:ext cx="1917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3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n+1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D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3728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T (T-FF)</a:t>
            </a:r>
          </a:p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7256198-9967-49E3-A17D-24EE1C9C9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257956"/>
              </p:ext>
            </p:extLst>
          </p:nvPr>
        </p:nvGraphicFramePr>
        <p:xfrm>
          <a:off x="474618" y="2741652"/>
          <a:ext cx="4392804" cy="26529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799">
                  <a:extLst>
                    <a:ext uri="{9D8B030D-6E8A-4147-A177-3AD203B41FA5}">
                      <a16:colId xmlns:a16="http://schemas.microsoft.com/office/drawing/2014/main" val="896433596"/>
                    </a:ext>
                  </a:extLst>
                </a:gridCol>
                <a:gridCol w="1044433">
                  <a:extLst>
                    <a:ext uri="{9D8B030D-6E8A-4147-A177-3AD203B41FA5}">
                      <a16:colId xmlns:a16="http://schemas.microsoft.com/office/drawing/2014/main" val="4264382182"/>
                    </a:ext>
                  </a:extLst>
                </a:gridCol>
                <a:gridCol w="1044433">
                  <a:extLst>
                    <a:ext uri="{9D8B030D-6E8A-4147-A177-3AD203B41FA5}">
                      <a16:colId xmlns:a16="http://schemas.microsoft.com/office/drawing/2014/main" val="484354324"/>
                    </a:ext>
                  </a:extLst>
                </a:gridCol>
                <a:gridCol w="1252139">
                  <a:extLst>
                    <a:ext uri="{9D8B030D-6E8A-4147-A177-3AD203B41FA5}">
                      <a16:colId xmlns:a16="http://schemas.microsoft.com/office/drawing/2014/main" val="3780799612"/>
                    </a:ext>
                  </a:extLst>
                </a:gridCol>
              </a:tblGrid>
              <a:tr h="702221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="1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3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32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r>
                        <a:rPr lang="en-US" sz="3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605649875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614268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4192645767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32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134865794"/>
                  </a:ext>
                </a:extLst>
              </a:tr>
              <a:tr h="482496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79" marR="5897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8979" marR="58979" marT="0" marB="0" anchor="ctr"/>
                </a:tc>
                <a:extLst>
                  <a:ext uri="{0D108BD9-81ED-4DB2-BD59-A6C34878D82A}">
                    <a16:rowId xmlns:a16="http://schemas.microsoft.com/office/drawing/2014/main" val="2324416702"/>
                  </a:ext>
                </a:extLst>
              </a:tr>
            </a:tbl>
          </a:graphicData>
        </a:graphic>
      </p:graphicFrame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85DD2E-E81A-42B8-88A7-2D9C4A90C73C}"/>
              </a:ext>
            </a:extLst>
          </p:cNvPr>
          <p:cNvGrpSpPr/>
          <p:nvPr/>
        </p:nvGrpSpPr>
        <p:grpSpPr>
          <a:xfrm>
            <a:off x="6204341" y="1063131"/>
            <a:ext cx="5720371" cy="3705817"/>
            <a:chOff x="6204341" y="1063131"/>
            <a:chExt cx="5720371" cy="3705817"/>
          </a:xfrm>
        </p:grpSpPr>
        <p:sp>
          <p:nvSpPr>
            <p:cNvPr id="48" name="Text Box 219">
              <a:extLst>
                <a:ext uri="{FF2B5EF4-FFF2-40B4-BE49-F238E27FC236}">
                  <a16:creationId xmlns:a16="http://schemas.microsoft.com/office/drawing/2014/main" id="{F6B0BC4C-458D-4C86-B8A0-E6FF890F4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4341" y="3988756"/>
              <a:ext cx="5720371" cy="780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Sơ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đồ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chân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i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32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-FF.</a:t>
              </a:r>
              <a:endPara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FC01545-23B3-4EA1-B311-E5437234A603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0449" y="1063131"/>
              <a:ext cx="3516923" cy="292562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9C53C38-B285-40B5-BAC5-095C6F18E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954385"/>
              </p:ext>
            </p:extLst>
          </p:nvPr>
        </p:nvGraphicFramePr>
        <p:xfrm>
          <a:off x="5221877" y="4871228"/>
          <a:ext cx="6495505" cy="971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253" imgH="256694" progId="Equation.DSMT4">
                  <p:embed/>
                </p:oleObj>
              </mc:Choice>
              <mc:Fallback>
                <p:oleObj name="Equation" r:id="rId3" imgW="1714253" imgH="25669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1877" y="4871228"/>
                        <a:ext cx="6495505" cy="971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185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50">
            <a:extLst>
              <a:ext uri="{FF2B5EF4-FFF2-40B4-BE49-F238E27FC236}">
                <a16:creationId xmlns:a16="http://schemas.microsoft.com/office/drawing/2014/main" id="{AEA3ADEE-93BE-499E-B6CC-C4636D54A44D}"/>
              </a:ext>
            </a:extLst>
          </p:cNvPr>
          <p:cNvGrpSpPr>
            <a:grpSpLocks/>
          </p:cNvGrpSpPr>
          <p:nvPr/>
        </p:nvGrpSpPr>
        <p:grpSpPr bwMode="auto">
          <a:xfrm>
            <a:off x="7789048" y="1945633"/>
            <a:ext cx="2743200" cy="2665413"/>
            <a:chOff x="144" y="864"/>
            <a:chExt cx="1728" cy="1679"/>
          </a:xfrm>
        </p:grpSpPr>
        <p:grpSp>
          <p:nvGrpSpPr>
            <p:cNvPr id="13" name="Group 3">
              <a:extLst>
                <a:ext uri="{FF2B5EF4-FFF2-40B4-BE49-F238E27FC236}">
                  <a16:creationId xmlns:a16="http://schemas.microsoft.com/office/drawing/2014/main" id="{51A7F3EE-1000-42BC-B4D1-249DD8A50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864"/>
              <a:ext cx="1728" cy="1679"/>
              <a:chOff x="672" y="2353"/>
              <a:chExt cx="1728" cy="1679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D61DCCFF-DDE1-4BCC-BEC5-1A9B0FEBA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7"/>
                <a:ext cx="672" cy="1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endParaRPr kumimoji="0" lang="en-US" altLang="en-US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endParaRPr kumimoji="0" lang="en-US" altLang="en-US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10288C87-C325-46C0-AA35-FB4773F20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737"/>
                <a:ext cx="528" cy="1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2912EC3-ECFD-4CE5-AC61-D5E9B1CAA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737"/>
                <a:ext cx="528" cy="1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DD9B64D5-C660-49B3-9D47-0773A3BC7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353"/>
                <a:ext cx="67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n+1</a:t>
                </a:r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C9B4CD4B-0D52-41AE-8F3A-EA5932EDB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353"/>
                <a:ext cx="52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</a:p>
            </p:txBody>
          </p:sp>
          <p:sp>
            <p:nvSpPr>
              <p:cNvPr id="21" name="Rectangle 9">
                <a:extLst>
                  <a:ext uri="{FF2B5EF4-FFF2-40B4-BE49-F238E27FC236}">
                    <a16:creationId xmlns:a16="http://schemas.microsoft.com/office/drawing/2014/main" id="{08DC6020-E5D4-427A-AC1D-7216BE2B6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353"/>
                <a:ext cx="528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J</a:t>
                </a:r>
              </a:p>
            </p:txBody>
          </p:sp>
          <p:sp>
            <p:nvSpPr>
              <p:cNvPr id="22" name="Line 10">
                <a:extLst>
                  <a:ext uri="{FF2B5EF4-FFF2-40B4-BE49-F238E27FC236}">
                    <a16:creationId xmlns:a16="http://schemas.microsoft.com/office/drawing/2014/main" id="{88B00D88-9274-4866-84D1-77D56DCCD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353"/>
                <a:ext cx="1728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23" name="Line 11">
                <a:extLst>
                  <a:ext uri="{FF2B5EF4-FFF2-40B4-BE49-F238E27FC236}">
                    <a16:creationId xmlns:a16="http://schemas.microsoft.com/office/drawing/2014/main" id="{E7D7B931-5DE9-4E34-A9F9-3B78501CD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737"/>
                <a:ext cx="17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24" name="Line 12">
                <a:extLst>
                  <a:ext uri="{FF2B5EF4-FFF2-40B4-BE49-F238E27FC236}">
                    <a16:creationId xmlns:a16="http://schemas.microsoft.com/office/drawing/2014/main" id="{112AFC05-55A7-4520-9B54-A94F3C316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4032"/>
                <a:ext cx="1728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25" name="Line 13">
                <a:extLst>
                  <a:ext uri="{FF2B5EF4-FFF2-40B4-BE49-F238E27FC236}">
                    <a16:creationId xmlns:a16="http://schemas.microsoft.com/office/drawing/2014/main" id="{61CAC8F7-8095-40E0-9538-AE18AEB3E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353"/>
                <a:ext cx="0" cy="1679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26" name="Line 14">
                <a:extLst>
                  <a:ext uri="{FF2B5EF4-FFF2-40B4-BE49-F238E27FC236}">
                    <a16:creationId xmlns:a16="http://schemas.microsoft.com/office/drawing/2014/main" id="{C422C294-C800-4D3A-996B-7D547E38C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353"/>
                <a:ext cx="0" cy="167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28" name="Line 15">
                <a:extLst>
                  <a:ext uri="{FF2B5EF4-FFF2-40B4-BE49-F238E27FC236}">
                    <a16:creationId xmlns:a16="http://schemas.microsoft.com/office/drawing/2014/main" id="{490863DC-A630-47E3-B9E3-853337466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353"/>
                <a:ext cx="0" cy="167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07284472-0E01-4682-9391-5E8D1D7FF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353"/>
                <a:ext cx="0" cy="1679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</p:grpSp>
        <p:sp>
          <p:nvSpPr>
            <p:cNvPr id="15" name="Line 49">
              <a:extLst>
                <a:ext uri="{FF2B5EF4-FFF2-40B4-BE49-F238E27FC236}">
                  <a16:creationId xmlns:a16="http://schemas.microsoft.com/office/drawing/2014/main" id="{E7EB76AE-3150-4473-A7BA-E2CBAEA80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2264"/>
              <a:ext cx="222" cy="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</p:grpSp>
      <p:grpSp>
        <p:nvGrpSpPr>
          <p:cNvPr id="30" name="Group 155">
            <a:extLst>
              <a:ext uri="{FF2B5EF4-FFF2-40B4-BE49-F238E27FC236}">
                <a16:creationId xmlns:a16="http://schemas.microsoft.com/office/drawing/2014/main" id="{4D13FE1D-B674-4F0E-9F53-DC1BC4465545}"/>
              </a:ext>
            </a:extLst>
          </p:cNvPr>
          <p:cNvGrpSpPr>
            <a:grpSpLocks/>
          </p:cNvGrpSpPr>
          <p:nvPr/>
        </p:nvGrpSpPr>
        <p:grpSpPr bwMode="auto">
          <a:xfrm>
            <a:off x="2383550" y="1997479"/>
            <a:ext cx="2743200" cy="2665412"/>
            <a:chOff x="672" y="2353"/>
            <a:chExt cx="1728" cy="1679"/>
          </a:xfrm>
        </p:grpSpPr>
        <p:sp>
          <p:nvSpPr>
            <p:cNvPr id="31" name="Rectangle 96">
              <a:extLst>
                <a:ext uri="{FF2B5EF4-FFF2-40B4-BE49-F238E27FC236}">
                  <a16:creationId xmlns:a16="http://schemas.microsoft.com/office/drawing/2014/main" id="{8F62D5EF-E479-4FC1-B2B7-41C196D35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37"/>
              <a:ext cx="672" cy="1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0" lang="en-US" altLang="en-US" sz="2800" b="1" i="0" u="none" strike="noStrike" kern="0" cap="none" spc="0" normalizeH="0" baseline="30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</a:t>
              </a:r>
              <a:endParaRPr kumimoji="0" lang="en-US" altLang="en-US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Cấm</a:t>
              </a:r>
              <a:endPara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95">
              <a:extLst>
                <a:ext uri="{FF2B5EF4-FFF2-40B4-BE49-F238E27FC236}">
                  <a16:creationId xmlns:a16="http://schemas.microsoft.com/office/drawing/2014/main" id="{320BD46E-FAAC-43D2-BDDF-24335CDA4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737"/>
              <a:ext cx="528" cy="1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3" name="Rectangle 94">
              <a:extLst>
                <a:ext uri="{FF2B5EF4-FFF2-40B4-BE49-F238E27FC236}">
                  <a16:creationId xmlns:a16="http://schemas.microsoft.com/office/drawing/2014/main" id="{75E02A3F-7234-4472-9CE4-55B7A9AB3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737"/>
              <a:ext cx="528" cy="1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4" name="Rectangle 93">
              <a:extLst>
                <a:ext uri="{FF2B5EF4-FFF2-40B4-BE49-F238E27FC236}">
                  <a16:creationId xmlns:a16="http://schemas.microsoft.com/office/drawing/2014/main" id="{A79D6013-82E3-4CB9-A7FB-19A428539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353"/>
              <a:ext cx="67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0" lang="en-US" altLang="en-US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n+1</a:t>
              </a:r>
            </a:p>
          </p:txBody>
        </p:sp>
        <p:sp>
          <p:nvSpPr>
            <p:cNvPr id="35" name="Rectangle 92">
              <a:extLst>
                <a:ext uri="{FF2B5EF4-FFF2-40B4-BE49-F238E27FC236}">
                  <a16:creationId xmlns:a16="http://schemas.microsoft.com/office/drawing/2014/main" id="{A59504A4-BCBF-4A13-A436-9DD304D9D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53"/>
              <a:ext cx="52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</a:t>
              </a:r>
            </a:p>
          </p:txBody>
        </p:sp>
        <p:sp>
          <p:nvSpPr>
            <p:cNvPr id="36" name="Rectangle 91">
              <a:extLst>
                <a:ext uri="{FF2B5EF4-FFF2-40B4-BE49-F238E27FC236}">
                  <a16:creationId xmlns:a16="http://schemas.microsoft.com/office/drawing/2014/main" id="{4F83257B-D281-4F2E-BAA5-8F8C0BE7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353"/>
              <a:ext cx="52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</a:t>
              </a:r>
            </a:p>
          </p:txBody>
        </p:sp>
        <p:sp>
          <p:nvSpPr>
            <p:cNvPr id="37" name="Line 97">
              <a:extLst>
                <a:ext uri="{FF2B5EF4-FFF2-40B4-BE49-F238E27FC236}">
                  <a16:creationId xmlns:a16="http://schemas.microsoft.com/office/drawing/2014/main" id="{DBB524DF-8CE3-4918-B3E5-E1FBA7AE5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353"/>
              <a:ext cx="172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  <p:sp>
          <p:nvSpPr>
            <p:cNvPr id="38" name="Line 98">
              <a:extLst>
                <a:ext uri="{FF2B5EF4-FFF2-40B4-BE49-F238E27FC236}">
                  <a16:creationId xmlns:a16="http://schemas.microsoft.com/office/drawing/2014/main" id="{696CC520-43E2-4E89-A458-2C1E0C0E9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737"/>
              <a:ext cx="172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  <p:sp>
          <p:nvSpPr>
            <p:cNvPr id="39" name="Line 99">
              <a:extLst>
                <a:ext uri="{FF2B5EF4-FFF2-40B4-BE49-F238E27FC236}">
                  <a16:creationId xmlns:a16="http://schemas.microsoft.com/office/drawing/2014/main" id="{8C28566E-2824-46B1-869C-8A3E6542A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4032"/>
              <a:ext cx="1728" cy="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  <p:sp>
          <p:nvSpPr>
            <p:cNvPr id="40" name="Line 100">
              <a:extLst>
                <a:ext uri="{FF2B5EF4-FFF2-40B4-BE49-F238E27FC236}">
                  <a16:creationId xmlns:a16="http://schemas.microsoft.com/office/drawing/2014/main" id="{D71F3BBF-C63F-4C4A-998F-A900E94B9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353"/>
              <a:ext cx="0" cy="167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  <p:sp>
          <p:nvSpPr>
            <p:cNvPr id="41" name="Line 101">
              <a:extLst>
                <a:ext uri="{FF2B5EF4-FFF2-40B4-BE49-F238E27FC236}">
                  <a16:creationId xmlns:a16="http://schemas.microsoft.com/office/drawing/2014/main" id="{83FDAB29-57B9-4F29-9E00-3E387CE38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353"/>
              <a:ext cx="0" cy="16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  <p:sp>
          <p:nvSpPr>
            <p:cNvPr id="42" name="Line 102">
              <a:extLst>
                <a:ext uri="{FF2B5EF4-FFF2-40B4-BE49-F238E27FC236}">
                  <a16:creationId xmlns:a16="http://schemas.microsoft.com/office/drawing/2014/main" id="{FC716E2C-1621-4220-B008-AD38CAC14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353"/>
              <a:ext cx="0" cy="16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  <p:sp>
          <p:nvSpPr>
            <p:cNvPr id="43" name="Line 103">
              <a:extLst>
                <a:ext uri="{FF2B5EF4-FFF2-40B4-BE49-F238E27FC236}">
                  <a16:creationId xmlns:a16="http://schemas.microsoft.com/office/drawing/2014/main" id="{08F03C6A-BD8E-4C18-A09F-747688A8B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353"/>
              <a:ext cx="0" cy="167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165D67-7439-436F-A7D5-AB47DAE4BF20}"/>
              </a:ext>
            </a:extLst>
          </p:cNvPr>
          <p:cNvGrpSpPr>
            <a:grpSpLocks/>
          </p:cNvGrpSpPr>
          <p:nvPr/>
        </p:nvGrpSpPr>
        <p:grpSpPr bwMode="auto">
          <a:xfrm>
            <a:off x="2840750" y="4919297"/>
            <a:ext cx="1981200" cy="1657350"/>
            <a:chOff x="5410200" y="2563146"/>
            <a:chExt cx="1981200" cy="165735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4F3642-38FC-4D58-A8A9-8499B5916391}"/>
                </a:ext>
              </a:extLst>
            </p:cNvPr>
            <p:cNvCxnSpPr/>
            <p:nvPr/>
          </p:nvCxnSpPr>
          <p:spPr bwMode="auto">
            <a:xfrm>
              <a:off x="6613525" y="3793458"/>
              <a:ext cx="274638" cy="0"/>
            </a:xfrm>
            <a:prstGeom prst="line">
              <a:avLst/>
            </a:prstGeom>
            <a:noFill/>
            <a:ln w="2857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sm" len="sm"/>
              <a:tailEnd type="none" w="sm" len="sm"/>
            </a:ln>
            <a:effectLst/>
          </p:spPr>
        </p:cxn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1D46A7CF-8FAF-4660-A24D-2E3E32E661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2563146"/>
              <a:ext cx="1981200" cy="1657350"/>
              <a:chOff x="960" y="2496"/>
              <a:chExt cx="1248" cy="1044"/>
            </a:xfrm>
          </p:grpSpPr>
          <p:sp>
            <p:nvSpPr>
              <p:cNvPr id="49" name="Rectangle 9">
                <a:extLst>
                  <a:ext uri="{FF2B5EF4-FFF2-40B4-BE49-F238E27FC236}">
                    <a16:creationId xmlns:a16="http://schemas.microsoft.com/office/drawing/2014/main" id="{54DF290C-85DC-4A02-A957-DF6C4F860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838"/>
                <a:ext cx="537" cy="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endParaRPr kumimoji="0" lang="en-US" altLang="en-US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endParaRPr kumimoji="0" lang="en-US" altLang="en-US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Rectangle 10">
                <a:extLst>
                  <a:ext uri="{FF2B5EF4-FFF2-40B4-BE49-F238E27FC236}">
                    <a16:creationId xmlns:a16="http://schemas.microsoft.com/office/drawing/2014/main" id="{1D679E59-9E0F-4D3A-83BE-4C746C110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838"/>
                <a:ext cx="576" cy="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51" name="Rectangle 11">
                <a:extLst>
                  <a:ext uri="{FF2B5EF4-FFF2-40B4-BE49-F238E27FC236}">
                    <a16:creationId xmlns:a16="http://schemas.microsoft.com/office/drawing/2014/main" id="{40DAFA43-D59E-46A3-9289-513336D52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67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33CC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 err="1">
                    <a:ln>
                      <a:noFill/>
                    </a:ln>
                    <a:solidFill>
                      <a:srgbClr val="0033CC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altLang="en-US" sz="2800" kern="0" baseline="30000" dirty="0">
                    <a:solidFill>
                      <a:srgbClr val="0033CC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+1</a:t>
                </a:r>
                <a:endParaRPr kumimoji="0" lang="en-US" altLang="en-US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Rectangle 12">
                <a:extLst>
                  <a:ext uri="{FF2B5EF4-FFF2-40B4-BE49-F238E27FC236}">
                    <a16:creationId xmlns:a16="http://schemas.microsoft.com/office/drawing/2014/main" id="{CEE41231-201F-4189-836C-2A23B401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4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33CC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</a:p>
            </p:txBody>
          </p:sp>
          <p:sp>
            <p:nvSpPr>
              <p:cNvPr id="53" name="Line 13">
                <a:extLst>
                  <a:ext uri="{FF2B5EF4-FFF2-40B4-BE49-F238E27FC236}">
                    <a16:creationId xmlns:a16="http://schemas.microsoft.com/office/drawing/2014/main" id="{EB141EAB-C660-4C14-8574-DE035D668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54" name="Line 14">
                <a:extLst>
                  <a:ext uri="{FF2B5EF4-FFF2-40B4-BE49-F238E27FC236}">
                    <a16:creationId xmlns:a16="http://schemas.microsoft.com/office/drawing/2014/main" id="{298DB101-F4D6-4DF8-AEEC-A9D74B144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38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55" name="Line 15">
                <a:extLst>
                  <a:ext uri="{FF2B5EF4-FFF2-40B4-BE49-F238E27FC236}">
                    <a16:creationId xmlns:a16="http://schemas.microsoft.com/office/drawing/2014/main" id="{AD2E006E-5E22-4A2E-809D-1F3BCFA79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54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56" name="Line 16">
                <a:extLst>
                  <a:ext uri="{FF2B5EF4-FFF2-40B4-BE49-F238E27FC236}">
                    <a16:creationId xmlns:a16="http://schemas.microsoft.com/office/drawing/2014/main" id="{3DB16653-37A5-4E54-83BD-29053BE61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0" cy="103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57" name="Line 17">
                <a:extLst>
                  <a:ext uri="{FF2B5EF4-FFF2-40B4-BE49-F238E27FC236}">
                    <a16:creationId xmlns:a16="http://schemas.microsoft.com/office/drawing/2014/main" id="{44550030-F9B9-455C-A351-081E93F6A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496"/>
                <a:ext cx="0" cy="10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58" name="Line 18">
                <a:extLst>
                  <a:ext uri="{FF2B5EF4-FFF2-40B4-BE49-F238E27FC236}">
                    <a16:creationId xmlns:a16="http://schemas.microsoft.com/office/drawing/2014/main" id="{CD06281D-4DDA-4C6F-988D-C246FD35E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502"/>
                <a:ext cx="0" cy="103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</p:grp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D344187C-4585-44DF-AC18-B03F3CD51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3671722"/>
              <a:ext cx="18288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304A9D3-904D-4086-A7D1-59AFC632C0D9}"/>
              </a:ext>
            </a:extLst>
          </p:cNvPr>
          <p:cNvGrpSpPr>
            <a:grpSpLocks/>
          </p:cNvGrpSpPr>
          <p:nvPr/>
        </p:nvGrpSpPr>
        <p:grpSpPr bwMode="auto">
          <a:xfrm>
            <a:off x="8246248" y="4898660"/>
            <a:ext cx="2041525" cy="1666875"/>
            <a:chOff x="5334000" y="2047881"/>
            <a:chExt cx="2041525" cy="1666878"/>
          </a:xfrm>
        </p:grpSpPr>
        <p:grpSp>
          <p:nvGrpSpPr>
            <p:cNvPr id="60" name="Group 8">
              <a:extLst>
                <a:ext uri="{FF2B5EF4-FFF2-40B4-BE49-F238E27FC236}">
                  <a16:creationId xmlns:a16="http://schemas.microsoft.com/office/drawing/2014/main" id="{A4363A80-78B2-431E-A0C6-8789C2BCCD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0" y="2047881"/>
              <a:ext cx="2041525" cy="1666878"/>
              <a:chOff x="960" y="2490"/>
              <a:chExt cx="1286" cy="1050"/>
            </a:xfrm>
          </p:grpSpPr>
          <p:sp>
            <p:nvSpPr>
              <p:cNvPr id="62" name="Rectangle 9">
                <a:extLst>
                  <a:ext uri="{FF2B5EF4-FFF2-40B4-BE49-F238E27FC236}">
                    <a16:creationId xmlns:a16="http://schemas.microsoft.com/office/drawing/2014/main" id="{9606C586-CBB9-488C-AE37-F2470E1BC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838"/>
                <a:ext cx="537" cy="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63" name="Rectangle 10">
                <a:extLst>
                  <a:ext uri="{FF2B5EF4-FFF2-40B4-BE49-F238E27FC236}">
                    <a16:creationId xmlns:a16="http://schemas.microsoft.com/office/drawing/2014/main" id="{072185DF-148B-44A6-AEA7-5ED2313B1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838"/>
                <a:ext cx="576" cy="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64" name="Rectangle 11">
                <a:extLst>
                  <a:ext uri="{FF2B5EF4-FFF2-40B4-BE49-F238E27FC236}">
                    <a16:creationId xmlns:a16="http://schemas.microsoft.com/office/drawing/2014/main" id="{4DC2E4D2-204D-4799-AF7F-1AC346929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71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noProof="0" dirty="0">
                    <a:ln>
                      <a:noFill/>
                    </a:ln>
                    <a:solidFill>
                      <a:srgbClr val="0033CC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0" lang="en-US" altLang="en-US" sz="2800" b="1" i="0" u="none" strike="noStrike" kern="0" cap="none" spc="0" normalizeH="0" baseline="30000" noProof="0" dirty="0">
                    <a:ln>
                      <a:noFill/>
                    </a:ln>
                    <a:solidFill>
                      <a:srgbClr val="0033CC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n+1</a:t>
                </a:r>
              </a:p>
            </p:txBody>
          </p:sp>
          <p:sp>
            <p:nvSpPr>
              <p:cNvPr id="65" name="Rectangle 12">
                <a:extLst>
                  <a:ext uri="{FF2B5EF4-FFF2-40B4-BE49-F238E27FC236}">
                    <a16:creationId xmlns:a16="http://schemas.microsoft.com/office/drawing/2014/main" id="{5B4AF287-F6A5-4D6D-8938-023424B43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4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.VnAvant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033CC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</a:p>
            </p:txBody>
          </p:sp>
          <p:sp>
            <p:nvSpPr>
              <p:cNvPr id="66" name="Line 13">
                <a:extLst>
                  <a:ext uri="{FF2B5EF4-FFF2-40B4-BE49-F238E27FC236}">
                    <a16:creationId xmlns:a16="http://schemas.microsoft.com/office/drawing/2014/main" id="{01E6E17B-8B00-4B2B-9E85-B574EB4F0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49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67" name="Line 14">
                <a:extLst>
                  <a:ext uri="{FF2B5EF4-FFF2-40B4-BE49-F238E27FC236}">
                    <a16:creationId xmlns:a16="http://schemas.microsoft.com/office/drawing/2014/main" id="{1B38F62E-BC60-45B0-AFE8-252D9B21B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41"/>
                <a:ext cx="115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68" name="Line 15">
                <a:extLst>
                  <a:ext uri="{FF2B5EF4-FFF2-40B4-BE49-F238E27FC236}">
                    <a16:creationId xmlns:a16="http://schemas.microsoft.com/office/drawing/2014/main" id="{62755E28-5DEC-4934-9061-80177F03E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54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70" name="Line 16">
                <a:extLst>
                  <a:ext uri="{FF2B5EF4-FFF2-40B4-BE49-F238E27FC236}">
                    <a16:creationId xmlns:a16="http://schemas.microsoft.com/office/drawing/2014/main" id="{3FFD2C36-C142-4ABF-AD62-23E11C821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496"/>
                <a:ext cx="0" cy="103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71" name="Line 17">
                <a:extLst>
                  <a:ext uri="{FF2B5EF4-FFF2-40B4-BE49-F238E27FC236}">
                    <a16:creationId xmlns:a16="http://schemas.microsoft.com/office/drawing/2014/main" id="{AB762DD4-7BA9-41DB-B142-50B6BFA6B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496"/>
                <a:ext cx="0" cy="10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  <p:sp>
            <p:nvSpPr>
              <p:cNvPr id="72" name="Line 18">
                <a:extLst>
                  <a:ext uri="{FF2B5EF4-FFF2-40B4-BE49-F238E27FC236}">
                    <a16:creationId xmlns:a16="http://schemas.microsoft.com/office/drawing/2014/main" id="{18F2174A-D12A-4DE9-9C18-3162B3D020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502"/>
                <a:ext cx="0" cy="103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.VnAvant" pitchFamily="34" charset="0"/>
                </a:endParaRPr>
              </a:p>
            </p:txBody>
          </p:sp>
        </p:grp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9C9018F6-6B9B-4244-9CE9-97502D4B3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3178898"/>
              <a:ext cx="18288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.VnAvan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285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87006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flip-flop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07D45C-CD18-4D14-A324-C05DB3D7F251}"/>
              </a:ext>
            </a:extLst>
          </p:cNvPr>
          <p:cNvSpPr/>
          <p:nvPr/>
        </p:nvSpPr>
        <p:spPr>
          <a:xfrm>
            <a:off x="333677" y="1982790"/>
            <a:ext cx="26057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 vào kích</a:t>
            </a:r>
            <a:endParaRPr lang="en-US" sz="2800"/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BE156376-3642-474D-A4ED-9A02385A9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637208"/>
              </p:ext>
            </p:extLst>
          </p:nvPr>
        </p:nvGraphicFramePr>
        <p:xfrm>
          <a:off x="4324308" y="1846382"/>
          <a:ext cx="6712855" cy="434727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18112">
                  <a:extLst>
                    <a:ext uri="{9D8B030D-6E8A-4147-A177-3AD203B41FA5}">
                      <a16:colId xmlns:a16="http://schemas.microsoft.com/office/drawing/2014/main" val="1700565860"/>
                    </a:ext>
                  </a:extLst>
                </a:gridCol>
                <a:gridCol w="1123337">
                  <a:extLst>
                    <a:ext uri="{9D8B030D-6E8A-4147-A177-3AD203B41FA5}">
                      <a16:colId xmlns:a16="http://schemas.microsoft.com/office/drawing/2014/main" val="1602268158"/>
                    </a:ext>
                  </a:extLst>
                </a:gridCol>
                <a:gridCol w="1120203">
                  <a:extLst>
                    <a:ext uri="{9D8B030D-6E8A-4147-A177-3AD203B41FA5}">
                      <a16:colId xmlns:a16="http://schemas.microsoft.com/office/drawing/2014/main" val="755502596"/>
                    </a:ext>
                  </a:extLst>
                </a:gridCol>
                <a:gridCol w="1120203">
                  <a:extLst>
                    <a:ext uri="{9D8B030D-6E8A-4147-A177-3AD203B41FA5}">
                      <a16:colId xmlns:a16="http://schemas.microsoft.com/office/drawing/2014/main" val="3690722331"/>
                    </a:ext>
                  </a:extLst>
                </a:gridCol>
                <a:gridCol w="1116022">
                  <a:extLst>
                    <a:ext uri="{9D8B030D-6E8A-4147-A177-3AD203B41FA5}">
                      <a16:colId xmlns:a16="http://schemas.microsoft.com/office/drawing/2014/main" val="1205926642"/>
                    </a:ext>
                  </a:extLst>
                </a:gridCol>
                <a:gridCol w="1114978">
                  <a:extLst>
                    <a:ext uri="{9D8B030D-6E8A-4147-A177-3AD203B41FA5}">
                      <a16:colId xmlns:a16="http://schemas.microsoft.com/office/drawing/2014/main" val="802644669"/>
                    </a:ext>
                  </a:extLst>
                </a:gridCol>
              </a:tblGrid>
              <a:tr h="9233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3600" baseline="300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sz="3600" baseline="300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n+1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JK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3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621255"/>
                  </a:ext>
                </a:extLst>
              </a:tr>
              <a:tr h="9233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x0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16939"/>
                  </a:ext>
                </a:extLst>
              </a:tr>
              <a:tr h="8934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1x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133632"/>
                  </a:ext>
                </a:extLst>
              </a:tr>
              <a:tr h="9233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889601"/>
                  </a:ext>
                </a:extLst>
              </a:tr>
              <a:tr h="6837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x0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36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368865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F4C55752-10D7-42DD-B3B8-0065DB48FC2D}"/>
              </a:ext>
            </a:extLst>
          </p:cNvPr>
          <p:cNvSpPr txBox="1"/>
          <p:nvPr/>
        </p:nvSpPr>
        <p:spPr>
          <a:xfrm>
            <a:off x="5473966" y="6208052"/>
            <a:ext cx="4783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75555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57463" y="927684"/>
            <a:ext cx="1176148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4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57463" y="927684"/>
            <a:ext cx="117614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đếm là mạch logic tuần tự có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trạng thái trong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bằng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số đếm (Kđ)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sau một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 trình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mạch trở về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 ban đầu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D7111-73FC-1BF3-7B82-31C8BC8CF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084" y="3135785"/>
            <a:ext cx="798988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084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57463" y="927684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đếm là 1 mạch tuần tự, tuần hoàn; 1 đầu vào đếm, 1 đầu ra. Số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 trong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bằng =  </a:t>
            </a:r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 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Sau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 xung tín hiệu vào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mạch chuyển từ trạng thái trong này sang trạng thái trong khác, theo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thứ tự nhất định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và sau một chu trình mạch trở về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 ban đầu</a:t>
            </a:r>
            <a:r>
              <a:rPr lang="en-US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FE6DAF-A8CB-7507-DCA7-FC2043B553A9}"/>
              </a:ext>
            </a:extLst>
          </p:cNvPr>
          <p:cNvGrpSpPr>
            <a:grpSpLocks/>
          </p:cNvGrpSpPr>
          <p:nvPr/>
        </p:nvGrpSpPr>
        <p:grpSpPr bwMode="auto">
          <a:xfrm>
            <a:off x="883920" y="4156242"/>
            <a:ext cx="10424159" cy="2285054"/>
            <a:chOff x="2199" y="5291"/>
            <a:chExt cx="6343" cy="15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243">
                  <a:extLst>
                    <a:ext uri="{FF2B5EF4-FFF2-40B4-BE49-F238E27FC236}">
                      <a16:creationId xmlns:a16="http://schemas.microsoft.com/office/drawing/2014/main" id="{99FED035-DF63-15B4-5A38-EDD84601C4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95" y="6264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/1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43">
                  <a:extLst>
                    <a:ext uri="{FF2B5EF4-FFF2-40B4-BE49-F238E27FC236}">
                      <a16:creationId xmlns:a16="http://schemas.microsoft.com/office/drawing/2014/main" id="{6DF07540-28D7-4CA4-9564-0DF4AEDFB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95" y="6264"/>
                  <a:ext cx="609" cy="61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244">
                  <a:extLst>
                    <a:ext uri="{FF2B5EF4-FFF2-40B4-BE49-F238E27FC236}">
                      <a16:creationId xmlns:a16="http://schemas.microsoft.com/office/drawing/2014/main" id="{7AAD5B8F-3272-E62C-48FF-17A709DC2A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49" y="5303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/0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244">
                  <a:extLst>
                    <a:ext uri="{FF2B5EF4-FFF2-40B4-BE49-F238E27FC236}">
                      <a16:creationId xmlns:a16="http://schemas.microsoft.com/office/drawing/2014/main" id="{5D46A758-E790-4ABA-85C5-3EB39B51B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49" y="5303"/>
                  <a:ext cx="609" cy="6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45">
                  <a:extLst>
                    <a:ext uri="{FF2B5EF4-FFF2-40B4-BE49-F238E27FC236}">
                      <a16:creationId xmlns:a16="http://schemas.microsoft.com/office/drawing/2014/main" id="{C6C75C63-8EA3-44D3-CB25-1E41F9E5DB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83" y="5291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/0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245">
                  <a:extLst>
                    <a:ext uri="{FF2B5EF4-FFF2-40B4-BE49-F238E27FC236}">
                      <a16:creationId xmlns:a16="http://schemas.microsoft.com/office/drawing/2014/main" id="{A1FA6B0B-3837-4160-915D-E33C333F7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83" y="5291"/>
                  <a:ext cx="609" cy="6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46">
                  <a:extLst>
                    <a:ext uri="{FF2B5EF4-FFF2-40B4-BE49-F238E27FC236}">
                      <a16:creationId xmlns:a16="http://schemas.microsoft.com/office/drawing/2014/main" id="{99C4305D-0584-931E-9EE3-767DE9FE63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7" y="5315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/0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246">
                  <a:extLst>
                    <a:ext uri="{FF2B5EF4-FFF2-40B4-BE49-F238E27FC236}">
                      <a16:creationId xmlns:a16="http://schemas.microsoft.com/office/drawing/2014/main" id="{E72A30BE-8F8B-4AFE-9F8F-A99083E9B2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27" y="5315"/>
                  <a:ext cx="609" cy="61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 Box 247">
              <a:extLst>
                <a:ext uri="{FF2B5EF4-FFF2-40B4-BE49-F238E27FC236}">
                  <a16:creationId xmlns:a16="http://schemas.microsoft.com/office/drawing/2014/main" id="{775A1698-166A-A562-0791-D3B2899A7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" y="5476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6" name="Line 248">
              <a:extLst>
                <a:ext uri="{FF2B5EF4-FFF2-40B4-BE49-F238E27FC236}">
                  <a16:creationId xmlns:a16="http://schemas.microsoft.com/office/drawing/2014/main" id="{494FF314-5B8D-0928-5F8B-A59E25C36F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19" y="5758"/>
              <a:ext cx="1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249">
              <a:extLst>
                <a:ext uri="{FF2B5EF4-FFF2-40B4-BE49-F238E27FC236}">
                  <a16:creationId xmlns:a16="http://schemas.microsoft.com/office/drawing/2014/main" id="{90D42AD1-99B9-9516-CDC9-CE4240AD31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6" y="6071"/>
              <a:ext cx="0" cy="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250">
              <a:extLst>
                <a:ext uri="{FF2B5EF4-FFF2-40B4-BE49-F238E27FC236}">
                  <a16:creationId xmlns:a16="http://schemas.microsoft.com/office/drawing/2014/main" id="{E8658204-2B11-C777-FC8B-EBD446B132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91" y="5758"/>
              <a:ext cx="1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51">
              <a:extLst>
                <a:ext uri="{FF2B5EF4-FFF2-40B4-BE49-F238E27FC236}">
                  <a16:creationId xmlns:a16="http://schemas.microsoft.com/office/drawing/2014/main" id="{338F4EBC-0F35-E83C-874A-C4878CF0B5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70" y="5758"/>
              <a:ext cx="1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252">
              <a:extLst>
                <a:ext uri="{FF2B5EF4-FFF2-40B4-BE49-F238E27FC236}">
                  <a16:creationId xmlns:a16="http://schemas.microsoft.com/office/drawing/2014/main" id="{EFBF7256-95F4-00B4-522E-5F7504883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5476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" name="Text Box 253">
              <a:extLst>
                <a:ext uri="{FF2B5EF4-FFF2-40B4-BE49-F238E27FC236}">
                  <a16:creationId xmlns:a16="http://schemas.microsoft.com/office/drawing/2014/main" id="{64AB85C4-892C-BCE9-8D0A-5571E2908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" y="5465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32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</a:t>
              </a:r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22" name="Text Box 254">
              <a:extLst>
                <a:ext uri="{FF2B5EF4-FFF2-40B4-BE49-F238E27FC236}">
                  <a16:creationId xmlns:a16="http://schemas.microsoft.com/office/drawing/2014/main" id="{89F85BD3-85CC-824F-97D5-8D412850E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" y="5465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32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đ</a:t>
              </a:r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  <p:cxnSp>
          <p:nvCxnSpPr>
            <p:cNvPr id="23" name="AutoShape 255">
              <a:extLst>
                <a:ext uri="{FF2B5EF4-FFF2-40B4-BE49-F238E27FC236}">
                  <a16:creationId xmlns:a16="http://schemas.microsoft.com/office/drawing/2014/main" id="{7C700F82-84A4-108E-774E-4F4A4C7663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46" y="6645"/>
              <a:ext cx="5670" cy="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256">
              <a:extLst>
                <a:ext uri="{FF2B5EF4-FFF2-40B4-BE49-F238E27FC236}">
                  <a16:creationId xmlns:a16="http://schemas.microsoft.com/office/drawing/2014/main" id="{FC5C8F6D-CBCC-DFA9-CD40-57B9003A95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16" y="6071"/>
              <a:ext cx="0" cy="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65898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57463" y="927684"/>
            <a:ext cx="11761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465882-123A-430D-9980-78150FA6A1E9}"/>
              </a:ext>
            </a:extLst>
          </p:cNvPr>
          <p:cNvGrpSpPr>
            <a:grpSpLocks/>
          </p:cNvGrpSpPr>
          <p:nvPr/>
        </p:nvGrpSpPr>
        <p:grpSpPr bwMode="auto">
          <a:xfrm>
            <a:off x="689316" y="2349305"/>
            <a:ext cx="10424159" cy="4079629"/>
            <a:chOff x="2199" y="4047"/>
            <a:chExt cx="6343" cy="2828"/>
          </a:xfrm>
        </p:grpSpPr>
        <p:sp>
          <p:nvSpPr>
            <p:cNvPr id="10" name="Text Box 236">
              <a:extLst>
                <a:ext uri="{FF2B5EF4-FFF2-40B4-BE49-F238E27FC236}">
                  <a16:creationId xmlns:a16="http://schemas.microsoft.com/office/drawing/2014/main" id="{D90817BF-CCC2-4C32-B0EC-41D83A538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2" y="4240"/>
              <a:ext cx="609" cy="6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237">
                  <a:extLst>
                    <a:ext uri="{FF2B5EF4-FFF2-40B4-BE49-F238E27FC236}">
                      <a16:creationId xmlns:a16="http://schemas.microsoft.com/office/drawing/2014/main" id="{2504505E-DA9E-4D6C-A95F-2D9D5045E4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8" y="4168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237">
                  <a:extLst>
                    <a:ext uri="{FF2B5EF4-FFF2-40B4-BE49-F238E27FC236}">
                      <a16:creationId xmlns:a16="http://schemas.microsoft.com/office/drawing/2014/main" id="{2504505E-DA9E-4D6C-A95F-2D9D5045E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8" y="4168"/>
                  <a:ext cx="609" cy="61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3862D0-669B-4DFF-A9EF-702D55973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8" y="4047"/>
              <a:ext cx="3426" cy="1008"/>
              <a:chOff x="4815" y="11221"/>
              <a:chExt cx="3426" cy="1008"/>
            </a:xfrm>
          </p:grpSpPr>
          <p:sp>
            <p:nvSpPr>
              <p:cNvPr id="28" name="Text Box 239">
                <a:extLst>
                  <a:ext uri="{FF2B5EF4-FFF2-40B4-BE49-F238E27FC236}">
                    <a16:creationId xmlns:a16="http://schemas.microsoft.com/office/drawing/2014/main" id="{9E66FF8E-C3A8-45AA-A280-0AAE948B3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4" y="11221"/>
                <a:ext cx="1440" cy="100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algn="ctr"/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Counter</a:t>
                </a:r>
              </a:p>
            </p:txBody>
          </p:sp>
          <p:cxnSp>
            <p:nvCxnSpPr>
              <p:cNvPr id="29" name="Line 240">
                <a:extLst>
                  <a:ext uri="{FF2B5EF4-FFF2-40B4-BE49-F238E27FC236}">
                    <a16:creationId xmlns:a16="http://schemas.microsoft.com/office/drawing/2014/main" id="{B43D87A6-1C3E-4634-8867-A6641E0C0AD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15" y="11738"/>
                <a:ext cx="100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Line 241">
                <a:extLst>
                  <a:ext uri="{FF2B5EF4-FFF2-40B4-BE49-F238E27FC236}">
                    <a16:creationId xmlns:a16="http://schemas.microsoft.com/office/drawing/2014/main" id="{B62BC76C-3262-4B29-A66D-7A2EA6612E0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233" y="11738"/>
                <a:ext cx="100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CD72D4B-8F4E-4634-8608-C8D894B0E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9" y="5291"/>
              <a:ext cx="6343" cy="1584"/>
              <a:chOff x="2199" y="5291"/>
              <a:chExt cx="6343" cy="15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 Box 243">
                    <a:extLst>
                      <a:ext uri="{FF2B5EF4-FFF2-40B4-BE49-F238E27FC236}">
                        <a16:creationId xmlns:a16="http://schemas.microsoft.com/office/drawing/2014/main" id="{6DF07540-28D7-4CA4-9564-0DF4AEDFB3C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95" y="6264"/>
                    <a:ext cx="609" cy="611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đ</m:t>
                              </m:r>
                            </m:sub>
                          </m:sSub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/1</m:t>
                          </m:r>
                        </m:oMath>
                      </m:oMathPara>
                    </a14:m>
                    <a:endParaRPr lang="en-US" sz="3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 Box 243">
                    <a:extLst>
                      <a:ext uri="{FF2B5EF4-FFF2-40B4-BE49-F238E27FC236}">
                        <a16:creationId xmlns:a16="http://schemas.microsoft.com/office/drawing/2014/main" id="{6DF07540-28D7-4CA4-9564-0DF4AEDFB3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095" y="6264"/>
                    <a:ext cx="609" cy="61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244">
                    <a:extLst>
                      <a:ext uri="{FF2B5EF4-FFF2-40B4-BE49-F238E27FC236}">
                        <a16:creationId xmlns:a16="http://schemas.microsoft.com/office/drawing/2014/main" id="{5D46A758-E790-4ABA-85C5-3EB39B51B8B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49" y="5303"/>
                    <a:ext cx="609" cy="611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đ</m:t>
                              </m:r>
                            </m:sub>
                          </m:sSub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/0</m:t>
                          </m:r>
                        </m:oMath>
                      </m:oMathPara>
                    </a14:m>
                    <a:endParaRPr lang="en-US" sz="3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 Box 244">
                    <a:extLst>
                      <a:ext uri="{FF2B5EF4-FFF2-40B4-BE49-F238E27FC236}">
                        <a16:creationId xmlns:a16="http://schemas.microsoft.com/office/drawing/2014/main" id="{5D46A758-E790-4ABA-85C5-3EB39B51B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49" y="5303"/>
                    <a:ext cx="609" cy="6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245">
                    <a:extLst>
                      <a:ext uri="{FF2B5EF4-FFF2-40B4-BE49-F238E27FC236}">
                        <a16:creationId xmlns:a16="http://schemas.microsoft.com/office/drawing/2014/main" id="{A1FA6B0B-3837-4160-915D-E33C333F7F1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83" y="5291"/>
                    <a:ext cx="609" cy="611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đ</m:t>
                              </m:r>
                            </m:sub>
                          </m:sSub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/0</m:t>
                          </m:r>
                        </m:oMath>
                      </m:oMathPara>
                    </a14:m>
                    <a:endParaRPr lang="en-US" sz="3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 Box 245">
                    <a:extLst>
                      <a:ext uri="{FF2B5EF4-FFF2-40B4-BE49-F238E27FC236}">
                        <a16:creationId xmlns:a16="http://schemas.microsoft.com/office/drawing/2014/main" id="{A1FA6B0B-3837-4160-915D-E33C333F7F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083" y="5291"/>
                    <a:ext cx="609" cy="61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246">
                    <a:extLst>
                      <a:ext uri="{FF2B5EF4-FFF2-40B4-BE49-F238E27FC236}">
                        <a16:creationId xmlns:a16="http://schemas.microsoft.com/office/drawing/2014/main" id="{E72A30BE-8F8B-4AFE-9F8F-A99083E9B29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927" y="5315"/>
                    <a:ext cx="609" cy="611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đ</m:t>
                              </m:r>
                            </m:sub>
                          </m:sSub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/0</m:t>
                          </m:r>
                        </m:oMath>
                      </m:oMathPara>
                    </a14:m>
                    <a:endParaRPr lang="en-US" sz="3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 Box 246">
                    <a:extLst>
                      <a:ext uri="{FF2B5EF4-FFF2-40B4-BE49-F238E27FC236}">
                        <a16:creationId xmlns:a16="http://schemas.microsoft.com/office/drawing/2014/main" id="{E72A30BE-8F8B-4AFE-9F8F-A99083E9B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927" y="5315"/>
                    <a:ext cx="609" cy="61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 Box 247">
                <a:extLst>
                  <a:ext uri="{FF2B5EF4-FFF2-40B4-BE49-F238E27FC236}">
                    <a16:creationId xmlns:a16="http://schemas.microsoft.com/office/drawing/2014/main" id="{95091E07-BE79-4C93-A01C-02A88B70D8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" y="5476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ctr"/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19" name="Line 248">
                <a:extLst>
                  <a:ext uri="{FF2B5EF4-FFF2-40B4-BE49-F238E27FC236}">
                    <a16:creationId xmlns:a16="http://schemas.microsoft.com/office/drawing/2014/main" id="{18477D56-317D-4C49-A9DD-C5EC1CA187A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19" y="5758"/>
                <a:ext cx="115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Line 249">
                <a:extLst>
                  <a:ext uri="{FF2B5EF4-FFF2-40B4-BE49-F238E27FC236}">
                    <a16:creationId xmlns:a16="http://schemas.microsoft.com/office/drawing/2014/main" id="{E53990D3-D402-41E3-839E-D40196A0D9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546" y="6071"/>
                <a:ext cx="0" cy="57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Line 250">
                <a:extLst>
                  <a:ext uri="{FF2B5EF4-FFF2-40B4-BE49-F238E27FC236}">
                    <a16:creationId xmlns:a16="http://schemas.microsoft.com/office/drawing/2014/main" id="{FBD9EDD5-8B4B-4D8F-BA2B-ED6000D11B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91" y="5758"/>
                <a:ext cx="115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Line 251">
                <a:extLst>
                  <a:ext uri="{FF2B5EF4-FFF2-40B4-BE49-F238E27FC236}">
                    <a16:creationId xmlns:a16="http://schemas.microsoft.com/office/drawing/2014/main" id="{21FF3295-A90A-41F1-95DF-1E6793D015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670" y="5758"/>
                <a:ext cx="115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3" name="Text Box 252">
                <a:extLst>
                  <a:ext uri="{FF2B5EF4-FFF2-40B4-BE49-F238E27FC236}">
                    <a16:creationId xmlns:a16="http://schemas.microsoft.com/office/drawing/2014/main" id="{2E338786-9E18-4C37-8462-607A9CC9F0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9" y="5476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ctr"/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4" name="Text Box 253">
                <a:extLst>
                  <a:ext uri="{FF2B5EF4-FFF2-40B4-BE49-F238E27FC236}">
                    <a16:creationId xmlns:a16="http://schemas.microsoft.com/office/drawing/2014/main" id="{5394A963-9211-4CE5-BE31-884E492004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43" y="5465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ctr"/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200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-2</a:t>
                </a:r>
              </a:p>
            </p:txBody>
          </p:sp>
          <p:sp>
            <p:nvSpPr>
              <p:cNvPr id="25" name="Text Box 254">
                <a:extLst>
                  <a:ext uri="{FF2B5EF4-FFF2-40B4-BE49-F238E27FC236}">
                    <a16:creationId xmlns:a16="http://schemas.microsoft.com/office/drawing/2014/main" id="{7B24E0B9-E11A-429B-80CC-46A7128CA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22" y="5465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ctr"/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200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</a:t>
                </a:r>
                <a:r>
                  <a: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</a:p>
            </p:txBody>
          </p:sp>
          <p:cxnSp>
            <p:nvCxnSpPr>
              <p:cNvPr id="26" name="AutoShape 255">
                <a:extLst>
                  <a:ext uri="{FF2B5EF4-FFF2-40B4-BE49-F238E27FC236}">
                    <a16:creationId xmlns:a16="http://schemas.microsoft.com/office/drawing/2014/main" id="{11DEC653-4B55-4314-BF24-35B26AE38F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546" y="6645"/>
                <a:ext cx="5670" cy="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Line 256">
                <a:extLst>
                  <a:ext uri="{FF2B5EF4-FFF2-40B4-BE49-F238E27FC236}">
                    <a16:creationId xmlns:a16="http://schemas.microsoft.com/office/drawing/2014/main" id="{37C4577E-FC3F-487C-858C-EB32614AA41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6" y="6071"/>
                <a:ext cx="0" cy="57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182948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57463" y="927684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đếm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EC2780-4F9A-2B32-6CE3-D3152DCD2C0F}"/>
              </a:ext>
            </a:extLst>
          </p:cNvPr>
          <p:cNvGrpSpPr>
            <a:grpSpLocks/>
          </p:cNvGrpSpPr>
          <p:nvPr/>
        </p:nvGrpSpPr>
        <p:grpSpPr bwMode="auto">
          <a:xfrm>
            <a:off x="2086904" y="1723466"/>
            <a:ext cx="8667586" cy="4561048"/>
            <a:chOff x="330200" y="1153952"/>
            <a:chExt cx="8667586" cy="4561049"/>
          </a:xfrm>
        </p:grpSpPr>
        <p:sp>
          <p:nvSpPr>
            <p:cNvPr id="7" name="Text Box 22">
              <a:extLst>
                <a:ext uri="{FF2B5EF4-FFF2-40B4-BE49-F238E27FC236}">
                  <a16:creationId xmlns:a16="http://schemas.microsoft.com/office/drawing/2014/main" id="{98A88BB4-258A-BF8E-91B7-7E02BC42D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9186" y="1153952"/>
              <a:ext cx="7848600" cy="59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- </a:t>
              </a:r>
              <a:r>
                <a:rPr lang="en-US" altLang="en-US" sz="2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Phân loại </a:t>
              </a:r>
              <a:r>
                <a:rPr lang="en-US" altLang="en-US"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en-US" sz="28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heo cách làm việc</a:t>
              </a:r>
            </a:p>
          </p:txBody>
        </p:sp>
        <p:sp>
          <p:nvSpPr>
            <p:cNvPr id="8" name="Text Box 22">
              <a:extLst>
                <a:ext uri="{FF2B5EF4-FFF2-40B4-BE49-F238E27FC236}">
                  <a16:creationId xmlns:a16="http://schemas.microsoft.com/office/drawing/2014/main" id="{C467CA31-62F8-911F-1BAE-6C9022E92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817" y="1790156"/>
              <a:ext cx="3572106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en-US" sz="2800" b="0">
                  <a:solidFill>
                    <a:srgbClr val="00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Bộ đếm đồng bộ</a:t>
              </a:r>
            </a:p>
          </p:txBody>
        </p:sp>
        <p:grpSp>
          <p:nvGrpSpPr>
            <p:cNvPr id="31" name="Group 69">
              <a:extLst>
                <a:ext uri="{FF2B5EF4-FFF2-40B4-BE49-F238E27FC236}">
                  <a16:creationId xmlns:a16="http://schemas.microsoft.com/office/drawing/2014/main" id="{23948DB9-04C1-57C0-9C6B-15F7318E0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672" y="2911495"/>
              <a:ext cx="4805577" cy="2499138"/>
              <a:chOff x="1325" y="1182"/>
              <a:chExt cx="4129" cy="2309"/>
            </a:xfrm>
          </p:grpSpPr>
          <p:sp>
            <p:nvSpPr>
              <p:cNvPr id="87" name="Line 58">
                <a:extLst>
                  <a:ext uri="{FF2B5EF4-FFF2-40B4-BE49-F238E27FC236}">
                    <a16:creationId xmlns:a16="http://schemas.microsoft.com/office/drawing/2014/main" id="{4DB6D233-82F2-8DF5-9ED9-436B6A817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4" y="2949"/>
                <a:ext cx="0" cy="2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Rectangle 4">
                <a:extLst>
                  <a:ext uri="{FF2B5EF4-FFF2-40B4-BE49-F238E27FC236}">
                    <a16:creationId xmlns:a16="http://schemas.microsoft.com/office/drawing/2014/main" id="{1A2FA0C7-7101-F5C6-A1A4-53DB584A3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9" y="1944"/>
                <a:ext cx="838" cy="937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Rectangle 5">
                <a:extLst>
                  <a:ext uri="{FF2B5EF4-FFF2-40B4-BE49-F238E27FC236}">
                    <a16:creationId xmlns:a16="http://schemas.microsoft.com/office/drawing/2014/main" id="{9C3D8A4F-86AA-AB8D-9F57-3F657E6D1D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3" y="1985"/>
                <a:ext cx="220" cy="1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en-US" sz="2000" b="0" baseline="-2500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Rectangle 6">
                <a:extLst>
                  <a:ext uri="{FF2B5EF4-FFF2-40B4-BE49-F238E27FC236}">
                    <a16:creationId xmlns:a16="http://schemas.microsoft.com/office/drawing/2014/main" id="{5438AB60-AB90-A2F5-F7D5-D46ABD400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3" y="2637"/>
                <a:ext cx="220" cy="1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Line 7">
                <a:extLst>
                  <a:ext uri="{FF2B5EF4-FFF2-40B4-BE49-F238E27FC236}">
                    <a16:creationId xmlns:a16="http://schemas.microsoft.com/office/drawing/2014/main" id="{42871887-7A8A-CA2B-0882-EC0679DBD0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7" y="2025"/>
                <a:ext cx="1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Rectangle 8">
                <a:extLst>
                  <a:ext uri="{FF2B5EF4-FFF2-40B4-BE49-F238E27FC236}">
                    <a16:creationId xmlns:a16="http://schemas.microsoft.com/office/drawing/2014/main" id="{ED480DF2-E68C-71F3-97AB-6339A025C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8" y="2596"/>
                <a:ext cx="220" cy="20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Rectangle 9">
                <a:extLst>
                  <a:ext uri="{FF2B5EF4-FFF2-40B4-BE49-F238E27FC236}">
                    <a16:creationId xmlns:a16="http://schemas.microsoft.com/office/drawing/2014/main" id="{FD5E1086-C726-9D72-ADC2-0868A0061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8" y="1985"/>
                <a:ext cx="220" cy="16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Line 10">
                <a:extLst>
                  <a:ext uri="{FF2B5EF4-FFF2-40B4-BE49-F238E27FC236}">
                    <a16:creationId xmlns:a16="http://schemas.microsoft.com/office/drawing/2014/main" id="{8CF22A02-D5FD-79F1-8083-033DB478B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2582"/>
                <a:ext cx="126" cy="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5" name="Group 11">
                <a:extLst>
                  <a:ext uri="{FF2B5EF4-FFF2-40B4-BE49-F238E27FC236}">
                    <a16:creationId xmlns:a16="http://schemas.microsoft.com/office/drawing/2014/main" id="{12E855DD-B5ED-B53A-7909-AB00A611D1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48" y="1943"/>
                <a:ext cx="970" cy="938"/>
                <a:chOff x="2609" y="1811"/>
                <a:chExt cx="970" cy="938"/>
              </a:xfrm>
            </p:grpSpPr>
            <p:sp>
              <p:nvSpPr>
                <p:cNvPr id="129" name="Rectangle 12">
                  <a:extLst>
                    <a:ext uri="{FF2B5EF4-FFF2-40B4-BE49-F238E27FC236}">
                      <a16:creationId xmlns:a16="http://schemas.microsoft.com/office/drawing/2014/main" id="{BB432BBC-129A-8405-C74C-6A5C0123C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09" y="1811"/>
                  <a:ext cx="838" cy="938"/>
                </a:xfrm>
                <a:prstGeom prst="rect">
                  <a:avLst/>
                </a:prstGeom>
                <a:solidFill>
                  <a:srgbClr val="FFFF00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" name="Rectangle 13">
                  <a:extLst>
                    <a:ext uri="{FF2B5EF4-FFF2-40B4-BE49-F238E27FC236}">
                      <a16:creationId xmlns:a16="http://schemas.microsoft.com/office/drawing/2014/main" id="{3A4795D9-C77A-E67F-3867-62A04FDBD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3" y="1852"/>
                  <a:ext cx="221" cy="16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</a:t>
                  </a:r>
                  <a:r>
                    <a:rPr lang="en-US" altLang="en-US" sz="2000" b="0" baseline="-2500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Rectangle 14">
                  <a:extLst>
                    <a:ext uri="{FF2B5EF4-FFF2-40B4-BE49-F238E27FC236}">
                      <a16:creationId xmlns:a16="http://schemas.microsoft.com/office/drawing/2014/main" id="{3BD91494-1495-7313-6E0D-E3502252CC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3" y="2504"/>
                  <a:ext cx="221" cy="16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altLang="en-US" sz="2000" b="0" baseline="-2500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Line 15">
                  <a:extLst>
                    <a:ext uri="{FF2B5EF4-FFF2-40B4-BE49-F238E27FC236}">
                      <a16:creationId xmlns:a16="http://schemas.microsoft.com/office/drawing/2014/main" id="{9B5F244D-8A6F-59DB-21E2-B0F2D86C40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7" y="1934"/>
                  <a:ext cx="1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Line 16">
                  <a:extLst>
                    <a:ext uri="{FF2B5EF4-FFF2-40B4-BE49-F238E27FC236}">
                      <a16:creationId xmlns:a16="http://schemas.microsoft.com/office/drawing/2014/main" id="{6CCDE4BD-0494-5F51-A83D-FC09728468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7" y="2626"/>
                  <a:ext cx="1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Rectangle 17">
                  <a:extLst>
                    <a:ext uri="{FF2B5EF4-FFF2-40B4-BE49-F238E27FC236}">
                      <a16:creationId xmlns:a16="http://schemas.microsoft.com/office/drawing/2014/main" id="{9DDB6C76-433B-8EA1-301F-3FA3BEE17F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38" y="2463"/>
                  <a:ext cx="221" cy="204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2000" b="0" baseline="-2500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Rectangle 18">
                  <a:extLst>
                    <a:ext uri="{FF2B5EF4-FFF2-40B4-BE49-F238E27FC236}">
                      <a16:creationId xmlns:a16="http://schemas.microsoft.com/office/drawing/2014/main" id="{155727D0-2631-40AE-54AF-810ACFDF7B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38" y="1852"/>
                  <a:ext cx="221" cy="16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2000" b="0" baseline="-25000">
                      <a:solidFill>
                        <a:srgbClr val="3333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en-US" sz="2000" b="0">
                    <a:solidFill>
                      <a:srgbClr val="3333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" name="Line 19">
                  <a:extLst>
                    <a:ext uri="{FF2B5EF4-FFF2-40B4-BE49-F238E27FC236}">
                      <a16:creationId xmlns:a16="http://schemas.microsoft.com/office/drawing/2014/main" id="{E7CC7229-A43B-17F6-42A9-60C25E03A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8" y="2449"/>
                  <a:ext cx="126" cy="0"/>
                </a:xfrm>
                <a:prstGeom prst="line">
                  <a:avLst/>
                </a:prstGeom>
                <a:noFill/>
                <a:ln w="28575">
                  <a:solidFill>
                    <a:srgbClr val="3333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6" name="Line 21">
                <a:extLst>
                  <a:ext uri="{FF2B5EF4-FFF2-40B4-BE49-F238E27FC236}">
                    <a16:creationId xmlns:a16="http://schemas.microsoft.com/office/drawing/2014/main" id="{9E889A8F-0E70-8E36-D697-4A9F29145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9" y="2709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22">
                <a:extLst>
                  <a:ext uri="{FF2B5EF4-FFF2-40B4-BE49-F238E27FC236}">
                    <a16:creationId xmlns:a16="http://schemas.microsoft.com/office/drawing/2014/main" id="{30C90DA1-789D-CAF0-1EA8-B753DD669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9" y="2066"/>
                <a:ext cx="3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3">
                <a:extLst>
                  <a:ext uri="{FF2B5EF4-FFF2-40B4-BE49-F238E27FC236}">
                    <a16:creationId xmlns:a16="http://schemas.microsoft.com/office/drawing/2014/main" id="{22849AC5-D3F4-F89A-F857-820CF1159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9" y="1454"/>
                <a:ext cx="0" cy="1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Rectangle 24">
                <a:extLst>
                  <a:ext uri="{FF2B5EF4-FFF2-40B4-BE49-F238E27FC236}">
                    <a16:creationId xmlns:a16="http://schemas.microsoft.com/office/drawing/2014/main" id="{F26CC033-5962-4A25-90F0-AA1443F4D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4" y="1251"/>
                <a:ext cx="265" cy="20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Line 26">
                <a:extLst>
                  <a:ext uri="{FF2B5EF4-FFF2-40B4-BE49-F238E27FC236}">
                    <a16:creationId xmlns:a16="http://schemas.microsoft.com/office/drawing/2014/main" id="{96B38B47-213E-7AD8-8DA2-6DCCF7BBF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9" y="1495"/>
                <a:ext cx="0" cy="5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Rectangle 27">
                <a:extLst>
                  <a:ext uri="{FF2B5EF4-FFF2-40B4-BE49-F238E27FC236}">
                    <a16:creationId xmlns:a16="http://schemas.microsoft.com/office/drawing/2014/main" id="{A70B1F90-A43C-9274-AFED-A128C9BC6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" y="1272"/>
                <a:ext cx="265" cy="20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en-US" sz="2000" b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Line 29">
                <a:extLst>
                  <a:ext uri="{FF2B5EF4-FFF2-40B4-BE49-F238E27FC236}">
                    <a16:creationId xmlns:a16="http://schemas.microsoft.com/office/drawing/2014/main" id="{BB1FE97A-A4FE-1E69-F0C0-E42B54B4F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0" y="1577"/>
                <a:ext cx="0" cy="1141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Line 30">
                <a:extLst>
                  <a:ext uri="{FF2B5EF4-FFF2-40B4-BE49-F238E27FC236}">
                    <a16:creationId xmlns:a16="http://schemas.microsoft.com/office/drawing/2014/main" id="{60E86821-7A98-EE83-4D2B-9EC5096E8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0" y="2709"/>
                <a:ext cx="309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31">
                <a:extLst>
                  <a:ext uri="{FF2B5EF4-FFF2-40B4-BE49-F238E27FC236}">
                    <a16:creationId xmlns:a16="http://schemas.microsoft.com/office/drawing/2014/main" id="{BCCE475F-4597-B667-42B2-675B6CD38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0" y="2066"/>
                <a:ext cx="309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Rectangle 34">
                <a:extLst>
                  <a:ext uri="{FF2B5EF4-FFF2-40B4-BE49-F238E27FC236}">
                    <a16:creationId xmlns:a16="http://schemas.microsoft.com/office/drawing/2014/main" id="{6CABEEEA-4920-1B06-D1CB-0706CFAA3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4" y="1312"/>
                <a:ext cx="265" cy="24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‘1’</a:t>
                </a:r>
              </a:p>
            </p:txBody>
          </p:sp>
          <p:sp>
            <p:nvSpPr>
              <p:cNvPr id="106" name="Rectangle 36">
                <a:extLst>
                  <a:ext uri="{FF2B5EF4-FFF2-40B4-BE49-F238E27FC236}">
                    <a16:creationId xmlns:a16="http://schemas.microsoft.com/office/drawing/2014/main" id="{00562863-5EC9-79DA-F8B6-D02A4C680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5" y="2723"/>
                <a:ext cx="397" cy="20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b="0" baseline="-2500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107" name="Oval 38">
                <a:extLst>
                  <a:ext uri="{FF2B5EF4-FFF2-40B4-BE49-F238E27FC236}">
                    <a16:creationId xmlns:a16="http://schemas.microsoft.com/office/drawing/2014/main" id="{E5644A9F-0C3F-34FA-131A-172BCEDAC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5" y="2351"/>
                <a:ext cx="44" cy="8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Line 39">
                <a:extLst>
                  <a:ext uri="{FF2B5EF4-FFF2-40B4-BE49-F238E27FC236}">
                    <a16:creationId xmlns:a16="http://schemas.microsoft.com/office/drawing/2014/main" id="{326CA116-2122-B7F6-DCB6-A0E9B5135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2194" y="2286"/>
                <a:ext cx="81" cy="1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40">
                <a:extLst>
                  <a:ext uri="{FF2B5EF4-FFF2-40B4-BE49-F238E27FC236}">
                    <a16:creationId xmlns:a16="http://schemas.microsoft.com/office/drawing/2014/main" id="{1517621D-97C7-B573-AD6A-A86258D46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4" y="2367"/>
                <a:ext cx="82" cy="1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Oval 41">
                <a:extLst>
                  <a:ext uri="{FF2B5EF4-FFF2-40B4-BE49-F238E27FC236}">
                    <a16:creationId xmlns:a16="http://schemas.microsoft.com/office/drawing/2014/main" id="{9CA4128B-049A-1F79-60FB-037B01C72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4" y="2351"/>
                <a:ext cx="44" cy="8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Line 42">
                <a:extLst>
                  <a:ext uri="{FF2B5EF4-FFF2-40B4-BE49-F238E27FC236}">
                    <a16:creationId xmlns:a16="http://schemas.microsoft.com/office/drawing/2014/main" id="{A48D75A0-84F7-7CE5-6ECA-A56F6DBC9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3473" y="2285"/>
                <a:ext cx="82" cy="1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43">
                <a:extLst>
                  <a:ext uri="{FF2B5EF4-FFF2-40B4-BE49-F238E27FC236}">
                    <a16:creationId xmlns:a16="http://schemas.microsoft.com/office/drawing/2014/main" id="{D6240E99-3214-CECB-A631-1258906E6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473" y="2367"/>
                <a:ext cx="81" cy="1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44">
                <a:extLst>
                  <a:ext uri="{FF2B5EF4-FFF2-40B4-BE49-F238E27FC236}">
                    <a16:creationId xmlns:a16="http://schemas.microsoft.com/office/drawing/2014/main" id="{CADB2875-6498-B75A-8B1C-C2130101A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99" y="2384"/>
                <a:ext cx="1" cy="65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45">
                <a:extLst>
                  <a:ext uri="{FF2B5EF4-FFF2-40B4-BE49-F238E27FC236}">
                    <a16:creationId xmlns:a16="http://schemas.microsoft.com/office/drawing/2014/main" id="{DBF2A359-7326-9058-5C7C-573A505047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2392"/>
                <a:ext cx="133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46">
                <a:extLst>
                  <a:ext uri="{FF2B5EF4-FFF2-40B4-BE49-F238E27FC236}">
                    <a16:creationId xmlns:a16="http://schemas.microsoft.com/office/drawing/2014/main" id="{111B6F83-65D9-50F3-1FAE-BF8ED8531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" y="2384"/>
                <a:ext cx="0" cy="65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47">
                <a:extLst>
                  <a:ext uri="{FF2B5EF4-FFF2-40B4-BE49-F238E27FC236}">
                    <a16:creationId xmlns:a16="http://schemas.microsoft.com/office/drawing/2014/main" id="{2E706782-FA11-9624-2CC2-0A65B31281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1" y="2392"/>
                <a:ext cx="133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49">
                <a:extLst>
                  <a:ext uri="{FF2B5EF4-FFF2-40B4-BE49-F238E27FC236}">
                    <a16:creationId xmlns:a16="http://schemas.microsoft.com/office/drawing/2014/main" id="{962E2FB4-F1BC-F77F-D925-41FDDC839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0" y="3045"/>
                <a:ext cx="167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Oval 55">
                <a:extLst>
                  <a:ext uri="{FF2B5EF4-FFF2-40B4-BE49-F238E27FC236}">
                    <a16:creationId xmlns:a16="http://schemas.microsoft.com/office/drawing/2014/main" id="{02AE7F86-432B-AD3C-1A02-B7FE1BC0A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7" y="2888"/>
                <a:ext cx="79" cy="9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Line 57">
                <a:extLst>
                  <a:ext uri="{FF2B5EF4-FFF2-40B4-BE49-F238E27FC236}">
                    <a16:creationId xmlns:a16="http://schemas.microsoft.com/office/drawing/2014/main" id="{56C9267B-E037-FE9D-3A95-DDB36CC37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949"/>
                <a:ext cx="0" cy="2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Rectangle 59">
                <a:extLst>
                  <a:ext uri="{FF2B5EF4-FFF2-40B4-BE49-F238E27FC236}">
                    <a16:creationId xmlns:a16="http://schemas.microsoft.com/office/drawing/2014/main" id="{4FDCE501-F782-BF5F-DA67-6ADAE164B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287"/>
                <a:ext cx="397" cy="20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Clr</a:t>
                </a:r>
              </a:p>
            </p:txBody>
          </p:sp>
          <p:sp>
            <p:nvSpPr>
              <p:cNvPr id="121" name="Line 60">
                <a:extLst>
                  <a:ext uri="{FF2B5EF4-FFF2-40B4-BE49-F238E27FC236}">
                    <a16:creationId xmlns:a16="http://schemas.microsoft.com/office/drawing/2014/main" id="{9EFADE8A-0D68-5453-09AF-EB7B05AD8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3" y="3190"/>
                <a:ext cx="229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62">
                <a:extLst>
                  <a:ext uri="{FF2B5EF4-FFF2-40B4-BE49-F238E27FC236}">
                    <a16:creationId xmlns:a16="http://schemas.microsoft.com/office/drawing/2014/main" id="{924F5451-8310-D107-ABB6-D8EA05818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3" y="3042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63">
                <a:extLst>
                  <a:ext uri="{FF2B5EF4-FFF2-40B4-BE49-F238E27FC236}">
                    <a16:creationId xmlns:a16="http://schemas.microsoft.com/office/drawing/2014/main" id="{AC279D39-D4B6-4535-F1AB-0E2D15731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5" y="3189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64">
                <a:extLst>
                  <a:ext uri="{FF2B5EF4-FFF2-40B4-BE49-F238E27FC236}">
                    <a16:creationId xmlns:a16="http://schemas.microsoft.com/office/drawing/2014/main" id="{B5393568-A79A-8DCB-744D-8E81273BAF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741" y="1620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Rectangle 65">
                <a:extLst>
                  <a:ext uri="{FF2B5EF4-FFF2-40B4-BE49-F238E27FC236}">
                    <a16:creationId xmlns:a16="http://schemas.microsoft.com/office/drawing/2014/main" id="{D6C4E66E-BB71-109C-A866-83F245ECE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2265"/>
                <a:ext cx="265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k1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Rectangle 66">
                <a:extLst>
                  <a:ext uri="{FF2B5EF4-FFF2-40B4-BE49-F238E27FC236}">
                    <a16:creationId xmlns:a16="http://schemas.microsoft.com/office/drawing/2014/main" id="{CFE81A56-615F-DC14-67A9-3AB48ECB5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3" y="2258"/>
                <a:ext cx="265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k2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Oval 56">
                <a:extLst>
                  <a:ext uri="{FF2B5EF4-FFF2-40B4-BE49-F238E27FC236}">
                    <a16:creationId xmlns:a16="http://schemas.microsoft.com/office/drawing/2014/main" id="{BE9CAEAF-2FB8-A974-E008-8CEC6C2F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" y="2884"/>
                <a:ext cx="79" cy="9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0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Rectangle 34">
                <a:extLst>
                  <a:ext uri="{FF2B5EF4-FFF2-40B4-BE49-F238E27FC236}">
                    <a16:creationId xmlns:a16="http://schemas.microsoft.com/office/drawing/2014/main" id="{26D84F69-CE31-669D-8BC5-569AB79E7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9" y="1182"/>
                <a:ext cx="265" cy="24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‘1’</a:t>
                </a:r>
              </a:p>
            </p:txBody>
          </p:sp>
        </p:grpSp>
        <p:sp>
          <p:nvSpPr>
            <p:cNvPr id="32" name="Text Box 22">
              <a:extLst>
                <a:ext uri="{FF2B5EF4-FFF2-40B4-BE49-F238E27FC236}">
                  <a16:creationId xmlns:a16="http://schemas.microsoft.com/office/drawing/2014/main" id="{5096C5F2-9C3D-9A29-7C9A-9B9266A70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1814746"/>
              <a:ext cx="4714248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en-US" sz="2800" b="0">
                  <a:solidFill>
                    <a:srgbClr val="00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Bộ đếm không đồng bộ</a:t>
              </a:r>
            </a:p>
          </p:txBody>
        </p:sp>
        <p:grpSp>
          <p:nvGrpSpPr>
            <p:cNvPr id="33" name="Group 2">
              <a:extLst>
                <a:ext uri="{FF2B5EF4-FFF2-40B4-BE49-F238E27FC236}">
                  <a16:creationId xmlns:a16="http://schemas.microsoft.com/office/drawing/2014/main" id="{5E5E8B71-6AE7-9604-640C-741AB4EA71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617" y="2881108"/>
              <a:ext cx="4155418" cy="2474429"/>
              <a:chOff x="573284" y="3716296"/>
              <a:chExt cx="4224361" cy="2474429"/>
            </a:xfrm>
          </p:grpSpPr>
          <p:sp>
            <p:nvSpPr>
              <p:cNvPr id="39" name="Line 24">
                <a:extLst>
                  <a:ext uri="{FF2B5EF4-FFF2-40B4-BE49-F238E27FC236}">
                    <a16:creationId xmlns:a16="http://schemas.microsoft.com/office/drawing/2014/main" id="{6AE42698-BA23-F896-9E4B-384ECB1A2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61154" y="5515162"/>
                <a:ext cx="485727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7">
                <a:extLst>
                  <a:ext uri="{FF2B5EF4-FFF2-40B4-BE49-F238E27FC236}">
                    <a16:creationId xmlns:a16="http://schemas.microsoft.com/office/drawing/2014/main" id="{C83A98AF-3691-0655-CAAE-732B261526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4348" y="5124325"/>
                <a:ext cx="97581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9">
                <a:extLst>
                  <a:ext uri="{FF2B5EF4-FFF2-40B4-BE49-F238E27FC236}">
                    <a16:creationId xmlns:a16="http://schemas.microsoft.com/office/drawing/2014/main" id="{8A778933-18F4-AF5D-0B70-63757F79F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62803" y="5331456"/>
                <a:ext cx="0" cy="1615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13">
                <a:extLst>
                  <a:ext uri="{FF2B5EF4-FFF2-40B4-BE49-F238E27FC236}">
                    <a16:creationId xmlns:a16="http://schemas.microsoft.com/office/drawing/2014/main" id="{7CC1E39F-D8E5-A151-8153-C7A9D4249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061" y="4617594"/>
                <a:ext cx="946731" cy="993736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Text Box 14">
                <a:extLst>
                  <a:ext uri="{FF2B5EF4-FFF2-40B4-BE49-F238E27FC236}">
                    <a16:creationId xmlns:a16="http://schemas.microsoft.com/office/drawing/2014/main" id="{1BCA2BEA-0697-3149-B959-C0E5E01A4B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2850" y="4568277"/>
                <a:ext cx="418830" cy="337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Text Box 15">
                <a:extLst>
                  <a:ext uri="{FF2B5EF4-FFF2-40B4-BE49-F238E27FC236}">
                    <a16:creationId xmlns:a16="http://schemas.microsoft.com/office/drawing/2014/main" id="{BFCA540C-E6F7-670B-EB8B-3A2602970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9684" y="5238739"/>
                <a:ext cx="527901" cy="337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Text Box 16">
                <a:extLst>
                  <a:ext uri="{FF2B5EF4-FFF2-40B4-BE49-F238E27FC236}">
                    <a16:creationId xmlns:a16="http://schemas.microsoft.com/office/drawing/2014/main" id="{CF16BD64-88A3-A15B-8E4B-C46744818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864" y="4576908"/>
                <a:ext cx="474092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" name="Group 17">
                <a:extLst>
                  <a:ext uri="{FF2B5EF4-FFF2-40B4-BE49-F238E27FC236}">
                    <a16:creationId xmlns:a16="http://schemas.microsoft.com/office/drawing/2014/main" id="{B35C6BAE-D078-36B2-0D51-41483A373B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9864" y="5229921"/>
                <a:ext cx="568446" cy="336588"/>
                <a:chOff x="3578" y="4133"/>
                <a:chExt cx="720" cy="720"/>
              </a:xfrm>
            </p:grpSpPr>
            <p:sp>
              <p:nvSpPr>
                <p:cNvPr id="85" name="Text Box 18">
                  <a:extLst>
                    <a:ext uri="{FF2B5EF4-FFF2-40B4-BE49-F238E27FC236}">
                      <a16:creationId xmlns:a16="http://schemas.microsoft.com/office/drawing/2014/main" id="{2FE3D109-CA6E-8AD2-A6B4-E820D9F010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8" y="4133"/>
                  <a:ext cx="720" cy="7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rgbClr val="0033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2000" b="0" baseline="-25000">
                      <a:solidFill>
                        <a:srgbClr val="0033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Line 19">
                  <a:extLst>
                    <a:ext uri="{FF2B5EF4-FFF2-40B4-BE49-F238E27FC236}">
                      <a16:creationId xmlns:a16="http://schemas.microsoft.com/office/drawing/2014/main" id="{91B7DDFB-EE5C-F82F-8311-93725A743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23" y="4303"/>
                  <a:ext cx="188" cy="0"/>
                </a:xfrm>
                <a:prstGeom prst="lin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" name="Line 20">
                <a:extLst>
                  <a:ext uri="{FF2B5EF4-FFF2-40B4-BE49-F238E27FC236}">
                    <a16:creationId xmlns:a16="http://schemas.microsoft.com/office/drawing/2014/main" id="{767DB567-CAA7-9A1C-486C-7C4E8ECDB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5201" y="3877840"/>
                <a:ext cx="0" cy="124401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21">
                <a:extLst>
                  <a:ext uri="{FF2B5EF4-FFF2-40B4-BE49-F238E27FC236}">
                    <a16:creationId xmlns:a16="http://schemas.microsoft.com/office/drawing/2014/main" id="{D0640D9A-D614-9747-447E-B1D84771A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4348" y="5838188"/>
                <a:ext cx="3280837" cy="24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23">
                <a:extLst>
                  <a:ext uri="{FF2B5EF4-FFF2-40B4-BE49-F238E27FC236}">
                    <a16:creationId xmlns:a16="http://schemas.microsoft.com/office/drawing/2014/main" id="{9DD9D6C7-5711-6474-BC55-6C598B2B9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75697" y="4721160"/>
                <a:ext cx="461004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25">
                <a:extLst>
                  <a:ext uri="{FF2B5EF4-FFF2-40B4-BE49-F238E27FC236}">
                    <a16:creationId xmlns:a16="http://schemas.microsoft.com/office/drawing/2014/main" id="{4CEE11BF-3B5F-F12A-C4BF-7449BA67E1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5697" y="3907430"/>
                <a:ext cx="0" cy="1597868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26">
                <a:extLst>
                  <a:ext uri="{FF2B5EF4-FFF2-40B4-BE49-F238E27FC236}">
                    <a16:creationId xmlns:a16="http://schemas.microsoft.com/office/drawing/2014/main" id="{A2E36729-ACA2-5E4F-C184-A2736F540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5697" y="3907430"/>
                <a:ext cx="0" cy="167678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27">
                <a:extLst>
                  <a:ext uri="{FF2B5EF4-FFF2-40B4-BE49-F238E27FC236}">
                    <a16:creationId xmlns:a16="http://schemas.microsoft.com/office/drawing/2014/main" id="{92458DE9-B93D-9EAA-F1FB-C173CB662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910674" y="4929147"/>
                <a:ext cx="0" cy="39265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28">
                <a:extLst>
                  <a:ext uri="{FF2B5EF4-FFF2-40B4-BE49-F238E27FC236}">
                    <a16:creationId xmlns:a16="http://schemas.microsoft.com/office/drawing/2014/main" id="{ADE26A3D-0438-672E-C26C-1A5EE4AE1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005202" y="5735946"/>
                <a:ext cx="0" cy="20941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 Box 29">
                <a:extLst>
                  <a:ext uri="{FF2B5EF4-FFF2-40B4-BE49-F238E27FC236}">
                    <a16:creationId xmlns:a16="http://schemas.microsoft.com/office/drawing/2014/main" id="{2C1717F5-D6AE-5BB5-C86D-11092DCE8B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1769" y="3729890"/>
                <a:ext cx="508995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 Box 30">
                <a:extLst>
                  <a:ext uri="{FF2B5EF4-FFF2-40B4-BE49-F238E27FC236}">
                    <a16:creationId xmlns:a16="http://schemas.microsoft.com/office/drawing/2014/main" id="{A2E3A618-3E0F-FBCE-38B5-43855E75A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3081" y="3716296"/>
                <a:ext cx="564564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 Box 32">
                <a:extLst>
                  <a:ext uri="{FF2B5EF4-FFF2-40B4-BE49-F238E27FC236}">
                    <a16:creationId xmlns:a16="http://schemas.microsoft.com/office/drawing/2014/main" id="{18B4D1E7-65F4-E4C6-28A1-2174289E0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3284" y="5144914"/>
                <a:ext cx="465367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 Box 33">
                <a:extLst>
                  <a:ext uri="{FF2B5EF4-FFF2-40B4-BE49-F238E27FC236}">
                    <a16:creationId xmlns:a16="http://schemas.microsoft.com/office/drawing/2014/main" id="{7C4FE450-BAE4-5A2D-59C5-6262BF46FE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702" y="5854137"/>
                <a:ext cx="558440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Clr</a:t>
                </a:r>
              </a:p>
            </p:txBody>
          </p:sp>
          <p:sp>
            <p:nvSpPr>
              <p:cNvPr id="58" name="Line 34">
                <a:extLst>
                  <a:ext uri="{FF2B5EF4-FFF2-40B4-BE49-F238E27FC236}">
                    <a16:creationId xmlns:a16="http://schemas.microsoft.com/office/drawing/2014/main" id="{8137B86F-C4B9-C3C6-0A60-1D92F46791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15426" y="4735955"/>
                <a:ext cx="20941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35">
                <a:extLst>
                  <a:ext uri="{FF2B5EF4-FFF2-40B4-BE49-F238E27FC236}">
                    <a16:creationId xmlns:a16="http://schemas.microsoft.com/office/drawing/2014/main" id="{126A7CD1-42CE-D68E-668C-CE3E83E18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6475" y="5120627"/>
                <a:ext cx="60061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 Box 36">
                <a:extLst>
                  <a:ext uri="{FF2B5EF4-FFF2-40B4-BE49-F238E27FC236}">
                    <a16:creationId xmlns:a16="http://schemas.microsoft.com/office/drawing/2014/main" id="{FA2A74AD-7D41-C055-1A8D-2B886DF842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4857" y="4956648"/>
                <a:ext cx="576620" cy="337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k1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Rectangle 39">
                <a:extLst>
                  <a:ext uri="{FF2B5EF4-FFF2-40B4-BE49-F238E27FC236}">
                    <a16:creationId xmlns:a16="http://schemas.microsoft.com/office/drawing/2014/main" id="{9EBB6006-FE2E-DAEB-E568-71D49DDC3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8184" y="4608964"/>
                <a:ext cx="946731" cy="993736"/>
              </a:xfrm>
              <a:prstGeom prst="rect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Text Box 40">
                <a:extLst>
                  <a:ext uri="{FF2B5EF4-FFF2-40B4-BE49-F238E27FC236}">
                    <a16:creationId xmlns:a16="http://schemas.microsoft.com/office/drawing/2014/main" id="{A38C117D-A1C1-1F47-C827-04D35F3D2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8184" y="4578141"/>
                <a:ext cx="418830" cy="337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Text Box 41">
                <a:extLst>
                  <a:ext uri="{FF2B5EF4-FFF2-40B4-BE49-F238E27FC236}">
                    <a16:creationId xmlns:a16="http://schemas.microsoft.com/office/drawing/2014/main" id="{8D324654-5807-F464-7A3D-F11F4CBF02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8183" y="5241017"/>
                <a:ext cx="477001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Text Box 42">
                <a:extLst>
                  <a:ext uri="{FF2B5EF4-FFF2-40B4-BE49-F238E27FC236}">
                    <a16:creationId xmlns:a16="http://schemas.microsoft.com/office/drawing/2014/main" id="{357A09C4-FF71-6961-548B-85B4690924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9684" y="4559091"/>
                <a:ext cx="482818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en-US" sz="2000" b="0" baseline="-2500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en-US" sz="2000" b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5" name="Group 43">
                <a:extLst>
                  <a:ext uri="{FF2B5EF4-FFF2-40B4-BE49-F238E27FC236}">
                    <a16:creationId xmlns:a16="http://schemas.microsoft.com/office/drawing/2014/main" id="{24828899-4B97-DAB8-8A49-C4AEB0282F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2951" y="5230816"/>
                <a:ext cx="548549" cy="336588"/>
                <a:chOff x="3578" y="4133"/>
                <a:chExt cx="720" cy="720"/>
              </a:xfrm>
            </p:grpSpPr>
            <p:sp>
              <p:nvSpPr>
                <p:cNvPr id="83" name="Text Box 44">
                  <a:extLst>
                    <a:ext uri="{FF2B5EF4-FFF2-40B4-BE49-F238E27FC236}">
                      <a16:creationId xmlns:a16="http://schemas.microsoft.com/office/drawing/2014/main" id="{079D3B25-E654-F165-4160-5F73A30560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8" y="4133"/>
                  <a:ext cx="720" cy="7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rgbClr val="0033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altLang="en-US" sz="2000" b="0" baseline="-25000">
                      <a:solidFill>
                        <a:srgbClr val="0033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altLang="en-US" sz="2000" b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Line 45">
                  <a:extLst>
                    <a:ext uri="{FF2B5EF4-FFF2-40B4-BE49-F238E27FC236}">
                      <a16:creationId xmlns:a16="http://schemas.microsoft.com/office/drawing/2014/main" id="{076D11BC-1514-033B-A09D-A9C7919A3A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25" y="4314"/>
                  <a:ext cx="195" cy="0"/>
                </a:xfrm>
                <a:prstGeom prst="lin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" name="Text Box 46">
                <a:extLst>
                  <a:ext uri="{FF2B5EF4-FFF2-40B4-BE49-F238E27FC236}">
                    <a16:creationId xmlns:a16="http://schemas.microsoft.com/office/drawing/2014/main" id="{1D56B180-5C4C-5B1C-64D3-C4252D19B5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6160" y="4952949"/>
                <a:ext cx="583451" cy="336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k2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Oval 60">
                <a:extLst>
                  <a:ext uri="{FF2B5EF4-FFF2-40B4-BE49-F238E27FC236}">
                    <a16:creationId xmlns:a16="http://schemas.microsoft.com/office/drawing/2014/main" id="{E1C1CF59-DBD7-0546-1847-4228AB7C6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649" y="5603932"/>
                <a:ext cx="84348" cy="6781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61">
                <a:extLst>
                  <a:ext uri="{FF2B5EF4-FFF2-40B4-BE49-F238E27FC236}">
                    <a16:creationId xmlns:a16="http://schemas.microsoft.com/office/drawing/2014/main" id="{4392B4E5-A76B-5F1C-9F12-E6C0CAE1B5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2788" y="4440052"/>
                <a:ext cx="1987990" cy="8969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67">
                <a:extLst>
                  <a:ext uri="{FF2B5EF4-FFF2-40B4-BE49-F238E27FC236}">
                    <a16:creationId xmlns:a16="http://schemas.microsoft.com/office/drawing/2014/main" id="{7FEC4797-ABD8-A2B9-872C-AE81B43B1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3461" y="4692802"/>
                <a:ext cx="22977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69">
                <a:extLst>
                  <a:ext uri="{FF2B5EF4-FFF2-40B4-BE49-F238E27FC236}">
                    <a16:creationId xmlns:a16="http://schemas.microsoft.com/office/drawing/2014/main" id="{31F55C63-7A26-2C48-FB4D-9A9039C3AA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81602" y="3824824"/>
                <a:ext cx="11634" cy="86797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Oval 72">
                <a:extLst>
                  <a:ext uri="{FF2B5EF4-FFF2-40B4-BE49-F238E27FC236}">
                    <a16:creationId xmlns:a16="http://schemas.microsoft.com/office/drawing/2014/main" id="{C6F5DF29-6F36-4052-B506-597612DD9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520" y="4417861"/>
                <a:ext cx="49445" cy="40686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B0F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Oval 73">
                <a:extLst>
                  <a:ext uri="{FF2B5EF4-FFF2-40B4-BE49-F238E27FC236}">
                    <a16:creationId xmlns:a16="http://schemas.microsoft.com/office/drawing/2014/main" id="{E1B4AB7A-5126-3148-40E7-5ADAAD624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6530" y="4427386"/>
                <a:ext cx="49445" cy="40686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B0F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Oval 75">
                <a:extLst>
                  <a:ext uri="{FF2B5EF4-FFF2-40B4-BE49-F238E27FC236}">
                    <a16:creationId xmlns:a16="http://schemas.microsoft.com/office/drawing/2014/main" id="{199E5739-AB87-FDBA-610D-FA9C2E788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9095" y="5613796"/>
                <a:ext cx="84348" cy="6781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Line 77">
                <a:extLst>
                  <a:ext uri="{FF2B5EF4-FFF2-40B4-BE49-F238E27FC236}">
                    <a16:creationId xmlns:a16="http://schemas.microsoft.com/office/drawing/2014/main" id="{5CF0ED82-651C-1C50-78B5-0EDA5CAC4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95185" y="5682839"/>
                <a:ext cx="0" cy="1615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78">
                <a:extLst>
                  <a:ext uri="{FF2B5EF4-FFF2-40B4-BE49-F238E27FC236}">
                    <a16:creationId xmlns:a16="http://schemas.microsoft.com/office/drawing/2014/main" id="{748A50D7-4770-FC7E-89E6-16507EAC8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3522" y="5682839"/>
                <a:ext cx="0" cy="16151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38">
                <a:extLst>
                  <a:ext uri="{FF2B5EF4-FFF2-40B4-BE49-F238E27FC236}">
                    <a16:creationId xmlns:a16="http://schemas.microsoft.com/office/drawing/2014/main" id="{37AE35AE-AEF5-DEA0-ABB9-5B71E713E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0013" y="5083639"/>
                <a:ext cx="66897" cy="6657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Oval 12">
                <a:extLst>
                  <a:ext uri="{FF2B5EF4-FFF2-40B4-BE49-F238E27FC236}">
                    <a16:creationId xmlns:a16="http://schemas.microsoft.com/office/drawing/2014/main" id="{83C39AE7-FE37-877A-14A1-6D1AD04C2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710" y="5093502"/>
                <a:ext cx="66897" cy="66578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Line 79">
                <a:extLst>
                  <a:ext uri="{FF2B5EF4-FFF2-40B4-BE49-F238E27FC236}">
                    <a16:creationId xmlns:a16="http://schemas.microsoft.com/office/drawing/2014/main" id="{37113B29-FB99-D27D-ADA1-A974F4FFF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0778" y="4449917"/>
                <a:ext cx="1454" cy="1065245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Line 80">
                <a:extLst>
                  <a:ext uri="{FF2B5EF4-FFF2-40B4-BE49-F238E27FC236}">
                    <a16:creationId xmlns:a16="http://schemas.microsoft.com/office/drawing/2014/main" id="{697B2D93-514B-4B37-9362-FD42C5473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2232" y="5505298"/>
                <a:ext cx="242863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81">
                <a:extLst>
                  <a:ext uri="{FF2B5EF4-FFF2-40B4-BE49-F238E27FC236}">
                    <a16:creationId xmlns:a16="http://schemas.microsoft.com/office/drawing/2014/main" id="{BC46F562-4BA0-5B21-B6F3-3C410DA98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6595" y="4755681"/>
                <a:ext cx="242863" cy="0"/>
              </a:xfrm>
              <a:prstGeom prst="line">
                <a:avLst/>
              </a:prstGeom>
              <a:noFill/>
              <a:ln w="28575">
                <a:solidFill>
                  <a:srgbClr val="00B0F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25">
                <a:extLst>
                  <a:ext uri="{FF2B5EF4-FFF2-40B4-BE49-F238E27FC236}">
                    <a16:creationId xmlns:a16="http://schemas.microsoft.com/office/drawing/2014/main" id="{8A41FB4F-563C-F660-6E26-3E89841E9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933" y="4709604"/>
                <a:ext cx="0" cy="41472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27E4365-7153-EBFB-979C-16924229CA17}"/>
                </a:ext>
              </a:extLst>
            </p:cNvPr>
            <p:cNvSpPr/>
            <p:nvPr/>
          </p:nvSpPr>
          <p:spPr>
            <a:xfrm>
              <a:off x="333375" y="1816100"/>
              <a:ext cx="8582025" cy="3898901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white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833E240-A9D5-6FCB-FE27-64BF4E9F6AC7}"/>
                </a:ext>
              </a:extLst>
            </p:cNvPr>
            <p:cNvCxnSpPr/>
            <p:nvPr/>
          </p:nvCxnSpPr>
          <p:spPr>
            <a:xfrm>
              <a:off x="4413250" y="1816100"/>
              <a:ext cx="0" cy="3898901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4D603D0-C6F7-C3AF-0733-C67F51F0642C}"/>
                </a:ext>
              </a:extLst>
            </p:cNvPr>
            <p:cNvSpPr/>
            <p:nvPr/>
          </p:nvSpPr>
          <p:spPr>
            <a:xfrm rot="5400000">
              <a:off x="7564438" y="4183063"/>
              <a:ext cx="139700" cy="168275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F92E2B08-07F5-BD63-42C7-5509A59CE195}"/>
                </a:ext>
              </a:extLst>
            </p:cNvPr>
            <p:cNvSpPr/>
            <p:nvPr/>
          </p:nvSpPr>
          <p:spPr>
            <a:xfrm rot="5400000">
              <a:off x="5824538" y="4198938"/>
              <a:ext cx="139700" cy="168275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white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9871AF1-0099-A395-C3BF-B040A13800DB}"/>
                </a:ext>
              </a:extLst>
            </p:cNvPr>
            <p:cNvCxnSpPr/>
            <p:nvPr/>
          </p:nvCxnSpPr>
          <p:spPr>
            <a:xfrm flipH="1">
              <a:off x="330200" y="2438400"/>
              <a:ext cx="8585200" cy="0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366B3155-6547-073C-6F8E-15C0E2808FAA}"/>
              </a:ext>
            </a:extLst>
          </p:cNvPr>
          <p:cNvSpPr txBox="1"/>
          <p:nvPr/>
        </p:nvSpPr>
        <p:spPr>
          <a:xfrm>
            <a:off x="1421859" y="6392824"/>
            <a:ext cx="9896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Đồng bộ</a:t>
            </a:r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Xung nhịp được đưa đến đồng thời các FF, sự chuyển đổi trạng thái của các FF là đồng thời.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9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57463" y="927684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đếm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D921FCB5-965B-219D-7020-114EDB754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422" y="1041142"/>
            <a:ext cx="5863627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600"/>
              </a:spcBef>
              <a:buNone/>
            </a:pPr>
            <a:r>
              <a:rPr lang="en-US" altLang="en-US" sz="2800" b="0">
                <a:latin typeface="Arial" panose="020B0604020202020204" pitchFamily="34" charset="0"/>
                <a:cs typeface="Arial" panose="020B0604020202020204" pitchFamily="34" charset="0"/>
              </a:rPr>
              <a:t>- Phân loại theo hệ số đếm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it-IT" altLang="en-US" sz="2800" b="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r>
              <a:rPr lang="it-IT" altLang="en-US" sz="2800" b="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</a:t>
            </a:r>
            <a:r>
              <a:rPr lang="it-IT" altLang="en-US" sz="2800" b="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2; 4; 8; 16...  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K</a:t>
            </a:r>
            <a:r>
              <a:rPr lang="it-IT" altLang="en-US" sz="2800" b="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it-IT" altLang="en-US" sz="2800" b="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</a:t>
            </a:r>
            <a:r>
              <a:rPr lang="it-IT" altLang="en-US" sz="2800" b="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it-IT" altLang="en-US" sz="2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5; 6; 10... </a:t>
            </a:r>
            <a:endParaRPr lang="en-US" altLang="en-US" sz="2800" b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id="{C33675C4-DC1E-3016-892B-470390500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36" y="2089818"/>
            <a:ext cx="7848600" cy="59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0">
                <a:latin typeface="Arial" panose="020B0604020202020204" pitchFamily="34" charset="0"/>
                <a:cs typeface="Arial" panose="020B0604020202020204" pitchFamily="34" charset="0"/>
              </a:rPr>
              <a:t>- Phân loại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800" b="0">
                <a:latin typeface="Arial" panose="020B0604020202020204" pitchFamily="34" charset="0"/>
                <a:cs typeface="Arial" panose="020B0604020202020204" pitchFamily="34" charset="0"/>
              </a:rPr>
              <a:t>heo hướng đếm</a:t>
            </a:r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1F8D44BE-1CB8-6999-8E05-495D8C8E5B83}"/>
              </a:ext>
            </a:extLst>
          </p:cNvPr>
          <p:cNvGrpSpPr>
            <a:grpSpLocks/>
          </p:cNvGrpSpPr>
          <p:nvPr/>
        </p:nvGrpSpPr>
        <p:grpSpPr bwMode="auto">
          <a:xfrm>
            <a:off x="267286" y="2699418"/>
            <a:ext cx="8991600" cy="3924300"/>
            <a:chOff x="317218" y="2667000"/>
            <a:chExt cx="8598182" cy="3924845"/>
          </a:xfrm>
        </p:grpSpPr>
        <p:sp>
          <p:nvSpPr>
            <p:cNvPr id="20" name="Text Box 22">
              <a:extLst>
                <a:ext uri="{FF2B5EF4-FFF2-40B4-BE49-F238E27FC236}">
                  <a16:creationId xmlns:a16="http://schemas.microsoft.com/office/drawing/2014/main" id="{93365311-3CA5-370E-9908-C2D6620C7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218" y="2667000"/>
              <a:ext cx="3572106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en-US" sz="2800" b="0">
                  <a:solidFill>
                    <a:srgbClr val="00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Đếm thuận</a:t>
              </a: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99B41E2C-F4E2-D58B-1C80-FC856BF63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417" y="2691590"/>
              <a:ext cx="4369469" cy="652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en-US" sz="2800" b="0">
                  <a:solidFill>
                    <a:srgbClr val="00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Đếm nghịch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F5E6A6-CD22-ACDE-46BC-AAC591B0229A}"/>
                </a:ext>
              </a:extLst>
            </p:cNvPr>
            <p:cNvSpPr/>
            <p:nvPr/>
          </p:nvSpPr>
          <p:spPr>
            <a:xfrm>
              <a:off x="333917" y="2692404"/>
              <a:ext cx="8581483" cy="3899441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b="0">
                <a:solidFill>
                  <a:prstClr val="white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04E0848-934B-37B9-E619-22ADD1A0BCD7}"/>
                </a:ext>
              </a:extLst>
            </p:cNvPr>
            <p:cNvCxnSpPr/>
            <p:nvPr/>
          </p:nvCxnSpPr>
          <p:spPr>
            <a:xfrm>
              <a:off x="4645152" y="2692404"/>
              <a:ext cx="0" cy="3899441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F11C9FC-4AFB-5645-600F-61BA5744C383}"/>
                </a:ext>
              </a:extLst>
            </p:cNvPr>
            <p:cNvCxnSpPr/>
            <p:nvPr/>
          </p:nvCxnSpPr>
          <p:spPr>
            <a:xfrm flipH="1">
              <a:off x="330881" y="3314790"/>
              <a:ext cx="8584519" cy="0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9FA643A1-B678-691F-C7AE-963F53853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236" y="3632868"/>
            <a:ext cx="41910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18">
            <a:extLst>
              <a:ext uri="{FF2B5EF4-FFF2-40B4-BE49-F238E27FC236}">
                <a16:creationId xmlns:a16="http://schemas.microsoft.com/office/drawing/2014/main" id="{5EC8F1CA-0532-B98D-28A2-99C0ED2DB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36" y="3607468"/>
            <a:ext cx="4297363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750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Các bước thiết kế bộ đếm đồng bộ </a:t>
            </a:r>
          </a:p>
          <a:p>
            <a:pPr algn="just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Bước 1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Căn cứ vào yêu cầu của bộ đếm xây dựng graph trạng thái.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Bước 2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</a:t>
            </a:r>
            <a:r>
              <a:rPr lang="vi-V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FF cần sử dụng </a:t>
            </a:r>
            <a:r>
              <a:rPr lang="vi-VN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bộ đếm, mã hoá trạng thái theo mã đã cho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Bước 3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Lập bảng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chuyển đổi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trạng thái,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vi-VN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ác định </a:t>
            </a:r>
            <a:r>
              <a:rPr lang="vi-V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phương trình logic </a:t>
            </a:r>
            <a:r>
              <a:rPr lang="vi-VN" sz="3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 ra, hàm kích thích các FF và rút gọn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Bước 4: Xây dựng sơ đồ mạch.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2687F8D4-280F-4E06-9B4C-A37CA49E4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675141"/>
              </p:ext>
            </p:extLst>
          </p:nvPr>
        </p:nvGraphicFramePr>
        <p:xfrm>
          <a:off x="3454168" y="2770180"/>
          <a:ext cx="2242992" cy="68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09438" imgH="247347" progId="Equation.DSMT4">
                  <p:embed/>
                </p:oleObj>
              </mc:Choice>
              <mc:Fallback>
                <p:oleObj name="Equation" r:id="rId2" imgW="809438" imgH="2473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54168" y="2770180"/>
                        <a:ext cx="2242992" cy="686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100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4E2DFB-3B89-495F-85C2-164CD30C4C60}"/>
              </a:ext>
            </a:extLst>
          </p:cNvPr>
          <p:cNvGrpSpPr>
            <a:grpSpLocks/>
          </p:cNvGrpSpPr>
          <p:nvPr/>
        </p:nvGrpSpPr>
        <p:grpSpPr bwMode="auto">
          <a:xfrm>
            <a:off x="1195754" y="3625949"/>
            <a:ext cx="9889588" cy="2366889"/>
            <a:chOff x="2199" y="5291"/>
            <a:chExt cx="6343" cy="15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258">
                  <a:extLst>
                    <a:ext uri="{FF2B5EF4-FFF2-40B4-BE49-F238E27FC236}">
                      <a16:creationId xmlns:a16="http://schemas.microsoft.com/office/drawing/2014/main" id="{41B2F10D-0FF0-4CF7-A362-38E4A8D64E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95" y="6264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258">
                  <a:extLst>
                    <a:ext uri="{FF2B5EF4-FFF2-40B4-BE49-F238E27FC236}">
                      <a16:creationId xmlns:a16="http://schemas.microsoft.com/office/drawing/2014/main" id="{41B2F10D-0FF0-4CF7-A362-38E4A8D64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95" y="6264"/>
                  <a:ext cx="609" cy="61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59">
                  <a:extLst>
                    <a:ext uri="{FF2B5EF4-FFF2-40B4-BE49-F238E27FC236}">
                      <a16:creationId xmlns:a16="http://schemas.microsoft.com/office/drawing/2014/main" id="{493AE7F3-9CAB-45B9-A7F8-B194CEF74E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49" y="5303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259">
                  <a:extLst>
                    <a:ext uri="{FF2B5EF4-FFF2-40B4-BE49-F238E27FC236}">
                      <a16:creationId xmlns:a16="http://schemas.microsoft.com/office/drawing/2014/main" id="{493AE7F3-9CAB-45B9-A7F8-B194CEF74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49" y="5303"/>
                  <a:ext cx="609" cy="61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60">
                  <a:extLst>
                    <a:ext uri="{FF2B5EF4-FFF2-40B4-BE49-F238E27FC236}">
                      <a16:creationId xmlns:a16="http://schemas.microsoft.com/office/drawing/2014/main" id="{86DD6694-EFF2-4207-888A-0DBECB4FA3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83" y="5291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60">
                  <a:extLst>
                    <a:ext uri="{FF2B5EF4-FFF2-40B4-BE49-F238E27FC236}">
                      <a16:creationId xmlns:a16="http://schemas.microsoft.com/office/drawing/2014/main" id="{86DD6694-EFF2-4207-888A-0DBECB4FA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83" y="5291"/>
                  <a:ext cx="609" cy="6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261">
                  <a:extLst>
                    <a:ext uri="{FF2B5EF4-FFF2-40B4-BE49-F238E27FC236}">
                      <a16:creationId xmlns:a16="http://schemas.microsoft.com/office/drawing/2014/main" id="{BBFCCFE2-7225-419B-B5B7-433F2CD557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27" y="5315"/>
                  <a:ext cx="609" cy="61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3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261">
                  <a:extLst>
                    <a:ext uri="{FF2B5EF4-FFF2-40B4-BE49-F238E27FC236}">
                      <a16:creationId xmlns:a16="http://schemas.microsoft.com/office/drawing/2014/main" id="{BBFCCFE2-7225-419B-B5B7-433F2CD55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27" y="5315"/>
                  <a:ext cx="609" cy="6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 Box 262">
              <a:extLst>
                <a:ext uri="{FF2B5EF4-FFF2-40B4-BE49-F238E27FC236}">
                  <a16:creationId xmlns:a16="http://schemas.microsoft.com/office/drawing/2014/main" id="{32F4FE91-3327-4C96-ACA8-81AFBF410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1" y="5476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cxnSp>
          <p:nvCxnSpPr>
            <p:cNvPr id="17" name="Line 263">
              <a:extLst>
                <a:ext uri="{FF2B5EF4-FFF2-40B4-BE49-F238E27FC236}">
                  <a16:creationId xmlns:a16="http://schemas.microsoft.com/office/drawing/2014/main" id="{D034A868-588B-4B0C-9BCF-4C29BE60A8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19" y="5758"/>
              <a:ext cx="1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264">
              <a:extLst>
                <a:ext uri="{FF2B5EF4-FFF2-40B4-BE49-F238E27FC236}">
                  <a16:creationId xmlns:a16="http://schemas.microsoft.com/office/drawing/2014/main" id="{9251CB7B-F066-4C35-A19B-2396D92A3C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6" y="6071"/>
              <a:ext cx="0" cy="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65">
              <a:extLst>
                <a:ext uri="{FF2B5EF4-FFF2-40B4-BE49-F238E27FC236}">
                  <a16:creationId xmlns:a16="http://schemas.microsoft.com/office/drawing/2014/main" id="{DA026175-03E1-42BA-BDFB-8F1FBEC7A4CE}"/>
                </a:ext>
              </a:extLst>
            </p:cNvPr>
            <p:cNvCxnSpPr>
              <a:cxnSpLocks noChangeShapeType="1"/>
              <a:endCxn id="22" idx="1"/>
            </p:cNvCxnSpPr>
            <p:nvPr/>
          </p:nvCxnSpPr>
          <p:spPr bwMode="auto">
            <a:xfrm>
              <a:off x="4791" y="5758"/>
              <a:ext cx="1152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266">
              <a:extLst>
                <a:ext uri="{FF2B5EF4-FFF2-40B4-BE49-F238E27FC236}">
                  <a16:creationId xmlns:a16="http://schemas.microsoft.com/office/drawing/2014/main" id="{9F5A7B91-A801-4002-8512-2E49BACFB3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70" y="5758"/>
              <a:ext cx="1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267">
              <a:extLst>
                <a:ext uri="{FF2B5EF4-FFF2-40B4-BE49-F238E27FC236}">
                  <a16:creationId xmlns:a16="http://schemas.microsoft.com/office/drawing/2014/main" id="{A6DE5895-1B90-4A3F-B0DC-64D91C1C1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5476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</a:p>
          </p:txBody>
        </p:sp>
        <p:sp>
          <p:nvSpPr>
            <p:cNvPr id="22" name="Text Box 268">
              <a:extLst>
                <a:ext uri="{FF2B5EF4-FFF2-40B4-BE49-F238E27FC236}">
                  <a16:creationId xmlns:a16="http://schemas.microsoft.com/office/drawing/2014/main" id="{BBFB7E81-72DD-4E79-A603-039288E7A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" y="5465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3" name="Text Box 269">
              <a:extLst>
                <a:ext uri="{FF2B5EF4-FFF2-40B4-BE49-F238E27FC236}">
                  <a16:creationId xmlns:a16="http://schemas.microsoft.com/office/drawing/2014/main" id="{52328EB9-7CA1-4A9C-B3CA-55C682FC9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" y="5465"/>
              <a:ext cx="720" cy="59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ctr"/>
              <a:r>
                <a:rPr lang="en-US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24" name="AutoShape 270">
              <a:extLst>
                <a:ext uri="{FF2B5EF4-FFF2-40B4-BE49-F238E27FC236}">
                  <a16:creationId xmlns:a16="http://schemas.microsoft.com/office/drawing/2014/main" id="{4A646B3A-D14E-4463-AAB8-57F9F692A0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46" y="6645"/>
              <a:ext cx="5670" cy="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271">
              <a:extLst>
                <a:ext uri="{FF2B5EF4-FFF2-40B4-BE49-F238E27FC236}">
                  <a16:creationId xmlns:a16="http://schemas.microsoft.com/office/drawing/2014/main" id="{A2AF4F24-CD95-497B-A4E1-424D35CF28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16" y="6071"/>
              <a:ext cx="0" cy="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6798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F02-7405-45D7-8684-F326290D2A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275" r="20324" b="12267"/>
          <a:stretch/>
        </p:blipFill>
        <p:spPr>
          <a:xfrm>
            <a:off x="3023858" y="3975616"/>
            <a:ext cx="5902859" cy="2493076"/>
          </a:xfrm>
          <a:prstGeom prst="rect">
            <a:avLst/>
          </a:prstGeom>
        </p:spPr>
      </p:pic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FB132750-6509-44BE-8327-F97C7AC278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468057"/>
              </p:ext>
            </p:extLst>
          </p:nvPr>
        </p:nvGraphicFramePr>
        <p:xfrm>
          <a:off x="9431213" y="4870765"/>
          <a:ext cx="1913901" cy="1450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799920" progId="Equation.DSMT4">
                  <p:embed/>
                </p:oleObj>
              </mc:Choice>
              <mc:Fallback>
                <p:oleObj name="Equation" r:id="rId4" imgW="10918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31213" y="4870765"/>
                        <a:ext cx="1913901" cy="1450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1849DEAD-F50F-F760-2411-DF468EBFF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9833"/>
              </p:ext>
            </p:extLst>
          </p:nvPr>
        </p:nvGraphicFramePr>
        <p:xfrm>
          <a:off x="323850" y="4695059"/>
          <a:ext cx="2195512" cy="12192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TT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3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400" b="1" u="none" strike="noStrike" cap="none" normalizeH="0" baseline="-17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kumimoji="0" lang="ru-RU" altLang="en-US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kumimoji="0" lang="ru-RU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3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2400" b="1" u="none" strike="noStrike" cap="none" normalizeH="0" baseline="-17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  <a:r>
                        <a:rPr kumimoji="0" lang="ru-RU" altLang="en-US" sz="1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n+1</a:t>
                      </a:r>
                      <a:endParaRPr kumimoji="0" lang="ru-RU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JK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0x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1x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813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r>
                        <a:rPr kumimoji="0" lang="ru-RU" alt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ru-RU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182A12-B3CB-6824-1665-045640A55FA4}"/>
              </a:ext>
            </a:extLst>
          </p:cNvPr>
          <p:cNvSpPr txBox="1"/>
          <p:nvPr/>
        </p:nvSpPr>
        <p:spPr>
          <a:xfrm>
            <a:off x="9082544" y="4115270"/>
            <a:ext cx="2790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J</a:t>
            </a:r>
            <a:r>
              <a:rPr lang="en-US" sz="2400" b="1" baseline="-25000"/>
              <a:t>0</a:t>
            </a:r>
            <a:r>
              <a:rPr lang="en-US" sz="2400" b="1"/>
              <a:t>,K</a:t>
            </a:r>
            <a:r>
              <a:rPr lang="en-US" sz="2400" b="1" baseline="-25000"/>
              <a:t>0</a:t>
            </a:r>
            <a:r>
              <a:rPr lang="en-US" sz="2400" b="1"/>
              <a:t>,J</a:t>
            </a:r>
            <a:r>
              <a:rPr lang="en-US" sz="2400" b="1" baseline="-25000"/>
              <a:t>1</a:t>
            </a:r>
            <a:r>
              <a:rPr lang="en-US" sz="2400" b="1"/>
              <a:t>,K</a:t>
            </a:r>
            <a:r>
              <a:rPr lang="en-US" sz="2400" b="1" baseline="-25000"/>
              <a:t>1</a:t>
            </a:r>
            <a:r>
              <a:rPr lang="en-US" sz="2400" b="1"/>
              <a:t>=f((Q</a:t>
            </a:r>
            <a:r>
              <a:rPr lang="en-US" sz="2400" b="1" baseline="-25000"/>
              <a:t>1</a:t>
            </a:r>
            <a:r>
              <a:rPr lang="en-US" sz="2400" b="1"/>
              <a:t>Q</a:t>
            </a:r>
            <a:r>
              <a:rPr lang="en-US" sz="2400" b="1" baseline="-25000"/>
              <a:t>0</a:t>
            </a:r>
            <a:r>
              <a:rPr lang="en-US" sz="2400" b="1"/>
              <a:t>)</a:t>
            </a:r>
            <a:r>
              <a:rPr lang="en-US" sz="2400" b="1" baseline="30000"/>
              <a:t>n</a:t>
            </a:r>
            <a:r>
              <a:rPr lang="en-US" sz="24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884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52DED7-013B-B4A1-D7FF-C1EEF87421F0}"/>
              </a:ext>
            </a:extLst>
          </p:cNvPr>
          <p:cNvSpPr txBox="1"/>
          <p:nvPr/>
        </p:nvSpPr>
        <p:spPr>
          <a:xfrm>
            <a:off x="182988" y="3852876"/>
            <a:ext cx="2790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J</a:t>
            </a:r>
            <a:r>
              <a:rPr lang="en-US" sz="2400" b="1" baseline="-25000"/>
              <a:t>0</a:t>
            </a:r>
            <a:r>
              <a:rPr lang="en-US" sz="2400" b="1"/>
              <a:t>,K</a:t>
            </a:r>
            <a:r>
              <a:rPr lang="en-US" sz="2400" b="1" baseline="-25000"/>
              <a:t>0</a:t>
            </a:r>
            <a:r>
              <a:rPr lang="en-US" sz="2400" b="1"/>
              <a:t>,J</a:t>
            </a:r>
            <a:r>
              <a:rPr lang="en-US" sz="2400" b="1" baseline="-25000"/>
              <a:t>1</a:t>
            </a:r>
            <a:r>
              <a:rPr lang="en-US" sz="2400" b="1"/>
              <a:t>,K</a:t>
            </a:r>
            <a:r>
              <a:rPr lang="en-US" sz="2400" b="1" baseline="-25000"/>
              <a:t>1</a:t>
            </a:r>
            <a:r>
              <a:rPr lang="en-US" sz="2400" b="1"/>
              <a:t>=f((Q</a:t>
            </a:r>
            <a:r>
              <a:rPr lang="en-US" sz="2400" b="1" baseline="-25000"/>
              <a:t>1</a:t>
            </a:r>
            <a:r>
              <a:rPr lang="en-US" sz="2400" b="1"/>
              <a:t>Q</a:t>
            </a:r>
            <a:r>
              <a:rPr lang="en-US" sz="2400" b="1" baseline="-25000"/>
              <a:t>0</a:t>
            </a:r>
            <a:r>
              <a:rPr lang="en-US" sz="2400" b="1"/>
              <a:t>)</a:t>
            </a:r>
            <a:r>
              <a:rPr lang="en-US" sz="2400" b="1" baseline="30000"/>
              <a:t>n</a:t>
            </a:r>
            <a:r>
              <a:rPr lang="en-US" sz="2400" b="1"/>
              <a:t>)</a:t>
            </a:r>
          </a:p>
        </p:txBody>
      </p: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C0F5B0C7-B561-DC5E-6A42-FBA71B413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74924"/>
              </p:ext>
            </p:extLst>
          </p:nvPr>
        </p:nvGraphicFramePr>
        <p:xfrm>
          <a:off x="3838229" y="4145574"/>
          <a:ext cx="2304288" cy="1493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</a:tblGrid>
              <a:tr h="626636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3B48904-D041-4344-1548-56195DE221F3}"/>
              </a:ext>
            </a:extLst>
          </p:cNvPr>
          <p:cNvSpPr txBox="1"/>
          <p:nvPr/>
        </p:nvSpPr>
        <p:spPr>
          <a:xfrm>
            <a:off x="3460257" y="3821441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URW DIN SemiCond" panose="00000500000000000000" pitchFamily="2" charset="0"/>
                <a:cs typeface="Times New Roman" panose="02020603050405020304" pitchFamily="18" charset="0"/>
              </a:rPr>
              <a:t>J</a:t>
            </a:r>
            <a:r>
              <a:rPr lang="en-US" sz="2000" b="1" baseline="-25000">
                <a:latin typeface="URW DIN SemiCond" panose="00000500000000000000" pitchFamily="2" charset="0"/>
                <a:cs typeface="Times New Roman" panose="02020603050405020304" pitchFamily="18" charset="0"/>
              </a:rPr>
              <a:t>1</a:t>
            </a:r>
            <a:endParaRPr lang="en-US" sz="20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36F9DC-DD19-2255-915E-D14AD85D9F9F}"/>
              </a:ext>
            </a:extLst>
          </p:cNvPr>
          <p:cNvSpPr/>
          <p:nvPr/>
        </p:nvSpPr>
        <p:spPr>
          <a:xfrm>
            <a:off x="5568125" y="4899891"/>
            <a:ext cx="412919" cy="669622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218BDBB-48DE-EBA7-32E5-25545A85E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579856"/>
              </p:ext>
            </p:extLst>
          </p:nvPr>
        </p:nvGraphicFramePr>
        <p:xfrm>
          <a:off x="4591425" y="5782750"/>
          <a:ext cx="797896" cy="36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241200" progId="Equation.DSMT4">
                  <p:embed/>
                </p:oleObj>
              </mc:Choice>
              <mc:Fallback>
                <p:oleObj name="Equation" r:id="rId3" imgW="533160" imgH="2412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90305C0D-CEBD-2300-455E-CDEEB89C6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91425" y="5782750"/>
                        <a:ext cx="797896" cy="360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7DD911C1-1C24-7762-B0E3-D9AD1FFC4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497866"/>
              </p:ext>
            </p:extLst>
          </p:nvPr>
        </p:nvGraphicFramePr>
        <p:xfrm>
          <a:off x="7925379" y="4145574"/>
          <a:ext cx="2304288" cy="1493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</a:tblGrid>
              <a:tr h="626636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302F254-49BD-A563-8A27-BE808786225A}"/>
              </a:ext>
            </a:extLst>
          </p:cNvPr>
          <p:cNvSpPr txBox="1"/>
          <p:nvPr/>
        </p:nvSpPr>
        <p:spPr>
          <a:xfrm>
            <a:off x="7547407" y="3821441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URW DIN SemiCond" panose="00000500000000000000" pitchFamily="2" charset="0"/>
                <a:cs typeface="Times New Roman" panose="02020603050405020304" pitchFamily="18" charset="0"/>
              </a:rPr>
              <a:t>K</a:t>
            </a:r>
            <a:r>
              <a:rPr lang="en-US" sz="2000" b="1" baseline="-25000">
                <a:latin typeface="URW DIN SemiCond" panose="00000500000000000000" pitchFamily="2" charset="0"/>
                <a:cs typeface="Times New Roman" panose="02020603050405020304" pitchFamily="18" charset="0"/>
              </a:rPr>
              <a:t>1</a:t>
            </a:r>
            <a:endParaRPr lang="en-US" sz="20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D62D92-9536-6741-609F-8DC6156F728C}"/>
              </a:ext>
            </a:extLst>
          </p:cNvPr>
          <p:cNvSpPr/>
          <p:nvPr/>
        </p:nvSpPr>
        <p:spPr>
          <a:xfrm>
            <a:off x="9680406" y="4899891"/>
            <a:ext cx="412919" cy="669622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4B62DF7A-BFD8-BF0D-E77A-E3A36B863D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407494"/>
              </p:ext>
            </p:extLst>
          </p:nvPr>
        </p:nvGraphicFramePr>
        <p:xfrm>
          <a:off x="8650508" y="5782619"/>
          <a:ext cx="8540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241200" progId="Equation.DSMT4">
                  <p:embed/>
                </p:oleObj>
              </mc:Choice>
              <mc:Fallback>
                <p:oleObj name="Equation" r:id="rId5" imgW="571320" imgH="2412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8BA8C46-0051-A462-19AA-FFB4D7AF6F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50508" y="5782619"/>
                        <a:ext cx="854075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421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5" grpId="0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FF.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DBFFA-3EE4-5B5D-9D96-38FCE5B0ED14}"/>
              </a:ext>
            </a:extLst>
          </p:cNvPr>
          <p:cNvSpPr txBox="1"/>
          <p:nvPr/>
        </p:nvSpPr>
        <p:spPr>
          <a:xfrm>
            <a:off x="182988" y="3852876"/>
            <a:ext cx="2790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J</a:t>
            </a:r>
            <a:r>
              <a:rPr lang="en-US" sz="2400" b="1" baseline="-25000"/>
              <a:t>0</a:t>
            </a:r>
            <a:r>
              <a:rPr lang="en-US" sz="2400" b="1"/>
              <a:t>,K</a:t>
            </a:r>
            <a:r>
              <a:rPr lang="en-US" sz="2400" b="1" baseline="-25000"/>
              <a:t>0</a:t>
            </a:r>
            <a:r>
              <a:rPr lang="en-US" sz="2400" b="1"/>
              <a:t>,J</a:t>
            </a:r>
            <a:r>
              <a:rPr lang="en-US" sz="2400" b="1" baseline="-25000"/>
              <a:t>1</a:t>
            </a:r>
            <a:r>
              <a:rPr lang="en-US" sz="2400" b="1"/>
              <a:t>,K</a:t>
            </a:r>
            <a:r>
              <a:rPr lang="en-US" sz="2400" b="1" baseline="-25000"/>
              <a:t>1</a:t>
            </a:r>
            <a:r>
              <a:rPr lang="en-US" sz="2400" b="1"/>
              <a:t>=f((Q</a:t>
            </a:r>
            <a:r>
              <a:rPr lang="en-US" sz="2400" b="1" baseline="-25000"/>
              <a:t>1</a:t>
            </a:r>
            <a:r>
              <a:rPr lang="en-US" sz="2400" b="1"/>
              <a:t>Q</a:t>
            </a:r>
            <a:r>
              <a:rPr lang="en-US" sz="2400" b="1" baseline="-25000"/>
              <a:t>0</a:t>
            </a:r>
            <a:r>
              <a:rPr lang="en-US" sz="2400" b="1"/>
              <a:t>)</a:t>
            </a:r>
            <a:r>
              <a:rPr lang="en-US" sz="2400" b="1" baseline="30000"/>
              <a:t>n</a:t>
            </a:r>
            <a:r>
              <a:rPr lang="en-US" sz="2400" b="1"/>
              <a:t>)</a:t>
            </a:r>
          </a:p>
        </p:txBody>
      </p:sp>
      <p:graphicFrame>
        <p:nvGraphicFramePr>
          <p:cNvPr id="7" name="Table 14">
            <a:extLst>
              <a:ext uri="{FF2B5EF4-FFF2-40B4-BE49-F238E27FC236}">
                <a16:creationId xmlns:a16="http://schemas.microsoft.com/office/drawing/2014/main" id="{3390F01B-EA9B-7CFF-E68F-076B8AAF1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36583"/>
              </p:ext>
            </p:extLst>
          </p:nvPr>
        </p:nvGraphicFramePr>
        <p:xfrm>
          <a:off x="4616826" y="4314541"/>
          <a:ext cx="2304288" cy="1493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</a:tblGrid>
              <a:tr h="626636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631C71-204E-31F4-C774-A7E6CBE4E247}"/>
              </a:ext>
            </a:extLst>
          </p:cNvPr>
          <p:cNvSpPr txBox="1"/>
          <p:nvPr/>
        </p:nvSpPr>
        <p:spPr>
          <a:xfrm>
            <a:off x="4238854" y="3990408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URW DIN SemiCond" panose="00000500000000000000" pitchFamily="2" charset="0"/>
                <a:cs typeface="Times New Roman" panose="02020603050405020304" pitchFamily="18" charset="0"/>
              </a:rPr>
              <a:t>J</a:t>
            </a:r>
            <a:r>
              <a:rPr lang="en-US" sz="2000" b="1" baseline="-25000">
                <a:latin typeface="URW DIN SemiCond" panose="00000500000000000000" pitchFamily="2" charset="0"/>
                <a:cs typeface="Times New Roman" panose="02020603050405020304" pitchFamily="18" charset="0"/>
              </a:rPr>
              <a:t>0</a:t>
            </a:r>
            <a:endParaRPr lang="en-US" sz="2000" baseline="-250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5F6DD9-BC41-F0CF-7CB4-CF8673B4DCB8}"/>
              </a:ext>
            </a:extLst>
          </p:cNvPr>
          <p:cNvSpPr/>
          <p:nvPr/>
        </p:nvSpPr>
        <p:spPr>
          <a:xfrm>
            <a:off x="5619432" y="5068858"/>
            <a:ext cx="1140209" cy="669622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7AFAC95-45AB-EB13-38BF-33E3C869F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545938"/>
              </p:ext>
            </p:extLst>
          </p:nvPr>
        </p:nvGraphicFramePr>
        <p:xfrm>
          <a:off x="5434955" y="5951586"/>
          <a:ext cx="6667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4240" imgH="241200" progId="Equation.DSMT4">
                  <p:embed/>
                </p:oleObj>
              </mc:Choice>
              <mc:Fallback>
                <p:oleObj name="Equation" r:id="rId3" imgW="444240" imgH="2412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F3C675F0-E9D1-766C-FC01-4311C7FF4C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4955" y="5951586"/>
                        <a:ext cx="666750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Table 14">
            <a:extLst>
              <a:ext uri="{FF2B5EF4-FFF2-40B4-BE49-F238E27FC236}">
                <a16:creationId xmlns:a16="http://schemas.microsoft.com/office/drawing/2014/main" id="{4F6A5E34-6419-BE4C-3E21-B34833BDA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61796"/>
              </p:ext>
            </p:extLst>
          </p:nvPr>
        </p:nvGraphicFramePr>
        <p:xfrm>
          <a:off x="8703976" y="4314541"/>
          <a:ext cx="2304288" cy="1493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</a:tblGrid>
              <a:tr h="626636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B682450-E7F3-67B1-C91E-E18F033E4C39}"/>
              </a:ext>
            </a:extLst>
          </p:cNvPr>
          <p:cNvSpPr txBox="1"/>
          <p:nvPr/>
        </p:nvSpPr>
        <p:spPr>
          <a:xfrm>
            <a:off x="8326004" y="3990408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URW DIN SemiCond" panose="00000500000000000000" pitchFamily="2" charset="0"/>
                <a:cs typeface="Times New Roman" panose="02020603050405020304" pitchFamily="18" charset="0"/>
              </a:rPr>
              <a:t>K</a:t>
            </a:r>
            <a:r>
              <a:rPr lang="en-US" sz="2000" b="1" baseline="-25000">
                <a:latin typeface="URW DIN SemiCond" panose="00000500000000000000" pitchFamily="2" charset="0"/>
                <a:cs typeface="Times New Roman" panose="02020603050405020304" pitchFamily="18" charset="0"/>
              </a:rPr>
              <a:t>0</a:t>
            </a:r>
            <a:endParaRPr lang="en-US" sz="2000" baseline="-250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D9F748-BED5-D875-C8DF-2323E50EF23E}"/>
              </a:ext>
            </a:extLst>
          </p:cNvPr>
          <p:cNvSpPr/>
          <p:nvPr/>
        </p:nvSpPr>
        <p:spPr>
          <a:xfrm>
            <a:off x="9669999" y="5068858"/>
            <a:ext cx="1201924" cy="669622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390B4172-EA5C-7027-D193-6703B948C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086034"/>
              </p:ext>
            </p:extLst>
          </p:nvPr>
        </p:nvGraphicFramePr>
        <p:xfrm>
          <a:off x="9505305" y="5951586"/>
          <a:ext cx="7016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41200" progId="Equation.DSMT4">
                  <p:embed/>
                </p:oleObj>
              </mc:Choice>
              <mc:Fallback>
                <p:oleObj name="Equation" r:id="rId5" imgW="469800" imgH="2412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C2EA68F6-D70B-F1FE-200B-46D7308E0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05305" y="5951586"/>
                        <a:ext cx="701675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53382AE-B7D9-603E-BC0B-C3FD703B8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46449"/>
              </p:ext>
            </p:extLst>
          </p:nvPr>
        </p:nvGraphicFramePr>
        <p:xfrm>
          <a:off x="989792" y="4714750"/>
          <a:ext cx="2304288" cy="1493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</a:tblGrid>
              <a:tr h="626636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35418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C64C341-9F1F-31B3-67A4-7F589A66E01F}"/>
              </a:ext>
            </a:extLst>
          </p:cNvPr>
          <p:cNvSpPr txBox="1"/>
          <p:nvPr/>
        </p:nvSpPr>
        <p:spPr>
          <a:xfrm>
            <a:off x="611820" y="4390617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URW DIN SemiCond" panose="00000500000000000000" pitchFamily="2" charset="0"/>
                <a:cs typeface="Times New Roman" panose="02020603050405020304" pitchFamily="18" charset="0"/>
              </a:rPr>
              <a:t>Y</a:t>
            </a:r>
            <a:endParaRPr lang="en-US" sz="2000" baseline="-250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CCC3F8-0C47-0E97-F659-56A0DC57D726}"/>
              </a:ext>
            </a:extLst>
          </p:cNvPr>
          <p:cNvSpPr/>
          <p:nvPr/>
        </p:nvSpPr>
        <p:spPr>
          <a:xfrm>
            <a:off x="2748101" y="5860391"/>
            <a:ext cx="384506" cy="278298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6E55DBC0-C382-FFD5-164C-C4D1AAA45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707331"/>
              </p:ext>
            </p:extLst>
          </p:nvPr>
        </p:nvGraphicFramePr>
        <p:xfrm>
          <a:off x="1645996" y="6351795"/>
          <a:ext cx="9906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240" imgH="241200" progId="Equation.DSMT4">
                  <p:embed/>
                </p:oleObj>
              </mc:Choice>
              <mc:Fallback>
                <p:oleObj name="Equation" r:id="rId7" imgW="660240" imgH="2412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C60A780D-730A-5914-C25C-D4EC431697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45996" y="6351795"/>
                        <a:ext cx="990600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585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  <p:bldP spid="13" grpId="0" animBg="1"/>
      <p:bldP spid="16" grpId="0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42AA04-21EF-3B45-0C26-9021262F6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388" y="3328998"/>
            <a:ext cx="5927511" cy="3454127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F07D08D-35FC-F248-07EF-5DCBEF716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91169"/>
              </p:ext>
            </p:extLst>
          </p:nvPr>
        </p:nvGraphicFramePr>
        <p:xfrm>
          <a:off x="9730903" y="3212074"/>
          <a:ext cx="1185863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5651" imgH="1068570" progId="Equation.DSMT4">
                  <p:embed/>
                </p:oleObj>
              </mc:Choice>
              <mc:Fallback>
                <p:oleObj name="Equation" r:id="rId3" imgW="1185651" imgH="10685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30903" y="3212074"/>
                        <a:ext cx="1185863" cy="1068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787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4E46E-C53A-442D-9F85-5A3535D0E2AA}"/>
              </a:ext>
            </a:extLst>
          </p:cNvPr>
          <p:cNvPicPr/>
          <p:nvPr/>
        </p:nvPicPr>
        <p:blipFill>
          <a:blip r:embed="rId2">
            <a:lum bright="20000"/>
          </a:blip>
          <a:srcRect t="2187"/>
          <a:stretch>
            <a:fillRect/>
          </a:stretch>
        </p:blipFill>
        <p:spPr bwMode="auto">
          <a:xfrm>
            <a:off x="1927273" y="3291840"/>
            <a:ext cx="7680961" cy="3284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836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JK-FF.</a:t>
            </a:r>
          </a:p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+ Quan hệ dạng sóng của bộ đếm sử dụng phần tử flip-flop có cổng đồng bộ tích cực ở mức thấp.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D6BE3-E392-4A25-8727-7E88EE53AE3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2761" y="3531240"/>
            <a:ext cx="9289144" cy="338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838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2.3.2. Bộ đếm đồng bộ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2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đồng bộ từ 0 đến 5, theo mã nhị phân.</a:t>
            </a:r>
          </a:p>
          <a:p>
            <a:pPr algn="just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Cách 1:</a:t>
            </a:r>
          </a:p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Lập Graph trạng thái: 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0027AB-0773-C95C-83E9-B06DB33A882A}"/>
              </a:ext>
            </a:extLst>
          </p:cNvPr>
          <p:cNvGrpSpPr>
            <a:grpSpLocks/>
          </p:cNvGrpSpPr>
          <p:nvPr/>
        </p:nvGrpSpPr>
        <p:grpSpPr bwMode="auto">
          <a:xfrm>
            <a:off x="2229982" y="3664197"/>
            <a:ext cx="8169275" cy="2419350"/>
            <a:chOff x="971550" y="3048000"/>
            <a:chExt cx="8169394" cy="2419350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D277CB6E-561A-979D-C9B4-0018CD84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550" y="3200400"/>
              <a:ext cx="7880350" cy="2266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1">
              <a:extLst>
                <a:ext uri="{FF2B5EF4-FFF2-40B4-BE49-F238E27FC236}">
                  <a16:creationId xmlns:a16="http://schemas.microsoft.com/office/drawing/2014/main" id="{D0D6BA8A-D3DC-7696-EFD4-B4DF6FE48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910" y="30480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A3D2B2A-8E7F-457D-67F4-D73076518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0480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4770B4C-B784-F0EA-917A-BE6B46F62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103042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1FEB559-1E69-8341-C2F4-E00C26851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564707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06CE1E4-876F-EEF4-FA38-0ACBFE1FE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415" y="456665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0EB6084-BCD8-301A-6B74-D46802D73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355" y="4103041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/1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8F0FBA9-27B2-E601-164C-35F754A48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410304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B52AB2B-3663-3DE1-89E3-32843F3A8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0725" y="4103039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en-US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/0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666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2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đồng bộ từ 0 đến 5, theo mã nhị phân.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3" descr="Parchment">
            <a:extLst>
              <a:ext uri="{FF2B5EF4-FFF2-40B4-BE49-F238E27FC236}">
                <a16:creationId xmlns:a16="http://schemas.microsoft.com/office/drawing/2014/main" id="{4B30F59F-950B-E952-3AAE-2051C3D9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085" y="2533897"/>
            <a:ext cx="4508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60000"/>
              </a:lnSpc>
              <a:spcBef>
                <a:spcPct val="50000"/>
              </a:spcBef>
              <a:buClrTx/>
              <a:buFontTx/>
              <a:buChar char="-"/>
            </a:pPr>
            <a:endParaRPr lang="en-US" altLang="en-US" sz="3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4" descr="Parchment">
            <a:extLst>
              <a:ext uri="{FF2B5EF4-FFF2-40B4-BE49-F238E27FC236}">
                <a16:creationId xmlns:a16="http://schemas.microsoft.com/office/drawing/2014/main" id="{6E323337-3A78-8924-E5A1-C8D7BBFB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085" y="2533897"/>
            <a:ext cx="539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60000"/>
              </a:lnSpc>
              <a:spcBef>
                <a:spcPct val="50000"/>
              </a:spcBef>
              <a:buClrTx/>
              <a:buFontTx/>
              <a:buChar char="-"/>
            </a:pPr>
            <a:endParaRPr lang="en-US" altLang="en-US" sz="3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601DFC8C-BCFF-485B-208D-6DB6EC2A7CC3}"/>
              </a:ext>
            </a:extLst>
          </p:cNvPr>
          <p:cNvSpPr txBox="1">
            <a:spLocks noChangeArrowheads="1"/>
          </p:cNvSpPr>
          <p:nvPr/>
        </p:nvSpPr>
        <p:spPr>
          <a:xfrm>
            <a:off x="1764585" y="1571872"/>
            <a:ext cx="9182100" cy="5181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Bảng trạng thái: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5842EC3-B13A-ECEF-3DA6-CD0B5674D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685" y="2029072"/>
            <a:ext cx="8832850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C1573B7E-6CE7-E304-7A77-2C40D70A6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948" y="6218485"/>
            <a:ext cx="34671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4B5BB181-B31A-0C35-2D20-F282E7890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660" y="6170860"/>
            <a:ext cx="31575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6D6C8E31-998C-2C11-B260-88A5FF864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10" y="6185147"/>
            <a:ext cx="24653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689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2.3.2. Bộ đếm đồng bộ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2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đồng bộ từ 0 đến 5, theo mã nhị phân.</a:t>
            </a:r>
          </a:p>
          <a:p>
            <a:pPr algn="just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Cách 2:</a:t>
            </a:r>
          </a:p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Lập Graph trạng thái: 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98B255-D757-4B3E-DB0B-8B17F8565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7" y="3429000"/>
            <a:ext cx="9077325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46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2.3.2. Bộ đếm đồng bộ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2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đồng bộ từ 0 đến 5, theo mã nhị phân.</a:t>
            </a:r>
          </a:p>
          <a:p>
            <a:pPr algn="just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Cách 2:</a:t>
            </a:r>
          </a:p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Bảng trạng thái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B3FFB0D9-6EB9-E00E-3955-CFA1FE5E7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795" y="3251926"/>
            <a:ext cx="9220200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158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BD1BC-444D-5E0A-841C-59F5FAA7509A}"/>
              </a:ext>
            </a:extLst>
          </p:cNvPr>
          <p:cNvSpPr txBox="1"/>
          <p:nvPr/>
        </p:nvSpPr>
        <p:spPr>
          <a:xfrm>
            <a:off x="267288" y="774453"/>
            <a:ext cx="1176148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3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nghịch đồng bộ mã nhị phân có hệ số đếm K</a:t>
            </a:r>
            <a:r>
              <a:rPr 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= 6, dùng D-FF.</a:t>
            </a:r>
          </a:p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Bước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1: Xây dựng graph trạng thái:</a:t>
            </a: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Bước 2: Xác định số FF cần sử dụng: K</a:t>
            </a:r>
            <a:r>
              <a:rPr lang="vi-VN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đ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= 6 do đó cần sử dụng 3 phần tử FF</a:t>
            </a:r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EEFB69B8-0491-BA49-B09E-821B0ED4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E2D640-7F80-FC70-9C91-8AF9DD220974}"/>
              </a:ext>
            </a:extLst>
          </p:cNvPr>
          <p:cNvGrpSpPr/>
          <p:nvPr/>
        </p:nvGrpSpPr>
        <p:grpSpPr>
          <a:xfrm>
            <a:off x="2574097" y="3761176"/>
            <a:ext cx="6295385" cy="862682"/>
            <a:chOff x="254603" y="3691560"/>
            <a:chExt cx="6295385" cy="86268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563DE4-F0AC-8892-EBB7-99817E53EA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191" y="3694838"/>
              <a:ext cx="6100797" cy="859404"/>
              <a:chOff x="-1240" y="5465"/>
              <a:chExt cx="9782" cy="1180"/>
            </a:xfrm>
          </p:grpSpPr>
          <p:sp>
            <p:nvSpPr>
              <p:cNvPr id="16" name="Text Box 262">
                <a:extLst>
                  <a:ext uri="{FF2B5EF4-FFF2-40B4-BE49-F238E27FC236}">
                    <a16:creationId xmlns:a16="http://schemas.microsoft.com/office/drawing/2014/main" id="{73FEECB9-AFCB-E4E1-B8D1-624DD289A7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" y="5476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algn="ctr"/>
                <a:r>
                  <a:rPr lang="en-US" sz="2000">
                    <a:effectLst/>
                    <a:latin typeface="URW DIN SemiCond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010</a:t>
                </a:r>
                <a:endParaRPr lang="en-US" sz="2000" dirty="0">
                  <a:effectLst/>
                  <a:latin typeface="URW DIN SemiCond" panose="00000500000000000000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" name="Line 263">
                <a:extLst>
                  <a:ext uri="{FF2B5EF4-FFF2-40B4-BE49-F238E27FC236}">
                    <a16:creationId xmlns:a16="http://schemas.microsoft.com/office/drawing/2014/main" id="{6C6195E1-F57F-F220-84A2-C7B33E10A9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19" y="5758"/>
                <a:ext cx="115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Line 264">
                <a:extLst>
                  <a:ext uri="{FF2B5EF4-FFF2-40B4-BE49-F238E27FC236}">
                    <a16:creationId xmlns:a16="http://schemas.microsoft.com/office/drawing/2014/main" id="{8B773B1B-FE81-2D95-49A0-A1FE14E14C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1224" y="6056"/>
                <a:ext cx="0" cy="57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Line 265">
                <a:extLst>
                  <a:ext uri="{FF2B5EF4-FFF2-40B4-BE49-F238E27FC236}">
                    <a16:creationId xmlns:a16="http://schemas.microsoft.com/office/drawing/2014/main" id="{2A02BC70-5ABC-C1BE-1C91-CD43427610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91" y="5758"/>
                <a:ext cx="115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Line 266">
                <a:extLst>
                  <a:ext uri="{FF2B5EF4-FFF2-40B4-BE49-F238E27FC236}">
                    <a16:creationId xmlns:a16="http://schemas.microsoft.com/office/drawing/2014/main" id="{55C94B28-7347-0601-737F-18A095747A6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670" y="5758"/>
                <a:ext cx="115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" name="Text Box 267">
                <a:extLst>
                  <a:ext uri="{FF2B5EF4-FFF2-40B4-BE49-F238E27FC236}">
                    <a16:creationId xmlns:a16="http://schemas.microsoft.com/office/drawing/2014/main" id="{3A164F60-34C7-4F29-A1F3-FF3D2CB324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9" y="5476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algn="ctr"/>
                <a:r>
                  <a:rPr lang="en-US" sz="2000">
                    <a:effectLst/>
                    <a:latin typeface="URW DIN SemiCond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011</a:t>
                </a:r>
              </a:p>
            </p:txBody>
          </p:sp>
          <p:sp>
            <p:nvSpPr>
              <p:cNvPr id="22" name="Text Box 268">
                <a:extLst>
                  <a:ext uri="{FF2B5EF4-FFF2-40B4-BE49-F238E27FC236}">
                    <a16:creationId xmlns:a16="http://schemas.microsoft.com/office/drawing/2014/main" id="{1809B33B-F93E-767C-62D7-D11089D4D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43" y="5465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algn="ctr"/>
                <a:r>
                  <a:rPr lang="en-US" sz="2000">
                    <a:effectLst/>
                    <a:latin typeface="URW DIN SemiCond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001</a:t>
                </a:r>
              </a:p>
            </p:txBody>
          </p:sp>
          <p:sp>
            <p:nvSpPr>
              <p:cNvPr id="23" name="Text Box 269">
                <a:extLst>
                  <a:ext uri="{FF2B5EF4-FFF2-40B4-BE49-F238E27FC236}">
                    <a16:creationId xmlns:a16="http://schemas.microsoft.com/office/drawing/2014/main" id="{21F90A27-637D-DE12-EB1A-1BF68B35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22" y="5465"/>
                <a:ext cx="720" cy="5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ctr" anchorCtr="0" upright="1">
                <a:noAutofit/>
              </a:bodyPr>
              <a:lstStyle/>
              <a:p>
                <a:pPr algn="ctr"/>
                <a:r>
                  <a:rPr lang="en-US" sz="2000">
                    <a:effectLst/>
                    <a:latin typeface="URW DIN SemiCond" panose="0000050000000000000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000</a:t>
                </a:r>
              </a:p>
            </p:txBody>
          </p:sp>
          <p:cxnSp>
            <p:nvCxnSpPr>
              <p:cNvPr id="24" name="AutoShape 270">
                <a:extLst>
                  <a:ext uri="{FF2B5EF4-FFF2-40B4-BE49-F238E27FC236}">
                    <a16:creationId xmlns:a16="http://schemas.microsoft.com/office/drawing/2014/main" id="{0301777D-477E-B817-1134-7A415A5D5E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1240" y="6645"/>
                <a:ext cx="9456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Line 271">
                <a:extLst>
                  <a:ext uri="{FF2B5EF4-FFF2-40B4-BE49-F238E27FC236}">
                    <a16:creationId xmlns:a16="http://schemas.microsoft.com/office/drawing/2014/main" id="{A3058D83-E5E0-9222-2656-607704801D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6" y="6071"/>
                <a:ext cx="0" cy="57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788DF3-7745-7F73-DC34-31903CB32F4D}"/>
                </a:ext>
              </a:extLst>
            </p:cNvPr>
            <p:cNvSpPr txBox="1"/>
            <p:nvPr/>
          </p:nvSpPr>
          <p:spPr>
            <a:xfrm>
              <a:off x="2547257" y="3755571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12" name="Text Box 262">
              <a:extLst>
                <a:ext uri="{FF2B5EF4-FFF2-40B4-BE49-F238E27FC236}">
                  <a16:creationId xmlns:a16="http://schemas.microsoft.com/office/drawing/2014/main" id="{6FCBA49A-E60E-5173-E268-A024D6D5F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2124" y="3691560"/>
              <a:ext cx="449047" cy="43334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/>
              <a:r>
                <a:rPr lang="en-US" sz="2000">
                  <a:effectLst/>
                  <a:latin typeface="URW DIN SemiCond" panose="00000500000000000000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  <a:endParaRPr lang="en-US" sz="2000" dirty="0">
                <a:effectLst/>
                <a:latin typeface="URW DIN SemiCond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Line 263">
              <a:extLst>
                <a:ext uri="{FF2B5EF4-FFF2-40B4-BE49-F238E27FC236}">
                  <a16:creationId xmlns:a16="http://schemas.microsoft.com/office/drawing/2014/main" id="{E8AEE420-C531-09BF-CF5C-975DABAC02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3650" y="3896943"/>
              <a:ext cx="7184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265">
              <a:extLst>
                <a:ext uri="{FF2B5EF4-FFF2-40B4-BE49-F238E27FC236}">
                  <a16:creationId xmlns:a16="http://schemas.microsoft.com/office/drawing/2014/main" id="{F15337AC-3C19-FFE4-BF3F-0D0CF5A7A1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71171" y="3896943"/>
              <a:ext cx="7184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267">
              <a:extLst>
                <a:ext uri="{FF2B5EF4-FFF2-40B4-BE49-F238E27FC236}">
                  <a16:creationId xmlns:a16="http://schemas.microsoft.com/office/drawing/2014/main" id="{FD1D7505-A8EF-4B49-B2D8-2F644A963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03" y="3691560"/>
              <a:ext cx="449047" cy="43334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ctr" anchorCtr="0" upright="1">
              <a:noAutofit/>
            </a:bodyPr>
            <a:lstStyle/>
            <a:p>
              <a:pPr algn="ctr"/>
              <a:r>
                <a:rPr lang="en-US" sz="2000">
                  <a:effectLst/>
                  <a:latin typeface="URW DIN SemiCond" panose="00000500000000000000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448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BD1BC-444D-5E0A-841C-59F5FAA7509A}"/>
              </a:ext>
            </a:extLst>
          </p:cNvPr>
          <p:cNvSpPr txBox="1"/>
          <p:nvPr/>
        </p:nvSpPr>
        <p:spPr>
          <a:xfrm>
            <a:off x="267288" y="774453"/>
            <a:ext cx="11761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3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nghịch đồng bộ mã nhị phân có hệ số đếm K</a:t>
            </a:r>
            <a:r>
              <a:rPr 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= 6, dùng D-FF.</a:t>
            </a:r>
          </a:p>
          <a:p>
            <a:pPr algn="just"/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Bước 3: Lập bảng trạng thái, biểu diễn và rút gọn hàm logic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EEFB69B8-0491-BA49-B09E-821B0ED4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25">
            <a:extLst>
              <a:ext uri="{FF2B5EF4-FFF2-40B4-BE49-F238E27FC236}">
                <a16:creationId xmlns:a16="http://schemas.microsoft.com/office/drawing/2014/main" id="{D9C16B73-13E0-BE9D-1E53-A524B547A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561" y="301368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73F6CCF-9E47-FCF0-D6D6-DF393415F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4291"/>
              </p:ext>
            </p:extLst>
          </p:nvPr>
        </p:nvGraphicFramePr>
        <p:xfrm>
          <a:off x="3436800" y="2791707"/>
          <a:ext cx="779881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1243">
                  <a:extLst>
                    <a:ext uri="{9D8B030D-6E8A-4147-A177-3AD203B41FA5}">
                      <a16:colId xmlns:a16="http://schemas.microsoft.com/office/drawing/2014/main" val="1616777919"/>
                    </a:ext>
                  </a:extLst>
                </a:gridCol>
                <a:gridCol w="1619019">
                  <a:extLst>
                    <a:ext uri="{9D8B030D-6E8A-4147-A177-3AD203B41FA5}">
                      <a16:colId xmlns:a16="http://schemas.microsoft.com/office/drawing/2014/main" val="132844749"/>
                    </a:ext>
                  </a:extLst>
                </a:gridCol>
                <a:gridCol w="2274843">
                  <a:extLst>
                    <a:ext uri="{9D8B030D-6E8A-4147-A177-3AD203B41FA5}">
                      <a16:colId xmlns:a16="http://schemas.microsoft.com/office/drawing/2014/main" val="283796277"/>
                    </a:ext>
                  </a:extLst>
                </a:gridCol>
                <a:gridCol w="820928">
                  <a:extLst>
                    <a:ext uri="{9D8B030D-6E8A-4147-A177-3AD203B41FA5}">
                      <a16:colId xmlns:a16="http://schemas.microsoft.com/office/drawing/2014/main" val="382746348"/>
                    </a:ext>
                  </a:extLst>
                </a:gridCol>
                <a:gridCol w="820928">
                  <a:extLst>
                    <a:ext uri="{9D8B030D-6E8A-4147-A177-3AD203B41FA5}">
                      <a16:colId xmlns:a16="http://schemas.microsoft.com/office/drawing/2014/main" val="934719303"/>
                    </a:ext>
                  </a:extLst>
                </a:gridCol>
                <a:gridCol w="820928">
                  <a:extLst>
                    <a:ext uri="{9D8B030D-6E8A-4147-A177-3AD203B41FA5}">
                      <a16:colId xmlns:a16="http://schemas.microsoft.com/office/drawing/2014/main" val="2038089090"/>
                    </a:ext>
                  </a:extLst>
                </a:gridCol>
                <a:gridCol w="820928">
                  <a:extLst>
                    <a:ext uri="{9D8B030D-6E8A-4147-A177-3AD203B41FA5}">
                      <a16:colId xmlns:a16="http://schemas.microsoft.com/office/drawing/2014/main" val="1192575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TT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400" b="1" kern="1200" baseline="-250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kern="1200" baseline="300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sz="2400" b="1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400" b="1" kern="1200" baseline="-250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="1" kern="1200" baseline="300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400" b="1" kern="1200" baseline="-250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b="1" kern="1200" baseline="300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400" b="1" kern="1200" baseline="-250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kern="1200" baseline="300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n+1 </a:t>
                      </a:r>
                      <a:r>
                        <a:rPr lang="en-US" sz="2400" b="1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400" b="1" kern="1200" baseline="-250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="1" kern="1200" baseline="300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n+1 </a:t>
                      </a: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400" b="1" kern="1200" baseline="-250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b="1" kern="1200" baseline="300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n+1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b="1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b="1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b="1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US" sz="2400" b="1" kern="1200" baseline="-250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28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2612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5641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067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296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3008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465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7548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rgbClr val="0070C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kern="1200">
                          <a:solidFill>
                            <a:srgbClr val="00B050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298466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3954075-E9FC-57AE-5AA0-1A0C6414E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35244"/>
              </p:ext>
            </p:extLst>
          </p:nvPr>
        </p:nvGraphicFramePr>
        <p:xfrm>
          <a:off x="600343" y="3751827"/>
          <a:ext cx="21945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61677791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284474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8379627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934719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TT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1800" b="1" kern="1200" baseline="30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1800" b="1" kern="1200" baseline="30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n+1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baseline="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28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2612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5641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067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2960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533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EEFB69B8-0491-BA49-B09E-821B0ED4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B8F2E-7F5A-993B-A397-46055A683D3E}"/>
              </a:ext>
            </a:extLst>
          </p:cNvPr>
          <p:cNvSpPr txBox="1"/>
          <p:nvPr/>
        </p:nvSpPr>
        <p:spPr>
          <a:xfrm>
            <a:off x="267288" y="774453"/>
            <a:ext cx="11761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Bước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US" altLang="en-US" sz="3200">
                <a:latin typeface="URW DIN SemiCond" panose="00000500000000000000" pitchFamily="2" charset="0"/>
                <a:cs typeface="Times New Roman" panose="02020603050405020304" pitchFamily="18" charset="0"/>
              </a:rPr>
              <a:t>Lập bảng trạng thái, biểu diễn và r</a:t>
            </a:r>
            <a:r>
              <a:rPr lang="vi-VN" altLang="en-US" sz="3200">
                <a:latin typeface="URW DIN SemiCond" panose="00000500000000000000" pitchFamily="2" charset="0"/>
                <a:cs typeface="Times New Roman" panose="02020603050405020304" pitchFamily="18" charset="0"/>
              </a:rPr>
              <a:t>út gọn hàm logic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7" name="Table 14">
            <a:extLst>
              <a:ext uri="{FF2B5EF4-FFF2-40B4-BE49-F238E27FC236}">
                <a16:creationId xmlns:a16="http://schemas.microsoft.com/office/drawing/2014/main" id="{11E73108-B1CD-45B2-927F-15169FB17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122024"/>
              </p:ext>
            </p:extLst>
          </p:nvPr>
        </p:nvGraphicFramePr>
        <p:xfrm>
          <a:off x="1889926" y="1700354"/>
          <a:ext cx="3840480" cy="1615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40054936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209937970"/>
                    </a:ext>
                  </a:extLst>
                </a:gridCol>
              </a:tblGrid>
              <a:tr h="660617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4ED796-61ED-82E8-B915-A0FF62F3D22D}"/>
              </a:ext>
            </a:extLst>
          </p:cNvPr>
          <p:cNvSpPr/>
          <p:nvPr/>
        </p:nvSpPr>
        <p:spPr>
          <a:xfrm>
            <a:off x="2860588" y="2443797"/>
            <a:ext cx="415766" cy="35976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F910B77A-57C3-F95E-CCBD-52ECE3E8D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23674"/>
              </p:ext>
            </p:extLst>
          </p:nvPr>
        </p:nvGraphicFramePr>
        <p:xfrm>
          <a:off x="2494850" y="3415687"/>
          <a:ext cx="263048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279360" progId="Equation.DSMT4">
                  <p:embed/>
                </p:oleObj>
              </mc:Choice>
              <mc:Fallback>
                <p:oleObj name="Equation" r:id="rId2" imgW="1638000" imgH="2793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0075B6B-17E7-C050-744B-4F8B03CF77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4850" y="3415687"/>
                        <a:ext cx="2630488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774E6EF-0BA1-525C-B6DC-0CF659C684D9}"/>
              </a:ext>
            </a:extLst>
          </p:cNvPr>
          <p:cNvSpPr txBox="1"/>
          <p:nvPr/>
        </p:nvSpPr>
        <p:spPr>
          <a:xfrm>
            <a:off x="1625310" y="1332133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1200">
                <a:solidFill>
                  <a:schemeClr val="tx1"/>
                </a:solidFill>
                <a:latin typeface="URW DIN SemiCond" panose="00000500000000000000" pitchFamily="2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sz="2000" b="1" kern="1200" baseline="-25000">
                <a:solidFill>
                  <a:schemeClr val="tx1"/>
                </a:solidFill>
                <a:latin typeface="URW DIN SemiCond" panose="00000500000000000000" pitchFamily="2" charset="0"/>
                <a:ea typeface="+mn-ea"/>
                <a:cs typeface="Times New Roman" panose="02020603050405020304" pitchFamily="18" charset="0"/>
              </a:rPr>
              <a:t>2</a:t>
            </a:r>
            <a:endParaRPr lang="en-US" sz="20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87C845-5A7B-1F0C-7032-86F9F03B1991}"/>
              </a:ext>
            </a:extLst>
          </p:cNvPr>
          <p:cNvSpPr/>
          <p:nvPr/>
        </p:nvSpPr>
        <p:spPr>
          <a:xfrm>
            <a:off x="3602282" y="2926554"/>
            <a:ext cx="415766" cy="359766"/>
          </a:xfrm>
          <a:prstGeom prst="round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Table 14">
            <a:extLst>
              <a:ext uri="{FF2B5EF4-FFF2-40B4-BE49-F238E27FC236}">
                <a16:creationId xmlns:a16="http://schemas.microsoft.com/office/drawing/2014/main" id="{54BBFDB7-065D-C017-2968-3BCAA0DCE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58075"/>
              </p:ext>
            </p:extLst>
          </p:nvPr>
        </p:nvGraphicFramePr>
        <p:xfrm>
          <a:off x="6096000" y="1700354"/>
          <a:ext cx="3840480" cy="1615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40054936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209937970"/>
                    </a:ext>
                  </a:extLst>
                </a:gridCol>
              </a:tblGrid>
              <a:tr h="660617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E6523E-0360-6405-4760-5AECED4B3D15}"/>
              </a:ext>
            </a:extLst>
          </p:cNvPr>
          <p:cNvSpPr/>
          <p:nvPr/>
        </p:nvSpPr>
        <p:spPr>
          <a:xfrm>
            <a:off x="8590662" y="2443797"/>
            <a:ext cx="415766" cy="35976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298C6C0F-5944-7E75-FA9A-DFB220A83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032358"/>
              </p:ext>
            </p:extLst>
          </p:nvPr>
        </p:nvGraphicFramePr>
        <p:xfrm>
          <a:off x="6719188" y="3415687"/>
          <a:ext cx="25908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79360" progId="Equation.DSMT4">
                  <p:embed/>
                </p:oleObj>
              </mc:Choice>
              <mc:Fallback>
                <p:oleObj name="Equation" r:id="rId4" imgW="1612800" imgH="2793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7AEDD79-E9D5-4A0E-9ED3-B90F8F6EA7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19188" y="3415687"/>
                        <a:ext cx="259080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2E937F8-4799-D62D-6EE0-981700584F5F}"/>
              </a:ext>
            </a:extLst>
          </p:cNvPr>
          <p:cNvSpPr txBox="1"/>
          <p:nvPr/>
        </p:nvSpPr>
        <p:spPr>
          <a:xfrm>
            <a:off x="5831384" y="1332133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1200">
                <a:solidFill>
                  <a:schemeClr val="tx1"/>
                </a:solidFill>
                <a:latin typeface="URW DIN SemiCond" panose="00000500000000000000" pitchFamily="2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sz="2000" b="1" kern="1200" baseline="-25000">
                <a:solidFill>
                  <a:schemeClr val="tx1"/>
                </a:solidFill>
                <a:latin typeface="URW DIN SemiCond" panose="00000500000000000000" pitchFamily="2" charset="0"/>
                <a:ea typeface="+mn-ea"/>
                <a:cs typeface="Times New Roman" panose="02020603050405020304" pitchFamily="18" charset="0"/>
              </a:rPr>
              <a:t>1</a:t>
            </a:r>
            <a:endParaRPr lang="en-US" sz="20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43CBD56-B475-F7C8-A3FE-CC84BE0BB53E}"/>
              </a:ext>
            </a:extLst>
          </p:cNvPr>
          <p:cNvSpPr/>
          <p:nvPr/>
        </p:nvSpPr>
        <p:spPr>
          <a:xfrm>
            <a:off x="7104972" y="2895698"/>
            <a:ext cx="415766" cy="359766"/>
          </a:xfrm>
          <a:prstGeom prst="round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14">
            <a:extLst>
              <a:ext uri="{FF2B5EF4-FFF2-40B4-BE49-F238E27FC236}">
                <a16:creationId xmlns:a16="http://schemas.microsoft.com/office/drawing/2014/main" id="{AEB7A3F8-D1A4-86D4-0EEA-DBC81C305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674659"/>
              </p:ext>
            </p:extLst>
          </p:nvPr>
        </p:nvGraphicFramePr>
        <p:xfrm>
          <a:off x="1990904" y="4349926"/>
          <a:ext cx="3840480" cy="1615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40054936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209937970"/>
                    </a:ext>
                  </a:extLst>
                </a:gridCol>
              </a:tblGrid>
              <a:tr h="660617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522437B-F0E8-5A4D-12FC-064A2B98FF4A}"/>
              </a:ext>
            </a:extLst>
          </p:cNvPr>
          <p:cNvSpPr/>
          <p:nvPr/>
        </p:nvSpPr>
        <p:spPr>
          <a:xfrm>
            <a:off x="2961566" y="5093368"/>
            <a:ext cx="415766" cy="811667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4AAC234B-7E20-4188-DF4E-475D05F87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987514"/>
              </p:ext>
            </p:extLst>
          </p:nvPr>
        </p:nvGraphicFramePr>
        <p:xfrm>
          <a:off x="2860941" y="6065259"/>
          <a:ext cx="21002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79360" progId="Equation.DSMT4">
                  <p:embed/>
                </p:oleObj>
              </mc:Choice>
              <mc:Fallback>
                <p:oleObj name="Equation" r:id="rId6" imgW="1307880" imgH="27936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9376905D-C12C-1B9B-FF41-C06F45056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60941" y="6065259"/>
                        <a:ext cx="2100262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51B19AE-3E82-4E6D-71C2-EFC293453043}"/>
              </a:ext>
            </a:extLst>
          </p:cNvPr>
          <p:cNvSpPr txBox="1"/>
          <p:nvPr/>
        </p:nvSpPr>
        <p:spPr>
          <a:xfrm>
            <a:off x="1726288" y="3981705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1200">
                <a:solidFill>
                  <a:schemeClr val="tx1"/>
                </a:solidFill>
                <a:latin typeface="URW DIN SemiCond" panose="00000500000000000000" pitchFamily="2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sz="2000" b="1" kern="1200" baseline="-25000">
                <a:solidFill>
                  <a:schemeClr val="tx1"/>
                </a:solidFill>
                <a:latin typeface="URW DIN SemiCond" panose="00000500000000000000" pitchFamily="2" charset="0"/>
                <a:ea typeface="+mn-ea"/>
                <a:cs typeface="Times New Roman" panose="02020603050405020304" pitchFamily="18" charset="0"/>
              </a:rPr>
              <a:t>0</a:t>
            </a:r>
            <a:endParaRPr lang="en-US" sz="2000"/>
          </a:p>
        </p:txBody>
      </p:sp>
      <p:graphicFrame>
        <p:nvGraphicFramePr>
          <p:cNvPr id="39" name="Table 14">
            <a:extLst>
              <a:ext uri="{FF2B5EF4-FFF2-40B4-BE49-F238E27FC236}">
                <a16:creationId xmlns:a16="http://schemas.microsoft.com/office/drawing/2014/main" id="{258F1833-7779-990E-F806-AD2DEA5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84290"/>
              </p:ext>
            </p:extLst>
          </p:nvPr>
        </p:nvGraphicFramePr>
        <p:xfrm>
          <a:off x="6196978" y="4349926"/>
          <a:ext cx="3840480" cy="1615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68096">
                  <a:extLst>
                    <a:ext uri="{9D8B030D-6E8A-4147-A177-3AD203B41FA5}">
                      <a16:colId xmlns:a16="http://schemas.microsoft.com/office/drawing/2014/main" val="63533734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41206613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96772241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40054936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209937970"/>
                    </a:ext>
                  </a:extLst>
                </a:gridCol>
              </a:tblGrid>
              <a:tr h="660617">
                <a:tc>
                  <a:txBody>
                    <a:bodyPr/>
                    <a:lstStyle/>
                    <a:p>
                      <a:pPr algn="r"/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r>
                        <a:rPr lang="en-US" sz="20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  Q</a:t>
                      </a:r>
                      <a:r>
                        <a:rPr lang="en-US" sz="2000" kern="1200" baseline="-250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8288" marR="18288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42375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34170"/>
                  </a:ext>
                </a:extLst>
              </a:tr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URW DIN SemiCond" panose="00000500000000000000" pitchFamily="2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kern="1200">
                        <a:solidFill>
                          <a:schemeClr val="tx1"/>
                        </a:solidFill>
                        <a:latin typeface="URW DIN SemiCond" panose="00000500000000000000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124695"/>
                  </a:ext>
                </a:extLst>
              </a:tr>
            </a:tbl>
          </a:graphicData>
        </a:graphic>
      </p:graphicFrame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F3BF1EE-DFA0-2E75-B3BD-B5565CCD8394}"/>
              </a:ext>
            </a:extLst>
          </p:cNvPr>
          <p:cNvSpPr/>
          <p:nvPr/>
        </p:nvSpPr>
        <p:spPr>
          <a:xfrm>
            <a:off x="7156520" y="5105009"/>
            <a:ext cx="415766" cy="35976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9F224868-49A2-63AD-7827-AD97283C5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421641"/>
              </p:ext>
            </p:extLst>
          </p:nvPr>
        </p:nvGraphicFramePr>
        <p:xfrm>
          <a:off x="7410716" y="6065259"/>
          <a:ext cx="14081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279360" progId="Equation.DSMT4">
                  <p:embed/>
                </p:oleObj>
              </mc:Choice>
              <mc:Fallback>
                <p:oleObj name="Equation" r:id="rId8" imgW="876240" imgH="27936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14EFB084-0772-6D4B-1253-2E66D82BB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10716" y="6065259"/>
                        <a:ext cx="1408112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84E3C7DC-A491-6E73-A625-13653D78B17C}"/>
              </a:ext>
            </a:extLst>
          </p:cNvPr>
          <p:cNvSpPr txBox="1"/>
          <p:nvPr/>
        </p:nvSpPr>
        <p:spPr>
          <a:xfrm>
            <a:off x="5932362" y="3981705"/>
            <a:ext cx="52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URW DIN SemiCond" panose="00000500000000000000" pitchFamily="2" charset="0"/>
                <a:cs typeface="Times New Roman" panose="02020603050405020304" pitchFamily="18" charset="0"/>
              </a:rPr>
              <a:t>Y</a:t>
            </a:r>
            <a:endParaRPr lang="en-US" sz="200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9716B7-5AE9-484C-1443-D5DA30BB682A}"/>
              </a:ext>
            </a:extLst>
          </p:cNvPr>
          <p:cNvGrpSpPr/>
          <p:nvPr/>
        </p:nvGrpSpPr>
        <p:grpSpPr>
          <a:xfrm>
            <a:off x="5256451" y="5105009"/>
            <a:ext cx="795972" cy="359767"/>
            <a:chOff x="6734176" y="3032760"/>
            <a:chExt cx="687704" cy="504825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8D2D00D-BEF4-5DA7-88AF-474919C09321}"/>
                </a:ext>
              </a:extLst>
            </p:cNvPr>
            <p:cNvSpPr/>
            <p:nvPr/>
          </p:nvSpPr>
          <p:spPr>
            <a:xfrm>
              <a:off x="6734176" y="3070827"/>
              <a:ext cx="619125" cy="430530"/>
            </a:xfrm>
            <a:custGeom>
              <a:avLst/>
              <a:gdLst>
                <a:gd name="connsiteX0" fmla="*/ 71756 w 619125"/>
                <a:gd name="connsiteY0" fmla="*/ 0 h 430530"/>
                <a:gd name="connsiteX1" fmla="*/ 619125 w 619125"/>
                <a:gd name="connsiteY1" fmla="*/ 0 h 430530"/>
                <a:gd name="connsiteX2" fmla="*/ 619125 w 619125"/>
                <a:gd name="connsiteY2" fmla="*/ 430530 h 430530"/>
                <a:gd name="connsiteX3" fmla="*/ 71756 w 619125"/>
                <a:gd name="connsiteY3" fmla="*/ 430530 h 430530"/>
                <a:gd name="connsiteX4" fmla="*/ 0 w 619125"/>
                <a:gd name="connsiteY4" fmla="*/ 358774 h 430530"/>
                <a:gd name="connsiteX5" fmla="*/ 0 w 619125"/>
                <a:gd name="connsiteY5" fmla="*/ 71756 h 430530"/>
                <a:gd name="connsiteX6" fmla="*/ 71756 w 619125"/>
                <a:gd name="connsiteY6" fmla="*/ 0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9125" h="430530">
                  <a:moveTo>
                    <a:pt x="71756" y="0"/>
                  </a:moveTo>
                  <a:lnTo>
                    <a:pt x="619125" y="0"/>
                  </a:lnTo>
                  <a:lnTo>
                    <a:pt x="619125" y="430530"/>
                  </a:lnTo>
                  <a:lnTo>
                    <a:pt x="71756" y="430530"/>
                  </a:lnTo>
                  <a:cubicBezTo>
                    <a:pt x="32126" y="430530"/>
                    <a:pt x="0" y="398404"/>
                    <a:pt x="0" y="358774"/>
                  </a:cubicBezTo>
                  <a:lnTo>
                    <a:pt x="0" y="71756"/>
                  </a:lnTo>
                  <a:cubicBezTo>
                    <a:pt x="0" y="32126"/>
                    <a:pt x="32126" y="0"/>
                    <a:pt x="71756" y="0"/>
                  </a:cubicBezTo>
                  <a:close/>
                </a:path>
              </a:pathLst>
            </a:cu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2FCA2AF-EADD-6537-C3F3-321CBE6D8D76}"/>
                </a:ext>
              </a:extLst>
            </p:cNvPr>
            <p:cNvSpPr/>
            <p:nvPr/>
          </p:nvSpPr>
          <p:spPr>
            <a:xfrm>
              <a:off x="7322820" y="3032760"/>
              <a:ext cx="99060" cy="5048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25D335B-F795-87DD-27CF-0AD59EB39049}"/>
              </a:ext>
            </a:extLst>
          </p:cNvPr>
          <p:cNvGrpSpPr/>
          <p:nvPr/>
        </p:nvGrpSpPr>
        <p:grpSpPr>
          <a:xfrm rot="10800000">
            <a:off x="2548970" y="5105008"/>
            <a:ext cx="795972" cy="359767"/>
            <a:chOff x="6734176" y="3032760"/>
            <a:chExt cx="687704" cy="504825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915E44B-F2DD-82A9-15E6-47BA87FC25A8}"/>
                </a:ext>
              </a:extLst>
            </p:cNvPr>
            <p:cNvSpPr/>
            <p:nvPr/>
          </p:nvSpPr>
          <p:spPr>
            <a:xfrm>
              <a:off x="6734176" y="3070827"/>
              <a:ext cx="619125" cy="430530"/>
            </a:xfrm>
            <a:custGeom>
              <a:avLst/>
              <a:gdLst>
                <a:gd name="connsiteX0" fmla="*/ 71756 w 619125"/>
                <a:gd name="connsiteY0" fmla="*/ 0 h 430530"/>
                <a:gd name="connsiteX1" fmla="*/ 619125 w 619125"/>
                <a:gd name="connsiteY1" fmla="*/ 0 h 430530"/>
                <a:gd name="connsiteX2" fmla="*/ 619125 w 619125"/>
                <a:gd name="connsiteY2" fmla="*/ 430530 h 430530"/>
                <a:gd name="connsiteX3" fmla="*/ 71756 w 619125"/>
                <a:gd name="connsiteY3" fmla="*/ 430530 h 430530"/>
                <a:gd name="connsiteX4" fmla="*/ 0 w 619125"/>
                <a:gd name="connsiteY4" fmla="*/ 358774 h 430530"/>
                <a:gd name="connsiteX5" fmla="*/ 0 w 619125"/>
                <a:gd name="connsiteY5" fmla="*/ 71756 h 430530"/>
                <a:gd name="connsiteX6" fmla="*/ 71756 w 619125"/>
                <a:gd name="connsiteY6" fmla="*/ 0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9125" h="430530">
                  <a:moveTo>
                    <a:pt x="71756" y="0"/>
                  </a:moveTo>
                  <a:lnTo>
                    <a:pt x="619125" y="0"/>
                  </a:lnTo>
                  <a:lnTo>
                    <a:pt x="619125" y="430530"/>
                  </a:lnTo>
                  <a:lnTo>
                    <a:pt x="71756" y="430530"/>
                  </a:lnTo>
                  <a:cubicBezTo>
                    <a:pt x="32126" y="430530"/>
                    <a:pt x="0" y="398404"/>
                    <a:pt x="0" y="358774"/>
                  </a:cubicBezTo>
                  <a:lnTo>
                    <a:pt x="0" y="71756"/>
                  </a:lnTo>
                  <a:cubicBezTo>
                    <a:pt x="0" y="32126"/>
                    <a:pt x="32126" y="0"/>
                    <a:pt x="71756" y="0"/>
                  </a:cubicBezTo>
                  <a:close/>
                </a:path>
              </a:pathLst>
            </a:cu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9E59264-1ACB-0153-9FD4-F7BBF53141AD}"/>
                </a:ext>
              </a:extLst>
            </p:cNvPr>
            <p:cNvSpPr/>
            <p:nvPr/>
          </p:nvSpPr>
          <p:spPr>
            <a:xfrm>
              <a:off x="7322820" y="3032760"/>
              <a:ext cx="99060" cy="504825"/>
            </a:xfrm>
            <a:prstGeom prst="rect">
              <a:avLst/>
            </a:prstGeom>
            <a:solidFill>
              <a:srgbClr val="3185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55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  <p:bldP spid="29" grpId="0" animBg="1"/>
      <p:bldP spid="31" grpId="0" animBg="1"/>
      <p:bldP spid="33" grpId="0"/>
      <p:bldP spid="34" grpId="0" animBg="1"/>
      <p:bldP spid="36" grpId="0" animBg="1"/>
      <p:bldP spid="38" grpId="0"/>
      <p:bldP spid="40" grpId="0" animBg="1"/>
      <p:bldP spid="4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BD1BC-444D-5E0A-841C-59F5FAA7509A}"/>
              </a:ext>
            </a:extLst>
          </p:cNvPr>
          <p:cNvSpPr txBox="1"/>
          <p:nvPr/>
        </p:nvSpPr>
        <p:spPr>
          <a:xfrm>
            <a:off x="267288" y="774453"/>
            <a:ext cx="117614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 3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Thiết kế bộ đếm nghịch đồng bộ mã nhị phân có hệ số đếm K</a:t>
            </a:r>
            <a:r>
              <a:rPr lang="en-US" sz="32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= 6, dùng D-FF.</a:t>
            </a:r>
          </a:p>
          <a:p>
            <a:pPr algn="just"/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Bước 4: Xây dựng sơ đồ mạch</a:t>
            </a:r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EEFB69B8-0491-BA49-B09E-821B0ED4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73A872E-14C9-1D47-6319-2912861A6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991619"/>
              </p:ext>
            </p:extLst>
          </p:nvPr>
        </p:nvGraphicFramePr>
        <p:xfrm>
          <a:off x="1788971" y="3429000"/>
          <a:ext cx="2584450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84683" imgH="1862426" progId="Equation.DSMT4">
                  <p:embed/>
                </p:oleObj>
              </mc:Choice>
              <mc:Fallback>
                <p:oleObj name="Equation" r:id="rId2" imgW="2584683" imgH="186242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8971" y="3429000"/>
                        <a:ext cx="2584450" cy="186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1655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6)</a:t>
            </a: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D-FF.</a:t>
            </a: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T-FF.</a:t>
            </a: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</a:t>
            </a: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2)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4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3).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BCD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JK-FF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4).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6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d. Một số IC đếm đồng bộ: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74LS191, 74LS192, 74LS193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6AA32F-6B2C-A3A7-2019-2FDEF2B96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063" y="4560243"/>
            <a:ext cx="28956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A0038-FE34-92F5-A4E0-C71674BBB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588" y="1774181"/>
            <a:ext cx="2957513" cy="295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32E7799-3E0C-55FF-450F-7A41F6473880}"/>
              </a:ext>
            </a:extLst>
          </p:cNvPr>
          <p:cNvGrpSpPr>
            <a:grpSpLocks/>
          </p:cNvGrpSpPr>
          <p:nvPr/>
        </p:nvGrpSpPr>
        <p:grpSpPr bwMode="auto">
          <a:xfrm>
            <a:off x="2450063" y="1751956"/>
            <a:ext cx="8356600" cy="3890962"/>
            <a:chOff x="338981" y="1981200"/>
            <a:chExt cx="8356600" cy="3890665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2E0EFAE-117A-CB2C-0886-FAC952C05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1981200"/>
              <a:ext cx="6257181" cy="3771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32">
              <a:extLst>
                <a:ext uri="{FF2B5EF4-FFF2-40B4-BE49-F238E27FC236}">
                  <a16:creationId xmlns:a16="http://schemas.microsoft.com/office/drawing/2014/main" id="{29A43DE6-3367-B766-FE10-D5CCF33E9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5410200"/>
              <a:ext cx="15240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9pPr>
            </a:lstStyle>
            <a:p>
              <a:pPr algn="just"/>
              <a:r>
                <a:rPr lang="en-US" altLang="en-US">
                  <a:latin typeface="Arial" panose="020B0604020202020204" pitchFamily="34" charset="0"/>
                </a:rPr>
                <a:t>74LS193</a:t>
              </a:r>
            </a:p>
          </p:txBody>
        </p:sp>
        <p:sp>
          <p:nvSpPr>
            <p:cNvPr id="11" name="Text Box 32">
              <a:extLst>
                <a:ext uri="{FF2B5EF4-FFF2-40B4-BE49-F238E27FC236}">
                  <a16:creationId xmlns:a16="http://schemas.microsoft.com/office/drawing/2014/main" id="{2A254F58-A39A-A034-D625-32577E3FF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981" y="5399564"/>
              <a:ext cx="15240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9pPr>
            </a:lstStyle>
            <a:p>
              <a:pPr algn="just"/>
              <a:r>
                <a:rPr lang="en-US" altLang="en-US">
                  <a:solidFill>
                    <a:srgbClr val="FF0000"/>
                  </a:solidFill>
                  <a:latin typeface="Arial" panose="020B0604020202020204" pitchFamily="34" charset="0"/>
                </a:rPr>
                <a:t>74LS193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68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267286" y="281353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 HỆ TUẦN TỰ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267288" y="774453"/>
            <a:ext cx="11761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2.3.2.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d. Một số IC đếm đồng bộ: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74LS191, 74LS192, 74LS193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6F7674E1-2EE4-7561-E5C4-3891D1A211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0"/>
          <a:stretch/>
        </p:blipFill>
        <p:spPr bwMode="auto">
          <a:xfrm>
            <a:off x="2331221" y="2184647"/>
            <a:ext cx="2957512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2ABD2FD4-C02D-D301-E8BC-29D29DBE0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133" y="2184647"/>
            <a:ext cx="47625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7">
            <a:extLst>
              <a:ext uri="{FF2B5EF4-FFF2-40B4-BE49-F238E27FC236}">
                <a16:creationId xmlns:a16="http://schemas.microsoft.com/office/drawing/2014/main" id="{3C43593D-F6E9-0123-3129-F148874D3759}"/>
              </a:ext>
            </a:extLst>
          </p:cNvPr>
          <p:cNvGrpSpPr>
            <a:grpSpLocks/>
          </p:cNvGrpSpPr>
          <p:nvPr/>
        </p:nvGrpSpPr>
        <p:grpSpPr bwMode="auto">
          <a:xfrm>
            <a:off x="2320108" y="4400797"/>
            <a:ext cx="2895600" cy="1682750"/>
            <a:chOff x="21771" y="4577918"/>
            <a:chExt cx="2895600" cy="1683684"/>
          </a:xfrm>
        </p:grpSpPr>
        <p:pic>
          <p:nvPicPr>
            <p:cNvPr id="15" name="Picture 13">
              <a:extLst>
                <a:ext uri="{FF2B5EF4-FFF2-40B4-BE49-F238E27FC236}">
                  <a16:creationId xmlns:a16="http://schemas.microsoft.com/office/drawing/2014/main" id="{6E1BF86C-4EBD-7082-F50A-71F8667D1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71" y="4577918"/>
              <a:ext cx="2895600" cy="1683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32">
              <a:extLst>
                <a:ext uri="{FF2B5EF4-FFF2-40B4-BE49-F238E27FC236}">
                  <a16:creationId xmlns:a16="http://schemas.microsoft.com/office/drawing/2014/main" id="{55CCB378-FDDC-B293-A4D9-1265BFC1D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71" y="5188927"/>
              <a:ext cx="15240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.VnAvant" panose="020B7200000000000000" pitchFamily="34" charset="0"/>
                </a:defRPr>
              </a:lvl9pPr>
            </a:lstStyle>
            <a:p>
              <a:pPr algn="just"/>
              <a:r>
                <a:rPr lang="en-US" altLang="en-US">
                  <a:solidFill>
                    <a:srgbClr val="FF0000"/>
                  </a:solidFill>
                  <a:latin typeface="Arial" panose="020B0604020202020204" pitchFamily="34" charset="0"/>
                </a:rPr>
                <a:t>74LS193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528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A6A4-FCC1-4F60-9806-7DAC9D75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F872-0187-4F42-A48B-9B9E163426AB}" type="datetime1">
              <a:rPr lang="en-US" smtClean="0"/>
              <a:pPr/>
              <a:t>10/04/2026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1E25-6CAF-447A-A15C-046193D8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AE65-149B-47F7-B155-458B2D08FBA6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14364-9CA3-47B6-8A4B-AA4731039913}"/>
              </a:ext>
            </a:extLst>
          </p:cNvPr>
          <p:cNvSpPr txBox="1"/>
          <p:nvPr/>
        </p:nvSpPr>
        <p:spPr>
          <a:xfrm>
            <a:off x="193206" y="323557"/>
            <a:ext cx="1176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– HƯỚNG DẪN NGHIÊN CỨU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235A9-3DCD-4B10-98BB-4B579E1DCC48}"/>
              </a:ext>
            </a:extLst>
          </p:cNvPr>
          <p:cNvSpPr txBox="1"/>
          <p:nvPr/>
        </p:nvSpPr>
        <p:spPr>
          <a:xfrm>
            <a:off x="193208" y="1126146"/>
            <a:ext cx="117614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nghiên cứu:</a:t>
            </a:r>
          </a:p>
          <a:p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1. Khái niệm bộ đếm không đồng bộ?</a:t>
            </a:r>
          </a:p>
          <a:p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Câu 2. Phương pháp thiết kế bộ đếm không đồng bộ?</a:t>
            </a:r>
          </a:p>
        </p:txBody>
      </p:sp>
      <p:sp>
        <p:nvSpPr>
          <p:cNvPr id="69" name="Rectangle 25">
            <a:extLst>
              <a:ext uri="{FF2B5EF4-FFF2-40B4-BE49-F238E27FC236}">
                <a16:creationId xmlns:a16="http://schemas.microsoft.com/office/drawing/2014/main" id="{F9D08FBF-86E5-4056-AF60-5C147D52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332" y="2417421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0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F4B34464-3881-4075-9696-FA32171A656A}"/>
  <p:tag name="ISPRING_RESOURCE_FOLDER" val="D:\KT_Xung_So\KTXS_VXL_46t\Bai_2\Bai_2\"/>
  <p:tag name="ISPRING_PRESENTATION_PATH" val="D:\KT_Xung_So\KTXS_VXL_46t\Bai_2\Bai_2.pptx"/>
  <p:tag name="ISPRING_PROJECT_VERSION" val="9.3"/>
  <p:tag name="ISPRING_PROJECT_FOLDER_UPDATED" val="1"/>
  <p:tag name="ISPRING_SCREEN_RECS_UPDATED" val="D:\KT_Xung_So\KTXS_VXL_46t\Bai_2\Bai_2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3702</Words>
  <Application>Microsoft Office PowerPoint</Application>
  <PresentationFormat>Widescreen</PresentationFormat>
  <Paragraphs>867</Paragraphs>
  <Slides>45</Slides>
  <Notes>4</Notes>
  <HiddenSlides>3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.VnAvant</vt:lpstr>
      <vt:lpstr>Arial</vt:lpstr>
      <vt:lpstr>Calibri</vt:lpstr>
      <vt:lpstr>Calibri Light</vt:lpstr>
      <vt:lpstr>Cambria Math</vt:lpstr>
      <vt:lpstr>Symbol</vt:lpstr>
      <vt:lpstr>Tahoma</vt:lpstr>
      <vt:lpstr>Times New Roman</vt:lpstr>
      <vt:lpstr>URW DIN SemiCond</vt:lpstr>
      <vt:lpstr>Wingdings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Bùi Thanh Xuân</cp:lastModifiedBy>
  <cp:revision>264</cp:revision>
  <dcterms:created xsi:type="dcterms:W3CDTF">2021-03-31T07:22:55Z</dcterms:created>
  <dcterms:modified xsi:type="dcterms:W3CDTF">2026-04-10T01:17:39Z</dcterms:modified>
</cp:coreProperties>
</file>